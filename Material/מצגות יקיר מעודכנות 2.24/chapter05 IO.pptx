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9" r:id="rId4"/>
    <p:sldId id="258" r:id="rId5"/>
    <p:sldId id="260" r:id="rId6"/>
    <p:sldId id="328" r:id="rId7"/>
    <p:sldId id="261" r:id="rId8"/>
    <p:sldId id="262" r:id="rId9"/>
    <p:sldId id="263" r:id="rId10"/>
    <p:sldId id="266" r:id="rId11"/>
    <p:sldId id="267" r:id="rId12"/>
    <p:sldId id="268" r:id="rId13"/>
    <p:sldId id="271" r:id="rId14"/>
    <p:sldId id="272" r:id="rId15"/>
    <p:sldId id="264" r:id="rId16"/>
    <p:sldId id="265" r:id="rId17"/>
    <p:sldId id="269" r:id="rId18"/>
    <p:sldId id="270" r:id="rId19"/>
    <p:sldId id="274" r:id="rId20"/>
    <p:sldId id="277" r:id="rId21"/>
    <p:sldId id="273" r:id="rId22"/>
    <p:sldId id="275" r:id="rId23"/>
    <p:sldId id="276" r:id="rId24"/>
    <p:sldId id="319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329" r:id="rId33"/>
    <p:sldId id="330" r:id="rId34"/>
    <p:sldId id="331" r:id="rId35"/>
    <p:sldId id="286" r:id="rId36"/>
    <p:sldId id="318" r:id="rId37"/>
    <p:sldId id="287" r:id="rId38"/>
    <p:sldId id="288" r:id="rId39"/>
    <p:sldId id="320" r:id="rId40"/>
    <p:sldId id="289" r:id="rId41"/>
    <p:sldId id="290" r:id="rId42"/>
    <p:sldId id="322" r:id="rId43"/>
    <p:sldId id="291" r:id="rId44"/>
    <p:sldId id="332" r:id="rId45"/>
    <p:sldId id="292" r:id="rId46"/>
    <p:sldId id="293" r:id="rId47"/>
    <p:sldId id="333" r:id="rId48"/>
    <p:sldId id="294" r:id="rId49"/>
    <p:sldId id="295" r:id="rId50"/>
    <p:sldId id="297" r:id="rId51"/>
    <p:sldId id="296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23" r:id="rId73"/>
    <p:sldId id="324" r:id="rId74"/>
    <p:sldId id="334" r:id="rId75"/>
  </p:sldIdLst>
  <p:sldSz cx="12192000" cy="6858000"/>
  <p:notesSz cx="6858000" cy="9144000"/>
  <p:custShowLst>
    <p:custShow name="דיסק" id="0">
      <p:sldLst>
        <p:sld r:id="rId25"/>
      </p:sldLst>
    </p:custShow>
    <p:custShow name="תוכנה בלתי תלויה בהתקן" id="1">
      <p:sldLst>
        <p:sld r:id="rId16"/>
        <p:sld r:id="rId17"/>
        <p:sld r:id="rId18"/>
        <p:sld r:id="rId21"/>
        <p:sld r:id="rId22"/>
        <p:sld r:id="rId23"/>
        <p:sld r:id="rId24"/>
      </p:sldLst>
    </p:custShow>
  </p:custShow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02909" indent="47444" algn="ctr" rtl="0" fontAlgn="base">
      <a:spcBef>
        <a:spcPct val="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05818" indent="94887" algn="ctr" rtl="0" fontAlgn="base">
      <a:spcBef>
        <a:spcPct val="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908727" indent="142331" algn="ctr" rtl="0" fontAlgn="base">
      <a:spcBef>
        <a:spcPct val="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212852" indent="188558" algn="ctr" rtl="0" fontAlgn="base">
      <a:spcBef>
        <a:spcPct val="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751762" algn="r" defTabSz="700705" rtl="1" eaLnBrk="1" latinLnBrk="0" hangingPunct="1"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102114" algn="r" defTabSz="700705" rtl="1" eaLnBrk="1" latinLnBrk="0" hangingPunct="1"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2452467" algn="r" defTabSz="700705" rtl="1" eaLnBrk="1" latinLnBrk="0" hangingPunct="1"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2802819" algn="r" defTabSz="700705" rtl="1" eaLnBrk="1" latinLnBrk="0" hangingPunct="1"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276" y="66"/>
      </p:cViewPr>
      <p:guideLst>
        <p:guide orient="horz" pos="49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1024" units="cm"/>
        </inkml:traceFormat>
        <inkml:channelProperties>
          <inkml:channelProperty channel="X" name="resolution" value="28.31858" units="1/cm"/>
          <inkml:channelProperty channel="Y" name="resolution" value="28.36565" units="1/cm"/>
        </inkml:channelProperties>
      </inkml:inkSource>
      <inkml:timestamp xml:id="ts0" timeString="2014-06-15T17:52:29.6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6747 14585,'0'0,"20"0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024931E-5A63-4EAE-B437-8F33B1148C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618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02909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05818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908727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212852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516105" algn="r" defTabSz="606442" rtl="1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19326" algn="r" defTabSz="606442" rtl="1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22548" algn="r" defTabSz="606442" rtl="1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25769" algn="r" defTabSz="606442" rtl="1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89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2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44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48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57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61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32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89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24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45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31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2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17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41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25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98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74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2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127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910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6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0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40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603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518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22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320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45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792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920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015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69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495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872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812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964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609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549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078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078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163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830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he-IL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452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998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8451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588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777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559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718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035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442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594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555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4828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10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118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1368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7169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28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434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4694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5200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274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4364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5955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9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0226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0060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4931E-5A63-4EAE-B437-8F33B1148CBB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6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914400" y="2130431"/>
            <a:ext cx="103632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1752601"/>
          </a:xfrm>
        </p:spPr>
        <p:txBody>
          <a:bodyPr/>
          <a:lstStyle>
            <a:lvl1pPr marL="0" indent="0" algn="ctr">
              <a:buNone/>
              <a:defRPr/>
            </a:lvl1pPr>
            <a:lvl2pPr marL="303221" indent="0" algn="ctr">
              <a:buNone/>
              <a:defRPr/>
            </a:lvl2pPr>
            <a:lvl3pPr marL="606442" indent="0" algn="ctr">
              <a:buNone/>
              <a:defRPr/>
            </a:lvl3pPr>
            <a:lvl4pPr marL="909663" indent="0" algn="ctr">
              <a:buNone/>
              <a:defRPr/>
            </a:lvl4pPr>
            <a:lvl5pPr marL="1212884" indent="0" algn="ctr">
              <a:buNone/>
              <a:defRPr/>
            </a:lvl5pPr>
            <a:lvl6pPr marL="1516105" indent="0" algn="ctr">
              <a:buNone/>
              <a:defRPr/>
            </a:lvl6pPr>
            <a:lvl7pPr marL="1819326" indent="0" algn="ctr">
              <a:buNone/>
              <a:defRPr/>
            </a:lvl7pPr>
            <a:lvl8pPr marL="2122548" indent="0" algn="ctr">
              <a:buNone/>
              <a:defRPr/>
            </a:lvl8pPr>
            <a:lvl9pPr marL="2425769" indent="0" algn="ctr"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060C9-3138-4347-9FAA-9A6BD7352159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DCA35-3305-4380-BBF2-8F7D463076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0572-F1E8-4387-A204-6B0F0DB5396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D048F-5AB7-4214-A96A-997519D28C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63085" y="4406906"/>
            <a:ext cx="10363200" cy="1362075"/>
          </a:xfrm>
        </p:spPr>
        <p:txBody>
          <a:bodyPr anchor="t"/>
          <a:lstStyle>
            <a:lvl1pPr algn="r">
              <a:defRPr sz="27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63085" y="2906718"/>
            <a:ext cx="10363200" cy="1500186"/>
          </a:xfrm>
        </p:spPr>
        <p:txBody>
          <a:bodyPr anchor="b"/>
          <a:lstStyle>
            <a:lvl1pPr marL="0" indent="0">
              <a:buNone/>
              <a:defRPr sz="1300"/>
            </a:lvl1pPr>
            <a:lvl2pPr marL="303221" indent="0">
              <a:buNone/>
              <a:defRPr sz="1200"/>
            </a:lvl2pPr>
            <a:lvl3pPr marL="606442" indent="0">
              <a:buNone/>
              <a:defRPr sz="1100"/>
            </a:lvl3pPr>
            <a:lvl4pPr marL="909663" indent="0">
              <a:buNone/>
              <a:defRPr sz="900"/>
            </a:lvl4pPr>
            <a:lvl5pPr marL="1212884" indent="0">
              <a:buNone/>
              <a:defRPr sz="900"/>
            </a:lvl5pPr>
            <a:lvl6pPr marL="1516105" indent="0">
              <a:buNone/>
              <a:defRPr sz="900"/>
            </a:lvl6pPr>
            <a:lvl7pPr marL="1819326" indent="0">
              <a:buNone/>
              <a:defRPr sz="900"/>
            </a:lvl7pPr>
            <a:lvl8pPr marL="2122548" indent="0">
              <a:buNone/>
              <a:defRPr sz="900"/>
            </a:lvl8pPr>
            <a:lvl9pPr marL="2425769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FAF8F1-9252-4547-B345-7B49B1BC5B3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5E3A2-860F-404E-91BE-9D065BA11F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80001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1" y="1981201"/>
            <a:ext cx="5080001" cy="4114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3837A-D4A4-4D52-9436-8F2103ED309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2674B-B453-447B-8C8E-BF7631AEA7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7" y="27464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1" y="1535117"/>
            <a:ext cx="5386919" cy="63976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3221" indent="0">
              <a:buNone/>
              <a:defRPr sz="1300" b="1"/>
            </a:lvl2pPr>
            <a:lvl3pPr marL="606442" indent="0">
              <a:buNone/>
              <a:defRPr sz="1200" b="1"/>
            </a:lvl3pPr>
            <a:lvl4pPr marL="909663" indent="0">
              <a:buNone/>
              <a:defRPr sz="1100" b="1"/>
            </a:lvl4pPr>
            <a:lvl5pPr marL="1212884" indent="0">
              <a:buNone/>
              <a:defRPr sz="1100" b="1"/>
            </a:lvl5pPr>
            <a:lvl6pPr marL="1516105" indent="0">
              <a:buNone/>
              <a:defRPr sz="1100" b="1"/>
            </a:lvl6pPr>
            <a:lvl7pPr marL="1819326" indent="0">
              <a:buNone/>
              <a:defRPr sz="1100" b="1"/>
            </a:lvl7pPr>
            <a:lvl8pPr marL="2122548" indent="0">
              <a:buNone/>
              <a:defRPr sz="1100" b="1"/>
            </a:lvl8pPr>
            <a:lvl9pPr marL="2425769" indent="0">
              <a:buNone/>
              <a:defRPr sz="11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09601" y="2174877"/>
            <a:ext cx="5386919" cy="3951288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93370" y="1535117"/>
            <a:ext cx="5389033" cy="63976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3221" indent="0">
              <a:buNone/>
              <a:defRPr sz="1300" b="1"/>
            </a:lvl2pPr>
            <a:lvl3pPr marL="606442" indent="0">
              <a:buNone/>
              <a:defRPr sz="1200" b="1"/>
            </a:lvl3pPr>
            <a:lvl4pPr marL="909663" indent="0">
              <a:buNone/>
              <a:defRPr sz="1100" b="1"/>
            </a:lvl4pPr>
            <a:lvl5pPr marL="1212884" indent="0">
              <a:buNone/>
              <a:defRPr sz="1100" b="1"/>
            </a:lvl5pPr>
            <a:lvl6pPr marL="1516105" indent="0">
              <a:buNone/>
              <a:defRPr sz="1100" b="1"/>
            </a:lvl6pPr>
            <a:lvl7pPr marL="1819326" indent="0">
              <a:buNone/>
              <a:defRPr sz="1100" b="1"/>
            </a:lvl7pPr>
            <a:lvl8pPr marL="2122548" indent="0">
              <a:buNone/>
              <a:defRPr sz="1100" b="1"/>
            </a:lvl8pPr>
            <a:lvl9pPr marL="2425769" indent="0">
              <a:buNone/>
              <a:defRPr sz="11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93370" y="2174877"/>
            <a:ext cx="5389033" cy="3951288"/>
          </a:xfrm>
        </p:spPr>
        <p:txBody>
          <a:bodyPr/>
          <a:lstStyle>
            <a:lvl1pPr>
              <a:defRPr sz="16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0C14F-B86C-4E90-B001-8BB10B5CE3E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26A17-19E6-41F1-A29E-BF3A69BAF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139EB-D6D5-40B8-81B5-EE1801A696D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B5DB2-284C-4733-93B5-15A58D5330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8D395-9C3E-474C-ADDF-8A170A2A9C9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98392-10B5-4EB0-8740-AD2C1D37C3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7" y="273050"/>
            <a:ext cx="4011084" cy="1162050"/>
          </a:xfrm>
        </p:spPr>
        <p:txBody>
          <a:bodyPr anchor="b"/>
          <a:lstStyle>
            <a:lvl1pPr algn="r">
              <a:defRPr sz="1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09607" y="1435101"/>
            <a:ext cx="4011084" cy="4691064"/>
          </a:xfrm>
        </p:spPr>
        <p:txBody>
          <a:bodyPr/>
          <a:lstStyle>
            <a:lvl1pPr marL="0" indent="0">
              <a:buNone/>
              <a:defRPr sz="900"/>
            </a:lvl1pPr>
            <a:lvl2pPr marL="303221" indent="0">
              <a:buNone/>
              <a:defRPr sz="800"/>
            </a:lvl2pPr>
            <a:lvl3pPr marL="606442" indent="0">
              <a:buNone/>
              <a:defRPr sz="700"/>
            </a:lvl3pPr>
            <a:lvl4pPr marL="909663" indent="0">
              <a:buNone/>
              <a:defRPr sz="600"/>
            </a:lvl4pPr>
            <a:lvl5pPr marL="1212884" indent="0">
              <a:buNone/>
              <a:defRPr sz="600"/>
            </a:lvl5pPr>
            <a:lvl6pPr marL="1516105" indent="0">
              <a:buNone/>
              <a:defRPr sz="600"/>
            </a:lvl6pPr>
            <a:lvl7pPr marL="1819326" indent="0">
              <a:buNone/>
              <a:defRPr sz="600"/>
            </a:lvl7pPr>
            <a:lvl8pPr marL="2122548" indent="0">
              <a:buNone/>
              <a:defRPr sz="600"/>
            </a:lvl8pPr>
            <a:lvl9pPr marL="2425769" indent="0">
              <a:buNone/>
              <a:defRPr sz="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35261-551E-4FE8-9783-6656BDE37AC7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449DC-ECA7-4932-8476-41CB4B39D8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89725" y="4800600"/>
            <a:ext cx="7315200" cy="566738"/>
          </a:xfrm>
        </p:spPr>
        <p:txBody>
          <a:bodyPr anchor="b"/>
          <a:lstStyle>
            <a:lvl1pPr algn="r">
              <a:defRPr sz="13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389725" y="612778"/>
            <a:ext cx="7315200" cy="4114800"/>
          </a:xfrm>
        </p:spPr>
        <p:txBody>
          <a:bodyPr/>
          <a:lstStyle>
            <a:lvl1pPr marL="0" indent="0">
              <a:buNone/>
              <a:defRPr sz="2100"/>
            </a:lvl1pPr>
            <a:lvl2pPr marL="303221" indent="0">
              <a:buNone/>
              <a:defRPr sz="1800"/>
            </a:lvl2pPr>
            <a:lvl3pPr marL="606442" indent="0">
              <a:buNone/>
              <a:defRPr sz="1600"/>
            </a:lvl3pPr>
            <a:lvl4pPr marL="909663" indent="0">
              <a:buNone/>
              <a:defRPr sz="1300"/>
            </a:lvl4pPr>
            <a:lvl5pPr marL="1212884" indent="0">
              <a:buNone/>
              <a:defRPr sz="1300"/>
            </a:lvl5pPr>
            <a:lvl6pPr marL="1516105" indent="0">
              <a:buNone/>
              <a:defRPr sz="1300"/>
            </a:lvl6pPr>
            <a:lvl7pPr marL="1819326" indent="0">
              <a:buNone/>
              <a:defRPr sz="1300"/>
            </a:lvl7pPr>
            <a:lvl8pPr marL="2122548" indent="0">
              <a:buNone/>
              <a:defRPr sz="1300"/>
            </a:lvl8pPr>
            <a:lvl9pPr marL="2425769" indent="0">
              <a:buNone/>
              <a:defRPr sz="13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389725" y="5367338"/>
            <a:ext cx="7315200" cy="804862"/>
          </a:xfrm>
        </p:spPr>
        <p:txBody>
          <a:bodyPr/>
          <a:lstStyle>
            <a:lvl1pPr marL="0" indent="0">
              <a:buNone/>
              <a:defRPr sz="900"/>
            </a:lvl1pPr>
            <a:lvl2pPr marL="303221" indent="0">
              <a:buNone/>
              <a:defRPr sz="800"/>
            </a:lvl2pPr>
            <a:lvl3pPr marL="606442" indent="0">
              <a:buNone/>
              <a:defRPr sz="700"/>
            </a:lvl3pPr>
            <a:lvl4pPr marL="909663" indent="0">
              <a:buNone/>
              <a:defRPr sz="600"/>
            </a:lvl4pPr>
            <a:lvl5pPr marL="1212884" indent="0">
              <a:buNone/>
              <a:defRPr sz="600"/>
            </a:lvl5pPr>
            <a:lvl6pPr marL="1516105" indent="0">
              <a:buNone/>
              <a:defRPr sz="600"/>
            </a:lvl6pPr>
            <a:lvl7pPr marL="1819326" indent="0">
              <a:buNone/>
              <a:defRPr sz="600"/>
            </a:lvl7pPr>
            <a:lvl8pPr marL="2122548" indent="0">
              <a:buNone/>
              <a:defRPr sz="600"/>
            </a:lvl8pPr>
            <a:lvl9pPr marL="2425769" indent="0">
              <a:buNone/>
              <a:defRPr sz="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99CBE-8A71-48FD-B8FA-034FC9A2C284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FABD5-08EF-4B92-BA5A-910871434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DDE15-FF45-4F46-9ACE-E13DA8D078D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453B0-B151-41C5-8DC5-8EE8CCA11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678336" y="1"/>
            <a:ext cx="2599265" cy="6096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76301" y="1"/>
            <a:ext cx="7598835" cy="609600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E6973-E9E4-4AD3-8E1A-04C391AB471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72B20-F45F-4683-80BD-09A440483E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11200" y="1727200"/>
            <a:ext cx="10938933" cy="4445000"/>
          </a:xfrm>
        </p:spPr>
        <p:txBody>
          <a:bodyPr/>
          <a:lstStyle>
            <a:lvl1pPr algn="l">
              <a:buFont typeface="Arial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80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9F2A4C-F8AA-4618-8C86-BDF7A82EC882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C7F68-870D-4229-92B2-E655B4AE16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1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7003" y="0"/>
            <a:ext cx="10362739" cy="114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0644" tIns="30322" rIns="60644" bIns="3032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863" y="1981407"/>
            <a:ext cx="10364275" cy="4114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0644" tIns="30322" rIns="60644" bIns="30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3864" y="6247933"/>
            <a:ext cx="2540384" cy="457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0644" tIns="30322" rIns="60644" bIns="30322" numCol="1" anchor="t" anchorCtr="0" compatLnSpc="1">
            <a:prstTxWarp prst="textNoShape">
              <a:avLst/>
            </a:prstTxWarp>
          </a:bodyPr>
          <a:lstStyle>
            <a:lvl1pPr algn="l">
              <a:defRPr sz="900" smtClean="0"/>
            </a:lvl1pPr>
          </a:lstStyle>
          <a:p>
            <a:pPr>
              <a:defRPr/>
            </a:pPr>
            <a:fld id="{F85F3629-77FA-4F4B-836A-995B0380320D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370" y="6247933"/>
            <a:ext cx="3861261" cy="457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0644" tIns="30322" rIns="60644" bIns="30322" numCol="1" anchor="t" anchorCtr="0" compatLnSpc="1">
            <a:prstTxWarp prst="textNoShape">
              <a:avLst/>
            </a:prstTxWarp>
          </a:bodyPr>
          <a:lstStyle>
            <a:lvl1pPr>
              <a:defRPr sz="9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65353" y="6476709"/>
            <a:ext cx="626648" cy="381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0644" tIns="30322" rIns="60644" bIns="30322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00BE1FDF-799E-40C3-ACE3-5C65CCB6A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5pPr>
      <a:lvl6pPr marL="303221" algn="ctr" rtl="0" fontAlgn="base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6pPr>
      <a:lvl7pPr marL="606442" algn="ctr" rtl="0" fontAlgn="base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7pPr>
      <a:lvl8pPr marL="909663" algn="ctr" rtl="0" fontAlgn="base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8pPr>
      <a:lvl9pPr marL="1212884" algn="ctr" rtl="0" fontAlgn="base">
        <a:spcBef>
          <a:spcPct val="0"/>
        </a:spcBef>
        <a:spcAft>
          <a:spcPct val="0"/>
        </a:spcAft>
        <a:defRPr sz="2900">
          <a:solidFill>
            <a:srgbClr val="FF0000"/>
          </a:solidFill>
          <a:latin typeface="Times New Roman" pitchFamily="18" charset="0"/>
        </a:defRPr>
      </a:lvl9pPr>
    </p:titleStyle>
    <p:bodyStyle>
      <a:lvl1pPr marL="226269" indent="-22626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100">
          <a:solidFill>
            <a:srgbClr val="3333CC"/>
          </a:solidFill>
          <a:latin typeface="+mn-lt"/>
          <a:ea typeface="+mn-ea"/>
          <a:cs typeface="+mn-cs"/>
        </a:defRPr>
      </a:lvl1pPr>
      <a:lvl2pPr marL="492683" indent="-18855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1800">
          <a:solidFill>
            <a:schemeClr val="tx1"/>
          </a:solidFill>
          <a:latin typeface="+mn-lt"/>
        </a:defRPr>
      </a:lvl2pPr>
      <a:lvl3pPr marL="757881" indent="-15084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chemeClr val="tx1"/>
          </a:solidFill>
          <a:latin typeface="+mn-lt"/>
        </a:defRPr>
      </a:lvl3pPr>
      <a:lvl4pPr marL="1060789" indent="-15084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1300">
          <a:solidFill>
            <a:schemeClr val="tx1"/>
          </a:solidFill>
          <a:latin typeface="+mn-lt"/>
        </a:defRPr>
      </a:lvl4pPr>
      <a:lvl5pPr marL="1363698" indent="-15084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1300">
          <a:solidFill>
            <a:schemeClr val="tx1"/>
          </a:solidFill>
          <a:latin typeface="+mn-lt"/>
        </a:defRPr>
      </a:lvl5pPr>
      <a:lvl6pPr marL="1667716" indent="-151611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300">
          <a:solidFill>
            <a:schemeClr val="tx1"/>
          </a:solidFill>
          <a:latin typeface="+mn-lt"/>
        </a:defRPr>
      </a:lvl6pPr>
      <a:lvl7pPr marL="1970937" indent="-151611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300">
          <a:solidFill>
            <a:schemeClr val="tx1"/>
          </a:solidFill>
          <a:latin typeface="+mn-lt"/>
        </a:defRPr>
      </a:lvl7pPr>
      <a:lvl8pPr marL="2274158" indent="-151611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300">
          <a:solidFill>
            <a:schemeClr val="tx1"/>
          </a:solidFill>
          <a:latin typeface="+mn-lt"/>
        </a:defRPr>
      </a:lvl8pPr>
      <a:lvl9pPr marL="2577379" indent="-151611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3221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6442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09663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2884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16105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19326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22548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25769" algn="r" defTabSz="606442" rtl="1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emf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6F531E-ECDD-4751-8DF7-BE6856986FB4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96727" y="1739482"/>
            <a:ext cx="7773206" cy="724455"/>
          </a:xfrm>
        </p:spPr>
        <p:txBody>
          <a:bodyPr/>
          <a:lstStyle/>
          <a:p>
            <a:pPr eaLnBrk="1" hangingPunct="1"/>
            <a:r>
              <a:rPr lang="en-US"/>
              <a:t>Input/Output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70604" y="787568"/>
            <a:ext cx="6400109" cy="901953"/>
          </a:xfrm>
        </p:spPr>
        <p:txBody>
          <a:bodyPr/>
          <a:lstStyle/>
          <a:p>
            <a:pPr eaLnBrk="1" hangingPunct="1"/>
            <a:r>
              <a:rPr lang="en-US" sz="2900" dirty="0">
                <a:solidFill>
                  <a:schemeClr val="accent2"/>
                </a:solidFill>
              </a:rPr>
              <a:t>Chapter 5</a:t>
            </a:r>
            <a:endParaRPr lang="en-US" dirty="0"/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4064001" y="2753194"/>
            <a:ext cx="4211447" cy="2354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0644" tIns="30322" rIns="60644" bIns="30322">
            <a:spAutoFit/>
          </a:bodyPr>
          <a:lstStyle/>
          <a:p>
            <a:pPr algn="l"/>
            <a:r>
              <a:rPr lang="en-US" sz="1600" dirty="0"/>
              <a:t>5.1 Principles of I/O hardware</a:t>
            </a:r>
          </a:p>
          <a:p>
            <a:pPr algn="l"/>
            <a:r>
              <a:rPr lang="en-US" sz="1600" dirty="0"/>
              <a:t>5.2 Principles of I/O software</a:t>
            </a:r>
          </a:p>
          <a:p>
            <a:pPr algn="l"/>
            <a:r>
              <a:rPr lang="en-US" sz="1600" dirty="0">
                <a:solidFill>
                  <a:srgbClr val="FF0000"/>
                </a:solidFill>
              </a:rPr>
              <a:t>5.3 I/O software layers</a:t>
            </a:r>
          </a:p>
          <a:p>
            <a:pPr algn="l"/>
            <a:r>
              <a:rPr lang="en-US" sz="1600" dirty="0">
                <a:solidFill>
                  <a:srgbClr val="FF0000"/>
                </a:solidFill>
              </a:rPr>
              <a:t>5.4 Disks – raid + </a:t>
            </a:r>
            <a:r>
              <a:rPr lang="he-IL" sz="1600" dirty="0">
                <a:solidFill>
                  <a:srgbClr val="FF0000"/>
                </a:solidFill>
              </a:rPr>
              <a:t>אלגוריתמים לתזמון זרוע הדיסק</a:t>
            </a:r>
            <a:endParaRPr lang="en-US" sz="1600" dirty="0">
              <a:solidFill>
                <a:srgbClr val="FF0000"/>
              </a:solidFill>
            </a:endParaRPr>
          </a:p>
          <a:p>
            <a:pPr algn="l"/>
            <a:r>
              <a:rPr lang="en-US" sz="1600" dirty="0"/>
              <a:t>5.5 Clocks</a:t>
            </a:r>
          </a:p>
          <a:p>
            <a:pPr algn="l"/>
            <a:r>
              <a:rPr lang="en-US" sz="1600" dirty="0"/>
              <a:t>5.6 Character-oriented terminals</a:t>
            </a:r>
          </a:p>
          <a:p>
            <a:pPr algn="l"/>
            <a:r>
              <a:rPr lang="en-US" sz="1600" dirty="0"/>
              <a:t>5.7 Graphical user interfaces</a:t>
            </a:r>
          </a:p>
          <a:p>
            <a:pPr algn="l"/>
            <a:r>
              <a:rPr lang="en-US" sz="1600" dirty="0"/>
              <a:t>5.8 Network terminals</a:t>
            </a:r>
          </a:p>
          <a:p>
            <a:pPr algn="l"/>
            <a:r>
              <a:rPr lang="en-US" sz="1600" dirty="0"/>
              <a:t>5.9 Power management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AFC1AC-F9A0-4175-A34E-A57B9C09D09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3" name="לחצן פעולה: קדימה או הבא 2">
            <a:hlinkClick r:id="rId3" action="ppaction://hlinksldjump" highlightClick="1"/>
          </p:cNvPr>
          <p:cNvSpPr/>
          <p:nvPr/>
        </p:nvSpPr>
        <p:spPr bwMode="auto">
          <a:xfrm>
            <a:off x="6169724" y="3387968"/>
            <a:ext cx="279564" cy="150006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0070" tIns="35035" rIns="70070" bIns="35035" numCol="1" rtlCol="1" anchor="t" anchorCtr="0" compatLnSpc="1">
            <a:prstTxWarp prst="textNoShape">
              <a:avLst/>
            </a:prstTxWarp>
          </a:bodyPr>
          <a:lstStyle/>
          <a:p>
            <a:pPr defTabSz="700705"/>
            <a:endParaRPr lang="he-IL" sz="1200" dirty="0"/>
          </a:p>
        </p:txBody>
      </p:sp>
      <p:sp>
        <p:nvSpPr>
          <p:cNvPr id="8" name="לחצן פעולה: קדימה או הבא 7">
            <a:hlinkClick r:id="rId4" action="ppaction://hlinksldjump" highlightClick="1"/>
          </p:cNvPr>
          <p:cNvSpPr/>
          <p:nvPr/>
        </p:nvSpPr>
        <p:spPr bwMode="auto">
          <a:xfrm>
            <a:off x="8247653" y="3537974"/>
            <a:ext cx="279564" cy="150006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0070" tIns="35035" rIns="70070" bIns="35035" numCol="1" rtlCol="1" anchor="t" anchorCtr="0" compatLnSpc="1">
            <a:prstTxWarp prst="textNoShape">
              <a:avLst/>
            </a:prstTxWarp>
          </a:bodyPr>
          <a:lstStyle/>
          <a:p>
            <a:pPr defTabSz="700705"/>
            <a:endParaRPr lang="he-IL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F84193-CB76-414E-8180-A2F3326310A5}" type="slidenum">
              <a:rPr lang="en-US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686" y="76260"/>
            <a:ext cx="7569316" cy="1016341"/>
          </a:xfrm>
        </p:spPr>
        <p:txBody>
          <a:bodyPr/>
          <a:lstStyle/>
          <a:p>
            <a:pPr eaLnBrk="1" hangingPunct="1"/>
            <a:r>
              <a:rPr lang="en-US"/>
              <a:t>Principles of  I/O Hardware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2519" y="6222952"/>
            <a:ext cx="8559973" cy="63504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Some typical device, network, and data base rates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 cstate="print"/>
          <a:srcRect t="46048" b="-33"/>
          <a:stretch/>
        </p:blipFill>
        <p:spPr bwMode="auto">
          <a:xfrm>
            <a:off x="6188694" y="1923128"/>
            <a:ext cx="3906186" cy="2713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657" y="807273"/>
            <a:ext cx="3259955" cy="494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8768B6-8BD3-4E86-AFCB-E3D7574D4D0D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B5B425-3F0A-4DEC-BE2E-85CCC10971E6}" type="slidenum">
              <a:rPr lang="en-US"/>
              <a:pPr/>
              <a:t>3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Device Controllers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9" y="1295079"/>
            <a:ext cx="7849234" cy="510537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I/O devices have components: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mechanical component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electronic component – </a:t>
            </a:r>
            <a:r>
              <a:rPr lang="he-IL"/>
              <a:t>יש לו אוגרים (רגיסטרים) ששולטים ברכיב המכני</a:t>
            </a: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The electronic component is the device controller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may be able to handle multiple devices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Controller's tasks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convert serial bit stream to block of bytes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perform error correction as necessary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make available to main memory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D8C207-ADD0-4656-966C-A362E682933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6076BC-E993-4ABD-A1AE-28A878D23A9C}" type="slidenum">
              <a:rPr lang="en-US"/>
              <a:pPr/>
              <a:t>4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Memory-Mapped I/O (1)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644" y="4591284"/>
            <a:ext cx="7772054" cy="1714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Separate I/O and memory space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Memory-mapped I/O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Hybrid</a:t>
            </a:r>
          </a:p>
        </p:txBody>
      </p:sp>
      <p:pic>
        <p:nvPicPr>
          <p:cNvPr id="5125" name="Picture 6" descr="C:\B\b4\JPG\foo\5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32157" y="1659280"/>
            <a:ext cx="7348145" cy="248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989568" y="4038691"/>
            <a:ext cx="3107900" cy="2102080"/>
          </a:xfrm>
          <a:prstGeom prst="rect">
            <a:avLst/>
          </a:prstGeom>
          <a:noFill/>
        </p:spPr>
        <p:txBody>
          <a:bodyPr lIns="70070" tIns="35035" rIns="70070" bIns="35035" rtlCol="1">
            <a:spAutoFit/>
          </a:bodyPr>
          <a:lstStyle/>
          <a:p>
            <a:pPr algn="r">
              <a:defRPr/>
            </a:pPr>
            <a:r>
              <a:rPr lang="he-IL" dirty="0"/>
              <a:t>יתרונות: 1. גישה מהירה, אין צורך בשתי פקודות</a:t>
            </a:r>
            <a:endParaRPr lang="en-US" dirty="0"/>
          </a:p>
          <a:p>
            <a:pPr algn="r">
              <a:defRPr/>
            </a:pPr>
            <a:r>
              <a:rPr lang="en-US" dirty="0"/>
              <a:t>In ax,60h</a:t>
            </a:r>
          </a:p>
          <a:p>
            <a:pPr algn="r">
              <a:defRPr/>
            </a:pPr>
            <a:r>
              <a:rPr lang="en-US" dirty="0"/>
              <a:t>Test ax,0</a:t>
            </a:r>
          </a:p>
          <a:p>
            <a:pPr marL="262764" indent="-262764" algn="r" rtl="1">
              <a:buFontTx/>
              <a:buAutoNum type="arabicPeriod" startAt="2"/>
              <a:defRPr/>
            </a:pPr>
            <a:r>
              <a:rPr lang="he-IL" dirty="0"/>
              <a:t>ניתן לכתוב דריברים ב </a:t>
            </a:r>
            <a:r>
              <a:rPr lang="en-US" dirty="0"/>
              <a:t>C</a:t>
            </a:r>
            <a:r>
              <a:rPr lang="he-IL" dirty="0"/>
              <a:t> כי אין פקודות </a:t>
            </a:r>
            <a:r>
              <a:rPr lang="en-US" dirty="0"/>
              <a:t>IO</a:t>
            </a:r>
            <a:r>
              <a:rPr lang="he-IL" dirty="0"/>
              <a:t> ב </a:t>
            </a:r>
            <a:r>
              <a:rPr lang="en-US" dirty="0"/>
              <a:t>C</a:t>
            </a:r>
            <a:endParaRPr lang="he-IL" dirty="0"/>
          </a:p>
          <a:p>
            <a:pPr marL="262764" indent="-262764" algn="r" rtl="1">
              <a:buFontTx/>
              <a:buAutoNum type="arabicPeriod" startAt="2"/>
              <a:defRPr/>
            </a:pPr>
            <a:r>
              <a:rPr lang="he-IL" dirty="0"/>
              <a:t>הגנה והקטנת הגרעין</a:t>
            </a:r>
          </a:p>
          <a:p>
            <a:pPr marL="262764" indent="-262764" algn="r" rtl="1">
              <a:defRPr/>
            </a:pPr>
            <a:r>
              <a:rPr lang="he-IL" dirty="0"/>
              <a:t>חסרונות: </a:t>
            </a:r>
          </a:p>
          <a:p>
            <a:pPr marL="262764" indent="-262764" algn="r" rtl="1">
              <a:buFont typeface="+mj-lt"/>
              <a:buAutoNum type="arabicPeriod"/>
              <a:defRPr/>
            </a:pPr>
            <a:r>
              <a:rPr lang="he-IL" dirty="0"/>
              <a:t>מטמון לנצח </a:t>
            </a:r>
            <a:r>
              <a:rPr lang="en-US" dirty="0"/>
              <a:t>while(!*</a:t>
            </a:r>
            <a:r>
              <a:rPr lang="en-US" dirty="0" err="1"/>
              <a:t>printer_reg</a:t>
            </a:r>
            <a:r>
              <a:rPr lang="en-US" dirty="0"/>
              <a:t>)</a:t>
            </a:r>
            <a:endParaRPr lang="he-IL" dirty="0"/>
          </a:p>
          <a:p>
            <a:pPr marL="262764" indent="-262764" algn="r" rtl="1">
              <a:buFont typeface="+mj-lt"/>
              <a:buAutoNum type="arabicPeriod"/>
              <a:defRPr/>
            </a:pPr>
            <a:r>
              <a:rPr lang="he-IL" dirty="0"/>
              <a:t>דורש תמיכה בחומרה שתרענן </a:t>
            </a:r>
          </a:p>
          <a:p>
            <a:pPr marL="262764" indent="-262764" algn="r" rtl="1">
              <a:buFont typeface="+mj-lt"/>
              <a:buAutoNum type="arabicPeriod"/>
              <a:defRPr/>
            </a:pPr>
            <a:r>
              <a:rPr lang="he-IL" dirty="0"/>
              <a:t>האטה  של הזיכרון למהירות ה </a:t>
            </a:r>
            <a:r>
              <a:rPr lang="en-US" dirty="0"/>
              <a:t>IO</a:t>
            </a:r>
            <a:r>
              <a:rPr lang="he-IL" dirty="0"/>
              <a:t>?</a:t>
            </a:r>
          </a:p>
          <a:p>
            <a:pPr marL="565985" lvl="1" indent="-262764" algn="r" rtl="1">
              <a:buFont typeface="+mj-lt"/>
              <a:buAutoNum type="arabicPeriod"/>
              <a:defRPr/>
            </a:pPr>
            <a:r>
              <a:rPr lang="he-IL" dirty="0"/>
              <a:t>פתרון: בהדלקת מחשב עוברים על כל הכתובת לטובת הגשר</a:t>
            </a:r>
          </a:p>
          <a:p>
            <a:pPr marL="565985" lvl="1" indent="-262764" algn="r" rtl="1">
              <a:buFont typeface="+mj-lt"/>
              <a:buAutoNum type="arabicPeriod"/>
              <a:defRPr/>
            </a:pPr>
            <a:r>
              <a:rPr lang="he-IL" dirty="0"/>
              <a:t>החיסרון הדלקת מחשב איטית יותר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F221A1-2C95-46A8-9A0C-A0BF21DF54D1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F767FAD-F1E9-4676-B937-6584FC653975}" type="slidenum">
              <a:rPr lang="en-US"/>
              <a:pPr/>
              <a:t>5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Memory-Mapped I/O (2)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5525" y="5536628"/>
            <a:ext cx="7959819" cy="91510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(a) A single-bus architecture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(b) A dual-bus memory architecture</a:t>
            </a:r>
            <a:endParaRPr lang="en-US" sz="1800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7075" y="1416041"/>
            <a:ext cx="8388336" cy="379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51E0FB-481D-471F-82BC-5B25F9F7456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A041-66CB-4C00-BB21-5121DEA6BC07}" type="slidenum">
              <a:rPr lang="en-US"/>
              <a:pPr/>
              <a:t>6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1" y="1"/>
            <a:ext cx="7772400" cy="1143000"/>
          </a:xfrm>
        </p:spPr>
        <p:txBody>
          <a:bodyPr/>
          <a:lstStyle/>
          <a:p>
            <a:r>
              <a:rPr lang="en-US"/>
              <a:t>Computer Hardware Review (7)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5263" y="5981701"/>
            <a:ext cx="6978650" cy="8763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Structure of a large Pentium system</a:t>
            </a:r>
          </a:p>
        </p:txBody>
      </p:sp>
      <p:pic>
        <p:nvPicPr>
          <p:cNvPr id="16389" name="Picture 5" descr="C:\B\b4\JPG\foo\1-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16" y="1246189"/>
            <a:ext cx="6097587" cy="439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B764F8-72B0-4AC1-B1C3-6FE04FCCAF7E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C0E51498-3A1B-493E-A2D3-8A9D1C1A4136}"/>
              </a:ext>
            </a:extLst>
          </p:cNvPr>
          <p:cNvGrpSpPr/>
          <p:nvPr/>
        </p:nvGrpSpPr>
        <p:grpSpPr>
          <a:xfrm>
            <a:off x="6798852" y="3878580"/>
            <a:ext cx="356328" cy="481400"/>
            <a:chOff x="8200932" y="4372554"/>
            <a:chExt cx="385139" cy="589786"/>
          </a:xfrm>
        </p:grpSpPr>
        <p:pic>
          <p:nvPicPr>
            <p:cNvPr id="11" name="Picture 5" descr="C:\B\b4\JPG\foo\1-8.jpg">
              <a:extLst>
                <a:ext uri="{FF2B5EF4-FFF2-40B4-BE49-F238E27FC236}">
                  <a16:creationId xmlns:a16="http://schemas.microsoft.com/office/drawing/2014/main" id="{A806F29F-CB79-4D4B-953D-4F5B5181CA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/>
            <a:srcRect l="20526" r="36142"/>
            <a:stretch/>
          </p:blipFill>
          <p:spPr bwMode="auto">
            <a:xfrm>
              <a:off x="8235071" y="4372554"/>
              <a:ext cx="351000" cy="589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תרשים זרימה: דיסק מגנטי 11">
              <a:extLst>
                <a:ext uri="{FF2B5EF4-FFF2-40B4-BE49-F238E27FC236}">
                  <a16:creationId xmlns:a16="http://schemas.microsoft.com/office/drawing/2014/main" id="{EE2B988B-D3DA-449F-AC8E-8EDECE8B9410}"/>
                </a:ext>
              </a:extLst>
            </p:cNvPr>
            <p:cNvSpPr/>
            <p:nvPr/>
          </p:nvSpPr>
          <p:spPr bwMode="auto">
            <a:xfrm>
              <a:off x="8200932" y="4386132"/>
              <a:ext cx="373456" cy="565548"/>
            </a:xfrm>
            <a:prstGeom prst="flowChartMagneticDisk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1" anchor="t" anchorCtr="0" compatLnSpc="1">
              <a:prstTxWarp prst="textNoShape">
                <a:avLst/>
              </a:prstTxWarp>
            </a:bodyPr>
            <a:lstStyle/>
            <a:p>
              <a:endParaRPr lang="he-IL" sz="12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E1B9A0-DACB-4768-A06F-3A659E8D137A}" type="slidenum">
              <a:rPr lang="en-US"/>
              <a:pPr/>
              <a:t>7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Direct Memory Access (DMA)</a:t>
            </a:r>
            <a:endParaRPr lang="en-US" sz="2700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1384" y="5603680"/>
            <a:ext cx="7773206" cy="88617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Operation of a DMA transfer</a:t>
            </a:r>
          </a:p>
        </p:txBody>
      </p:sp>
      <p:pic>
        <p:nvPicPr>
          <p:cNvPr id="7173" name="Picture 6" descr="C:\B\b4\JPG\foo\5-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4791" y="1395005"/>
            <a:ext cx="7668381" cy="3421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4" name="TextBox 5"/>
          <p:cNvSpPr txBox="1">
            <a:spLocks noChangeArrowheads="1"/>
          </p:cNvSpPr>
          <p:nvPr/>
        </p:nvSpPr>
        <p:spPr bwMode="auto">
          <a:xfrm>
            <a:off x="7505960" y="5109316"/>
            <a:ext cx="1906440" cy="53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en-US" sz="1500" dirty="0"/>
              <a:t>Cycle stealing</a:t>
            </a:r>
          </a:p>
          <a:p>
            <a:r>
              <a:rPr lang="en-US" sz="1500" dirty="0"/>
              <a:t>Burst mode</a:t>
            </a:r>
            <a:endParaRPr lang="he-IL" sz="15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16AE8F-EB73-4BDE-BE89-F443365AB80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85CF25-CA8C-4A60-8777-E7824EFF3DA3}" type="slidenum">
              <a:rPr lang="en-US"/>
              <a:pPr/>
              <a:t>8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Interrupts Revisited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439332"/>
            <a:ext cx="7773206" cy="65608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dirty="0"/>
              <a:t>How interrupts happens. Connections between devices and interrupt controller actually use interrupt lines on the bus rather than dedicated wires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896592" y="4600488"/>
            <a:ext cx="685397" cy="4864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60644" tIns="30322" rIns="60644" bIns="30322" anchor="ctr"/>
          <a:lstStyle/>
          <a:p>
            <a:endParaRPr lang="he-IL"/>
          </a:p>
        </p:txBody>
      </p:sp>
      <p:pic>
        <p:nvPicPr>
          <p:cNvPr id="8198" name="Picture 6" descr="C:\B\b4\JPG\foo\5-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1218" y="1698723"/>
            <a:ext cx="8258167" cy="317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84BB66-2150-4C47-9CC2-AF6857076FB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84006F-8059-4673-8CCA-9D95373A2619}" type="slidenum">
              <a:rPr lang="en-US"/>
              <a:pPr/>
              <a:t>9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Programmed I/O (1)  </a:t>
            </a:r>
            <a:r>
              <a:rPr lang="en-US" sz="1600" dirty="0"/>
              <a:t>(polling)</a:t>
            </a:r>
            <a:endParaRPr lang="en-US" sz="4000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8196" y="5466943"/>
            <a:ext cx="7772054" cy="1029489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Steps in printing a string</a:t>
            </a:r>
          </a:p>
        </p:txBody>
      </p:sp>
      <p:pic>
        <p:nvPicPr>
          <p:cNvPr id="11269" name="Picture 5" descr="C:\B\b4\JPG\foo\5-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2052" y="1560670"/>
            <a:ext cx="8111873" cy="33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6C0A67-2EAC-431A-B0CB-C499F703D4B6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C9279D-7AF8-4C26-A19E-214F2ED5AC3D}" type="slidenum">
              <a:rPr lang="en-US"/>
              <a:pPr/>
              <a:t>10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Programmed I/O (2)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125095"/>
            <a:ext cx="7773206" cy="970323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/>
              <a:t>Writing a string to the printer using programmed I/O</a:t>
            </a:r>
          </a:p>
        </p:txBody>
      </p:sp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8128" y="2003758"/>
            <a:ext cx="8362993" cy="2391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4" name="TextBox 7"/>
          <p:cNvSpPr txBox="1">
            <a:spLocks noChangeArrowheads="1"/>
          </p:cNvSpPr>
          <p:nvPr/>
        </p:nvSpPr>
        <p:spPr bwMode="auto">
          <a:xfrm>
            <a:off x="7874743" y="3786064"/>
            <a:ext cx="2232435" cy="1455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 rtl="1"/>
            <a:r>
              <a:rPr lang="he-IL" sz="1500" dirty="0"/>
              <a:t>חיסרון: </a:t>
            </a:r>
            <a:r>
              <a:rPr lang="en-US" sz="1500" dirty="0"/>
              <a:t>busy </a:t>
            </a:r>
            <a:r>
              <a:rPr lang="en-US" sz="1500" dirty="0" err="1"/>
              <a:t>watting</a:t>
            </a:r>
            <a:r>
              <a:rPr lang="en-US" sz="1500" dirty="0"/>
              <a:t> </a:t>
            </a:r>
            <a:r>
              <a:rPr lang="he-IL" sz="1500" dirty="0"/>
              <a:t> המתנה פעילה</a:t>
            </a:r>
          </a:p>
          <a:p>
            <a:pPr algn="r" rtl="1"/>
            <a:r>
              <a:rPr lang="he-IL" sz="1500" dirty="0"/>
              <a:t>יתרון: אם ההתקן </a:t>
            </a:r>
            <a:r>
              <a:rPr lang="en-US" sz="1500" dirty="0"/>
              <a:t>IO</a:t>
            </a:r>
            <a:r>
              <a:rPr lang="he-IL" sz="1500" dirty="0"/>
              <a:t> מהיר אז אולי עדיף לחכות כ 10 </a:t>
            </a:r>
            <a:r>
              <a:rPr lang="he-IL" sz="1500" dirty="0" err="1"/>
              <a:t>איטרציות</a:t>
            </a:r>
            <a:r>
              <a:rPr lang="he-IL" sz="1500" dirty="0"/>
              <a:t> ולא לעשות החלפה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0213D8-9630-427C-B386-F0B0C1C1B764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FAACDE-639B-440B-9A45-570DD1F3D4A1}" type="slidenum">
              <a:rPr lang="en-US"/>
              <a:pPr/>
              <a:t>11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751" y="127537"/>
            <a:ext cx="6895438" cy="888805"/>
          </a:xfrm>
        </p:spPr>
        <p:txBody>
          <a:bodyPr/>
          <a:lstStyle/>
          <a:p>
            <a:pPr eaLnBrk="1" hangingPunct="1"/>
            <a:r>
              <a:rPr lang="en-US" sz="3200" dirty="0"/>
              <a:t>Interrupt-Driven I/O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677" y="5096167"/>
            <a:ext cx="8585316" cy="99924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dirty="0"/>
              <a:t>Writing a string to the printer using interrupt-driven I/O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Code executed when print system call is made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Interrupt service procedure</a:t>
            </a: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7276" y="1079453"/>
            <a:ext cx="8457451" cy="353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8" name="TextBox 5"/>
          <p:cNvSpPr txBox="1">
            <a:spLocks noChangeArrowheads="1"/>
          </p:cNvSpPr>
          <p:nvPr/>
        </p:nvSpPr>
        <p:spPr bwMode="auto">
          <a:xfrm>
            <a:off x="7348146" y="4928063"/>
            <a:ext cx="2463974" cy="763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 rtl="1"/>
            <a:r>
              <a:rPr lang="he-IL" sz="1500" dirty="0"/>
              <a:t>יתרון: אין המתנה פעילה</a:t>
            </a:r>
          </a:p>
          <a:p>
            <a:pPr algn="r" rtl="1"/>
            <a:r>
              <a:rPr lang="he-IL" sz="1500" dirty="0"/>
              <a:t>חיסרון : הרבה פסיקות , הרבה החלפות </a:t>
            </a:r>
            <a:r>
              <a:rPr lang="en-US" sz="1500" dirty="0"/>
              <a:t>context </a:t>
            </a:r>
            <a:r>
              <a:rPr lang="en-US" sz="1500" dirty="0" err="1"/>
              <a:t>switc</a:t>
            </a:r>
            <a:endParaRPr lang="he-IL" sz="15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91A3E0-69A0-45ED-8552-B55BDCB1B3D9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3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3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C44B8E-8952-4ECE-863C-121585793222}" type="slidenum">
              <a:rPr lang="en-US"/>
              <a:pPr/>
              <a:t>12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I/O Using DMA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81752" y="4181066"/>
            <a:ext cx="8115328" cy="1914350"/>
          </a:xfrm>
        </p:spPr>
        <p:txBody>
          <a:bodyPr/>
          <a:lstStyle/>
          <a:p>
            <a:pPr eaLnBrk="1" hangingPunct="1"/>
            <a:r>
              <a:rPr lang="en-US"/>
              <a:t>Printing a string using DMA</a:t>
            </a:r>
          </a:p>
          <a:p>
            <a:pPr lvl="1" eaLnBrk="1" hangingPunct="1"/>
            <a:r>
              <a:rPr lang="en-US"/>
              <a:t>code executed when the print system call is made</a:t>
            </a:r>
          </a:p>
          <a:p>
            <a:pPr lvl="1" eaLnBrk="1" hangingPunct="1"/>
            <a:r>
              <a:rPr lang="en-US"/>
              <a:t>interrupt service procedure</a:t>
            </a: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4922" y="1460746"/>
            <a:ext cx="8210939" cy="226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TextBox 5"/>
          <p:cNvSpPr txBox="1">
            <a:spLocks noChangeArrowheads="1"/>
          </p:cNvSpPr>
          <p:nvPr/>
        </p:nvSpPr>
        <p:spPr bwMode="auto">
          <a:xfrm>
            <a:off x="7390273" y="4254884"/>
            <a:ext cx="1990531" cy="136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 rtl="1"/>
            <a:r>
              <a:rPr lang="he-IL" sz="1400" dirty="0"/>
              <a:t>יתרון : משחרר את המעבד</a:t>
            </a:r>
          </a:p>
          <a:p>
            <a:pPr algn="r" rtl="1"/>
            <a:r>
              <a:rPr lang="he-IL" sz="1400" dirty="0"/>
              <a:t>חיסרון: ה</a:t>
            </a:r>
            <a:r>
              <a:rPr lang="en-US" sz="1400" dirty="0"/>
              <a:t>DMA</a:t>
            </a:r>
            <a:r>
              <a:rPr lang="he-IL" sz="1400" dirty="0"/>
              <a:t> איטי מאוד ולכן אם המעבד פנוי יחסית אז היה יותר מהיר לתת לו את העבודה</a:t>
            </a:r>
          </a:p>
          <a:p>
            <a:pPr algn="r" rtl="1"/>
            <a:r>
              <a:rPr lang="he-IL" sz="1400" dirty="0"/>
              <a:t>(לא בכל חומרה יש </a:t>
            </a:r>
            <a:r>
              <a:rPr lang="en-US" sz="1400" dirty="0"/>
              <a:t>DMA</a:t>
            </a:r>
            <a:r>
              <a:rPr lang="he-IL" sz="1400" dirty="0"/>
              <a:t>)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5E0322-5DFC-449F-9A56-C966881FFD2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1EB1A7-57BB-479C-9C1E-A96FE87A968A}" type="slidenum">
              <a:rPr lang="en-US"/>
              <a:pPr/>
              <a:t>13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Interrupt Handlers (1)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1765" y="1295080"/>
            <a:ext cx="8597986" cy="4772726"/>
          </a:xfrm>
        </p:spPr>
        <p:txBody>
          <a:bodyPr/>
          <a:lstStyle/>
          <a:p>
            <a:pPr marL="403878" indent="-403878" eaLnBrk="1" hangingPunct="1">
              <a:lnSpc>
                <a:spcPct val="90000"/>
              </a:lnSpc>
            </a:pPr>
            <a:r>
              <a:rPr lang="en-US" dirty="0"/>
              <a:t>Interrupt handlers are best hidden</a:t>
            </a:r>
          </a:p>
          <a:p>
            <a:pPr marL="656911" lvl="1" indent="-352785" eaLnBrk="1" hangingPunct="1">
              <a:lnSpc>
                <a:spcPct val="90000"/>
              </a:lnSpc>
            </a:pPr>
            <a:r>
              <a:rPr lang="en-US" dirty="0"/>
              <a:t>have driver starting an I/O operation block until interrupt notifies of completion</a:t>
            </a:r>
          </a:p>
          <a:p>
            <a:pPr marL="656911" lvl="1" indent="-352785" eaLnBrk="1" hangingPunct="1">
              <a:lnSpc>
                <a:spcPct val="90000"/>
              </a:lnSpc>
            </a:pPr>
            <a:endParaRPr lang="en-US" dirty="0"/>
          </a:p>
          <a:p>
            <a:pPr marL="403878" indent="-403878" eaLnBrk="1" hangingPunct="1">
              <a:lnSpc>
                <a:spcPct val="90000"/>
              </a:lnSpc>
            </a:pPr>
            <a:r>
              <a:rPr lang="en-US" dirty="0"/>
              <a:t>Interrupt procedure does its task</a:t>
            </a:r>
          </a:p>
          <a:p>
            <a:pPr marL="656911" lvl="1" indent="-352785" eaLnBrk="1" hangingPunct="1">
              <a:lnSpc>
                <a:spcPct val="90000"/>
              </a:lnSpc>
            </a:pPr>
            <a:r>
              <a:rPr lang="en-US" dirty="0"/>
              <a:t>then unblocks driver that started it</a:t>
            </a:r>
          </a:p>
          <a:p>
            <a:pPr marL="656911" lvl="1" indent="-352785" eaLnBrk="1" hangingPunct="1">
              <a:lnSpc>
                <a:spcPct val="90000"/>
              </a:lnSpc>
            </a:pPr>
            <a:endParaRPr lang="en-US" dirty="0"/>
          </a:p>
          <a:p>
            <a:pPr marL="403878" indent="-403878" eaLnBrk="1" hangingPunct="1">
              <a:lnSpc>
                <a:spcPct val="90000"/>
              </a:lnSpc>
            </a:pPr>
            <a:r>
              <a:rPr lang="en-US" dirty="0"/>
              <a:t>Steps must be performed in software after interrupt completed</a:t>
            </a:r>
          </a:p>
          <a:p>
            <a:pPr marL="656911" lvl="1" indent="-352785"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US" dirty="0"/>
              <a:t>Save </a:t>
            </a:r>
            <a:r>
              <a:rPr lang="en-US" dirty="0" err="1"/>
              <a:t>regs</a:t>
            </a:r>
            <a:r>
              <a:rPr lang="en-US" dirty="0"/>
              <a:t> not already saved by interrupt hardware</a:t>
            </a:r>
          </a:p>
          <a:p>
            <a:pPr marL="656911" lvl="1" indent="-352785"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US" dirty="0"/>
              <a:t>Set up context for interrupt service procedure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43A062-84E0-4E71-A344-C685D5BB473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D7B996-90E1-4D64-9DB1-E8C7DCFF1CF4}" type="slidenum">
              <a:rPr lang="en-US"/>
              <a:pPr/>
              <a:t>14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Interrupt Handlers (2)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9413" y="1409466"/>
            <a:ext cx="8661341" cy="4371712"/>
          </a:xfrm>
        </p:spPr>
        <p:txBody>
          <a:bodyPr/>
          <a:lstStyle/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>
                <a:solidFill>
                  <a:schemeClr val="accent2"/>
                </a:solidFill>
              </a:rPr>
              <a:t>Set up stack for interrupt service procedure</a:t>
            </a:r>
          </a:p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 err="1">
                <a:solidFill>
                  <a:schemeClr val="accent2"/>
                </a:solidFill>
              </a:rPr>
              <a:t>Ack</a:t>
            </a:r>
            <a:r>
              <a:rPr lang="en-US" sz="2100" dirty="0">
                <a:solidFill>
                  <a:schemeClr val="accent2"/>
                </a:solidFill>
              </a:rPr>
              <a:t> interrupt controller, </a:t>
            </a:r>
            <a:r>
              <a:rPr lang="en-US" sz="2100" dirty="0" err="1">
                <a:solidFill>
                  <a:schemeClr val="accent2"/>
                </a:solidFill>
              </a:rPr>
              <a:t>reenable</a:t>
            </a:r>
            <a:r>
              <a:rPr lang="en-US" sz="2100" dirty="0">
                <a:solidFill>
                  <a:schemeClr val="accent2"/>
                </a:solidFill>
              </a:rPr>
              <a:t> interrupts</a:t>
            </a:r>
          </a:p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>
                <a:solidFill>
                  <a:schemeClr val="accent2"/>
                </a:solidFill>
              </a:rPr>
              <a:t>Copy registers from where saved</a:t>
            </a:r>
          </a:p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>
                <a:solidFill>
                  <a:schemeClr val="accent2"/>
                </a:solidFill>
              </a:rPr>
              <a:t>Run service procedure </a:t>
            </a:r>
          </a:p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>
                <a:solidFill>
                  <a:schemeClr val="accent2"/>
                </a:solidFill>
              </a:rPr>
              <a:t>Set up MMU context for process to run next</a:t>
            </a:r>
          </a:p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>
                <a:solidFill>
                  <a:schemeClr val="accent2"/>
                </a:solidFill>
              </a:rPr>
              <a:t>Load new process' registers</a:t>
            </a:r>
          </a:p>
          <a:p>
            <a:pPr marL="656911" lvl="1" indent="-352785" eaLnBrk="1" hangingPunct="1">
              <a:buSzPct val="50000"/>
              <a:buFont typeface="Wingdings" pitchFamily="2" charset="2"/>
              <a:buAutoNum type="arabicPeriod" startAt="3"/>
            </a:pPr>
            <a:r>
              <a:rPr lang="en-US" sz="2100" dirty="0">
                <a:solidFill>
                  <a:schemeClr val="accent2"/>
                </a:solidFill>
              </a:rPr>
              <a:t>Start running the new process</a:t>
            </a:r>
            <a:endParaRPr lang="en-US" sz="21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7D78BD-A305-4832-A6FD-46B1D3F3BD08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1E5A48-F31A-44B0-A577-226DC01BF3E3}" type="slidenum">
              <a:rPr lang="en-US"/>
              <a:pPr/>
              <a:t>15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2108028" y="56538"/>
            <a:ext cx="7772054" cy="1068932"/>
          </a:xfrm>
        </p:spPr>
        <p:txBody>
          <a:bodyPr/>
          <a:lstStyle/>
          <a:p>
            <a:pPr eaLnBrk="1" hangingPunct="1"/>
            <a:r>
              <a:rPr lang="en-US" sz="2700" dirty="0"/>
              <a:t>Principles of I/O Software</a:t>
            </a:r>
            <a:br>
              <a:rPr lang="en-US" sz="3200" dirty="0"/>
            </a:br>
            <a:r>
              <a:rPr lang="en-US" sz="2100" dirty="0"/>
              <a:t>Goals of I/O Software (1)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1352930"/>
            <a:ext cx="7773206" cy="5058038"/>
          </a:xfrm>
        </p:spPr>
        <p:txBody>
          <a:bodyPr/>
          <a:lstStyle/>
          <a:p>
            <a:pPr eaLnBrk="1" hangingPunct="1"/>
            <a:r>
              <a:rPr lang="en-US" dirty="0"/>
              <a:t>Device independence</a:t>
            </a:r>
          </a:p>
          <a:p>
            <a:pPr lvl="1" eaLnBrk="1" hangingPunct="1"/>
            <a:r>
              <a:rPr lang="en-US" dirty="0"/>
              <a:t>programs can access any I/O device   - OPEN(URL ….)</a:t>
            </a:r>
          </a:p>
          <a:p>
            <a:pPr lvl="1" eaLnBrk="1" hangingPunct="1"/>
            <a:r>
              <a:rPr lang="en-US" dirty="0"/>
              <a:t>without specifying device in advance  </a:t>
            </a:r>
          </a:p>
          <a:p>
            <a:pPr lvl="2" eaLnBrk="1" hangingPunct="1">
              <a:buFontTx/>
              <a:buChar char="·"/>
            </a:pPr>
            <a:r>
              <a:rPr lang="en-US" dirty="0"/>
              <a:t>(floppy, hard drive, or CD-ROM)</a:t>
            </a:r>
          </a:p>
          <a:p>
            <a:pPr eaLnBrk="1" hangingPunct="1"/>
            <a:r>
              <a:rPr lang="en-US" dirty="0"/>
              <a:t>Uniform naming</a:t>
            </a:r>
          </a:p>
          <a:p>
            <a:pPr lvl="1" eaLnBrk="1" hangingPunct="1"/>
            <a:r>
              <a:rPr lang="en-US" dirty="0"/>
              <a:t>name of a file or device a string or an integer   FILE==STRING==URL</a:t>
            </a:r>
          </a:p>
          <a:p>
            <a:pPr lvl="1" eaLnBrk="1" hangingPunct="1"/>
            <a:r>
              <a:rPr lang="en-US" dirty="0"/>
              <a:t>not depending on which machine</a:t>
            </a:r>
          </a:p>
          <a:p>
            <a:pPr eaLnBrk="1" hangingPunct="1"/>
            <a:r>
              <a:rPr lang="en-US" dirty="0"/>
              <a:t>Error handling</a:t>
            </a:r>
          </a:p>
          <a:p>
            <a:pPr lvl="1" eaLnBrk="1" hangingPunct="1"/>
            <a:r>
              <a:rPr lang="en-US" dirty="0"/>
              <a:t>handle as close to the hardware as possible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323E9B-FF9F-41D4-A545-DDAE38B56A0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8BE0A9-63D7-4157-8808-A551B0166E4E}" type="slidenum">
              <a:rPr lang="en-US"/>
              <a:pPr/>
              <a:t>16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752" y="90722"/>
            <a:ext cx="7772054" cy="962434"/>
          </a:xfrm>
        </p:spPr>
        <p:txBody>
          <a:bodyPr/>
          <a:lstStyle/>
          <a:p>
            <a:pPr eaLnBrk="1" hangingPunct="1"/>
            <a:r>
              <a:rPr lang="en-US"/>
              <a:t>Goals of I/O Software (2)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1267468"/>
            <a:ext cx="7773206" cy="4827948"/>
          </a:xfrm>
        </p:spPr>
        <p:txBody>
          <a:bodyPr/>
          <a:lstStyle/>
          <a:p>
            <a:pPr eaLnBrk="1" hangingPunct="1"/>
            <a:r>
              <a:rPr lang="en-US"/>
              <a:t>Synchronous vs. asynchronous transfers</a:t>
            </a:r>
          </a:p>
          <a:p>
            <a:pPr lvl="1" eaLnBrk="1" hangingPunct="1"/>
            <a:r>
              <a:rPr lang="en-US"/>
              <a:t>blocked transfers vs. interrupt-driven – </a:t>
            </a:r>
            <a:r>
              <a:rPr lang="he-IL"/>
              <a:t>הבקשות מתוזמנות אך התשובות לא</a:t>
            </a:r>
            <a:endParaRPr lang="en-US"/>
          </a:p>
          <a:p>
            <a:pPr eaLnBrk="1" hangingPunct="1"/>
            <a:r>
              <a:rPr lang="en-US"/>
              <a:t>Buffering</a:t>
            </a:r>
          </a:p>
          <a:p>
            <a:pPr lvl="1" eaLnBrk="1" hangingPunct="1"/>
            <a:r>
              <a:rPr lang="en-US"/>
              <a:t>data coming off a device cannot be stored in final destination</a:t>
            </a:r>
          </a:p>
          <a:p>
            <a:pPr lvl="1" eaLnBrk="1" hangingPunct="1"/>
            <a:r>
              <a:rPr lang="he-IL"/>
              <a:t>חוצץ בין התקנים בעלי מהירויות שונות/קצב עבודה שונה </a:t>
            </a:r>
          </a:p>
          <a:p>
            <a:pPr lvl="1" eaLnBrk="1" hangingPunct="1"/>
            <a:r>
              <a:rPr lang="he-IL"/>
              <a:t>החוצץ יקלוט את הנתונים לזיכרון הזמני הנ"ל גם אם המעבד עסוק</a:t>
            </a:r>
            <a:endParaRPr lang="en-US"/>
          </a:p>
          <a:p>
            <a:pPr eaLnBrk="1" hangingPunct="1"/>
            <a:r>
              <a:rPr lang="en-US"/>
              <a:t>Sharable vs. dedicated devices</a:t>
            </a:r>
          </a:p>
          <a:p>
            <a:pPr lvl="1" eaLnBrk="1" hangingPunct="1"/>
            <a:r>
              <a:rPr lang="en-US"/>
              <a:t>disks are sharable</a:t>
            </a:r>
          </a:p>
          <a:p>
            <a:pPr lvl="1" eaLnBrk="1" hangingPunct="1"/>
            <a:r>
              <a:rPr lang="en-US"/>
              <a:t>tape drives would not be</a:t>
            </a:r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</p:txBody>
      </p:sp>
      <p:sp>
        <p:nvSpPr>
          <p:cNvPr id="10245" name="TextBox 4"/>
          <p:cNvSpPr txBox="1">
            <a:spLocks noChangeArrowheads="1"/>
          </p:cNvSpPr>
          <p:nvPr/>
        </p:nvSpPr>
        <p:spPr bwMode="auto">
          <a:xfrm>
            <a:off x="6506088" y="4495306"/>
            <a:ext cx="3170105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he-IL" sz="1400" dirty="0"/>
              <a:t>מטמון == שמירת נתונים בהתקן המהיר/קרוב ע"מ לחסוך גישה להתקן המרוחק/איטי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8150A5-5ED9-4B5B-97F0-DB7BD31535C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474949-222C-47E9-92E3-8A8BCC9BA720}" type="slidenum">
              <a:rPr lang="en-US"/>
              <a:pPr/>
              <a:t>17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I/O Software Layers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210557"/>
            <a:ext cx="7773206" cy="88486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Layers of the I/O Software System</a:t>
            </a:r>
          </a:p>
        </p:txBody>
      </p:sp>
      <p:pic>
        <p:nvPicPr>
          <p:cNvPr id="15365" name="Picture 5" descr="C:\B\b4\JPG\foo\5-1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1769" y="1477838"/>
            <a:ext cx="7934476" cy="2997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366" name="מחבר חץ ישר 6"/>
          <p:cNvCxnSpPr>
            <a:cxnSpLocks noChangeShapeType="1"/>
          </p:cNvCxnSpPr>
          <p:nvPr/>
        </p:nvCxnSpPr>
        <p:spPr bwMode="auto">
          <a:xfrm flipV="1">
            <a:off x="2398314" y="2584899"/>
            <a:ext cx="852426" cy="299775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15367" name="מחבר חץ ישר 9"/>
          <p:cNvCxnSpPr>
            <a:cxnSpLocks noChangeShapeType="1"/>
          </p:cNvCxnSpPr>
          <p:nvPr/>
        </p:nvCxnSpPr>
        <p:spPr bwMode="auto">
          <a:xfrm rot="10800000">
            <a:off x="9349045" y="2488919"/>
            <a:ext cx="800589" cy="95980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15368" name="TextBox 10"/>
          <p:cNvSpPr txBox="1">
            <a:spLocks noChangeArrowheads="1"/>
          </p:cNvSpPr>
          <p:nvPr/>
        </p:nvSpPr>
        <p:spPr bwMode="auto">
          <a:xfrm>
            <a:off x="1955974" y="2307477"/>
            <a:ext cx="958404" cy="99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he-IL" sz="1500" dirty="0"/>
              <a:t>תוכנה הבלתי תלויה בהתקן</a:t>
            </a:r>
          </a:p>
        </p:txBody>
      </p:sp>
      <p:cxnSp>
        <p:nvCxnSpPr>
          <p:cNvPr id="15369" name="מחבר חץ ישר 12"/>
          <p:cNvCxnSpPr>
            <a:cxnSpLocks noChangeShapeType="1"/>
          </p:cNvCxnSpPr>
          <p:nvPr/>
        </p:nvCxnSpPr>
        <p:spPr bwMode="auto">
          <a:xfrm>
            <a:off x="4663003" y="3089783"/>
            <a:ext cx="0" cy="1009769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15370" name="מחבר חץ ישר 14"/>
          <p:cNvCxnSpPr>
            <a:cxnSpLocks noChangeShapeType="1"/>
          </p:cNvCxnSpPr>
          <p:nvPr/>
        </p:nvCxnSpPr>
        <p:spPr bwMode="auto">
          <a:xfrm rot="5400000" flipH="1" flipV="1">
            <a:off x="7799091" y="3913582"/>
            <a:ext cx="456235" cy="10367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15371" name="מחבר חץ ישר 16"/>
          <p:cNvCxnSpPr>
            <a:cxnSpLocks noChangeShapeType="1"/>
          </p:cNvCxnSpPr>
          <p:nvPr/>
        </p:nvCxnSpPr>
        <p:spPr bwMode="auto">
          <a:xfrm rot="16200000" flipV="1">
            <a:off x="8369738" y="3391023"/>
            <a:ext cx="504883" cy="20734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15372" name="מלבן 17"/>
          <p:cNvSpPr>
            <a:spLocks noChangeArrowheads="1"/>
          </p:cNvSpPr>
          <p:nvPr/>
        </p:nvSpPr>
        <p:spPr bwMode="auto">
          <a:xfrm>
            <a:off x="3166648" y="2223329"/>
            <a:ext cx="6350576" cy="686326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lIns="70070" tIns="35035" rIns="70070" bIns="35035"/>
          <a:lstStyle/>
          <a:p>
            <a:endParaRPr lang="he-IL" sz="1200" dirty="0"/>
          </a:p>
        </p:txBody>
      </p:sp>
      <p:cxnSp>
        <p:nvCxnSpPr>
          <p:cNvPr id="13" name="מחבר חץ ישר 16"/>
          <p:cNvCxnSpPr>
            <a:cxnSpLocks noChangeShapeType="1"/>
          </p:cNvCxnSpPr>
          <p:nvPr/>
        </p:nvCxnSpPr>
        <p:spPr bwMode="auto">
          <a:xfrm rot="16200000" flipV="1">
            <a:off x="8585642" y="2814013"/>
            <a:ext cx="504883" cy="20734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14" name="מחבר חץ ישר 16"/>
          <p:cNvCxnSpPr>
            <a:cxnSpLocks noChangeShapeType="1"/>
          </p:cNvCxnSpPr>
          <p:nvPr/>
        </p:nvCxnSpPr>
        <p:spPr bwMode="auto">
          <a:xfrm>
            <a:off x="4167674" y="2728212"/>
            <a:ext cx="0" cy="361570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05BCCA-5753-4B9E-9EAB-5C6E45A9424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37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9B7E90-1D70-4A2A-975B-0A9E44E6E021}" type="slidenum">
              <a:rPr lang="en-US"/>
              <a:pPr/>
              <a:t>18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228980" y="101240"/>
            <a:ext cx="7931021" cy="969008"/>
          </a:xfrm>
        </p:spPr>
        <p:txBody>
          <a:bodyPr/>
          <a:lstStyle/>
          <a:p>
            <a:pPr eaLnBrk="1" hangingPunct="1"/>
            <a:r>
              <a:rPr lang="en-US"/>
              <a:t>Device Drivers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3357" y="5572125"/>
            <a:ext cx="7772054" cy="9427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600" dirty="0"/>
              <a:t>Logical position of device drivers is shown here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/>
              <a:t>Communications between drivers and device controllers goes over the bus</a:t>
            </a:r>
            <a:endParaRPr lang="en-US" dirty="0"/>
          </a:p>
        </p:txBody>
      </p:sp>
      <p:pic>
        <p:nvPicPr>
          <p:cNvPr id="18437" name="Picture 6" descr="C:\B\b4\JPG\foo\5-1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7003" y="1124155"/>
            <a:ext cx="4749396" cy="4079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8416382" y="1157267"/>
            <a:ext cx="1981504" cy="2563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0070" tIns="35035" rIns="70070" bIns="35035">
            <a:spAutoFit/>
          </a:bodyPr>
          <a:lstStyle/>
          <a:p>
            <a:r>
              <a:rPr lang="he-IL" sz="1800" dirty="0"/>
              <a:t>תוכנית תיאום- </a:t>
            </a:r>
          </a:p>
          <a:p>
            <a:r>
              <a:rPr lang="he-IL" sz="1800" dirty="0"/>
              <a:t>יצרני החומרה מספקים תוכנית זו כאשר יש לה </a:t>
            </a:r>
          </a:p>
          <a:p>
            <a:r>
              <a:rPr lang="en-US" sz="1800" dirty="0"/>
              <a:t>API</a:t>
            </a:r>
            <a:endParaRPr lang="he-IL" sz="1800" dirty="0"/>
          </a:p>
          <a:p>
            <a:r>
              <a:rPr lang="he-IL" sz="1800" dirty="0"/>
              <a:t>שמתאים למערכת </a:t>
            </a:r>
            <a:endParaRPr lang="en-US" sz="1800" dirty="0"/>
          </a:p>
          <a:p>
            <a:r>
              <a:rPr lang="he-IL" sz="1800" dirty="0"/>
              <a:t>ההפעלה</a:t>
            </a:r>
            <a:endParaRPr lang="en-US" sz="1800" dirty="0"/>
          </a:p>
          <a:p>
            <a:r>
              <a:rPr lang="he-IL" sz="1800" dirty="0"/>
              <a:t>נותן גמישות ליצרני החומרה</a:t>
            </a:r>
          </a:p>
        </p:txBody>
      </p:sp>
      <p:sp>
        <p:nvSpPr>
          <p:cNvPr id="18439" name="TextBox 6"/>
          <p:cNvSpPr txBox="1">
            <a:spLocks noChangeArrowheads="1"/>
          </p:cNvSpPr>
          <p:nvPr/>
        </p:nvSpPr>
        <p:spPr bwMode="auto">
          <a:xfrm>
            <a:off x="1871882" y="937456"/>
            <a:ext cx="2253170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l"/>
            <a:r>
              <a:rPr lang="en-US" sz="2100" dirty="0"/>
              <a:t>Block device</a:t>
            </a:r>
          </a:p>
          <a:p>
            <a:pPr algn="l"/>
            <a:r>
              <a:rPr lang="en-US" sz="2100" dirty="0" err="1"/>
              <a:t>Charcter</a:t>
            </a:r>
            <a:r>
              <a:rPr lang="en-US" sz="2100" dirty="0"/>
              <a:t> device</a:t>
            </a:r>
            <a:endParaRPr lang="he-IL" sz="21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778E4C-BD0E-4D05-84E7-0D3D044881F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F2FACF1-74A1-44DA-B6EB-4F7D45973D8B}" type="slidenum">
              <a:rPr lang="en-US"/>
              <a:pPr/>
              <a:t>19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838478" y="0"/>
            <a:ext cx="8657886" cy="1142562"/>
          </a:xfrm>
        </p:spPr>
        <p:txBody>
          <a:bodyPr/>
          <a:lstStyle/>
          <a:p>
            <a:pPr eaLnBrk="1" hangingPunct="1"/>
            <a:r>
              <a:rPr lang="en-US" dirty="0"/>
              <a:t>Device-Independent I/O Software (2)</a:t>
            </a:r>
            <a:endParaRPr lang="en-US" sz="2700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5947" y="5038317"/>
            <a:ext cx="7772054" cy="1314801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(a) Without a standard driver interface</a:t>
            </a:r>
          </a:p>
          <a:p>
            <a:pPr eaLnBrk="1" hangingPunct="1">
              <a:buFontTx/>
              <a:buNone/>
            </a:pPr>
            <a:r>
              <a:rPr lang="en-US"/>
              <a:t>(b) With a standard driver interface</a:t>
            </a:r>
          </a:p>
        </p:txBody>
      </p:sp>
      <p:pic>
        <p:nvPicPr>
          <p:cNvPr id="20485" name="Picture 6" descr="C:\B\b4\JPG\foo\5-1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65408" y="1387116"/>
            <a:ext cx="8315765" cy="3298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D772E1-555D-461D-AE5A-017B8DCE25B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10FC68A-98EF-4D48-8D30-8D6E1DB31F62}" type="slidenum">
              <a:rPr lang="en-US"/>
              <a:pPr/>
              <a:t>20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751" y="241923"/>
            <a:ext cx="7620000" cy="709992"/>
          </a:xfrm>
        </p:spPr>
        <p:txBody>
          <a:bodyPr/>
          <a:lstStyle/>
          <a:p>
            <a:pPr eaLnBrk="1" hangingPunct="1"/>
            <a:r>
              <a:rPr lang="en-US"/>
              <a:t>User-Space I/O Software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8" y="5466943"/>
            <a:ext cx="8030086" cy="6284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   Layers of the I/O system and the main functions of each layer</a:t>
            </a:r>
            <a:endParaRPr lang="en-US" sz="1600" dirty="0"/>
          </a:p>
        </p:txBody>
      </p:sp>
      <p:pic>
        <p:nvPicPr>
          <p:cNvPr id="23557" name="Picture 5" descr="C:\B\b4\JPG\foo\5-1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6428" y="1446282"/>
            <a:ext cx="7679901" cy="333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8" name="מלבן 5"/>
          <p:cNvSpPr>
            <a:spLocks noChangeArrowheads="1"/>
          </p:cNvSpPr>
          <p:nvPr/>
        </p:nvSpPr>
        <p:spPr bwMode="auto">
          <a:xfrm>
            <a:off x="3019204" y="2391625"/>
            <a:ext cx="3044545" cy="770473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lIns="70070" tIns="35035" rIns="70070" bIns="35035"/>
          <a:lstStyle/>
          <a:p>
            <a:endParaRPr lang="he-IL" sz="12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97F00D-8755-4438-98D5-7D0E321F64FD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36E1FE-51E7-4870-BCFD-D913FE213A1C}" type="slidenum">
              <a:rPr lang="en-US"/>
              <a:pPr/>
              <a:t>21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650712" y="114389"/>
            <a:ext cx="8585316" cy="949286"/>
          </a:xfrm>
        </p:spPr>
        <p:txBody>
          <a:bodyPr/>
          <a:lstStyle/>
          <a:p>
            <a:pPr eaLnBrk="1" hangingPunct="1"/>
            <a:r>
              <a:rPr lang="en-US" dirty="0"/>
              <a:t>Device-Independent I/O Software (1)</a:t>
            </a:r>
            <a:endParaRPr lang="en-US" sz="2700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6741" y="5455108"/>
            <a:ext cx="8713179" cy="99924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Functions of the device-independent I/O software</a:t>
            </a:r>
            <a:endParaRPr lang="en-US" sz="1800" dirty="0"/>
          </a:p>
        </p:txBody>
      </p:sp>
      <p:graphicFrame>
        <p:nvGraphicFramePr>
          <p:cNvPr id="19478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360196"/>
              </p:ext>
            </p:extLst>
          </p:nvPr>
        </p:nvGraphicFramePr>
        <p:xfrm>
          <a:off x="2791121" y="1853871"/>
          <a:ext cx="6453098" cy="2976767"/>
        </p:xfrm>
        <a:graphic>
          <a:graphicData uri="http://schemas.openxmlformats.org/drawingml/2006/table">
            <a:tbl>
              <a:tblPr/>
              <a:tblGrid>
                <a:gridCol w="6453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Uniform interfacing for device drivers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Buffering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5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Error reporting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Allocating and releasing dedicate devices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4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Providing a device-independent block size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75" name="TextBox 18"/>
          <p:cNvSpPr txBox="1">
            <a:spLocks noChangeArrowheads="1"/>
          </p:cNvSpPr>
          <p:nvPr/>
        </p:nvSpPr>
        <p:spPr bwMode="auto">
          <a:xfrm>
            <a:off x="9244220" y="1899888"/>
            <a:ext cx="1063229" cy="286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en-US" sz="1400" dirty="0"/>
              <a:t>Open(</a:t>
            </a:r>
            <a:r>
              <a:rPr lang="en-US" sz="1400" dirty="0" err="1"/>
              <a:t>url</a:t>
            </a:r>
            <a:r>
              <a:rPr lang="en-US" sz="1400" dirty="0"/>
              <a:t>)</a:t>
            </a:r>
            <a:endParaRPr lang="he-IL" sz="1400" dirty="0"/>
          </a:p>
        </p:txBody>
      </p:sp>
      <p:sp>
        <p:nvSpPr>
          <p:cNvPr id="19476" name="TextBox 19"/>
          <p:cNvSpPr txBox="1">
            <a:spLocks noChangeArrowheads="1"/>
          </p:cNvSpPr>
          <p:nvPr/>
        </p:nvSpPr>
        <p:spPr bwMode="auto">
          <a:xfrm>
            <a:off x="9275321" y="4351990"/>
            <a:ext cx="1064381" cy="286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he-IL" sz="1400" dirty="0"/>
              <a:t>בלוק לוגי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28F069-6BD4-4D74-AD4F-0A869105F90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DF67DE-0DE4-442E-B360-606527B816E4}" type="slidenum">
              <a:rPr lang="en-US"/>
              <a:pPr/>
              <a:t>22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01240"/>
            <a:ext cx="8838740" cy="953230"/>
          </a:xfrm>
        </p:spPr>
        <p:txBody>
          <a:bodyPr/>
          <a:lstStyle/>
          <a:p>
            <a:pPr eaLnBrk="1" hangingPunct="1"/>
            <a:r>
              <a:rPr lang="en-US" dirty="0"/>
              <a:t>Device-Independent I/O Software (3)</a:t>
            </a:r>
            <a:endParaRPr lang="en-US" sz="27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8043" y="5086964"/>
            <a:ext cx="9029958" cy="1593538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 dirty="0"/>
              <a:t>(a) </a:t>
            </a:r>
            <a:r>
              <a:rPr lang="en-US" sz="1800" dirty="0" err="1"/>
              <a:t>Unbuffered</a:t>
            </a:r>
            <a:r>
              <a:rPr lang="en-US" sz="1800" dirty="0"/>
              <a:t> input – </a:t>
            </a:r>
            <a:r>
              <a:rPr lang="he-IL" sz="1800" dirty="0"/>
              <a:t>חיסרון הרבה החלפות התהליך ירוץ הרבה פעמים לזמן קצר</a:t>
            </a:r>
            <a:endParaRPr lang="en-US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 dirty="0"/>
              <a:t>(b) Buffering in user space – </a:t>
            </a:r>
            <a:r>
              <a:rPr lang="he-IL" sz="1800" dirty="0"/>
              <a:t>צריך לנעול את המסגרת בזיכרון שלא </a:t>
            </a:r>
            <a:r>
              <a:rPr lang="he-IL" sz="1800" dirty="0" err="1"/>
              <a:t>ידופדף</a:t>
            </a:r>
            <a:r>
              <a:rPr lang="he-IL" sz="1800" dirty="0"/>
              <a:t>, מקטין את מרחב המסגרות</a:t>
            </a:r>
            <a:endParaRPr lang="en-US" sz="1800" dirty="0"/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 dirty="0"/>
              <a:t>(c) Buffering in the kernel followed by copying to user space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 dirty="0"/>
              <a:t>(d) Double buffering in the kernel – </a:t>
            </a:r>
            <a:r>
              <a:rPr lang="he-IL" sz="1800" dirty="0"/>
              <a:t>תמיד יש חוצץ פנוי לספוג נתונים</a:t>
            </a:r>
            <a:endParaRPr lang="en-US" sz="1600" dirty="0"/>
          </a:p>
        </p:txBody>
      </p:sp>
      <p:pic>
        <p:nvPicPr>
          <p:cNvPr id="21509" name="Picture 5" descr="C:\B\b4\JPG\foo\5-1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9048" y="1145193"/>
            <a:ext cx="7429932" cy="305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E44A22-CFE9-4BDE-BD12-8CC9A4124CD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C3B7A3-7712-47A1-A8E3-B69190ACDABD}" type="slidenum">
              <a:rPr lang="en-US"/>
              <a:pPr/>
              <a:t>23</a:t>
            </a:fld>
            <a:endParaRPr 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8995" y="177500"/>
            <a:ext cx="8616417" cy="787565"/>
          </a:xfrm>
        </p:spPr>
        <p:txBody>
          <a:bodyPr/>
          <a:lstStyle/>
          <a:p>
            <a:pPr eaLnBrk="1" hangingPunct="1"/>
            <a:r>
              <a:rPr lang="en-US" dirty="0"/>
              <a:t>Device-Independent I/O Software (4)</a:t>
            </a:r>
            <a:endParaRPr lang="en-US" sz="27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95792" y="5495867"/>
            <a:ext cx="7772054" cy="88617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Networking may involve many copies</a:t>
            </a:r>
            <a:endParaRPr lang="en-US" sz="1800" dirty="0"/>
          </a:p>
        </p:txBody>
      </p:sp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3" cstate="print"/>
          <a:srcRect l="25211" t="43065" r="23148" b="36589"/>
          <a:stretch>
            <a:fillRect/>
          </a:stretch>
        </p:blipFill>
        <p:spPr bwMode="auto">
          <a:xfrm>
            <a:off x="2804945" y="1494930"/>
            <a:ext cx="6439274" cy="359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BF7795-7198-45DA-BBD0-A57E6A63F9B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97EC64-5BDD-462E-BD94-18D3ABCD31A7}" type="slidenum">
              <a:rPr lang="en-US"/>
              <a:pPr/>
              <a:t>24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155" y="0"/>
            <a:ext cx="7772054" cy="1142562"/>
          </a:xfrm>
        </p:spPr>
        <p:txBody>
          <a:bodyPr/>
          <a:lstStyle/>
          <a:p>
            <a:pPr eaLnBrk="1" hangingPunct="1"/>
            <a:r>
              <a:rPr lang="en-US" dirty="0"/>
              <a:t>Disks</a:t>
            </a:r>
            <a:br>
              <a:rPr lang="en-US" dirty="0"/>
            </a:br>
            <a:r>
              <a:rPr lang="en-US" sz="3100" dirty="0"/>
              <a:t>Disk Hardware (0)</a:t>
            </a:r>
            <a:endParaRPr lang="en-US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267093"/>
            <a:ext cx="7773206" cy="828324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Structure of a disk drive</a:t>
            </a:r>
          </a:p>
        </p:txBody>
      </p:sp>
      <p:pic>
        <p:nvPicPr>
          <p:cNvPr id="24581" name="Picture 5" descr="C:\B\b4\JPG\foo\1-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0404" y="1326634"/>
            <a:ext cx="6375918" cy="3669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TextBox 5"/>
          <p:cNvSpPr txBox="1">
            <a:spLocks noChangeArrowheads="1"/>
          </p:cNvSpPr>
          <p:nvPr/>
        </p:nvSpPr>
        <p:spPr bwMode="auto">
          <a:xfrm>
            <a:off x="7895311" y="4676747"/>
            <a:ext cx="1643800" cy="30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en-US" sz="1500" dirty="0"/>
              <a:t>Track at once</a:t>
            </a:r>
            <a:endParaRPr lang="he-IL" sz="15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57ED97-B05F-46BE-94E6-DB1D7D8EC6F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D09263-4231-4B1B-B6B6-39B294FB695F}" type="slidenum">
              <a:rPr lang="en-US"/>
              <a:pPr/>
              <a:t>25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Disks</a:t>
            </a:r>
            <a:br>
              <a:rPr lang="en-US" dirty="0"/>
            </a:br>
            <a:r>
              <a:rPr lang="en-US" sz="2400" dirty="0"/>
              <a:t>Disk Hardware (1)</a:t>
            </a:r>
            <a:endParaRPr lang="en-US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95792" y="5915290"/>
            <a:ext cx="7772054" cy="799399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Disk parameters for the original IBM PC floppy disk and a Western Digital WD 18300 hard disk</a:t>
            </a:r>
            <a:endParaRPr lang="en-US" sz="1600" dirty="0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328" y="1339783"/>
            <a:ext cx="8335347" cy="4074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36C832-D470-45BD-8E70-ECA6724BD007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E21A49-84B6-4922-9D5F-5529F8C14B29}" type="slidenum">
              <a:rPr lang="en-US"/>
              <a:pPr/>
              <a:t>26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Disk Hardware (2)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7095" y="5686514"/>
            <a:ext cx="8207482" cy="102817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Physical geometry of a disk with two zones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A possible virtual geometry for this disk</a:t>
            </a:r>
            <a:endParaRPr lang="en-US" sz="1800" dirty="0"/>
          </a:p>
        </p:txBody>
      </p:sp>
      <p:pic>
        <p:nvPicPr>
          <p:cNvPr id="26629" name="Picture 6" descr="C:\B\b4\JPG\foo\5-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16745" y="1523856"/>
            <a:ext cx="7549732" cy="3824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6630" name="מחבר חץ ישר 6"/>
          <p:cNvCxnSpPr>
            <a:cxnSpLocks noChangeShapeType="1"/>
          </p:cNvCxnSpPr>
          <p:nvPr/>
        </p:nvCxnSpPr>
        <p:spPr bwMode="auto">
          <a:xfrm rot="5400000" flipH="1" flipV="1">
            <a:off x="6454453" y="2797652"/>
            <a:ext cx="312923" cy="126712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6631" name="מחבר חץ ישר 8"/>
          <p:cNvCxnSpPr>
            <a:cxnSpLocks noChangeShapeType="1"/>
          </p:cNvCxnSpPr>
          <p:nvPr/>
        </p:nvCxnSpPr>
        <p:spPr bwMode="auto">
          <a:xfrm rot="5400000" flipH="1" flipV="1">
            <a:off x="7467449" y="3222811"/>
            <a:ext cx="119647" cy="21887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74F11A-9B4C-4BBF-B883-2637AC8069C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2B9833-48D9-4B37-B4D3-9FCD401B1349}" type="slidenum">
              <a:rPr lang="en-US"/>
              <a:pPr/>
              <a:t>27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068" y="0"/>
            <a:ext cx="4944072" cy="1142562"/>
          </a:xfrm>
        </p:spPr>
        <p:txBody>
          <a:bodyPr/>
          <a:lstStyle/>
          <a:p>
            <a:pPr eaLnBrk="1" hangingPunct="1"/>
            <a:r>
              <a:rPr lang="en-US" dirty="0"/>
              <a:t>Disk Hardware (3)</a:t>
            </a:r>
            <a:endParaRPr lang="en-US" sz="2700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14378" y="5565553"/>
            <a:ext cx="6674268" cy="111758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Raid levels 0 through 2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Backup and parity drives are shaded</a:t>
            </a:r>
            <a:endParaRPr lang="en-US" sz="1800" dirty="0"/>
          </a:p>
        </p:txBody>
      </p:sp>
      <p:pic>
        <p:nvPicPr>
          <p:cNvPr id="27653" name="Picture 6" descr="C:\B\b4\JPG\foo\5-19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09771" y="1423931"/>
            <a:ext cx="6251509" cy="3911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4" name="TextBox 5"/>
          <p:cNvSpPr txBox="1">
            <a:spLocks noChangeArrowheads="1"/>
          </p:cNvSpPr>
          <p:nvPr/>
        </p:nvSpPr>
        <p:spPr bwMode="auto">
          <a:xfrm>
            <a:off x="7611938" y="649512"/>
            <a:ext cx="2432871" cy="99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500" dirty="0"/>
              <a:t>ב 30 האחרונות המהירות גדלה פי 10 לעומת נפח שמכפיל את עצמו כל 18 חודש.</a:t>
            </a:r>
          </a:p>
          <a:p>
            <a:pPr algn="r"/>
            <a:endParaRPr lang="he-IL" sz="1500" dirty="0"/>
          </a:p>
        </p:txBody>
      </p:sp>
      <p:sp>
        <p:nvSpPr>
          <p:cNvPr id="27655" name="TextBox 6"/>
          <p:cNvSpPr txBox="1">
            <a:spLocks noChangeArrowheads="1"/>
          </p:cNvSpPr>
          <p:nvPr/>
        </p:nvSpPr>
        <p:spPr bwMode="auto">
          <a:xfrm>
            <a:off x="4714840" y="876974"/>
            <a:ext cx="2159864" cy="30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r>
              <a:rPr lang="en-US" sz="1500" dirty="0"/>
              <a:t>RAID : </a:t>
            </a:r>
            <a:r>
              <a:rPr lang="he-IL" sz="1500" dirty="0"/>
              <a:t>מהירות ושרידות </a:t>
            </a:r>
          </a:p>
        </p:txBody>
      </p:sp>
      <p:sp>
        <p:nvSpPr>
          <p:cNvPr id="27656" name="TextBox 7"/>
          <p:cNvSpPr txBox="1">
            <a:spLocks noChangeArrowheads="1"/>
          </p:cNvSpPr>
          <p:nvPr/>
        </p:nvSpPr>
        <p:spPr bwMode="auto">
          <a:xfrm>
            <a:off x="6758360" y="1923556"/>
            <a:ext cx="3317551" cy="93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משפר מהירות קריאה/כתיבה פי 4 </a:t>
            </a:r>
          </a:p>
          <a:p>
            <a:pPr algn="r"/>
            <a:r>
              <a:rPr lang="he-IL" sz="1400" dirty="0"/>
              <a:t>שרידות: מגדיל סכנת קריסה. אם דיסק נופל אחת ל 20000 שעות אז המערכת תקרוס ברבע מזה</a:t>
            </a:r>
            <a:r>
              <a:rPr lang="en-US" sz="1400" dirty="0"/>
              <a:t> </a:t>
            </a:r>
            <a:endParaRPr lang="he-IL" sz="1400" dirty="0"/>
          </a:p>
        </p:txBody>
      </p:sp>
      <p:sp>
        <p:nvSpPr>
          <p:cNvPr id="27657" name="TextBox 8"/>
          <p:cNvSpPr txBox="1">
            <a:spLocks noChangeArrowheads="1"/>
          </p:cNvSpPr>
          <p:nvPr/>
        </p:nvSpPr>
        <p:spPr bwMode="auto">
          <a:xfrm>
            <a:off x="9285687" y="3101617"/>
            <a:ext cx="1214132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גם מהירות וגם </a:t>
            </a:r>
            <a:r>
              <a:rPr lang="en-US" sz="1400" dirty="0"/>
              <a:t> </a:t>
            </a:r>
            <a:r>
              <a:rPr lang="he-IL" sz="1400" dirty="0"/>
              <a:t>שרידות אבל הרבה דיסקים</a:t>
            </a:r>
          </a:p>
        </p:txBody>
      </p:sp>
      <p:sp>
        <p:nvSpPr>
          <p:cNvPr id="27658" name="TextBox 9"/>
          <p:cNvSpPr txBox="1">
            <a:spLocks noChangeArrowheads="1"/>
          </p:cNvSpPr>
          <p:nvPr/>
        </p:nvSpPr>
        <p:spPr bwMode="auto">
          <a:xfrm>
            <a:off x="9086405" y="4411157"/>
            <a:ext cx="1294766" cy="1578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דרוש קוד </a:t>
            </a:r>
            <a:r>
              <a:rPr lang="he-IL" sz="1400" dirty="0" err="1"/>
              <a:t>המינג</a:t>
            </a:r>
            <a:r>
              <a:rPr lang="he-IL" sz="1400" dirty="0"/>
              <a:t>, גם פחות דיסקים וגם יכול לתקן שגיאות. אבל דורש </a:t>
            </a:r>
            <a:r>
              <a:rPr lang="he-IL" sz="1400" dirty="0" err="1"/>
              <a:t>סינכרון</a:t>
            </a:r>
            <a:r>
              <a:rPr lang="he-IL" sz="1400" dirty="0"/>
              <a:t> של הדיסקים ותוכנה נוספת</a:t>
            </a:r>
          </a:p>
        </p:txBody>
      </p:sp>
      <p:sp>
        <p:nvSpPr>
          <p:cNvPr id="27659" name="מלבן 10"/>
          <p:cNvSpPr>
            <a:spLocks noChangeArrowheads="1"/>
          </p:cNvSpPr>
          <p:nvPr/>
        </p:nvSpPr>
        <p:spPr bwMode="auto">
          <a:xfrm>
            <a:off x="2766932" y="4050902"/>
            <a:ext cx="5508517" cy="1551465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lIns="70070" tIns="35035" rIns="70070" bIns="35035"/>
          <a:lstStyle/>
          <a:p>
            <a:endParaRPr lang="he-IL" sz="1200" dirty="0"/>
          </a:p>
        </p:txBody>
      </p:sp>
      <p:sp>
        <p:nvSpPr>
          <p:cNvPr id="27660" name="TextBox 12"/>
          <p:cNvSpPr txBox="1">
            <a:spLocks noChangeArrowheads="1"/>
          </p:cNvSpPr>
          <p:nvPr/>
        </p:nvSpPr>
        <p:spPr bwMode="auto">
          <a:xfrm>
            <a:off x="1808527" y="3630166"/>
            <a:ext cx="778703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0010</a:t>
            </a:r>
          </a:p>
          <a:p>
            <a:pPr algn="r"/>
            <a:r>
              <a:rPr lang="he-IL" sz="1400" dirty="0"/>
              <a:t>0001101</a:t>
            </a:r>
          </a:p>
        </p:txBody>
      </p:sp>
      <p:cxnSp>
        <p:nvCxnSpPr>
          <p:cNvPr id="27661" name="מחבר חץ ישר 14"/>
          <p:cNvCxnSpPr>
            <a:cxnSpLocks noChangeShapeType="1"/>
          </p:cNvCxnSpPr>
          <p:nvPr/>
        </p:nvCxnSpPr>
        <p:spPr bwMode="auto">
          <a:xfrm rot="10800000" flipV="1">
            <a:off x="8401007" y="4050901"/>
            <a:ext cx="1632282" cy="240608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03DE364-1767-42C8-B513-0C75AF74F908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656" grpId="0"/>
      <p:bldP spid="27657" grpId="0"/>
      <p:bldP spid="27658" grpId="0"/>
      <p:bldP spid="27659" grpId="0" animBg="1"/>
      <p:bldP spid="2766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A3B174-374B-49F9-97E7-C25049CFB011}" type="slidenum">
              <a:rPr lang="en-US"/>
              <a:pPr/>
              <a:t>28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3610144" y="0"/>
            <a:ext cx="4514403" cy="1142562"/>
          </a:xfrm>
        </p:spPr>
        <p:txBody>
          <a:bodyPr/>
          <a:lstStyle/>
          <a:p>
            <a:pPr eaLnBrk="1" hangingPunct="1"/>
            <a:r>
              <a:rPr lang="en-US" dirty="0"/>
              <a:t>Disk Hardware (4)</a:t>
            </a:r>
            <a:endParaRPr lang="en-US" sz="2700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5962" y="5654958"/>
            <a:ext cx="7276725" cy="9650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Raid levels 3 through 5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Backup and parity drives are shaded</a:t>
            </a:r>
            <a:endParaRPr lang="en-US" sz="1800" dirty="0"/>
          </a:p>
        </p:txBody>
      </p:sp>
      <p:pic>
        <p:nvPicPr>
          <p:cNvPr id="28677" name="Picture 5" descr="C:\B\b4\JPG\foo\5-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4081" y="1033434"/>
            <a:ext cx="5091520" cy="444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8644065" y="1250378"/>
            <a:ext cx="1589660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מהירות פי 4</a:t>
            </a:r>
          </a:p>
          <a:p>
            <a:pPr algn="r"/>
            <a:r>
              <a:rPr lang="he-IL" sz="1400" dirty="0"/>
              <a:t>גם שרידות – אני יודע את מקום השגיאה</a:t>
            </a:r>
          </a:p>
        </p:txBody>
      </p:sp>
      <p:cxnSp>
        <p:nvCxnSpPr>
          <p:cNvPr id="28679" name="מחבר ישר 7"/>
          <p:cNvCxnSpPr>
            <a:cxnSpLocks noChangeShapeType="1"/>
          </p:cNvCxnSpPr>
          <p:nvPr/>
        </p:nvCxnSpPr>
        <p:spPr bwMode="auto">
          <a:xfrm rot="16200000" flipH="1">
            <a:off x="5004518" y="1491359"/>
            <a:ext cx="1358189" cy="442341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80" name="מחבר ישר 9"/>
          <p:cNvCxnSpPr>
            <a:cxnSpLocks noChangeShapeType="1"/>
          </p:cNvCxnSpPr>
          <p:nvPr/>
        </p:nvCxnSpPr>
        <p:spPr bwMode="auto">
          <a:xfrm rot="5400000">
            <a:off x="5009573" y="1399026"/>
            <a:ext cx="1285875" cy="651991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28681" name="TextBox 10"/>
          <p:cNvSpPr txBox="1">
            <a:spLocks noChangeArrowheads="1"/>
          </p:cNvSpPr>
          <p:nvPr/>
        </p:nvSpPr>
        <p:spPr bwMode="auto">
          <a:xfrm>
            <a:off x="1861516" y="1201729"/>
            <a:ext cx="1136952" cy="136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en-US" sz="1400" dirty="0"/>
              <a:t>00?1   p=1</a:t>
            </a:r>
          </a:p>
          <a:p>
            <a:pPr algn="r"/>
            <a:r>
              <a:rPr lang="he-IL" sz="1400" dirty="0"/>
              <a:t>אז השחזור הוא</a:t>
            </a:r>
          </a:p>
          <a:p>
            <a:pPr algn="r"/>
            <a:r>
              <a:rPr lang="he-IL" sz="1400" dirty="0"/>
              <a:t>0001</a:t>
            </a:r>
          </a:p>
          <a:p>
            <a:pPr algn="l" rtl="1"/>
            <a:r>
              <a:rPr lang="he-IL" sz="1400" dirty="0"/>
              <a:t>אם </a:t>
            </a:r>
            <a:r>
              <a:rPr lang="en-US" sz="1400" dirty="0"/>
              <a:t>p=0</a:t>
            </a:r>
            <a:r>
              <a:rPr lang="he-IL" sz="1400" dirty="0"/>
              <a:t> אז </a:t>
            </a:r>
          </a:p>
          <a:p>
            <a:pPr algn="l" rtl="1"/>
            <a:r>
              <a:rPr lang="en-US" sz="1400" dirty="0"/>
              <a:t>0011</a:t>
            </a:r>
          </a:p>
        </p:txBody>
      </p:sp>
      <p:sp>
        <p:nvSpPr>
          <p:cNvPr id="28682" name="TextBox 11"/>
          <p:cNvSpPr txBox="1">
            <a:spLocks noChangeArrowheads="1"/>
          </p:cNvSpPr>
          <p:nvPr/>
        </p:nvSpPr>
        <p:spPr bwMode="auto">
          <a:xfrm>
            <a:off x="8561677" y="2414507"/>
            <a:ext cx="2150100" cy="93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0070" tIns="35035" rIns="70070" bIns="35035">
            <a:spAutoFit/>
          </a:bodyPr>
          <a:lstStyle/>
          <a:p>
            <a:pPr algn="r"/>
            <a:r>
              <a:rPr lang="he-IL" sz="1400" dirty="0"/>
              <a:t>חוזרים </a:t>
            </a:r>
            <a:r>
              <a:rPr lang="he-IL" sz="1400" dirty="0" err="1"/>
              <a:t>לסטריפים</a:t>
            </a:r>
            <a:r>
              <a:rPr lang="he-IL" sz="1400" dirty="0"/>
              <a:t> מגדיל את מספר הבקשות במקביל.</a:t>
            </a:r>
          </a:p>
          <a:p>
            <a:pPr algn="r"/>
            <a:r>
              <a:rPr lang="he-IL" sz="1400" dirty="0"/>
              <a:t>צוואר בקבוק על דיסק הזוגיות בכל </a:t>
            </a:r>
            <a:r>
              <a:rPr lang="he-IL" sz="1400" dirty="0" err="1"/>
              <a:t>עידכון</a:t>
            </a:r>
            <a:endParaRPr lang="he-IL" sz="1400" dirty="0"/>
          </a:p>
        </p:txBody>
      </p:sp>
      <p:cxnSp>
        <p:nvCxnSpPr>
          <p:cNvPr id="28683" name="מחבר ישר 13"/>
          <p:cNvCxnSpPr>
            <a:cxnSpLocks noChangeShapeType="1"/>
          </p:cNvCxnSpPr>
          <p:nvPr/>
        </p:nvCxnSpPr>
        <p:spPr bwMode="auto">
          <a:xfrm flipV="1">
            <a:off x="4282868" y="2933323"/>
            <a:ext cx="200435" cy="11833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28684" name="מלבן 17"/>
          <p:cNvSpPr>
            <a:spLocks noChangeArrowheads="1"/>
          </p:cNvSpPr>
          <p:nvPr/>
        </p:nvSpPr>
        <p:spPr bwMode="auto">
          <a:xfrm>
            <a:off x="3598623" y="1021602"/>
            <a:ext cx="3928073" cy="1418669"/>
          </a:xfrm>
          <a:prstGeom prst="rect">
            <a:avLst/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 lIns="70070" tIns="35035" rIns="70070" bIns="35035"/>
          <a:lstStyle/>
          <a:p>
            <a:endParaRPr lang="he-IL" sz="1200" dirty="0"/>
          </a:p>
        </p:txBody>
      </p:sp>
      <p:cxnSp>
        <p:nvCxnSpPr>
          <p:cNvPr id="28685" name="מחבר חץ ישר 19"/>
          <p:cNvCxnSpPr>
            <a:cxnSpLocks noChangeShapeType="1"/>
          </p:cNvCxnSpPr>
          <p:nvPr/>
        </p:nvCxnSpPr>
        <p:spPr bwMode="auto">
          <a:xfrm rot="10800000" flipV="1">
            <a:off x="4220663" y="2884673"/>
            <a:ext cx="273006" cy="24982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86" name="מחבר חץ ישר 22"/>
          <p:cNvCxnSpPr>
            <a:cxnSpLocks noChangeShapeType="1"/>
          </p:cNvCxnSpPr>
          <p:nvPr/>
        </p:nvCxnSpPr>
        <p:spPr bwMode="auto">
          <a:xfrm rot="10800000">
            <a:off x="6969162" y="2909655"/>
            <a:ext cx="262640" cy="35499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87" name="מחבר חץ ישר 24"/>
          <p:cNvCxnSpPr>
            <a:cxnSpLocks noChangeShapeType="1"/>
          </p:cNvCxnSpPr>
          <p:nvPr/>
        </p:nvCxnSpPr>
        <p:spPr bwMode="auto">
          <a:xfrm>
            <a:off x="7000264" y="2968821"/>
            <a:ext cx="284526" cy="1315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88" name="מחבר חץ ישר 27"/>
          <p:cNvCxnSpPr>
            <a:cxnSpLocks noChangeShapeType="1"/>
          </p:cNvCxnSpPr>
          <p:nvPr/>
        </p:nvCxnSpPr>
        <p:spPr bwMode="auto">
          <a:xfrm flipV="1">
            <a:off x="4884174" y="3101616"/>
            <a:ext cx="209650" cy="35499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89" name="מחבר חץ ישר 29"/>
          <p:cNvCxnSpPr>
            <a:cxnSpLocks noChangeShapeType="1"/>
          </p:cNvCxnSpPr>
          <p:nvPr/>
        </p:nvCxnSpPr>
        <p:spPr bwMode="auto">
          <a:xfrm>
            <a:off x="6800981" y="3113449"/>
            <a:ext cx="305260" cy="1315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0" name="מחבר חץ ישר 31"/>
          <p:cNvCxnSpPr>
            <a:cxnSpLocks noChangeShapeType="1"/>
          </p:cNvCxnSpPr>
          <p:nvPr/>
        </p:nvCxnSpPr>
        <p:spPr bwMode="auto">
          <a:xfrm flipV="1">
            <a:off x="5642143" y="3414539"/>
            <a:ext cx="200435" cy="59166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1" name="מחבר חץ ישר 33"/>
          <p:cNvCxnSpPr>
            <a:cxnSpLocks noChangeShapeType="1"/>
          </p:cNvCxnSpPr>
          <p:nvPr/>
        </p:nvCxnSpPr>
        <p:spPr bwMode="auto">
          <a:xfrm>
            <a:off x="7073986" y="3414539"/>
            <a:ext cx="243058" cy="23666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2" name="מחבר חץ ישר 35"/>
          <p:cNvCxnSpPr>
            <a:cxnSpLocks noChangeShapeType="1"/>
          </p:cNvCxnSpPr>
          <p:nvPr/>
        </p:nvCxnSpPr>
        <p:spPr bwMode="auto">
          <a:xfrm>
            <a:off x="4104319" y="4183697"/>
            <a:ext cx="200435" cy="1315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3" name="מחבר חץ ישר 37"/>
          <p:cNvCxnSpPr>
            <a:cxnSpLocks noChangeShapeType="1"/>
          </p:cNvCxnSpPr>
          <p:nvPr/>
        </p:nvCxnSpPr>
        <p:spPr bwMode="auto">
          <a:xfrm flipV="1">
            <a:off x="6895437" y="4146883"/>
            <a:ext cx="221170" cy="60481"/>
          </a:xfrm>
          <a:prstGeom prst="straightConnector1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4" name="מחבר ישר 43"/>
          <p:cNvCxnSpPr>
            <a:cxnSpLocks noChangeShapeType="1"/>
          </p:cNvCxnSpPr>
          <p:nvPr/>
        </p:nvCxnSpPr>
        <p:spPr bwMode="auto">
          <a:xfrm>
            <a:off x="4862288" y="4508454"/>
            <a:ext cx="305261" cy="11833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5" name="מחבר ישר 45"/>
          <p:cNvCxnSpPr>
            <a:cxnSpLocks noChangeShapeType="1"/>
          </p:cNvCxnSpPr>
          <p:nvPr/>
        </p:nvCxnSpPr>
        <p:spPr bwMode="auto">
          <a:xfrm flipV="1">
            <a:off x="6316019" y="4495305"/>
            <a:ext cx="284526" cy="13148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6" name="מחבר ישר 47"/>
          <p:cNvCxnSpPr>
            <a:cxnSpLocks noChangeShapeType="1"/>
          </p:cNvCxnSpPr>
          <p:nvPr/>
        </p:nvCxnSpPr>
        <p:spPr bwMode="auto">
          <a:xfrm>
            <a:off x="6358641" y="4796392"/>
            <a:ext cx="273006" cy="11834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cxnSp>
        <p:nvCxnSpPr>
          <p:cNvPr id="28697" name="מחבר ישר 49"/>
          <p:cNvCxnSpPr>
            <a:cxnSpLocks noChangeShapeType="1"/>
          </p:cNvCxnSpPr>
          <p:nvPr/>
        </p:nvCxnSpPr>
        <p:spPr bwMode="auto">
          <a:xfrm>
            <a:off x="5525797" y="4760895"/>
            <a:ext cx="305261" cy="23666"/>
          </a:xfrm>
          <a:prstGeom prst="line">
            <a:avLst/>
          </a:prstGeom>
          <a:noFill/>
          <a:ln w="9525" algn="ctr">
            <a:solidFill>
              <a:schemeClr val="tx2"/>
            </a:solidFill>
            <a:round/>
            <a:headEnd/>
            <a:tailEnd type="arrow" w="med" len="med"/>
          </a:ln>
        </p:spPr>
      </p:cxnSp>
      <p:sp>
        <p:nvSpPr>
          <p:cNvPr id="28698" name="TextBox 50"/>
          <p:cNvSpPr txBox="1">
            <a:spLocks noChangeArrowheads="1"/>
          </p:cNvSpPr>
          <p:nvPr/>
        </p:nvSpPr>
        <p:spPr bwMode="auto">
          <a:xfrm>
            <a:off x="8581698" y="3737284"/>
            <a:ext cx="2109759" cy="1147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0070" tIns="35035" rIns="70070" bIns="35035">
            <a:spAutoFit/>
          </a:bodyPr>
          <a:lstStyle/>
          <a:p>
            <a:pPr algn="r"/>
            <a:r>
              <a:rPr lang="he-IL" sz="1400" dirty="0" err="1"/>
              <a:t>הסטריפ</a:t>
            </a:r>
            <a:r>
              <a:rPr lang="he-IL" sz="1400" dirty="0"/>
              <a:t> זוגיות לא נמצא על דיסק אחד אלא מפוזר על כמה ולכן לא מהווה צוואר בקבוק </a:t>
            </a:r>
            <a:r>
              <a:rPr lang="he-IL" sz="1400" dirty="0" err="1"/>
              <a:t>בעידכונים</a:t>
            </a:r>
            <a:r>
              <a:rPr lang="he-IL" sz="1400" dirty="0"/>
              <a:t>. אבל דורש תוכנה מתוחכמת יותר 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5B4A50-E02B-4FE8-BC86-8A8BD4B3D89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pic>
        <p:nvPicPr>
          <p:cNvPr id="30" name="תמונה 29">
            <a:extLst>
              <a:ext uri="{FF2B5EF4-FFF2-40B4-BE49-F238E27FC236}">
                <a16:creationId xmlns:a16="http://schemas.microsoft.com/office/drawing/2014/main" id="{A91AB7C8-AC75-4242-B6DE-017D241406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428"/>
          <a:stretch/>
        </p:blipFill>
        <p:spPr>
          <a:xfrm>
            <a:off x="3617197" y="3777923"/>
            <a:ext cx="4917204" cy="1836000"/>
          </a:xfrm>
          <a:prstGeom prst="rect">
            <a:avLst/>
          </a:prstGeom>
        </p:spPr>
      </p:pic>
      <p:sp>
        <p:nvSpPr>
          <p:cNvPr id="29" name="TextBox 50">
            <a:extLst>
              <a:ext uri="{FF2B5EF4-FFF2-40B4-BE49-F238E27FC236}">
                <a16:creationId xmlns:a16="http://schemas.microsoft.com/office/drawing/2014/main" id="{BB98B530-4FF4-46F7-AFAE-53BE8A61F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560" y="5081759"/>
            <a:ext cx="2421217" cy="286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0070" tIns="35035" rIns="70070" bIns="35035">
            <a:spAutoFit/>
          </a:bodyPr>
          <a:lstStyle/>
          <a:p>
            <a:pPr algn="r"/>
            <a:r>
              <a:rPr lang="he-IL" sz="1400" dirty="0"/>
              <a:t>שני דיסקים זוגיות לביטחון כפול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81" grpId="0"/>
      <p:bldP spid="28682" grpId="0"/>
      <p:bldP spid="28684" grpId="0" animBg="1"/>
      <p:bldP spid="28698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8FBAA01-445A-4811-9325-403145E527BA}" type="slidenum">
              <a:rPr lang="en-US"/>
              <a:pPr/>
              <a:t>29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397" y="0"/>
            <a:ext cx="7773206" cy="1142562"/>
          </a:xfrm>
        </p:spPr>
        <p:txBody>
          <a:bodyPr/>
          <a:lstStyle/>
          <a:p>
            <a:pPr eaLnBrk="1" hangingPunct="1"/>
            <a:r>
              <a:rPr lang="en-US" dirty="0"/>
              <a:t>CD-ROMs (1)</a:t>
            </a:r>
            <a:endParaRPr lang="en-US" sz="2700" dirty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95792" y="5971826"/>
            <a:ext cx="7772054" cy="68238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Recording structure of a CD or CD-ROM</a:t>
            </a:r>
            <a:endParaRPr lang="en-US" sz="1800" dirty="0"/>
          </a:p>
        </p:txBody>
      </p:sp>
      <p:pic>
        <p:nvPicPr>
          <p:cNvPr id="29701" name="Picture 6" descr="C:\B\b4\JPG\foo\5-2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37136" y="1103119"/>
            <a:ext cx="5454377" cy="4638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A54D5A-698D-4542-9461-669FDB09CE26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EA6007-8A2E-40F5-8F07-D625A9E5D228}" type="slidenum">
              <a:rPr lang="en-US"/>
              <a:pPr/>
              <a:t>30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CD-ROMs (2)</a:t>
            </a:r>
            <a:endParaRPr lang="en-US" sz="2700" dirty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495868"/>
            <a:ext cx="7773206" cy="599549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Logical data layout on a CD-ROM</a:t>
            </a:r>
          </a:p>
        </p:txBody>
      </p:sp>
      <p:pic>
        <p:nvPicPr>
          <p:cNvPr id="30725" name="Picture 6" descr="C:\B\b4\JPG\foo\5-2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1703" y="1552781"/>
            <a:ext cx="8100353" cy="313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63F1D9-17BB-4624-A615-718B67A9D7A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6A4DD9-1714-4F85-8B12-E6B6E87E40E7}" type="slidenum">
              <a:rPr lang="en-US"/>
              <a:pPr/>
              <a:t>31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888" y="354996"/>
            <a:ext cx="7150014" cy="432570"/>
          </a:xfrm>
        </p:spPr>
        <p:txBody>
          <a:bodyPr/>
          <a:lstStyle/>
          <a:p>
            <a:pPr eaLnBrk="1" hangingPunct="1"/>
            <a:r>
              <a:rPr lang="en-US" dirty="0"/>
              <a:t>CD-</a:t>
            </a:r>
            <a:r>
              <a:rPr lang="en-US" dirty="0" err="1"/>
              <a:t>Recordables</a:t>
            </a:r>
            <a:r>
              <a:rPr lang="en-US" dirty="0"/>
              <a:t> (1) </a:t>
            </a:r>
            <a:endParaRPr lang="en-US" sz="2700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6994" y="4467694"/>
            <a:ext cx="7772054" cy="11714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dirty="0"/>
              <a:t>Cross section of a CD-R disk and laser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not to scale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Silver CD-ROM has similar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without dye layer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with pitted aluminum layer instead of gold</a:t>
            </a:r>
          </a:p>
        </p:txBody>
      </p:sp>
      <p:pic>
        <p:nvPicPr>
          <p:cNvPr id="31749" name="Picture 5" descr="C:\B\b4\JPG\foo\5-2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79385" y="1066305"/>
            <a:ext cx="5994630" cy="3258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F1377F-E663-428A-960D-7FFDBB8548B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DVD (1)</a:t>
            </a:r>
          </a:p>
        </p:txBody>
      </p:sp>
      <p:sp>
        <p:nvSpPr>
          <p:cNvPr id="4198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2800" dirty="0"/>
              <a:t>DVD Improvements on CDs</a:t>
            </a:r>
          </a:p>
          <a:p>
            <a:pPr eaLnBrk="1" hangingPunct="1">
              <a:buFontTx/>
              <a:buNone/>
            </a:pPr>
            <a:endParaRPr lang="en-US" sz="2800" dirty="0"/>
          </a:p>
          <a:p>
            <a:pPr eaLnBrk="1" hangingPunct="1">
              <a:buFontTx/>
              <a:buAutoNum type="arabicPeriod"/>
            </a:pPr>
            <a:r>
              <a:rPr lang="en-US" sz="2800" dirty="0"/>
              <a:t>Smaller pits </a:t>
            </a:r>
            <a:br>
              <a:rPr lang="en-US" sz="2800" dirty="0"/>
            </a:br>
            <a:r>
              <a:rPr lang="en-US" sz="2800" dirty="0"/>
              <a:t>(0.4 microns versus 0.8 microns for CDs).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A tighter spiral </a:t>
            </a:r>
            <a:br>
              <a:rPr lang="en-US" sz="2800" dirty="0"/>
            </a:br>
            <a:r>
              <a:rPr lang="en-US" sz="2800" dirty="0"/>
              <a:t>(0.74 microns between tracks versus 1.6 microns for CDs).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A red laser </a:t>
            </a:r>
            <a:br>
              <a:rPr lang="en-US" sz="2800" dirty="0"/>
            </a:br>
            <a:r>
              <a:rPr lang="en-US" sz="2800" dirty="0"/>
              <a:t>(at 0.65 microns versus 0.78 microns for CDs).</a:t>
            </a:r>
          </a:p>
        </p:txBody>
      </p:sp>
    </p:spTree>
    <p:extLst>
      <p:ext uri="{BB962C8B-B14F-4D97-AF65-F5344CB8AC3E}">
        <p14:creationId xmlns:p14="http://schemas.microsoft.com/office/powerpoint/2010/main" val="908645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DVD (2)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2670177" y="1924050"/>
            <a:ext cx="7591425" cy="42481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/>
              <a:t>DVD Formats</a:t>
            </a:r>
          </a:p>
          <a:p>
            <a:pPr eaLnBrk="1" hangingPunct="1">
              <a:buFontTx/>
              <a:buNone/>
            </a:pPr>
            <a:endParaRPr lang="en-US" sz="2800" dirty="0"/>
          </a:p>
          <a:p>
            <a:pPr eaLnBrk="1" hangingPunct="1">
              <a:buFontTx/>
              <a:buAutoNum type="arabicPeriod"/>
            </a:pPr>
            <a:r>
              <a:rPr lang="en-US" sz="2800" dirty="0"/>
              <a:t>Single-sided, single-layer (4.7 GB).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Single-sided, dual-layer (8.5 GB).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Double-sided, single-layer (9.4 GB).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Double-sided, dual-layer (17 GB).</a:t>
            </a:r>
          </a:p>
        </p:txBody>
      </p:sp>
    </p:spTree>
    <p:extLst>
      <p:ext uri="{BB962C8B-B14F-4D97-AF65-F5344CB8AC3E}">
        <p14:creationId xmlns:p14="http://schemas.microsoft.com/office/powerpoint/2010/main" val="2771774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Figure 5-24. A double-sided, dual-layer DVD disk.</a:t>
            </a:r>
          </a:p>
        </p:txBody>
      </p: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DVD (3)</a:t>
            </a:r>
          </a:p>
        </p:txBody>
      </p:sp>
      <p:pic>
        <p:nvPicPr>
          <p:cNvPr id="4403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1843090"/>
            <a:ext cx="8820150" cy="28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2DC38B-214E-454F-B531-1FEB463CC7CD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8C7F68-870D-4229-92B2-E655B4AE16A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7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B1BDF1-C580-4706-8A1B-A8DB9B06A582}" type="slidenum">
              <a:rPr lang="en-US"/>
              <a:pPr/>
              <a:t>35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397" y="0"/>
            <a:ext cx="7773206" cy="1142562"/>
          </a:xfrm>
        </p:spPr>
        <p:txBody>
          <a:bodyPr/>
          <a:lstStyle/>
          <a:p>
            <a:pPr eaLnBrk="1" hangingPunct="1"/>
            <a:r>
              <a:rPr lang="en-US"/>
              <a:t>Disk Formatting (1)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1919" y="5026483"/>
            <a:ext cx="7772054" cy="71393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A disk sector</a:t>
            </a:r>
            <a:endParaRPr lang="en-US" sz="1800" dirty="0"/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6096002" y="4035125"/>
            <a:ext cx="3286449" cy="33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0644" tIns="30322" rIns="60644" bIns="30322">
            <a:spAutoFit/>
          </a:bodyPr>
          <a:lstStyle/>
          <a:p>
            <a:pPr>
              <a:spcBef>
                <a:spcPct val="50000"/>
              </a:spcBef>
            </a:pPr>
            <a:endParaRPr lang="he-IL" sz="1800" dirty="0"/>
          </a:p>
        </p:txBody>
      </p:sp>
      <p:pic>
        <p:nvPicPr>
          <p:cNvPr id="33798" name="Picture 8" descr="C:\B\b4\JPG\foo\5-2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7979" y="2851803"/>
            <a:ext cx="8283509" cy="76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364B6A-1114-4EA9-9BBF-72EEFD76F4CE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63643C-A280-47A5-A24C-F34EE42D558C}" type="slidenum">
              <a:rPr lang="en-US"/>
              <a:pPr/>
              <a:t>36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Disk Formatting (2)</a:t>
            </a:r>
          </a:p>
        </p:txBody>
      </p:sp>
      <p:pic>
        <p:nvPicPr>
          <p:cNvPr id="34820" name="Picture 3" descr="C:\B\b4\JPG\foo\5-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17987" y="1418670"/>
            <a:ext cx="4992454" cy="447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3952085" y="5991547"/>
            <a:ext cx="3552900" cy="384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0644" tIns="30322" rIns="60644" bIns="30322">
            <a:spAutoFit/>
          </a:bodyPr>
          <a:lstStyle/>
          <a:p>
            <a:r>
              <a:rPr lang="en-US" sz="2100" dirty="0">
                <a:solidFill>
                  <a:schemeClr val="accent2"/>
                </a:solidFill>
              </a:rPr>
              <a:t>An illustration of cylinder skew</a:t>
            </a:r>
            <a:endParaRPr lang="en-US" sz="18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B3D2D5-2024-4248-B781-F86CAFDF68BD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480C41-8EEF-4AB1-AB90-499DF8592A22}" type="slidenum">
              <a:rPr lang="en-US"/>
              <a:pPr/>
              <a:t>37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Disk Formatting (3)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58" y="4781931"/>
            <a:ext cx="5943946" cy="131348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No interleaving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Single interleaving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Double interleaving</a:t>
            </a:r>
            <a:endParaRPr lang="en-US" sz="1800" dirty="0"/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61733" y="1822316"/>
            <a:ext cx="8319220" cy="2311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2259A5-76C8-42B8-A7E6-63CEF7F3CC2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0282B4-C73A-4461-A8E8-1CFB9721B671}" type="slidenum">
              <a:rPr lang="en-US"/>
              <a:pPr/>
              <a:t>38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"/>
            <a:ext cx="9144000" cy="1191209"/>
          </a:xfrm>
        </p:spPr>
        <p:txBody>
          <a:bodyPr/>
          <a:lstStyle/>
          <a:p>
            <a:pPr eaLnBrk="1" hangingPunct="1"/>
            <a:r>
              <a:rPr lang="en-US"/>
              <a:t>Disk Arm Scheduling Algorithms (1)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1130730"/>
            <a:ext cx="7773206" cy="4964687"/>
          </a:xfrm>
        </p:spPr>
        <p:txBody>
          <a:bodyPr/>
          <a:lstStyle/>
          <a:p>
            <a:pPr marL="403878" indent="-403878" eaLnBrk="1" hangingPunct="1"/>
            <a:r>
              <a:rPr lang="en-US" sz="2400" dirty="0"/>
              <a:t>Time required to read or write a disk block determined by 3 factors</a:t>
            </a:r>
          </a:p>
          <a:p>
            <a:pPr marL="656911" lvl="1" indent="-352785" eaLnBrk="1" hangingPunct="1">
              <a:buSzPct val="50000"/>
              <a:buFont typeface="Symbol" pitchFamily="18" charset="2"/>
              <a:buAutoNum type="arabicPeriod"/>
            </a:pPr>
            <a:r>
              <a:rPr lang="en-US" sz="2100" dirty="0"/>
              <a:t>Seek time   - </a:t>
            </a:r>
            <a:r>
              <a:rPr lang="he-IL" sz="2100" dirty="0"/>
              <a:t>הזזת הראש</a:t>
            </a:r>
            <a:endParaRPr lang="en-US" sz="2100" dirty="0"/>
          </a:p>
          <a:p>
            <a:pPr marL="656911" lvl="1" indent="-352785" eaLnBrk="1" hangingPunct="1">
              <a:buSzPct val="50000"/>
              <a:buFont typeface="Symbol" pitchFamily="18" charset="2"/>
              <a:buAutoNum type="arabicPeriod"/>
            </a:pPr>
            <a:r>
              <a:rPr lang="en-US" sz="2100" dirty="0"/>
              <a:t>Rotational delay</a:t>
            </a:r>
          </a:p>
          <a:p>
            <a:pPr marL="656911" lvl="1" indent="-352785" eaLnBrk="1" hangingPunct="1">
              <a:buSzPct val="50000"/>
              <a:buFont typeface="Symbol" pitchFamily="18" charset="2"/>
              <a:buAutoNum type="arabicPeriod"/>
            </a:pPr>
            <a:r>
              <a:rPr lang="en-US" sz="2100" dirty="0"/>
              <a:t>Actual transfer time</a:t>
            </a:r>
          </a:p>
          <a:p>
            <a:pPr marL="403878" indent="-403878" eaLnBrk="1" hangingPunct="1"/>
            <a:r>
              <a:rPr lang="en-US" sz="2400" dirty="0"/>
              <a:t>Seek time dominates – </a:t>
            </a:r>
            <a:r>
              <a:rPr lang="he-IL" sz="2400" dirty="0"/>
              <a:t>כי  ניתן למזער אותו</a:t>
            </a:r>
            <a:endParaRPr lang="en-US" sz="2400" dirty="0"/>
          </a:p>
          <a:p>
            <a:pPr marL="403878" indent="-403878" eaLnBrk="1" hangingPunct="1"/>
            <a:r>
              <a:rPr lang="en-US" sz="2400" dirty="0"/>
              <a:t>Error checking is done by controllers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CAF73B-0789-4BF7-8BCD-71989F5AA78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43900" y="3860800"/>
            <a:ext cx="13335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1800" dirty="0">
                <a:hlinkClick r:id="" action="ppaction://customshow?id=0&amp;return=true"/>
              </a:rPr>
              <a:t>דיסק</a:t>
            </a:r>
            <a:endParaRPr lang="he-IL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6" descr="C:\B\b4\JPG\foo\5-27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print"/>
          <a:srcRect t="-4518" b="46995"/>
          <a:stretch/>
        </p:blipFill>
        <p:spPr>
          <a:xfrm>
            <a:off x="2293488" y="1162823"/>
            <a:ext cx="7773206" cy="1550429"/>
          </a:xfrm>
          <a:noFill/>
        </p:spPr>
      </p:pic>
      <p:sp>
        <p:nvSpPr>
          <p:cNvPr id="37890" name="כותרת 1"/>
          <p:cNvSpPr>
            <a:spLocks noGrp="1"/>
          </p:cNvSpPr>
          <p:nvPr>
            <p:ph type="title"/>
          </p:nvPr>
        </p:nvSpPr>
        <p:spPr>
          <a:xfrm>
            <a:off x="2181752" y="0"/>
            <a:ext cx="7772054" cy="997746"/>
          </a:xfrm>
        </p:spPr>
        <p:txBody>
          <a:bodyPr/>
          <a:lstStyle/>
          <a:p>
            <a:pPr eaLnBrk="1" hangingPunct="1"/>
            <a:r>
              <a:rPr lang="en-US" dirty="0"/>
              <a:t>Disk Arm Scheduling Algorithms (FCFS [FIFO])</a:t>
            </a:r>
            <a:endParaRPr lang="he-IL" dirty="0"/>
          </a:p>
        </p:txBody>
      </p:sp>
      <p:sp>
        <p:nvSpPr>
          <p:cNvPr id="37891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5BE7E0C-69F1-4401-8A89-9239DE0A89AA}" type="slidenum">
              <a:rPr lang="en-US"/>
              <a:pPr/>
              <a:t>39</a:t>
            </a:fld>
            <a:endParaRPr lang="en-US"/>
          </a:p>
        </p:txBody>
      </p:sp>
      <p:sp>
        <p:nvSpPr>
          <p:cNvPr id="37894" name="TextBox 8"/>
          <p:cNvSpPr txBox="1">
            <a:spLocks noChangeArrowheads="1"/>
          </p:cNvSpPr>
          <p:nvPr/>
        </p:nvSpPr>
        <p:spPr bwMode="auto">
          <a:xfrm>
            <a:off x="5020101" y="3064802"/>
            <a:ext cx="4044417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בקשות לצילינדרים:</a:t>
            </a:r>
            <a:r>
              <a:rPr lang="en-US" sz="1400" dirty="0"/>
              <a:t> </a:t>
            </a:r>
            <a:endParaRPr lang="he-IL" sz="1400" dirty="0"/>
          </a:p>
          <a:p>
            <a:pPr algn="l"/>
            <a:r>
              <a:rPr lang="en-US" sz="1400" dirty="0"/>
              <a:t>1,36,16,34,9,12</a:t>
            </a:r>
          </a:p>
          <a:p>
            <a:pPr algn="r" rtl="1"/>
            <a:r>
              <a:rPr lang="he-IL" sz="1400" dirty="0"/>
              <a:t>הראש נמצא על 11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20101" y="3829523"/>
            <a:ext cx="4044417" cy="932529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l"/>
            <a:r>
              <a:rPr lang="en-US" sz="1400" dirty="0"/>
              <a:t>11-&gt;1-&gt;36-&gt;16-&gt;34-&gt;9-&gt;12</a:t>
            </a:r>
          </a:p>
          <a:p>
            <a:pPr algn="r" rtl="1"/>
            <a:r>
              <a:rPr lang="he-IL" sz="1400" dirty="0"/>
              <a:t>תזוזות =</a:t>
            </a:r>
          </a:p>
          <a:p>
            <a:pPr algn="l"/>
            <a:r>
              <a:rPr lang="en-US" sz="1400" dirty="0"/>
              <a:t>   10  + 35  + 20 + 18 + 25 + 3 = 111</a:t>
            </a:r>
          </a:p>
          <a:p>
            <a:pPr algn="r"/>
            <a:endParaRPr lang="he-IL" sz="1400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959176" y="1162106"/>
            <a:ext cx="1955973" cy="4575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60644" tIns="30322" rIns="60644" bIns="30322" anchor="ctr"/>
          <a:lstStyle/>
          <a:p>
            <a:endParaRPr lang="he-IL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081072" y="1129235"/>
            <a:ext cx="609786" cy="399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0644" tIns="30322" rIns="60644" bIns="30322">
            <a:spAutoFit/>
          </a:bodyPr>
          <a:lstStyle/>
          <a:p>
            <a:r>
              <a:rPr lang="en-US" dirty="0">
                <a:latin typeface="Helvetica" pitchFamily="2" charset="0"/>
              </a:rPr>
              <a:t>Initial</a:t>
            </a:r>
          </a:p>
          <a:p>
            <a:r>
              <a:rPr lang="en-US" dirty="0">
                <a:latin typeface="Helvetica" pitchFamily="2" charset="0"/>
              </a:rPr>
              <a:t>position</a:t>
            </a:r>
            <a:endParaRPr lang="en-US" sz="1600" dirty="0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185817" y="1089791"/>
            <a:ext cx="662685" cy="399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0644" tIns="30322" rIns="60644" bIns="30322">
            <a:spAutoFit/>
          </a:bodyPr>
          <a:lstStyle/>
          <a:p>
            <a:r>
              <a:rPr lang="en-US" dirty="0">
                <a:latin typeface="Helvetica" pitchFamily="2" charset="0"/>
              </a:rPr>
              <a:t>Pending</a:t>
            </a:r>
          </a:p>
          <a:p>
            <a:r>
              <a:rPr lang="en-US" dirty="0">
                <a:latin typeface="Helvetica" pitchFamily="2" charset="0"/>
              </a:rPr>
              <a:t>requests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915148" y="4928624"/>
            <a:ext cx="3244486" cy="286198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r"/>
            <a:r>
              <a:rPr lang="he-IL" sz="1400" dirty="0"/>
              <a:t>יתרון: הגינות ומונע הרעבה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5E25EE-731B-4BD4-BFA4-AB31BFBC875D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862394-112E-49B6-9E14-C971B277DA04}" type="slidenum">
              <a:rPr lang="en-US"/>
              <a:pPr/>
              <a:t>40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2562"/>
          </a:xfrm>
        </p:spPr>
        <p:txBody>
          <a:bodyPr/>
          <a:lstStyle/>
          <a:p>
            <a:pPr eaLnBrk="1" hangingPunct="1"/>
            <a:r>
              <a:rPr lang="en-US" dirty="0"/>
              <a:t>Disk Arm Scheduling Algorithms (SSF)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8306" y="5774605"/>
            <a:ext cx="9144001" cy="68632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Shortest Seek First (SSF) disk scheduling algorithm</a:t>
            </a:r>
          </a:p>
        </p:txBody>
      </p:sp>
      <p:pic>
        <p:nvPicPr>
          <p:cNvPr id="38917" name="Picture 6" descr="C:\B\b4\JPG\foo\5-2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9915" y="1743425"/>
            <a:ext cx="8084226" cy="2456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Rectangle 7"/>
          <p:cNvSpPr>
            <a:spLocks noChangeArrowheads="1"/>
          </p:cNvSpPr>
          <p:nvPr/>
        </p:nvSpPr>
        <p:spPr bwMode="auto">
          <a:xfrm>
            <a:off x="3959176" y="1594855"/>
            <a:ext cx="1955973" cy="4575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60644" tIns="30322" rIns="60644" bIns="30322" anchor="ctr"/>
          <a:lstStyle/>
          <a:p>
            <a:endParaRPr lang="he-IL"/>
          </a:p>
        </p:txBody>
      </p:sp>
      <p:sp>
        <p:nvSpPr>
          <p:cNvPr id="38919" name="Text Box 8"/>
          <p:cNvSpPr txBox="1">
            <a:spLocks noChangeArrowheads="1"/>
          </p:cNvSpPr>
          <p:nvPr/>
        </p:nvSpPr>
        <p:spPr bwMode="auto">
          <a:xfrm>
            <a:off x="4081072" y="1561984"/>
            <a:ext cx="609786" cy="399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0644" tIns="30322" rIns="60644" bIns="30322">
            <a:spAutoFit/>
          </a:bodyPr>
          <a:lstStyle/>
          <a:p>
            <a:r>
              <a:rPr lang="en-US" dirty="0">
                <a:latin typeface="Helvetica" pitchFamily="2" charset="0"/>
              </a:rPr>
              <a:t>Initial</a:t>
            </a:r>
          </a:p>
          <a:p>
            <a:r>
              <a:rPr lang="en-US" dirty="0">
                <a:latin typeface="Helvetica" pitchFamily="2" charset="0"/>
              </a:rPr>
              <a:t>position</a:t>
            </a:r>
            <a:endParaRPr lang="en-US" sz="1600" dirty="0"/>
          </a:p>
        </p:txBody>
      </p:sp>
      <p:sp>
        <p:nvSpPr>
          <p:cNvPr id="38920" name="Text Box 10"/>
          <p:cNvSpPr txBox="1">
            <a:spLocks noChangeArrowheads="1"/>
          </p:cNvSpPr>
          <p:nvPr/>
        </p:nvSpPr>
        <p:spPr bwMode="auto">
          <a:xfrm>
            <a:off x="5185817" y="1522539"/>
            <a:ext cx="662685" cy="399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0644" tIns="30322" rIns="60644" bIns="30322">
            <a:spAutoFit/>
          </a:bodyPr>
          <a:lstStyle/>
          <a:p>
            <a:r>
              <a:rPr lang="en-US" dirty="0">
                <a:latin typeface="Helvetica" pitchFamily="2" charset="0"/>
              </a:rPr>
              <a:t>Pending</a:t>
            </a:r>
          </a:p>
          <a:p>
            <a:r>
              <a:rPr lang="en-US" dirty="0">
                <a:latin typeface="Helvetica" pitchFamily="2" charset="0"/>
              </a:rPr>
              <a:t>requests</a:t>
            </a:r>
            <a:endParaRPr lang="en-US" dirty="0"/>
          </a:p>
        </p:txBody>
      </p:sp>
      <p:sp>
        <p:nvSpPr>
          <p:cNvPr id="38921" name="TextBox 8"/>
          <p:cNvSpPr txBox="1">
            <a:spLocks noChangeArrowheads="1"/>
          </p:cNvSpPr>
          <p:nvPr/>
        </p:nvSpPr>
        <p:spPr bwMode="auto">
          <a:xfrm>
            <a:off x="4335855" y="4202105"/>
            <a:ext cx="5782676" cy="93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endParaRPr lang="he-IL" sz="1400" dirty="0"/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11-&gt;12-&gt;9-&gt;16-&gt;1-&gt;34-36</a:t>
            </a:r>
          </a:p>
          <a:p>
            <a:pPr algn="l"/>
            <a:r>
              <a:rPr lang="en-US" sz="1400" dirty="0"/>
              <a:t>    1 +  3   +  7 + 15 + 33 +2 = 61 </a:t>
            </a:r>
            <a:r>
              <a:rPr lang="he-IL" sz="1400" dirty="0"/>
              <a:t>תזוזות</a:t>
            </a:r>
            <a:endParaRPr 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8086201" y="4233608"/>
            <a:ext cx="1885706" cy="717085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r"/>
            <a:r>
              <a:rPr lang="he-IL" sz="1400" dirty="0"/>
              <a:t>בקשות לצילינדרים:</a:t>
            </a:r>
            <a:r>
              <a:rPr lang="en-US" sz="1400" dirty="0"/>
              <a:t> </a:t>
            </a:r>
            <a:endParaRPr lang="he-IL" sz="1400" dirty="0"/>
          </a:p>
          <a:p>
            <a:pPr algn="r"/>
            <a:r>
              <a:rPr lang="en-US" sz="1400" dirty="0"/>
              <a:t>1,36,16,34,9,12</a:t>
            </a:r>
          </a:p>
          <a:p>
            <a:pPr algn="r" rtl="1"/>
            <a:r>
              <a:rPr lang="he-IL" sz="1400" dirty="0"/>
              <a:t>הראש נמצא על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5855" y="5196242"/>
            <a:ext cx="5782676" cy="501641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r" rtl="1"/>
            <a:r>
              <a:rPr lang="he-IL" sz="1400" dirty="0" err="1"/>
              <a:t>ייתרון</a:t>
            </a:r>
            <a:r>
              <a:rPr lang="he-IL" sz="1400" dirty="0"/>
              <a:t>: לטווח הארוך אופטימאלי (ממזער) את מספר תזוזות הראש של הדיסק</a:t>
            </a:r>
          </a:p>
          <a:p>
            <a:pPr algn="r" rtl="1"/>
            <a:r>
              <a:rPr lang="he-IL" sz="1400" dirty="0"/>
              <a:t>חיסרון: הרעבה (מרעיב בקשות רחוקות)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D4C1D5-B0F5-4BA3-A4E4-C6DB394C941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1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07EB94-7BFE-4296-A410-8CC084D830BF}" type="slidenum">
              <a:rPr lang="en-US"/>
              <a:pPr/>
              <a:t>41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2562"/>
          </a:xfrm>
        </p:spPr>
        <p:txBody>
          <a:bodyPr/>
          <a:lstStyle/>
          <a:p>
            <a:pPr eaLnBrk="1" hangingPunct="1"/>
            <a:r>
              <a:rPr lang="en-US" dirty="0"/>
              <a:t>Disk Arm Scheduling Algorithms (elevator)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084" y="5524795"/>
            <a:ext cx="8687837" cy="57062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The </a:t>
            </a:r>
            <a:r>
              <a:rPr lang="en-US" b="1" u="sng" dirty="0"/>
              <a:t>elevator</a:t>
            </a:r>
            <a:r>
              <a:rPr lang="en-US" dirty="0"/>
              <a:t> algorithm for scheduling disk requests</a:t>
            </a:r>
            <a:endParaRPr lang="en-US" sz="1800" dirty="0"/>
          </a:p>
        </p:txBody>
      </p:sp>
      <p:pic>
        <p:nvPicPr>
          <p:cNvPr id="39941" name="Picture 6" descr="C:\B\b4\JPG\foo\5-2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4504" y="1600115"/>
            <a:ext cx="8160254" cy="32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2" name="TextBox 5"/>
          <p:cNvSpPr txBox="1">
            <a:spLocks noChangeArrowheads="1"/>
          </p:cNvSpPr>
          <p:nvPr/>
        </p:nvSpPr>
        <p:spPr bwMode="auto">
          <a:xfrm>
            <a:off x="6569091" y="4399134"/>
            <a:ext cx="1442542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0070" tIns="35035" rIns="70070" bIns="35035">
            <a:spAutoFit/>
          </a:bodyPr>
          <a:lstStyle/>
          <a:p>
            <a:pPr algn="l"/>
            <a:r>
              <a:rPr lang="en-US" sz="1400" dirty="0"/>
              <a:t>11 -&gt; 36 -&gt; 1</a:t>
            </a:r>
          </a:p>
          <a:p>
            <a:pPr algn="l"/>
            <a:r>
              <a:rPr lang="he-IL" sz="1400" dirty="0"/>
              <a:t>תזוזות =  </a:t>
            </a:r>
          </a:p>
          <a:p>
            <a:pPr algn="l"/>
            <a:r>
              <a:rPr lang="en-US" sz="1400" dirty="0"/>
              <a:t>25 +  35  = 60</a:t>
            </a:r>
            <a:endParaRPr lang="he-IL" sz="1400" dirty="0"/>
          </a:p>
        </p:txBody>
      </p:sp>
      <p:sp>
        <p:nvSpPr>
          <p:cNvPr id="39943" name="TextBox 6"/>
          <p:cNvSpPr txBox="1">
            <a:spLocks noChangeArrowheads="1"/>
          </p:cNvSpPr>
          <p:nvPr/>
        </p:nvSpPr>
        <p:spPr bwMode="auto">
          <a:xfrm>
            <a:off x="7348310" y="5169047"/>
            <a:ext cx="2990404" cy="93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חיסרון: העדפת מסלולים אמצעיים,</a:t>
            </a:r>
          </a:p>
          <a:p>
            <a:pPr algn="r"/>
            <a:r>
              <a:rPr lang="he-IL" sz="1400" dirty="0"/>
              <a:t>אם המעלית עולה כ-10 שניות ויורדת 10 שניות. אז האמצעיים מקבלים ביקור כל 10 שניות , והקצוות אחת ל 20 שניות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6201" y="4233608"/>
            <a:ext cx="1885706" cy="717085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r"/>
            <a:r>
              <a:rPr lang="he-IL" sz="1400" dirty="0"/>
              <a:t>בקשות לצילינדרים:</a:t>
            </a:r>
            <a:r>
              <a:rPr lang="en-US" sz="1400" dirty="0"/>
              <a:t> </a:t>
            </a:r>
            <a:endParaRPr lang="he-IL" sz="1400" dirty="0"/>
          </a:p>
          <a:p>
            <a:pPr algn="r"/>
            <a:r>
              <a:rPr lang="en-US" sz="1400" dirty="0"/>
              <a:t>1,36,16,34,9,12</a:t>
            </a:r>
          </a:p>
          <a:p>
            <a:pPr algn="r" rtl="1"/>
            <a:r>
              <a:rPr lang="he-IL" sz="1400" dirty="0"/>
              <a:t>הראש נמצא על 11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A2A20A-2618-446F-B93B-E814D01D82D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/>
      <p:bldP spid="3994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C:\B\b4\JPG\foo\5-28.jpg"/>
          <p:cNvPicPr>
            <a:picLocks noChangeAspect="1" noChangeArrowheads="1"/>
          </p:cNvPicPr>
          <p:nvPr/>
        </p:nvPicPr>
        <p:blipFill rotWithShape="1">
          <a:blip r:embed="rId3" cstate="print"/>
          <a:srcRect t="3" b="23132"/>
          <a:stretch/>
        </p:blipFill>
        <p:spPr bwMode="auto">
          <a:xfrm>
            <a:off x="1914504" y="1600114"/>
            <a:ext cx="8160254" cy="2459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Disk Arm Scheduling Algorithms (C-SCAN</a:t>
            </a:r>
            <a:r>
              <a:rPr lang="en-US" sz="3100" dirty="0"/>
              <a:t>)</a:t>
            </a:r>
            <a:endParaRPr lang="he-IL" dirty="0"/>
          </a:p>
        </p:txBody>
      </p:sp>
      <p:sp>
        <p:nvSpPr>
          <p:cNvPr id="40963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48F758-C93D-4BAA-B603-9DA3643C7899}" type="slidenum">
              <a:rPr lang="en-US"/>
              <a:pPr/>
              <a:t>42</a:t>
            </a:fld>
            <a:endParaRPr lang="en-US"/>
          </a:p>
        </p:txBody>
      </p:sp>
      <p:sp>
        <p:nvSpPr>
          <p:cNvPr id="40966" name="TextBox 8"/>
          <p:cNvSpPr txBox="1">
            <a:spLocks noChangeArrowheads="1"/>
          </p:cNvSpPr>
          <p:nvPr/>
        </p:nvSpPr>
        <p:spPr bwMode="auto">
          <a:xfrm>
            <a:off x="4409333" y="4059931"/>
            <a:ext cx="4044417" cy="71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070" tIns="35035" rIns="70070" bIns="35035">
            <a:spAutoFit/>
          </a:bodyPr>
          <a:lstStyle/>
          <a:p>
            <a:pPr algn="r"/>
            <a:r>
              <a:rPr lang="he-IL" sz="1400" dirty="0"/>
              <a:t>בקשות לצילינדרים:</a:t>
            </a:r>
            <a:r>
              <a:rPr lang="en-US" sz="1400" dirty="0"/>
              <a:t> </a:t>
            </a:r>
            <a:endParaRPr lang="he-IL" sz="1400" dirty="0"/>
          </a:p>
          <a:p>
            <a:pPr algn="l"/>
            <a:r>
              <a:rPr lang="en-US" sz="1400" dirty="0"/>
              <a:t>1,36,16,34,9,12</a:t>
            </a:r>
          </a:p>
          <a:p>
            <a:pPr algn="r" rtl="1"/>
            <a:r>
              <a:rPr lang="he-IL" sz="1400" dirty="0"/>
              <a:t>הראש נמצא על 11</a:t>
            </a:r>
          </a:p>
        </p:txBody>
      </p:sp>
      <p:sp>
        <p:nvSpPr>
          <p:cNvPr id="40967" name="TextBox 9"/>
          <p:cNvSpPr txBox="1">
            <a:spLocks noChangeArrowheads="1"/>
          </p:cNvSpPr>
          <p:nvPr/>
        </p:nvSpPr>
        <p:spPr bwMode="auto">
          <a:xfrm>
            <a:off x="7971958" y="4922381"/>
            <a:ext cx="2462364" cy="1147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0070" tIns="35035" rIns="70070" bIns="35035">
            <a:spAutoFit/>
          </a:bodyPr>
          <a:lstStyle/>
          <a:p>
            <a:pPr algn="r"/>
            <a:r>
              <a:rPr lang="he-IL" sz="1400" dirty="0"/>
              <a:t>אלגוריתם הסריקה</a:t>
            </a:r>
          </a:p>
          <a:p>
            <a:pPr algn="r"/>
            <a:r>
              <a:rPr lang="en-US" sz="1400" dirty="0"/>
              <a:t>C-SCAN</a:t>
            </a:r>
          </a:p>
          <a:p>
            <a:pPr algn="r"/>
            <a:r>
              <a:rPr lang="he-IL" sz="1400" dirty="0"/>
              <a:t>סורק בקשות רק בכיוון אחד (למעלה) וחוזר לנמוך ביותר בלי לעצור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333" y="4922382"/>
            <a:ext cx="2264771" cy="717085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l"/>
            <a:r>
              <a:rPr lang="en-US" sz="1400" dirty="0"/>
              <a:t>11-&gt;36-&gt;1-&gt;9 = </a:t>
            </a:r>
          </a:p>
          <a:p>
            <a:pPr algn="l"/>
            <a:r>
              <a:rPr lang="en-US" sz="1400" dirty="0"/>
              <a:t>     25+35+8=68</a:t>
            </a:r>
          </a:p>
          <a:p>
            <a:pPr algn="r"/>
            <a:endParaRPr lang="he-IL" sz="1400" dirty="0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95F7A5-B8A4-4CA7-86FB-112D963D87D2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56021" y="5457686"/>
            <a:ext cx="2264360" cy="286198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r"/>
            <a:r>
              <a:rPr lang="he-IL" sz="1400" dirty="0">
                <a:ln>
                  <a:solidFill>
                    <a:schemeClr val="tx1"/>
                  </a:solidFill>
                </a:ln>
                <a:hlinkClick r:id="rId4" action="ppaction://hlinksldjump"/>
              </a:rPr>
              <a:t>לשאלות על הפרק</a:t>
            </a:r>
            <a:endParaRPr lang="he-IL" sz="1400" dirty="0">
              <a:ln>
                <a:solidFill>
                  <a:schemeClr val="tx1"/>
                </a:solidFill>
              </a:ln>
            </a:endParaRP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0423A2FD-52AD-4ABE-B8DD-B6B2AA301222}"/>
              </a:ext>
            </a:extLst>
          </p:cNvPr>
          <p:cNvGrpSpPr/>
          <p:nvPr/>
        </p:nvGrpSpPr>
        <p:grpSpPr>
          <a:xfrm>
            <a:off x="2332020" y="4024646"/>
            <a:ext cx="7194365" cy="339038"/>
            <a:chOff x="2332020" y="4024646"/>
            <a:chExt cx="7194365" cy="339038"/>
          </a:xfrm>
        </p:grpSpPr>
        <p:cxnSp>
          <p:nvCxnSpPr>
            <p:cNvPr id="5" name="מחבר ישר 4"/>
            <p:cNvCxnSpPr/>
            <p:nvPr/>
          </p:nvCxnSpPr>
          <p:spPr bwMode="auto">
            <a:xfrm>
              <a:off x="2332020" y="4141239"/>
              <a:ext cx="1653509" cy="222445"/>
            </a:xfrm>
            <a:prstGeom prst="line">
              <a:avLst/>
            </a:prstGeom>
            <a:solidFill>
              <a:schemeClr val="bg1"/>
            </a:solidFill>
            <a:ln w="44450" cap="rnd" cmpd="sng" algn="ctr">
              <a:solidFill>
                <a:schemeClr val="tx2"/>
              </a:solidFill>
              <a:prstDash val="solid"/>
              <a:round/>
              <a:headEnd type="oval" w="med" len="med"/>
              <a:tailEnd type="oval"/>
            </a:ln>
            <a:effectLst/>
          </p:spPr>
        </p:cxnSp>
        <p:cxnSp>
          <p:nvCxnSpPr>
            <p:cNvPr id="12" name="מחבר ישר 11">
              <a:extLst>
                <a:ext uri="{FF2B5EF4-FFF2-40B4-BE49-F238E27FC236}">
                  <a16:creationId xmlns:a16="http://schemas.microsoft.com/office/drawing/2014/main" id="{35C2E722-2B23-456F-AE50-CAE0B778440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332020" y="4024646"/>
              <a:ext cx="7194365" cy="116594"/>
            </a:xfrm>
            <a:prstGeom prst="line">
              <a:avLst/>
            </a:prstGeom>
            <a:solidFill>
              <a:schemeClr val="bg1"/>
            </a:solidFill>
            <a:ln w="44450" cap="rnd" cmpd="sng" algn="ctr">
              <a:solidFill>
                <a:schemeClr val="tx2"/>
              </a:solidFill>
              <a:prstDash val="solid"/>
              <a:round/>
              <a:headEnd type="oval" w="med" len="med"/>
              <a:tailEnd type="oval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13677F-687B-417D-88C9-3AF0AAC45807}" type="slidenum">
              <a:rPr lang="en-US"/>
              <a:pPr/>
              <a:t>43</a:t>
            </a:fld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Error Handling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4156" y="4667543"/>
            <a:ext cx="8124544" cy="170135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 disk track with a bad sector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Substituting a spare for the bad sector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Shifting all the sectors to bypass the bad one</a:t>
            </a:r>
          </a:p>
        </p:txBody>
      </p:sp>
      <p:pic>
        <p:nvPicPr>
          <p:cNvPr id="41989" name="Picture 6" descr="C:\B\b4\JPG\foo\5-2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288" y="1402893"/>
            <a:ext cx="8409070" cy="2851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17CBF1-5C9C-4263-B965-0D08E60B9C96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Stable Storage (1)</a:t>
            </a:r>
          </a:p>
        </p:txBody>
      </p:sp>
      <p:sp>
        <p:nvSpPr>
          <p:cNvPr id="52227" name="Content Placeholder 4"/>
          <p:cNvSpPr>
            <a:spLocks noGrp="1"/>
          </p:cNvSpPr>
          <p:nvPr>
            <p:ph idx="1"/>
          </p:nvPr>
        </p:nvSpPr>
        <p:spPr>
          <a:xfrm>
            <a:off x="2439988" y="1350964"/>
            <a:ext cx="7600950" cy="48625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3200" dirty="0"/>
              <a:t>Operations for stable storage using identical disks:</a:t>
            </a:r>
          </a:p>
          <a:p>
            <a:pPr eaLnBrk="1" hangingPunct="1">
              <a:buFontTx/>
              <a:buAutoNum type="arabicPeriod"/>
            </a:pPr>
            <a:r>
              <a:rPr lang="en-US" sz="3200" dirty="0"/>
              <a:t>Stable writes</a:t>
            </a:r>
          </a:p>
          <a:p>
            <a:pPr eaLnBrk="1" hangingPunct="1">
              <a:buFontTx/>
              <a:buAutoNum type="arabicPeriod"/>
            </a:pPr>
            <a:r>
              <a:rPr lang="en-US" sz="3200" dirty="0"/>
              <a:t>Stable reads</a:t>
            </a:r>
          </a:p>
          <a:p>
            <a:pPr eaLnBrk="1" hangingPunct="1">
              <a:buFontTx/>
              <a:buAutoNum type="arabicPeriod"/>
            </a:pPr>
            <a:r>
              <a:rPr lang="en-US" sz="3200" dirty="0"/>
              <a:t>Crash recovery</a:t>
            </a:r>
          </a:p>
        </p:txBody>
      </p:sp>
    </p:spTree>
    <p:extLst>
      <p:ext uri="{BB962C8B-B14F-4D97-AF65-F5344CB8AC3E}">
        <p14:creationId xmlns:p14="http://schemas.microsoft.com/office/powerpoint/2010/main" val="1864131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CC630F-6CA1-4E6E-8AE7-D4CCFF542A3C}" type="slidenum">
              <a:rPr lang="en-US"/>
              <a:pPr/>
              <a:t>45</a:t>
            </a:fld>
            <a:endParaRPr 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Stable Storage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238167"/>
            <a:ext cx="9144000" cy="9716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Analysis of the influence of crashes on stable writes</a:t>
            </a:r>
          </a:p>
        </p:txBody>
      </p:sp>
      <p:pic>
        <p:nvPicPr>
          <p:cNvPr id="43013" name="Picture 6" descr="C:\B\b4\JPG\foo\5-3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5120" y="1339785"/>
            <a:ext cx="8556518" cy="2883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5A602B-49E5-4C24-A558-F8944DCDD26E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3C45D5-A9DE-496F-837D-0C426A111AB3}" type="slidenum">
              <a:rPr lang="en-US"/>
              <a:pPr/>
              <a:t>46</a:t>
            </a:fld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178296" y="244553"/>
            <a:ext cx="7772054" cy="1142562"/>
          </a:xfrm>
        </p:spPr>
        <p:txBody>
          <a:bodyPr/>
          <a:lstStyle/>
          <a:p>
            <a:pPr eaLnBrk="1" hangingPunct="1"/>
            <a:r>
              <a:rPr lang="en-US" dirty="0"/>
              <a:t>Clocks</a:t>
            </a:r>
            <a:br>
              <a:rPr lang="en-US" dirty="0"/>
            </a:br>
            <a:r>
              <a:rPr lang="en-US" sz="2400" dirty="0"/>
              <a:t>Clock Hardware</a:t>
            </a:r>
            <a:endParaRPr lang="en-US" dirty="0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495868"/>
            <a:ext cx="7773206" cy="599549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A programmable clock</a:t>
            </a:r>
          </a:p>
        </p:txBody>
      </p:sp>
      <p:pic>
        <p:nvPicPr>
          <p:cNvPr id="44037" name="Picture 5" descr="C:\B\b4\JPG\foo\5-3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4755" y="1828888"/>
            <a:ext cx="8521958" cy="280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54324D-BC03-4FB7-98FF-2475501C320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Clock Software (1)</a:t>
            </a:r>
          </a:p>
        </p:txBody>
      </p:sp>
      <p:sp>
        <p:nvSpPr>
          <p:cNvPr id="55299" name="Content Placeholder 4"/>
          <p:cNvSpPr>
            <a:spLocks noGrp="1"/>
          </p:cNvSpPr>
          <p:nvPr>
            <p:ph idx="1"/>
          </p:nvPr>
        </p:nvSpPr>
        <p:spPr>
          <a:xfrm>
            <a:off x="1865315" y="1173164"/>
            <a:ext cx="8396287" cy="49990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/>
              <a:t>Typical duties of a clock driver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Maintaining the time of day.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Preventing processes from running longer than they are allowed to.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Accounting for CPU usage.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Handling alarm system call made by user processes.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Providing watchdog timers for parts of the system itself.</a:t>
            </a:r>
          </a:p>
          <a:p>
            <a:pPr eaLnBrk="1" hangingPunct="1">
              <a:buFontTx/>
              <a:buAutoNum type="arabicPeriod"/>
            </a:pPr>
            <a:r>
              <a:rPr lang="en-US" sz="2800" dirty="0"/>
              <a:t>Doing profiling, monitoring, statistics gathering.</a:t>
            </a:r>
          </a:p>
        </p:txBody>
      </p:sp>
    </p:spTree>
    <p:extLst>
      <p:ext uri="{BB962C8B-B14F-4D97-AF65-F5344CB8AC3E}">
        <p14:creationId xmlns:p14="http://schemas.microsoft.com/office/powerpoint/2010/main" val="18444218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073D0F-1872-4E98-B796-15115B6C4F1D}" type="slidenum">
              <a:rPr lang="en-US"/>
              <a:pPr/>
              <a:t>48</a:t>
            </a:fld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Clock Software (1)</a:t>
            </a:r>
            <a:endParaRPr lang="en-US" sz="3200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610257"/>
            <a:ext cx="7773206" cy="485161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Three ways to maintain the time of day</a:t>
            </a:r>
          </a:p>
        </p:txBody>
      </p:sp>
      <p:pic>
        <p:nvPicPr>
          <p:cNvPr id="45061" name="Picture 5" descr="C:\B\b4\JPG\foo\5-3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6490" y="1943277"/>
            <a:ext cx="8359538" cy="224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8F792A-962C-4C11-B734-A6685F374E22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71C7A6-E423-447E-A359-2F6F93D19D7A}" type="slidenum">
              <a:rPr lang="en-US"/>
              <a:pPr/>
              <a:t>49</a:t>
            </a:fld>
            <a:endParaRPr 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Clock Software (2)</a:t>
            </a:r>
            <a:endParaRPr lang="en-US" sz="3200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381479"/>
            <a:ext cx="9144000" cy="71393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2400" dirty="0"/>
              <a:t>Simulating multiple timers with a single clock</a:t>
            </a:r>
          </a:p>
        </p:txBody>
      </p:sp>
      <p:pic>
        <p:nvPicPr>
          <p:cNvPr id="46085" name="Picture 6" descr="C:\B\b4\JPG\foo\5-3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84553" y="2069499"/>
            <a:ext cx="8321524" cy="261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65200E-DBEC-4266-9650-4FDAE65F3308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DC74E9-589E-4437-8FEF-2F53C496D92F}" type="slidenum">
              <a:rPr lang="en-US"/>
              <a:pPr/>
              <a:t>50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Soft Timers</a:t>
            </a:r>
            <a:endParaRPr lang="en-US" sz="320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238545"/>
            <a:ext cx="9144000" cy="485687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A second clock available for timer interrupts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00" dirty="0"/>
              <a:t>specified by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00" dirty="0"/>
              <a:t>no problems if interrupt frequency is low</a:t>
            </a:r>
          </a:p>
          <a:p>
            <a:pPr lvl="1" eaLnBrk="1" hangingPunct="1">
              <a:lnSpc>
                <a:spcPct val="90000"/>
              </a:lnSpc>
            </a:pPr>
            <a:endParaRPr lang="en-US" sz="21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Soft timers avoid interrupts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00" dirty="0"/>
              <a:t>kernel checks for soft timer expiration before it exits to user mode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100" dirty="0"/>
              <a:t>how well this works depends on rate of kernel entries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C149FA-AEEC-4571-912A-329AC1D96AEC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A21799-12AC-499B-8880-12BB480CE6E0}" type="slidenum">
              <a:rPr lang="en-US"/>
              <a:pPr/>
              <a:t>51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2232436" y="269537"/>
            <a:ext cx="7772054" cy="1143877"/>
          </a:xfrm>
        </p:spPr>
        <p:txBody>
          <a:bodyPr/>
          <a:lstStyle/>
          <a:p>
            <a:pPr eaLnBrk="1" hangingPunct="1"/>
            <a:r>
              <a:rPr lang="en-US" dirty="0"/>
              <a:t>Character Oriented Terminals</a:t>
            </a:r>
            <a:br>
              <a:rPr lang="en-US" dirty="0"/>
            </a:br>
            <a:r>
              <a:rPr lang="en-US" sz="2400" dirty="0"/>
              <a:t>RS-232 Terminal Hardware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055" y="4809541"/>
            <a:ext cx="8839892" cy="1657964"/>
          </a:xfrm>
        </p:spPr>
        <p:txBody>
          <a:bodyPr/>
          <a:lstStyle/>
          <a:p>
            <a:pPr eaLnBrk="1" hangingPunct="1"/>
            <a:r>
              <a:rPr lang="en-US" sz="1600" dirty="0"/>
              <a:t>An RS-232 terminal communicates with computer 1 bit at a time</a:t>
            </a:r>
          </a:p>
          <a:p>
            <a:pPr eaLnBrk="1" hangingPunct="1"/>
            <a:r>
              <a:rPr lang="en-US" sz="1600" dirty="0"/>
              <a:t>Called a serial line – bits go out in series, 1 bit at a time</a:t>
            </a:r>
          </a:p>
          <a:p>
            <a:pPr eaLnBrk="1" hangingPunct="1"/>
            <a:r>
              <a:rPr lang="en-US" sz="1600" dirty="0"/>
              <a:t>Windows uses COM1 and COM2 ports, first to serial lines</a:t>
            </a:r>
          </a:p>
          <a:p>
            <a:pPr eaLnBrk="1" hangingPunct="1"/>
            <a:r>
              <a:rPr lang="en-US" sz="1600" dirty="0"/>
              <a:t>Computer and  terminal are completely independent</a:t>
            </a:r>
          </a:p>
        </p:txBody>
      </p:sp>
      <p:pic>
        <p:nvPicPr>
          <p:cNvPr id="48133" name="Picture 5" descr="C:\B\b4\JPG\foo\5-3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1217" y="1651391"/>
            <a:ext cx="8216699" cy="2826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905FAF-C1C4-4DC7-8573-144979E68335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66D6E2B-B42F-4071-8C82-D0D27E3E1BD2}" type="slidenum">
              <a:rPr lang="en-US"/>
              <a:pPr/>
              <a:t>52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81036" y="5181632"/>
            <a:ext cx="7916045" cy="1285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Central buffer pool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Dedicated buffer for each terminal</a:t>
            </a:r>
            <a:endParaRPr lang="en-US" sz="2400" dirty="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Input Software (1)</a:t>
            </a:r>
          </a:p>
        </p:txBody>
      </p:sp>
      <p:pic>
        <p:nvPicPr>
          <p:cNvPr id="49157" name="Picture 5" descr="C:\B\b4\JPG\foo\5-3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19203" y="1166230"/>
            <a:ext cx="5714713" cy="3990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8DD864-B1CE-44DC-A08F-EAC411B421E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AD4F67-0332-464E-8C16-14742A94D889}" type="slidenum">
              <a:rPr lang="en-US"/>
              <a:pPr/>
              <a:t>53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Input Software (2)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800901"/>
            <a:ext cx="9144000" cy="43125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Characters handled specially in canonical mode</a:t>
            </a:r>
            <a:endParaRPr lang="en-US" sz="2400" dirty="0"/>
          </a:p>
        </p:txBody>
      </p:sp>
      <p:pic>
        <p:nvPicPr>
          <p:cNvPr id="501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1751" y="1183321"/>
            <a:ext cx="8063492" cy="422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D8DF86-984A-4D31-917C-CC6F79920E07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FB8BBA-8A5C-42A9-8D53-5F140D5DA02E}" type="slidenum">
              <a:rPr lang="en-US"/>
              <a:pPr/>
              <a:t>54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397" y="0"/>
            <a:ext cx="7773206" cy="1142562"/>
          </a:xfrm>
        </p:spPr>
        <p:txBody>
          <a:bodyPr/>
          <a:lstStyle/>
          <a:p>
            <a:pPr eaLnBrk="1" hangingPunct="1"/>
            <a:r>
              <a:rPr lang="en-US"/>
              <a:t>Output Software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6101" y="5096167"/>
            <a:ext cx="7772054" cy="999248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1800" dirty="0"/>
              <a:t>The ANSI escape sequences</a:t>
            </a:r>
          </a:p>
          <a:p>
            <a:pPr eaLnBrk="1" hangingPunct="1">
              <a:lnSpc>
                <a:spcPct val="70000"/>
              </a:lnSpc>
            </a:pPr>
            <a:r>
              <a:rPr lang="en-US" sz="1800" dirty="0"/>
              <a:t>accepted by terminal driver on output</a:t>
            </a:r>
          </a:p>
          <a:p>
            <a:pPr eaLnBrk="1" hangingPunct="1">
              <a:lnSpc>
                <a:spcPct val="70000"/>
              </a:lnSpc>
            </a:pPr>
            <a:r>
              <a:rPr lang="en-US" sz="1800" dirty="0"/>
              <a:t>ESC is ASCII character (0x1B)</a:t>
            </a:r>
          </a:p>
          <a:p>
            <a:pPr eaLnBrk="1" hangingPunct="1">
              <a:lnSpc>
                <a:spcPct val="70000"/>
              </a:lnSpc>
            </a:pPr>
            <a:r>
              <a:rPr lang="en-US" sz="1800" dirty="0" err="1"/>
              <a:t>n,m</a:t>
            </a:r>
            <a:r>
              <a:rPr lang="en-US" sz="1800" dirty="0"/>
              <a:t>, and s are optional numeric parameters</a:t>
            </a: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48128" y="1024231"/>
            <a:ext cx="8086531" cy="3768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D7BAE5-4CE9-4487-BA2E-09A9218A9659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C0A6C9-A6E9-4063-92AA-AAB955B56D8C}" type="slidenum">
              <a:rPr lang="en-US"/>
              <a:pPr/>
              <a:t>55</a:t>
            </a:fld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631" y="280053"/>
            <a:ext cx="6908110" cy="633734"/>
          </a:xfrm>
        </p:spPr>
        <p:txBody>
          <a:bodyPr/>
          <a:lstStyle/>
          <a:p>
            <a:pPr eaLnBrk="1" hangingPunct="1"/>
            <a:r>
              <a:rPr lang="en-US" dirty="0"/>
              <a:t>Display Hardware (1)</a:t>
            </a:r>
            <a:endParaRPr lang="en-US" sz="2700" dirty="0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5352555"/>
            <a:ext cx="7773206" cy="7428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800" dirty="0"/>
              <a:t>Memory-mapped displays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driver writes directly into display's video RAM</a:t>
            </a:r>
          </a:p>
        </p:txBody>
      </p:sp>
      <p:sp>
        <p:nvSpPr>
          <p:cNvPr id="52229" name="Text Box 7"/>
          <p:cNvSpPr txBox="1">
            <a:spLocks noChangeArrowheads="1"/>
          </p:cNvSpPr>
          <p:nvPr/>
        </p:nvSpPr>
        <p:spPr bwMode="auto">
          <a:xfrm>
            <a:off x="3353264" y="4429566"/>
            <a:ext cx="2657497" cy="2305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60644" tIns="30322" rIns="60644" bIns="30322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Parallel port</a:t>
            </a:r>
          </a:p>
        </p:txBody>
      </p:sp>
      <p:pic>
        <p:nvPicPr>
          <p:cNvPr id="52230" name="Picture 8" descr="C:\B\b4\JPG\foo\5-3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7075" y="2178626"/>
            <a:ext cx="8185596" cy="2755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1" name="Rectangle 9"/>
          <p:cNvSpPr>
            <a:spLocks noChangeArrowheads="1"/>
          </p:cNvSpPr>
          <p:nvPr/>
        </p:nvSpPr>
        <p:spPr bwMode="auto">
          <a:xfrm>
            <a:off x="4648028" y="4863448"/>
            <a:ext cx="1447973" cy="28005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60644" tIns="30322" rIns="60644" bIns="30322" anchor="ctr"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4CA01A-6F0A-4731-8D8C-0290ADC1275F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9BC42C-E07C-48BC-8F08-9812A540572E}" type="slidenum">
              <a:rPr lang="en-US"/>
              <a:pPr/>
              <a:t>56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954" y="165666"/>
            <a:ext cx="7772054" cy="850676"/>
          </a:xfrm>
        </p:spPr>
        <p:txBody>
          <a:bodyPr/>
          <a:lstStyle/>
          <a:p>
            <a:pPr eaLnBrk="1" hangingPunct="1"/>
            <a:r>
              <a:rPr lang="en-US" dirty="0"/>
              <a:t>Display Hardware (2)</a:t>
            </a:r>
            <a:endParaRPr lang="en-US" sz="2100" dirty="0"/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7021" y="4553157"/>
            <a:ext cx="6286068" cy="12004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dirty="0"/>
              <a:t>A video RAM image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simple monochrome display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character mode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/>
              <a:t>Corresponding screen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the </a:t>
            </a:r>
            <a:r>
              <a:rPr lang="en-US" dirty="0" err="1">
                <a:latin typeface="Tahoma" pitchFamily="34" charset="0"/>
              </a:rPr>
              <a:t>x</a:t>
            </a:r>
            <a:r>
              <a:rPr lang="en-US" sz="1600" dirty="0" err="1"/>
              <a:t>s</a:t>
            </a:r>
            <a:r>
              <a:rPr lang="en-US" sz="1600" dirty="0"/>
              <a:t> are attribute bytes</a:t>
            </a:r>
          </a:p>
        </p:txBody>
      </p:sp>
      <p:pic>
        <p:nvPicPr>
          <p:cNvPr id="53253" name="Picture 5" descr="C:\B\b4\JPG\foo\5-3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0419" y="838518"/>
            <a:ext cx="7829650" cy="3751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C139C2-A026-45C9-B644-212F6406BFB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EEE3AF-E430-4DA6-BB75-39FFBAB83C96}" type="slidenum">
              <a:rPr lang="en-US"/>
              <a:pPr/>
              <a:t>57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Input Software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397" y="1267468"/>
            <a:ext cx="7773206" cy="4827948"/>
          </a:xfrm>
        </p:spPr>
        <p:txBody>
          <a:bodyPr/>
          <a:lstStyle/>
          <a:p>
            <a:pPr eaLnBrk="1" hangingPunct="1"/>
            <a:r>
              <a:rPr lang="en-US" sz="2400" dirty="0"/>
              <a:t>Keyboard driver delivers a number</a:t>
            </a:r>
          </a:p>
          <a:p>
            <a:pPr lvl="1" eaLnBrk="1" hangingPunct="1"/>
            <a:r>
              <a:rPr lang="en-US" sz="2100" dirty="0"/>
              <a:t>driver converts to characters</a:t>
            </a:r>
          </a:p>
          <a:p>
            <a:pPr lvl="1" eaLnBrk="1" hangingPunct="1"/>
            <a:r>
              <a:rPr lang="en-US" sz="2100" dirty="0"/>
              <a:t>uses a ASCII table</a:t>
            </a:r>
          </a:p>
          <a:p>
            <a:pPr lvl="1" eaLnBrk="1" hangingPunct="1"/>
            <a:endParaRPr lang="en-US" sz="2100" dirty="0"/>
          </a:p>
          <a:p>
            <a:pPr eaLnBrk="1" hangingPunct="1"/>
            <a:r>
              <a:rPr lang="en-US" sz="2400" dirty="0"/>
              <a:t>Exceptions, adaptations needed for other languages</a:t>
            </a:r>
          </a:p>
          <a:p>
            <a:pPr lvl="1" eaLnBrk="1" hangingPunct="1"/>
            <a:r>
              <a:rPr lang="en-US" sz="2100" dirty="0"/>
              <a:t>many OS provide for loadable </a:t>
            </a:r>
            <a:r>
              <a:rPr lang="en-US" sz="2100" dirty="0" err="1"/>
              <a:t>keymaps</a:t>
            </a:r>
            <a:r>
              <a:rPr lang="en-US" sz="2100" dirty="0"/>
              <a:t> or code pages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FB50F9-0326-441B-A178-2F13D8D350F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00A6E9-3B05-4A7E-BBBE-3A226E5F4E43}" type="slidenum">
              <a:rPr lang="en-US"/>
              <a:pPr/>
              <a:t>58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357" y="0"/>
            <a:ext cx="7772054" cy="1142562"/>
          </a:xfrm>
        </p:spPr>
        <p:txBody>
          <a:bodyPr/>
          <a:lstStyle/>
          <a:p>
            <a:pPr eaLnBrk="1" hangingPunct="1"/>
            <a:r>
              <a:rPr lang="en-US" dirty="0"/>
              <a:t>Output Software for Windows (1)</a:t>
            </a:r>
            <a:endParaRPr lang="en-US" sz="2700" dirty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6057289"/>
            <a:ext cx="9144000" cy="6008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Sample window located at (200,100) on XGA display</a:t>
            </a:r>
          </a:p>
        </p:txBody>
      </p:sp>
      <p:pic>
        <p:nvPicPr>
          <p:cNvPr id="55301" name="Picture 5" descr="C:\B\b4\JPG\foo\5-4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9153" y="1054471"/>
            <a:ext cx="5796499" cy="4708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E4F75A-1568-4035-A764-E298D42450A1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997CC0-6584-4165-B9E7-008ECCAA66FD}" type="slidenum">
              <a:rPr lang="en-US"/>
              <a:pPr/>
              <a:t>59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2076927" y="206424"/>
            <a:ext cx="7772054" cy="771788"/>
          </a:xfrm>
        </p:spPr>
        <p:txBody>
          <a:bodyPr/>
          <a:lstStyle/>
          <a:p>
            <a:pPr eaLnBrk="1" hangingPunct="1"/>
            <a:r>
              <a:rPr lang="en-US" dirty="0"/>
              <a:t>Output Software for Windows (2)</a:t>
            </a:r>
            <a:endParaRPr lang="en-US" sz="2700" dirty="0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09833" y="6115139"/>
            <a:ext cx="7772054" cy="742862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Skeleton of a Windows main program (part 1)</a:t>
            </a:r>
          </a:p>
        </p:txBody>
      </p:sp>
      <p:pic>
        <p:nvPicPr>
          <p:cNvPr id="56325" name="Picture 5"/>
          <p:cNvPicPr>
            <a:picLocks noChangeAspect="1" noChangeArrowheads="1"/>
          </p:cNvPicPr>
          <p:nvPr/>
        </p:nvPicPr>
        <p:blipFill>
          <a:blip r:embed="rId3" cstate="print"/>
          <a:srcRect b="48848"/>
          <a:stretch>
            <a:fillRect/>
          </a:stretch>
        </p:blipFill>
        <p:spPr bwMode="auto">
          <a:xfrm>
            <a:off x="2032002" y="992677"/>
            <a:ext cx="8064644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E4F554-84F5-4FA5-8E68-9E38C41C88CF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01DE8D-F996-4653-9347-C4F832FA46A8}" type="slidenum">
              <a:rPr lang="en-US"/>
              <a:pPr/>
              <a:t>60</a:t>
            </a:fld>
            <a:endParaRPr lang="en-US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2562"/>
          </a:xfrm>
        </p:spPr>
        <p:txBody>
          <a:bodyPr/>
          <a:lstStyle/>
          <a:p>
            <a:pPr eaLnBrk="1" hangingPunct="1"/>
            <a:r>
              <a:rPr lang="en-US" dirty="0"/>
              <a:t>Output Software for Windows (3)</a:t>
            </a:r>
            <a:endParaRPr lang="en-US" sz="2700" dirty="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0183" y="6229527"/>
            <a:ext cx="7772054" cy="6284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Skeleton of a Windows main program (part 2)</a:t>
            </a:r>
          </a:p>
          <a:p>
            <a:pPr eaLnBrk="1" hangingPunct="1">
              <a:buFontTx/>
              <a:buNone/>
            </a:pPr>
            <a:endParaRPr lang="en-US"/>
          </a:p>
        </p:txBody>
      </p:sp>
      <p:pic>
        <p:nvPicPr>
          <p:cNvPr id="57349" name="Picture 5"/>
          <p:cNvPicPr>
            <a:picLocks noChangeAspect="1" noChangeArrowheads="1"/>
          </p:cNvPicPr>
          <p:nvPr/>
        </p:nvPicPr>
        <p:blipFill>
          <a:blip r:embed="rId3" cstate="print"/>
          <a:srcRect t="50777"/>
          <a:stretch>
            <a:fillRect/>
          </a:stretch>
        </p:blipFill>
        <p:spPr bwMode="auto">
          <a:xfrm>
            <a:off x="1829262" y="1171489"/>
            <a:ext cx="8369905" cy="4709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3761D2-B62F-4A7D-A35D-C973F93A7F7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152047-9113-4069-9C43-721D187DCF0A}" type="slidenum">
              <a:rPr lang="en-US"/>
              <a:pPr/>
              <a:t>61</a:t>
            </a:fld>
            <a:endParaRPr lang="en-US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Output Software for Windows (4)</a:t>
            </a:r>
            <a:endParaRPr lang="en-US" sz="2700" dirty="0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47410" y="5686514"/>
            <a:ext cx="7773206" cy="11714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An example rectangle drawn using </a:t>
            </a:r>
            <a:r>
              <a:rPr lang="en-US" i="1"/>
              <a:t>Rectangle</a:t>
            </a:r>
            <a:endParaRPr lang="en-US"/>
          </a:p>
        </p:txBody>
      </p:sp>
      <p:pic>
        <p:nvPicPr>
          <p:cNvPr id="58373" name="Picture 6" descr="C:\B\b4\JPG\foo\5-4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49961" y="1422614"/>
            <a:ext cx="3924617" cy="392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D78863-4793-4791-97A7-17E015A813E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E84239-BD59-4DE8-AFC5-9C18971E2DF7}" type="slidenum">
              <a:rPr lang="en-US"/>
              <a:pPr/>
              <a:t>62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Output Software for Windows (5)</a:t>
            </a:r>
            <a:endParaRPr lang="en-US" sz="2700" dirty="0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23747" y="4981780"/>
            <a:ext cx="5743511" cy="91378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Copying bitmaps using </a:t>
            </a:r>
            <a:r>
              <a:rPr lang="en-US" i="1"/>
              <a:t>BitBlt.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before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after</a:t>
            </a:r>
          </a:p>
        </p:txBody>
      </p:sp>
      <p:pic>
        <p:nvPicPr>
          <p:cNvPr id="59397" name="Picture 6" descr="C:\B\b4\JPG\foo\5-4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2002" y="1262210"/>
            <a:ext cx="8391791" cy="343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D2A14A-1599-4993-BC92-3AD66E5878A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94B9F9-F20C-4427-B9FB-6BBC2A9C594E}" type="slidenum">
              <a:rPr lang="en-US"/>
              <a:pPr/>
              <a:t>63</a:t>
            </a:fld>
            <a:endParaRPr lang="en-US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Output Software for Windows (6)</a:t>
            </a:r>
            <a:endParaRPr lang="en-US" sz="2700" dirty="0"/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6940" y="6061232"/>
            <a:ext cx="9061060" cy="51408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dirty="0"/>
              <a:t>Examples of character outlines at different point sizes</a:t>
            </a:r>
            <a:endParaRPr lang="en-US" sz="1800" dirty="0"/>
          </a:p>
        </p:txBody>
      </p:sp>
      <p:pic>
        <p:nvPicPr>
          <p:cNvPr id="60421" name="Picture 6" descr="C:\B\b4\JPG\foo\5-4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9184" y="1614576"/>
            <a:ext cx="6442730" cy="3832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B98C7F-58EB-4F7C-AD85-3EA724325EE7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9F4A91-072F-4E81-A70F-77B2134A88F8}" type="slidenum">
              <a:rPr lang="en-US"/>
              <a:pPr/>
              <a:t>64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Network Terminals</a:t>
            </a:r>
            <a:br>
              <a:rPr lang="en-US" dirty="0"/>
            </a:br>
            <a:r>
              <a:rPr lang="en-US" sz="2100" dirty="0"/>
              <a:t>X Windows (1)</a:t>
            </a:r>
            <a:endParaRPr lang="en-US" dirty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1384" y="5982344"/>
            <a:ext cx="7773206" cy="45623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1800" dirty="0"/>
              <a:t>Clients and servers in the M.I.T. X Window System</a:t>
            </a:r>
            <a:endParaRPr lang="en-US" sz="1600" dirty="0"/>
          </a:p>
        </p:txBody>
      </p:sp>
      <p:pic>
        <p:nvPicPr>
          <p:cNvPr id="61445" name="Picture 5" descr="C:\B\b4\JPG\foo\5-4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1888" y="1326634"/>
            <a:ext cx="7500199" cy="417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E6B96D-A22F-4FE4-A3A4-F960AD643CA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0CBCD1-FEC3-40E2-B8E9-C2B4FD22EEC3}" type="slidenum">
              <a:rPr lang="en-US"/>
              <a:pPr/>
              <a:t>65</a:t>
            </a:fld>
            <a:endParaRPr lang="en-US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357" y="193276"/>
            <a:ext cx="7772054" cy="594290"/>
          </a:xfrm>
        </p:spPr>
        <p:txBody>
          <a:bodyPr/>
          <a:lstStyle/>
          <a:p>
            <a:pPr eaLnBrk="1" hangingPunct="1"/>
            <a:r>
              <a:rPr lang="en-US" dirty="0"/>
              <a:t>X Windows (2)</a:t>
            </a:r>
            <a:endParaRPr lang="en-US" sz="2100" dirty="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2236" y="6429377"/>
            <a:ext cx="7773206" cy="42862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1600" dirty="0"/>
              <a:t>Skeleton of an X Windows application program</a:t>
            </a:r>
          </a:p>
        </p:txBody>
      </p:sp>
      <p:pic>
        <p:nvPicPr>
          <p:cNvPr id="62469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4881" y="920362"/>
            <a:ext cx="5499302" cy="5277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F11E17-0419-4A16-934F-9EAAA37A16A0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F3191D-254C-4D4D-91EF-18630557E292}" type="slidenum">
              <a:rPr lang="en-US"/>
              <a:pPr/>
              <a:t>66</a:t>
            </a:fld>
            <a:endParaRPr lang="en-US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SLIM Network Terminal (1)</a:t>
            </a:r>
            <a:endParaRPr lang="en-US" sz="2700" dirty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81752" y="5466942"/>
            <a:ext cx="7772054" cy="257701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dirty="0"/>
              <a:t>The architecture of the SLIM terminal system</a:t>
            </a:r>
            <a:endParaRPr lang="en-US" sz="1800" dirty="0"/>
          </a:p>
        </p:txBody>
      </p:sp>
      <p:pic>
        <p:nvPicPr>
          <p:cNvPr id="63493" name="Picture 6" descr="C:\B\b4\JPG\foo\5-4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0300" y="1431818"/>
            <a:ext cx="7576228" cy="32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AB6540-8085-4A4B-ABFC-20EA4196F19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73364C-564D-4990-A754-71069DC769A1}" type="slidenum">
              <a:rPr lang="en-US"/>
              <a:pPr/>
              <a:t>67</a:t>
            </a:fld>
            <a:endParaRPr lang="en-US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SLIM Network Terminal (2)</a:t>
            </a:r>
            <a:endParaRPr lang="en-US" sz="2700" dirty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086965"/>
            <a:ext cx="9144000" cy="88486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1600" dirty="0"/>
              <a:t>Messages used in the SLIM protocol from the server to the terminals</a:t>
            </a:r>
          </a:p>
        </p:txBody>
      </p:sp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8464" y="1814426"/>
            <a:ext cx="7518630" cy="217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68F71F-24BB-4018-ACA8-5F58456C8D4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6995BB-5558-433E-A084-84EB95925FD5}" type="slidenum">
              <a:rPr lang="en-US"/>
              <a:pPr/>
              <a:t>68</a:t>
            </a:fld>
            <a:endParaRPr lang="en-US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752" y="143315"/>
            <a:ext cx="7772054" cy="900638"/>
          </a:xfrm>
        </p:spPr>
        <p:txBody>
          <a:bodyPr/>
          <a:lstStyle/>
          <a:p>
            <a:pPr eaLnBrk="1" hangingPunct="1"/>
            <a:r>
              <a:rPr lang="en-US"/>
              <a:t>Power Management (1)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5524792"/>
            <a:ext cx="9144000" cy="886176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z="1800" dirty="0"/>
              <a:t>Power consumption of various parts of a laptop computer</a:t>
            </a:r>
          </a:p>
        </p:txBody>
      </p:sp>
      <p:pic>
        <p:nvPicPr>
          <p:cNvPr id="655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1304" y="1605373"/>
            <a:ext cx="7318195" cy="3191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6F90C9-0340-498E-849E-78DB745B9477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3FD1FE6-1DF9-4190-97E1-B5A8284E7F91}" type="slidenum">
              <a:rPr lang="en-US"/>
              <a:pPr/>
              <a:t>69</a:t>
            </a:fld>
            <a:endParaRPr lang="en-US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Power management (2)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38196" y="5296019"/>
            <a:ext cx="7772054" cy="10860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The use of zones for backlighting the display</a:t>
            </a:r>
          </a:p>
        </p:txBody>
      </p:sp>
      <p:pic>
        <p:nvPicPr>
          <p:cNvPr id="66565" name="Picture 6" descr="C:\B\b4\JPG\foo\5-5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3939" y="1421302"/>
            <a:ext cx="8245497" cy="2958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6" name="Rectangle 7"/>
          <p:cNvSpPr>
            <a:spLocks noChangeArrowheads="1"/>
          </p:cNvSpPr>
          <p:nvPr/>
        </p:nvSpPr>
        <p:spPr bwMode="auto">
          <a:xfrm>
            <a:off x="3530659" y="4127160"/>
            <a:ext cx="774095" cy="4575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60644" tIns="30322" rIns="60644" bIns="30322" anchor="ctr"/>
          <a:lstStyle/>
          <a:p>
            <a:endParaRPr lang="he-IL"/>
          </a:p>
        </p:txBody>
      </p:sp>
      <p:sp>
        <p:nvSpPr>
          <p:cNvPr id="66567" name="Rectangle 8"/>
          <p:cNvSpPr>
            <a:spLocks noChangeArrowheads="1"/>
          </p:cNvSpPr>
          <p:nvPr/>
        </p:nvSpPr>
        <p:spPr bwMode="auto">
          <a:xfrm>
            <a:off x="8001290" y="4050902"/>
            <a:ext cx="774095" cy="54695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60644" tIns="30322" rIns="60644" bIns="30322" anchor="ctr"/>
          <a:lstStyle/>
          <a:p>
            <a:endParaRPr lang="he-IL"/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81FBC5-665A-48C3-BDE2-CF809CBF804E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A0DA56-0CD6-4FAC-9329-00EB9C59542B}" type="slidenum">
              <a:rPr lang="en-US"/>
              <a:pPr/>
              <a:t>70</a:t>
            </a:fld>
            <a:endParaRPr lang="en-US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Power Management (3)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93578" y="3927311"/>
            <a:ext cx="5687066" cy="2629601"/>
          </a:xfrm>
        </p:spPr>
        <p:txBody>
          <a:bodyPr/>
          <a:lstStyle/>
          <a:p>
            <a:pPr eaLnBrk="1" hangingPunct="1"/>
            <a:r>
              <a:rPr lang="en-US"/>
              <a:t>Running at full clock speed</a:t>
            </a:r>
          </a:p>
          <a:p>
            <a:pPr eaLnBrk="1" hangingPunct="1"/>
            <a:r>
              <a:rPr lang="en-US"/>
              <a:t>Cutting voltage by two </a:t>
            </a:r>
          </a:p>
          <a:p>
            <a:pPr lvl="1" eaLnBrk="1" hangingPunct="1"/>
            <a:r>
              <a:rPr lang="en-US"/>
              <a:t>cuts clock speed by two, </a:t>
            </a:r>
          </a:p>
          <a:p>
            <a:pPr lvl="1" eaLnBrk="1" hangingPunct="1"/>
            <a:r>
              <a:rPr lang="en-US"/>
              <a:t>cuts power by four</a:t>
            </a:r>
          </a:p>
        </p:txBody>
      </p:sp>
      <p:pic>
        <p:nvPicPr>
          <p:cNvPr id="67589" name="Picture 6" descr="C:\B\b4\JPG\foo\5-5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7829" y="1393690"/>
            <a:ext cx="7752472" cy="2279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CCA4A2-7FA0-4F50-B2AA-7ADC1566038A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3D6FD8-26AF-4BE4-BFBB-F47582DC912A}" type="slidenum">
              <a:rPr lang="en-US"/>
              <a:pPr/>
              <a:t>71</a:t>
            </a:fld>
            <a:endParaRPr lang="en-US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Power Management (4)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317" y="1267468"/>
            <a:ext cx="8458603" cy="4827948"/>
          </a:xfrm>
        </p:spPr>
        <p:txBody>
          <a:bodyPr/>
          <a:lstStyle/>
          <a:p>
            <a:pPr eaLnBrk="1" hangingPunct="1"/>
            <a:r>
              <a:rPr lang="en-US" sz="2400" dirty="0"/>
              <a:t>Telling the programs to use less energy</a:t>
            </a:r>
          </a:p>
          <a:p>
            <a:pPr lvl="1" eaLnBrk="1" hangingPunct="1"/>
            <a:r>
              <a:rPr lang="en-US" sz="2100" dirty="0"/>
              <a:t>may mean poorer user experience</a:t>
            </a:r>
          </a:p>
          <a:p>
            <a:pPr lvl="1" eaLnBrk="1" hangingPunct="1"/>
            <a:endParaRPr lang="en-US" sz="2100" dirty="0"/>
          </a:p>
          <a:p>
            <a:pPr eaLnBrk="1" hangingPunct="1"/>
            <a:r>
              <a:rPr lang="en-US" sz="2400" dirty="0"/>
              <a:t>Examples</a:t>
            </a:r>
          </a:p>
          <a:p>
            <a:pPr lvl="1" eaLnBrk="1" hangingPunct="1"/>
            <a:r>
              <a:rPr lang="en-US" sz="2100" dirty="0"/>
              <a:t>change from color output to black and white</a:t>
            </a:r>
          </a:p>
          <a:p>
            <a:pPr lvl="1" eaLnBrk="1" hangingPunct="1"/>
            <a:r>
              <a:rPr lang="en-US" sz="2100" dirty="0"/>
              <a:t>speech recognition reduces vocabulary</a:t>
            </a:r>
          </a:p>
          <a:p>
            <a:pPr lvl="1" eaLnBrk="1" hangingPunct="1"/>
            <a:r>
              <a:rPr lang="en-US" sz="2100" dirty="0"/>
              <a:t>less resolution or detail in an image</a:t>
            </a:r>
          </a:p>
        </p:txBody>
      </p:sp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CD1106-C512-4E05-9A07-A407A29199E1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buNone/>
            </a:pPr>
            <a:r>
              <a:rPr lang="he-IL" b="1" dirty="0">
                <a:solidFill>
                  <a:schemeClr val="accent2"/>
                </a:solidFill>
                <a:hlinkClick r:id="" action="ppaction://customshow?id=1&amp;return=tr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שאלה 20</a:t>
            </a:r>
            <a:endParaRPr lang="en-US" dirty="0">
              <a:solidFill>
                <a:schemeClr val="accent2"/>
              </a:solidFill>
            </a:endParaRPr>
          </a:p>
          <a:p>
            <a:pPr algn="r" rtl="1">
              <a:buNone/>
            </a:pPr>
            <a:r>
              <a:rPr lang="he-IL" dirty="0"/>
              <a:t>באיזו שכבה של תוכנת קלט פלט ממומש לרוב מנגנון הגנה על קבצים</a:t>
            </a:r>
            <a:r>
              <a:rPr lang="ar-SA" dirty="0"/>
              <a:t> (</a:t>
            </a:r>
            <a:r>
              <a:rPr lang="he-IL" dirty="0"/>
              <a:t>דוגמת רשימת גישה</a:t>
            </a:r>
            <a:r>
              <a:rPr lang="ar-SA" dirty="0"/>
              <a:t> (</a:t>
            </a:r>
            <a:r>
              <a:rPr lang="en-US" dirty="0"/>
              <a:t>access control list</a:t>
            </a:r>
            <a:r>
              <a:rPr lang="ar-SA" dirty="0"/>
              <a:t>) </a:t>
            </a:r>
            <a:r>
              <a:rPr lang="he-IL" dirty="0"/>
              <a:t>או רשימת יכולות</a:t>
            </a:r>
            <a:r>
              <a:rPr lang="ar-SA" dirty="0"/>
              <a:t> (</a:t>
            </a:r>
            <a:r>
              <a:rPr lang="en-US" dirty="0"/>
              <a:t>capability list</a:t>
            </a:r>
            <a:r>
              <a:rPr lang="ar-SA" dirty="0"/>
              <a:t>))? </a:t>
            </a:r>
            <a:endParaRPr lang="en-US" dirty="0"/>
          </a:p>
          <a:p>
            <a:pPr algn="r" rtl="1">
              <a:buNone/>
            </a:pPr>
            <a:r>
              <a:rPr lang="ar-SA" dirty="0"/>
              <a:t> </a:t>
            </a:r>
            <a:endParaRPr lang="en-US" dirty="0"/>
          </a:p>
          <a:p>
            <a:pPr algn="r" rtl="1">
              <a:buNone/>
            </a:pPr>
            <a:r>
              <a:rPr lang="he-IL" dirty="0"/>
              <a:t>א</a:t>
            </a:r>
            <a:r>
              <a:rPr lang="ar-SA" dirty="0"/>
              <a:t>) </a:t>
            </a:r>
            <a:r>
              <a:rPr lang="he-IL" dirty="0"/>
              <a:t>במערכת הטיפול בפסיקות הנוצרות ע</a:t>
            </a:r>
            <a:r>
              <a:rPr lang="ar-SA" dirty="0"/>
              <a:t>"</a:t>
            </a:r>
            <a:r>
              <a:rPr lang="he-IL" dirty="0"/>
              <a:t>י ההתקנים</a:t>
            </a:r>
            <a:r>
              <a:rPr lang="ar-SA" dirty="0"/>
              <a:t> (</a:t>
            </a:r>
            <a:r>
              <a:rPr lang="en-US" dirty="0"/>
              <a:t>interrupt handling mechanism</a:t>
            </a:r>
            <a:r>
              <a:rPr lang="ar-SA" dirty="0"/>
              <a:t>)</a:t>
            </a:r>
            <a:endParaRPr lang="en-US" dirty="0"/>
          </a:p>
          <a:p>
            <a:pPr algn="r" rtl="1">
              <a:buNone/>
            </a:pPr>
            <a:r>
              <a:rPr lang="he-IL" dirty="0"/>
              <a:t>ב</a:t>
            </a:r>
            <a:r>
              <a:rPr lang="ar-SA" dirty="0"/>
              <a:t>) </a:t>
            </a:r>
            <a:r>
              <a:rPr lang="he-IL" dirty="0"/>
              <a:t>בתוך תוכניות התיאום בין ההתקן לבין מערכת ההפעלה</a:t>
            </a:r>
            <a:r>
              <a:rPr lang="ar-SA" dirty="0"/>
              <a:t> (</a:t>
            </a:r>
            <a:r>
              <a:rPr lang="en-US" dirty="0"/>
              <a:t>device drivers</a:t>
            </a:r>
            <a:r>
              <a:rPr lang="ar-SA" dirty="0"/>
              <a:t>)</a:t>
            </a:r>
            <a:endParaRPr lang="en-US" dirty="0"/>
          </a:p>
          <a:p>
            <a:pPr algn="r" rtl="1">
              <a:buNone/>
            </a:pPr>
            <a:r>
              <a:rPr lang="he-IL" dirty="0"/>
              <a:t>ג</a:t>
            </a:r>
            <a:r>
              <a:rPr lang="ar-SA" dirty="0"/>
              <a:t>) </a:t>
            </a:r>
            <a:r>
              <a:rPr lang="he-IL" dirty="0"/>
              <a:t>בתוך תוכנת קלט</a:t>
            </a:r>
            <a:r>
              <a:rPr lang="ar-SA" dirty="0"/>
              <a:t>/</a:t>
            </a:r>
            <a:r>
              <a:rPr lang="he-IL" dirty="0"/>
              <a:t>פלט הבלתי תלויה בהתקן</a:t>
            </a:r>
            <a:r>
              <a:rPr lang="ar-SA" dirty="0"/>
              <a:t> (</a:t>
            </a:r>
            <a:r>
              <a:rPr lang="en-US" dirty="0"/>
              <a:t>device independent software</a:t>
            </a:r>
            <a:r>
              <a:rPr lang="ar-SA" dirty="0"/>
              <a:t>)</a:t>
            </a:r>
            <a:endParaRPr lang="en-US" dirty="0"/>
          </a:p>
          <a:p>
            <a:pPr algn="r" rtl="1">
              <a:buNone/>
            </a:pPr>
            <a:r>
              <a:rPr lang="he-IL" dirty="0"/>
              <a:t>ד</a:t>
            </a:r>
            <a:r>
              <a:rPr lang="ar-SA" dirty="0"/>
              <a:t>) </a:t>
            </a:r>
            <a:r>
              <a:rPr lang="he-IL" dirty="0"/>
              <a:t>בשדים</a:t>
            </a:r>
            <a:r>
              <a:rPr lang="ar-SA" dirty="0"/>
              <a:t> (</a:t>
            </a:r>
            <a:r>
              <a:rPr lang="en-US" dirty="0" err="1"/>
              <a:t>deamons</a:t>
            </a:r>
            <a:r>
              <a:rPr lang="ar-SA" dirty="0"/>
              <a:t>) </a:t>
            </a:r>
            <a:r>
              <a:rPr lang="he-IL" dirty="0"/>
              <a:t>לארגון הפלט ובפונקציות הספרייה שאינן תלויות חומרה</a:t>
            </a:r>
            <a:endParaRPr lang="en-US" dirty="0"/>
          </a:p>
          <a:p>
            <a:pPr algn="r">
              <a:buNone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4D048F-5AB7-4214-A96A-997519D28CF1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493068-0E1C-44ED-B7A5-ABA0EC7CA474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209397" y="593239"/>
            <a:ext cx="7773206" cy="5502178"/>
          </a:xfrm>
        </p:spPr>
        <p:txBody>
          <a:bodyPr/>
          <a:lstStyle/>
          <a:p>
            <a:pPr algn="r" rtl="1">
              <a:buNone/>
            </a:pPr>
            <a:r>
              <a:rPr lang="he-IL" sz="1800" dirty="0"/>
              <a:t> </a:t>
            </a:r>
            <a:endParaRPr lang="en-US" sz="1800" dirty="0"/>
          </a:p>
          <a:p>
            <a:pPr algn="r" rtl="1">
              <a:buNone/>
            </a:pPr>
            <a:r>
              <a:rPr lang="he-IL" sz="1800" b="1" dirty="0"/>
              <a:t>שאלה 8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איזה מבין</a:t>
            </a:r>
            <a:r>
              <a:rPr lang="ar-SA" sz="1800" dirty="0"/>
              <a:t>  </a:t>
            </a:r>
            <a:r>
              <a:rPr lang="he-IL" sz="1800" dirty="0"/>
              <a:t>האלגוריתמים הבאים לתזמון זרוע הדיסק מבטיח כי לא תתרחש קיפוח כלשהו או העדפה כלשהי של מסלולי הדיסק</a:t>
            </a:r>
            <a:r>
              <a:rPr lang="ar-SA" sz="1800" dirty="0"/>
              <a:t>? (</a:t>
            </a:r>
            <a:r>
              <a:rPr lang="he-IL" sz="1800" dirty="0"/>
              <a:t>ההנחה היא שכל המסלולים שווי זכויות בלי קשר לכמות הבלוקים שצריך להביא מהם</a:t>
            </a:r>
            <a:r>
              <a:rPr lang="ar-SA" sz="1800" dirty="0"/>
              <a:t>): </a:t>
            </a:r>
            <a:endParaRPr lang="en-US" sz="1800" dirty="0"/>
          </a:p>
          <a:p>
            <a:pPr algn="r" rtl="1">
              <a:buNone/>
            </a:pPr>
            <a:r>
              <a:rPr lang="ar-SA" sz="1800" dirty="0"/>
              <a:t> 1.</a:t>
            </a:r>
            <a:r>
              <a:rPr lang="en-US" sz="1800" dirty="0"/>
              <a:t>	FIFO</a:t>
            </a:r>
            <a:r>
              <a:rPr lang="ar-SA" sz="1800" dirty="0"/>
              <a:t>.</a:t>
            </a:r>
            <a:endParaRPr lang="en-US" sz="1800" dirty="0"/>
          </a:p>
          <a:p>
            <a:pPr algn="r" rtl="1">
              <a:buNone/>
            </a:pPr>
            <a:r>
              <a:rPr lang="ar-SA" sz="1800" dirty="0"/>
              <a:t>2.</a:t>
            </a:r>
            <a:r>
              <a:rPr lang="en-US" sz="1800" dirty="0"/>
              <a:t>	</a:t>
            </a:r>
            <a:r>
              <a:rPr lang="he-IL" sz="1800" dirty="0"/>
              <a:t>אלגוריתם המעלית </a:t>
            </a:r>
            <a:r>
              <a:rPr lang="en-US" sz="1800" dirty="0"/>
              <a:t>(Elevator)</a:t>
            </a:r>
            <a:r>
              <a:rPr lang="ar-SA" sz="1800" dirty="0"/>
              <a:t>.</a:t>
            </a:r>
            <a:endParaRPr lang="en-US" sz="1800" dirty="0"/>
          </a:p>
          <a:p>
            <a:pPr algn="r" rtl="1">
              <a:buNone/>
            </a:pPr>
            <a:r>
              <a:rPr lang="ar-SA" sz="1800" dirty="0"/>
              <a:t>3.</a:t>
            </a:r>
            <a:r>
              <a:rPr lang="en-US" sz="1800" dirty="0"/>
              <a:t>	</a:t>
            </a:r>
            <a:r>
              <a:rPr lang="he-IL" sz="1800" dirty="0"/>
              <a:t>אלגוריתם הסריקה </a:t>
            </a:r>
            <a:r>
              <a:rPr lang="en-US" sz="1800" dirty="0"/>
              <a:t>(SCAN)</a:t>
            </a:r>
            <a:r>
              <a:rPr lang="ar-SA" sz="1800" dirty="0"/>
              <a:t>.</a:t>
            </a:r>
            <a:endParaRPr lang="en-US" sz="1800" dirty="0"/>
          </a:p>
          <a:p>
            <a:pPr algn="r" rtl="1">
              <a:buNone/>
            </a:pPr>
            <a:r>
              <a:rPr lang="en-US" sz="1800" dirty="0"/>
              <a:t> </a:t>
            </a:r>
          </a:p>
          <a:p>
            <a:pPr algn="r" rtl="1">
              <a:buNone/>
            </a:pPr>
            <a:r>
              <a:rPr lang="he-IL" sz="1800" dirty="0"/>
              <a:t>א) </a:t>
            </a:r>
            <a:r>
              <a:rPr lang="ar-SA" sz="1800" dirty="0"/>
              <a:t>1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ב) </a:t>
            </a:r>
            <a:r>
              <a:rPr lang="ar-SA" sz="1800" dirty="0"/>
              <a:t>2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ג) </a:t>
            </a:r>
            <a:r>
              <a:rPr lang="ar-SA" sz="1800" dirty="0"/>
              <a:t>3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ד) </a:t>
            </a:r>
            <a:r>
              <a:rPr lang="ar-SA" sz="1800" dirty="0"/>
              <a:t>1 </a:t>
            </a:r>
            <a:r>
              <a:rPr lang="he-IL" sz="1800" dirty="0"/>
              <a:t>ו</a:t>
            </a:r>
            <a:r>
              <a:rPr lang="ar-SA" sz="1800" dirty="0"/>
              <a:t> 3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ה) </a:t>
            </a:r>
            <a:r>
              <a:rPr lang="ar-SA" sz="1800" dirty="0"/>
              <a:t>2 </a:t>
            </a:r>
            <a:r>
              <a:rPr lang="he-IL" sz="1800" dirty="0"/>
              <a:t>ו</a:t>
            </a:r>
            <a:r>
              <a:rPr lang="ar-SA" sz="1800" dirty="0"/>
              <a:t> 3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ו) אף תשובה קודמת איננה נכונה</a:t>
            </a:r>
            <a:r>
              <a:rPr lang="ar-SA" sz="1800" dirty="0"/>
              <a:t>.</a:t>
            </a:r>
            <a:endParaRPr lang="en-US" sz="1800" dirty="0"/>
          </a:p>
          <a:p>
            <a:pPr algn="r" rtl="1">
              <a:buNone/>
            </a:pPr>
            <a:r>
              <a:rPr lang="he-IL" sz="1800" dirty="0"/>
              <a:t> </a:t>
            </a:r>
            <a:endParaRPr lang="en-US" sz="1800" dirty="0"/>
          </a:p>
          <a:p>
            <a:pPr algn="r" rtl="1">
              <a:buNone/>
            </a:pPr>
            <a:endParaRPr lang="he-IL" sz="1800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4D048F-5AB7-4214-A96A-997519D28CF1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D97491-3E61-416D-94FA-77B5CB222903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330572-F1E8-4387-A204-6B0F0DB5396B}" type="datetime12">
              <a:rPr lang="he-IL" smtClean="0"/>
              <a:pPr>
                <a:defRPr/>
              </a:pPr>
              <a:t>18/06/2023 18:10</a:t>
            </a:fld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4D048F-5AB7-4214-A96A-997519D28CF1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809" b="9109"/>
          <a:stretch/>
        </p:blipFill>
        <p:spPr bwMode="auto">
          <a:xfrm>
            <a:off x="1933364" y="-168295"/>
            <a:ext cx="8384782" cy="537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049213" y="3980813"/>
            <a:ext cx="3319745" cy="1917414"/>
          </a:xfrm>
          <a:prstGeom prst="rect">
            <a:avLst/>
          </a:prstGeom>
          <a:noFill/>
        </p:spPr>
        <p:txBody>
          <a:bodyPr wrap="square" lIns="70070" tIns="35035" rIns="70070" bIns="35035" rtlCol="1">
            <a:spAutoFit/>
          </a:bodyPr>
          <a:lstStyle/>
          <a:p>
            <a:pPr algn="l"/>
            <a:r>
              <a:rPr lang="en-US" sz="1500" dirty="0" err="1"/>
              <a:t>Fcfs</a:t>
            </a:r>
            <a:r>
              <a:rPr lang="en-US" sz="1500" dirty="0"/>
              <a:t>: 53-&gt;98 -&gt;183-&gt;37-&gt;122 -&gt;</a:t>
            </a:r>
          </a:p>
          <a:p>
            <a:pPr algn="l"/>
            <a:r>
              <a:rPr lang="en-US" sz="1500" dirty="0"/>
              <a:t>             45   + 85 + 146 + …. &gt; 236</a:t>
            </a:r>
          </a:p>
          <a:p>
            <a:pPr algn="l"/>
            <a:r>
              <a:rPr lang="en-US" sz="1500" dirty="0"/>
              <a:t>elevator: 53-&gt;183-&gt;14  ==</a:t>
            </a:r>
          </a:p>
          <a:p>
            <a:pPr algn="l"/>
            <a:r>
              <a:rPr lang="en-US" sz="1500" dirty="0"/>
              <a:t>                 130+169=299</a:t>
            </a:r>
          </a:p>
          <a:p>
            <a:pPr algn="l"/>
            <a:r>
              <a:rPr lang="en-US" sz="1500" dirty="0" err="1"/>
              <a:t>ssf</a:t>
            </a:r>
            <a:r>
              <a:rPr lang="en-US" sz="1500" dirty="0"/>
              <a:t>: 53 - 65-67-37-14- -- -183</a:t>
            </a:r>
          </a:p>
          <a:p>
            <a:pPr algn="l"/>
            <a:r>
              <a:rPr lang="en-US" sz="1500" dirty="0"/>
              <a:t>           12+2+30+23+ 169=236  </a:t>
            </a:r>
            <a:r>
              <a:rPr lang="en-US" sz="1500" dirty="0" err="1"/>
              <a:t>ssf</a:t>
            </a:r>
            <a:endParaRPr lang="en-US" sz="1500" dirty="0"/>
          </a:p>
          <a:p>
            <a:pPr algn="l"/>
            <a:r>
              <a:rPr lang="en-US" sz="1500" dirty="0"/>
              <a:t>c-scan = 53-&gt;183 -&gt; 14-&gt;37</a:t>
            </a:r>
          </a:p>
          <a:p>
            <a:pPr algn="l"/>
            <a:endParaRPr lang="he-IL" sz="1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דיו 1"/>
              <p14:cNvContentPartPr/>
              <p14:nvPr/>
            </p14:nvContentPartPr>
            <p14:xfrm>
              <a:off x="3952920" y="5250600"/>
              <a:ext cx="7560" cy="360"/>
            </p14:xfrm>
          </p:contentPart>
        </mc:Choice>
        <mc:Fallback xmlns="">
          <p:pic>
            <p:nvPicPr>
              <p:cNvPr id="2" name="דיו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3560" y="5241240"/>
                <a:ext cx="262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209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  <a:txDef>
      <a:spPr>
        <a:noFill/>
      </a:spPr>
      <a:bodyPr wrap="square" rtlCol="1">
        <a:spAutoFit/>
      </a:bodyPr>
      <a:lstStyle>
        <a:defPPr algn="r">
          <a:defRPr sz="180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5378</TotalTime>
  <Words>2668</Words>
  <Application>Microsoft Office PowerPoint</Application>
  <PresentationFormat>מסך רחב</PresentationFormat>
  <Paragraphs>605</Paragraphs>
  <Slides>74</Slides>
  <Notes>74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74</vt:i4>
      </vt:variant>
      <vt:variant>
        <vt:lpstr>הצגות מותאמות אישית</vt:lpstr>
      </vt:variant>
      <vt:variant>
        <vt:i4>2</vt:i4>
      </vt:variant>
    </vt:vector>
  </HeadingPairs>
  <TitlesOfParts>
    <vt:vector size="83" baseType="lpstr">
      <vt:lpstr>Arial</vt:lpstr>
      <vt:lpstr>Helvetica</vt:lpstr>
      <vt:lpstr>Symbol</vt:lpstr>
      <vt:lpstr>Tahoma</vt:lpstr>
      <vt:lpstr>Times New Roman</vt:lpstr>
      <vt:lpstr>Wingdings</vt:lpstr>
      <vt:lpstr>Default Design</vt:lpstr>
      <vt:lpstr>Input/Output</vt:lpstr>
      <vt:lpstr>Principles of  I/O Hardware</vt:lpstr>
      <vt:lpstr>Device Controllers</vt:lpstr>
      <vt:lpstr>Memory-Mapped I/O (1)</vt:lpstr>
      <vt:lpstr>Memory-Mapped I/O (2)</vt:lpstr>
      <vt:lpstr>Computer Hardware Review (7)</vt:lpstr>
      <vt:lpstr>Direct Memory Access (DMA)</vt:lpstr>
      <vt:lpstr>Interrupts Revisited</vt:lpstr>
      <vt:lpstr>Programmed I/O (1)  (polling)</vt:lpstr>
      <vt:lpstr>Programmed I/O (2)</vt:lpstr>
      <vt:lpstr>Interrupt-Driven I/O</vt:lpstr>
      <vt:lpstr>I/O Using DMA</vt:lpstr>
      <vt:lpstr>Interrupt Handlers (1)</vt:lpstr>
      <vt:lpstr>Interrupt Handlers (2)</vt:lpstr>
      <vt:lpstr>Principles of I/O Software Goals of I/O Software (1)</vt:lpstr>
      <vt:lpstr>Goals of I/O Software (2)</vt:lpstr>
      <vt:lpstr>I/O Software Layers</vt:lpstr>
      <vt:lpstr>Device Drivers</vt:lpstr>
      <vt:lpstr>Device-Independent I/O Software (2)</vt:lpstr>
      <vt:lpstr>User-Space I/O Software</vt:lpstr>
      <vt:lpstr>Device-Independent I/O Software (1)</vt:lpstr>
      <vt:lpstr>Device-Independent I/O Software (3)</vt:lpstr>
      <vt:lpstr>Device-Independent I/O Software (4)</vt:lpstr>
      <vt:lpstr>Disks Disk Hardware (0)</vt:lpstr>
      <vt:lpstr>Disks Disk Hardware (1)</vt:lpstr>
      <vt:lpstr>Disk Hardware (2)</vt:lpstr>
      <vt:lpstr>Disk Hardware (3)</vt:lpstr>
      <vt:lpstr>Disk Hardware (4)</vt:lpstr>
      <vt:lpstr>CD-ROMs (1)</vt:lpstr>
      <vt:lpstr>CD-ROMs (2)</vt:lpstr>
      <vt:lpstr>CD-Recordables (1) </vt:lpstr>
      <vt:lpstr>DVD (1)</vt:lpstr>
      <vt:lpstr>DVD (2)</vt:lpstr>
      <vt:lpstr>DVD (3)</vt:lpstr>
      <vt:lpstr>Disk Formatting (1)</vt:lpstr>
      <vt:lpstr>Disk Formatting (2)</vt:lpstr>
      <vt:lpstr>Disk Formatting (3)</vt:lpstr>
      <vt:lpstr>Disk Arm Scheduling Algorithms (1)</vt:lpstr>
      <vt:lpstr>Disk Arm Scheduling Algorithms (FCFS [FIFO])</vt:lpstr>
      <vt:lpstr>Disk Arm Scheduling Algorithms (SSF)</vt:lpstr>
      <vt:lpstr>Disk Arm Scheduling Algorithms (elevator)</vt:lpstr>
      <vt:lpstr>Disk Arm Scheduling Algorithms (C-SCAN)</vt:lpstr>
      <vt:lpstr>Error Handling</vt:lpstr>
      <vt:lpstr>Stable Storage (1)</vt:lpstr>
      <vt:lpstr>Stable Storage</vt:lpstr>
      <vt:lpstr>Clocks Clock Hardware</vt:lpstr>
      <vt:lpstr>Clock Software (1)</vt:lpstr>
      <vt:lpstr>Clock Software (1)</vt:lpstr>
      <vt:lpstr>Clock Software (2)</vt:lpstr>
      <vt:lpstr>Soft Timers</vt:lpstr>
      <vt:lpstr>Character Oriented Terminals RS-232 Terminal Hardware</vt:lpstr>
      <vt:lpstr>Input Software (1)</vt:lpstr>
      <vt:lpstr>Input Software (2)</vt:lpstr>
      <vt:lpstr>Output Software</vt:lpstr>
      <vt:lpstr>Display Hardware (1)</vt:lpstr>
      <vt:lpstr>Display Hardware (2)</vt:lpstr>
      <vt:lpstr>Input Software</vt:lpstr>
      <vt:lpstr>Output Software for Windows (1)</vt:lpstr>
      <vt:lpstr>Output Software for Windows (2)</vt:lpstr>
      <vt:lpstr>Output Software for Windows (3)</vt:lpstr>
      <vt:lpstr>Output Software for Windows (4)</vt:lpstr>
      <vt:lpstr>Output Software for Windows (5)</vt:lpstr>
      <vt:lpstr>Output Software for Windows (6)</vt:lpstr>
      <vt:lpstr>Network Terminals X Windows (1)</vt:lpstr>
      <vt:lpstr>X Windows (2)</vt:lpstr>
      <vt:lpstr>The SLIM Network Terminal (1)</vt:lpstr>
      <vt:lpstr>The SLIM Network Terminal (2)</vt:lpstr>
      <vt:lpstr>Power Management (1)</vt:lpstr>
      <vt:lpstr>Power management (2)</vt:lpstr>
      <vt:lpstr>Power Management (3)</vt:lpstr>
      <vt:lpstr>Power Management (4)</vt:lpstr>
      <vt:lpstr>מצגת של PowerPoint‏</vt:lpstr>
      <vt:lpstr>מצגת של PowerPoint‏</vt:lpstr>
      <vt:lpstr>מצגת של PowerPoint‏</vt:lpstr>
      <vt:lpstr>דיסק</vt:lpstr>
      <vt:lpstr>תוכנה בלתי תלויה בהתקן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Input/Output</dc:title>
  <dc:creator>Steve  Armstrong</dc:creator>
  <cp:lastModifiedBy>Yakir Zadok</cp:lastModifiedBy>
  <cp:revision>119</cp:revision>
  <dcterms:created xsi:type="dcterms:W3CDTF">2000-11-30T00:42:29Z</dcterms:created>
  <dcterms:modified xsi:type="dcterms:W3CDTF">2023-06-18T15:32:57Z</dcterms:modified>
</cp:coreProperties>
</file>