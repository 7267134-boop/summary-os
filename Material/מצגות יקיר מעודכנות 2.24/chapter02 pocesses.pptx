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5"/>
  </p:notesMasterIdLst>
  <p:sldIdLst>
    <p:sldId id="257" r:id="rId2"/>
    <p:sldId id="256" r:id="rId3"/>
    <p:sldId id="331" r:id="rId4"/>
    <p:sldId id="258" r:id="rId5"/>
    <p:sldId id="259" r:id="rId6"/>
    <p:sldId id="261" r:id="rId7"/>
    <p:sldId id="260" r:id="rId8"/>
    <p:sldId id="262" r:id="rId9"/>
    <p:sldId id="263" r:id="rId10"/>
    <p:sldId id="264" r:id="rId11"/>
    <p:sldId id="321" r:id="rId12"/>
    <p:sldId id="268" r:id="rId13"/>
    <p:sldId id="323" r:id="rId14"/>
    <p:sldId id="270" r:id="rId15"/>
    <p:sldId id="271" r:id="rId16"/>
    <p:sldId id="265" r:id="rId17"/>
    <p:sldId id="266" r:id="rId18"/>
    <p:sldId id="267" r:id="rId19"/>
    <p:sldId id="324" r:id="rId20"/>
    <p:sldId id="325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332" r:id="rId30"/>
    <p:sldId id="281" r:id="rId31"/>
    <p:sldId id="280" r:id="rId32"/>
    <p:sldId id="326" r:id="rId33"/>
    <p:sldId id="282" r:id="rId34"/>
    <p:sldId id="283" r:id="rId35"/>
    <p:sldId id="284" r:id="rId36"/>
    <p:sldId id="327" r:id="rId37"/>
    <p:sldId id="285" r:id="rId38"/>
    <p:sldId id="334" r:id="rId39"/>
    <p:sldId id="286" r:id="rId40"/>
    <p:sldId id="287" r:id="rId41"/>
    <p:sldId id="288" r:id="rId42"/>
    <p:sldId id="289" r:id="rId43"/>
    <p:sldId id="290" r:id="rId44"/>
    <p:sldId id="291" r:id="rId45"/>
    <p:sldId id="292" r:id="rId46"/>
    <p:sldId id="293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18" r:id="rId56"/>
    <p:sldId id="303" r:id="rId57"/>
    <p:sldId id="319" r:id="rId58"/>
    <p:sldId id="304" r:id="rId59"/>
    <p:sldId id="333" r:id="rId60"/>
    <p:sldId id="336" r:id="rId61"/>
    <p:sldId id="337" r:id="rId62"/>
    <p:sldId id="338" r:id="rId63"/>
    <p:sldId id="339" r:id="rId64"/>
    <p:sldId id="335" r:id="rId65"/>
    <p:sldId id="328" r:id="rId66"/>
    <p:sldId id="342" r:id="rId67"/>
    <p:sldId id="343" r:id="rId68"/>
    <p:sldId id="329" r:id="rId69"/>
    <p:sldId id="340" r:id="rId70"/>
    <p:sldId id="341" r:id="rId71"/>
    <p:sldId id="305" r:id="rId72"/>
    <p:sldId id="320" r:id="rId73"/>
    <p:sldId id="307" r:id="rId74"/>
    <p:sldId id="308" r:id="rId75"/>
    <p:sldId id="330" r:id="rId76"/>
    <p:sldId id="315" r:id="rId77"/>
    <p:sldId id="311" r:id="rId78"/>
    <p:sldId id="316" r:id="rId79"/>
    <p:sldId id="317" r:id="rId80"/>
    <p:sldId id="309" r:id="rId81"/>
    <p:sldId id="312" r:id="rId82"/>
    <p:sldId id="313" r:id="rId83"/>
    <p:sldId id="344" r:id="rId84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r" defTabSz="914400" rtl="1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r" defTabSz="914400" rtl="1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r" defTabSz="914400" rtl="1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r" defTabSz="914400" rtl="1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8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akir zadok" initials="yz" lastIdx="2" clrIdx="0">
    <p:extLst>
      <p:ext uri="{19B8F6BF-5375-455C-9EA6-DF929625EA0E}">
        <p15:presenceInfo xmlns:p15="http://schemas.microsoft.com/office/powerpoint/2012/main" userId="4a797c7f3352097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8F8D4"/>
    <a:srgbClr val="D2FA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63" autoAdjust="0"/>
    <p:restoredTop sz="94692" autoAdjust="0"/>
  </p:normalViewPr>
  <p:slideViewPr>
    <p:cSldViewPr snapToGrid="0">
      <p:cViewPr varScale="1">
        <p:scale>
          <a:sx n="61" d="100"/>
          <a:sy n="61" d="100"/>
        </p:scale>
        <p:origin x="84" y="258"/>
      </p:cViewPr>
      <p:guideLst>
        <p:guide orient="horz" pos="48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832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tableStyles" Target="tableStyle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373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34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34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cs typeface="Times New Roman" pitchFamily="18" charset="0"/>
              </a:defRPr>
            </a:lvl1pPr>
          </a:lstStyle>
          <a:p>
            <a:pPr>
              <a:defRPr/>
            </a:pPr>
            <a:fld id="{CC461CDE-9D09-4B91-8A17-3C9A6E7B8176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03285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3FEB9926-6061-4542-BEBF-83C9095F6EE0}" type="slidenum">
              <a:rPr lang="he-IL" sz="1200" smtClean="0"/>
              <a:pPr eaLnBrk="1" hangingPunct="1"/>
              <a:t>1</a:t>
            </a:fld>
            <a:endParaRPr lang="en-US" sz="1200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F5DEFD8E-CB1D-4088-B240-B7DBFCE30D1A}" type="slidenum">
              <a:rPr lang="he-IL" sz="1200" smtClean="0"/>
              <a:pPr eaLnBrk="1" hangingPunct="1"/>
              <a:t>2</a:t>
            </a:fld>
            <a:endParaRPr lang="en-US" sz="1200"/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F5DEFD8E-CB1D-4088-B240-B7DBFCE30D1A}" type="slidenum">
              <a:rPr lang="he-IL" sz="1200" smtClean="0"/>
              <a:pPr eaLnBrk="1" hangingPunct="1"/>
              <a:t>3</a:t>
            </a:fld>
            <a:endParaRPr lang="en-US" sz="1200"/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9CB2C40C-7CC3-47A5-ACCD-6805D3FB56BD}" type="slidenum">
              <a:rPr lang="he-IL" sz="1200" smtClean="0"/>
              <a:pPr eaLnBrk="1" hangingPunct="1"/>
              <a:t>4</a:t>
            </a:fld>
            <a:endParaRPr lang="en-US" sz="1200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F9E69420-E52A-461B-85B5-F2BF0BBE4468}" type="slidenum">
              <a:rPr lang="he-IL" sz="1200" smtClean="0"/>
              <a:pPr eaLnBrk="1" hangingPunct="1"/>
              <a:t>5</a:t>
            </a:fld>
            <a:endParaRPr lang="en-US" sz="1200"/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CFEC16C6-1ACF-42CD-9997-1241C826DCFF}" type="slidenum">
              <a:rPr lang="he-IL" sz="1200" smtClean="0"/>
              <a:pPr eaLnBrk="1" hangingPunct="1"/>
              <a:t>6</a:t>
            </a:fld>
            <a:endParaRPr lang="en-US" sz="1200"/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7EA2656B-65E8-4487-9044-6E9452EF41C8}" type="slidenum">
              <a:rPr lang="he-IL" sz="1200" smtClean="0"/>
              <a:pPr eaLnBrk="1" hangingPunct="1"/>
              <a:t>7</a:t>
            </a:fld>
            <a:endParaRPr lang="en-US" sz="1200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CA850D04-1084-4D93-A0CD-F61848EAD842}" type="slidenum">
              <a:rPr lang="he-IL" sz="1200" smtClean="0"/>
              <a:pPr eaLnBrk="1" hangingPunct="1"/>
              <a:t>8</a:t>
            </a:fld>
            <a:endParaRPr lang="en-US" sz="1200"/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EBDA8A88-3684-436C-889A-A7BF534C74D0}" type="slidenum">
              <a:rPr lang="he-IL" sz="1200" smtClean="0"/>
              <a:pPr eaLnBrk="1" hangingPunct="1"/>
              <a:t>9</a:t>
            </a:fld>
            <a:endParaRPr lang="en-US" sz="1200"/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3AF34048-43E8-46ED-B80B-5EA3D0123BFC}" type="slidenum">
              <a:rPr lang="he-IL" sz="1200" smtClean="0"/>
              <a:pPr eaLnBrk="1" hangingPunct="1"/>
              <a:t>10</a:t>
            </a:fld>
            <a:endParaRPr lang="en-US" sz="1200"/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 cap="flat"/>
        </p:spPr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7AB86E99-4043-47FA-94AC-9897D98A426E}" type="slidenum">
              <a:rPr lang="he-IL" sz="1200" smtClean="0"/>
              <a:pPr eaLnBrk="1" hangingPunct="1"/>
              <a:t>12</a:t>
            </a:fld>
            <a:endParaRPr lang="en-US" sz="1200"/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C9C379D1-97A2-4F2E-9359-E9EAC0A276E2}" type="slidenum">
              <a:rPr lang="he-IL" sz="1200" smtClean="0"/>
              <a:pPr eaLnBrk="1" hangingPunct="1"/>
              <a:t>13</a:t>
            </a:fld>
            <a:endParaRPr lang="en-US" sz="1200"/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2CC52485-4AB7-4DA3-B6E4-353DA79CBCF9}" type="slidenum">
              <a:rPr lang="he-IL" sz="1200" smtClean="0"/>
              <a:pPr eaLnBrk="1" hangingPunct="1"/>
              <a:t>14</a:t>
            </a:fld>
            <a:endParaRPr lang="en-US" sz="1200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2F9EF135-CE87-4961-95C8-98A67EE44EA7}" type="slidenum">
              <a:rPr lang="he-IL" sz="1200" smtClean="0"/>
              <a:pPr eaLnBrk="1" hangingPunct="1"/>
              <a:t>15</a:t>
            </a:fld>
            <a:endParaRPr lang="en-US" sz="1200"/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5DB26BD8-C67A-4BE5-A374-467FF60C8A3A}" type="slidenum">
              <a:rPr lang="he-IL" sz="1200" smtClean="0"/>
              <a:pPr eaLnBrk="1" hangingPunct="1"/>
              <a:t>16</a:t>
            </a:fld>
            <a:endParaRPr lang="en-US" sz="1200"/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BF9054DD-EF45-492F-8442-AA1FD1A3E416}" type="slidenum">
              <a:rPr lang="he-IL" sz="1200" smtClean="0"/>
              <a:pPr eaLnBrk="1" hangingPunct="1"/>
              <a:t>17</a:t>
            </a:fld>
            <a:endParaRPr lang="en-US" sz="1200"/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DEF21FC6-33B3-4203-B95C-E28BD7F905A1}" type="slidenum">
              <a:rPr lang="he-IL" sz="1200" smtClean="0"/>
              <a:pPr eaLnBrk="1" hangingPunct="1"/>
              <a:t>18</a:t>
            </a:fld>
            <a:endParaRPr lang="en-US" sz="1200"/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 cap="flat"/>
        </p:spPr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 cap="flat"/>
        </p:spPr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0FA8BCAA-B031-4467-A8AB-7467F25EA917}" type="slidenum">
              <a:rPr lang="he-IL" sz="1200" smtClean="0"/>
              <a:pPr eaLnBrk="1" hangingPunct="1"/>
              <a:t>21</a:t>
            </a:fld>
            <a:endParaRPr lang="en-US" sz="1200"/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F2E2A29C-ED1F-4B12-B13F-F6547F089A4A}" type="slidenum">
              <a:rPr lang="he-IL" sz="1200" smtClean="0"/>
              <a:pPr eaLnBrk="1" hangingPunct="1"/>
              <a:t>22</a:t>
            </a:fld>
            <a:endParaRPr lang="en-US" sz="1200"/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52CEEEBC-75B8-40B3-AFCD-5D78931C1123}" type="slidenum">
              <a:rPr lang="he-IL" sz="1200" smtClean="0"/>
              <a:pPr eaLnBrk="1" hangingPunct="1"/>
              <a:t>23</a:t>
            </a:fld>
            <a:endParaRPr lang="en-US" sz="1200"/>
          </a:p>
        </p:txBody>
      </p:sp>
      <p:sp>
        <p:nvSpPr>
          <p:cNvPr id="96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9A8A647F-AA2A-4BBD-92D6-97258A4C9165}" type="slidenum">
              <a:rPr lang="he-IL" sz="1200" smtClean="0"/>
              <a:pPr eaLnBrk="1" hangingPunct="1"/>
              <a:t>24</a:t>
            </a:fld>
            <a:endParaRPr lang="en-US" sz="1200"/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03591D8D-1929-4411-81DD-5F0C14F5FA59}" type="slidenum">
              <a:rPr lang="he-IL" sz="1200" smtClean="0"/>
              <a:pPr eaLnBrk="1" hangingPunct="1"/>
              <a:t>25</a:t>
            </a:fld>
            <a:endParaRPr lang="en-US" sz="1200"/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80987D9A-8E34-44F2-92A6-56B79674ABE3}" type="slidenum">
              <a:rPr lang="he-IL" sz="1200" smtClean="0"/>
              <a:pPr eaLnBrk="1" hangingPunct="1"/>
              <a:t>26</a:t>
            </a:fld>
            <a:endParaRPr lang="en-US" sz="1200"/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B510E1C9-F4DA-406F-9E22-9C2CCC3D6875}" type="slidenum">
              <a:rPr lang="he-IL" sz="1200" smtClean="0"/>
              <a:pPr eaLnBrk="1" hangingPunct="1"/>
              <a:t>27</a:t>
            </a:fld>
            <a:endParaRPr lang="en-US" sz="1200"/>
          </a:p>
        </p:txBody>
      </p:sp>
      <p:sp>
        <p:nvSpPr>
          <p:cNvPr id="100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44C2AB08-C821-4F3A-B28B-5680774374E0}" type="slidenum">
              <a:rPr lang="he-IL" sz="1200" smtClean="0"/>
              <a:pPr eaLnBrk="1" hangingPunct="1"/>
              <a:t>28</a:t>
            </a:fld>
            <a:endParaRPr lang="en-US" sz="1200"/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C461CDE-9D09-4B91-8A17-3C9A6E7B8176}" type="slidenum">
              <a:rPr lang="he-IL" smtClean="0"/>
              <a:pPr>
                <a:defRPr/>
              </a:pPr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14024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8B2E65D1-4F88-48A4-8CE4-7442793B0F9F}" type="slidenum">
              <a:rPr lang="he-IL" sz="1200" smtClean="0"/>
              <a:pPr eaLnBrk="1" hangingPunct="1"/>
              <a:t>30</a:t>
            </a:fld>
            <a:endParaRPr lang="en-US" sz="1200"/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4318C247-02E0-4106-8F0B-F72A67DAF15A}" type="slidenum">
              <a:rPr lang="he-IL" sz="1200" smtClean="0"/>
              <a:pPr eaLnBrk="1" hangingPunct="1"/>
              <a:t>31</a:t>
            </a:fld>
            <a:endParaRPr lang="en-US" sz="1200"/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 cap="flat"/>
        </p:spPr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he-IL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E93BCB99-D70C-4CC2-9245-9F397CD5DBB0}" type="slidenum">
              <a:rPr lang="he-IL" sz="1200" smtClean="0"/>
              <a:pPr eaLnBrk="1" hangingPunct="1"/>
              <a:t>33</a:t>
            </a:fld>
            <a:endParaRPr lang="en-US" sz="1200"/>
          </a:p>
        </p:txBody>
      </p:sp>
      <p:sp>
        <p:nvSpPr>
          <p:cNvPr id="105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110080BF-FB13-48C6-95C7-52478CBFBDFB}" type="slidenum">
              <a:rPr lang="he-IL" sz="1200" smtClean="0"/>
              <a:pPr eaLnBrk="1" hangingPunct="1"/>
              <a:t>34</a:t>
            </a:fld>
            <a:endParaRPr lang="en-US" sz="1200"/>
          </a:p>
        </p:txBody>
      </p:sp>
      <p:sp>
        <p:nvSpPr>
          <p:cNvPr id="106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65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48476BD3-45B8-467F-B0FC-857E774F7526}" type="slidenum">
              <a:rPr lang="he-IL" sz="1200" smtClean="0"/>
              <a:pPr eaLnBrk="1" hangingPunct="1"/>
              <a:t>35</a:t>
            </a:fld>
            <a:endParaRPr lang="en-US" sz="1200"/>
          </a:p>
        </p:txBody>
      </p:sp>
      <p:sp>
        <p:nvSpPr>
          <p:cNvPr id="1075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75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 cap="flat"/>
        </p:spPr>
      </p:sp>
      <p:sp>
        <p:nvSpPr>
          <p:cNvPr id="1085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he-IL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E60B5100-67FC-4D40-A968-51733DC6787C}" type="slidenum">
              <a:rPr lang="he-IL" sz="1200" smtClean="0"/>
              <a:pPr eaLnBrk="1" hangingPunct="1"/>
              <a:t>37</a:t>
            </a:fld>
            <a:endParaRPr lang="en-US" sz="1200"/>
          </a:p>
        </p:txBody>
      </p:sp>
      <p:sp>
        <p:nvSpPr>
          <p:cNvPr id="109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95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 cap="flat"/>
        </p:spPr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he-IL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29799F27-3FBA-4657-9B3D-9D89E603E2AD}" type="slidenum">
              <a:rPr lang="he-IL" sz="1200" smtClean="0"/>
              <a:pPr eaLnBrk="1" hangingPunct="1"/>
              <a:t>39</a:t>
            </a:fld>
            <a:endParaRPr lang="en-US" sz="1200"/>
          </a:p>
        </p:txBody>
      </p:sp>
      <p:sp>
        <p:nvSpPr>
          <p:cNvPr id="110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05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A28AB6B1-3756-41EC-A5C2-B880D23782D6}" type="slidenum">
              <a:rPr lang="he-IL" sz="1200" smtClean="0"/>
              <a:pPr eaLnBrk="1" hangingPunct="1"/>
              <a:t>40</a:t>
            </a:fld>
            <a:endParaRPr lang="en-US" sz="1200"/>
          </a:p>
        </p:txBody>
      </p:sp>
      <p:sp>
        <p:nvSpPr>
          <p:cNvPr id="111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16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7A32ECC2-1A37-42E2-AF12-B752F422BD41}" type="slidenum">
              <a:rPr lang="he-IL" sz="1200" smtClean="0"/>
              <a:pPr eaLnBrk="1" hangingPunct="1"/>
              <a:t>41</a:t>
            </a:fld>
            <a:endParaRPr lang="en-US" sz="120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6B6E54E8-7D84-4B2C-930C-CBE3D73E172D}" type="slidenum">
              <a:rPr lang="he-IL" sz="1200" smtClean="0"/>
              <a:pPr eaLnBrk="1" hangingPunct="1"/>
              <a:t>42</a:t>
            </a:fld>
            <a:endParaRPr lang="en-US" sz="1200"/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429B4D6B-7969-46D4-BDED-0E80E486A0CA}" type="slidenum">
              <a:rPr lang="he-IL" sz="1200" smtClean="0"/>
              <a:pPr eaLnBrk="1" hangingPunct="1"/>
              <a:t>43</a:t>
            </a:fld>
            <a:endParaRPr lang="en-US" sz="1200"/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D2EE2ED8-F44A-4CA2-B0F7-EFE5EF80D416}" type="slidenum">
              <a:rPr lang="he-IL" sz="1200" smtClean="0"/>
              <a:pPr eaLnBrk="1" hangingPunct="1"/>
              <a:t>44</a:t>
            </a:fld>
            <a:endParaRPr lang="en-US" sz="1200"/>
          </a:p>
        </p:txBody>
      </p:sp>
      <p:sp>
        <p:nvSpPr>
          <p:cNvPr id="1157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57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AB4CFF2A-F7AD-40FA-83B6-8FA86F9178E5}" type="slidenum">
              <a:rPr lang="he-IL" sz="1200" smtClean="0"/>
              <a:pPr eaLnBrk="1" hangingPunct="1"/>
              <a:t>45</a:t>
            </a:fld>
            <a:endParaRPr lang="en-US" sz="1200"/>
          </a:p>
        </p:txBody>
      </p:sp>
      <p:sp>
        <p:nvSpPr>
          <p:cNvPr id="116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67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AA538457-F222-4A2B-B91D-9EC1D3E3351F}" type="slidenum">
              <a:rPr lang="he-IL" sz="1200" smtClean="0"/>
              <a:pPr eaLnBrk="1" hangingPunct="1"/>
              <a:t>46</a:t>
            </a:fld>
            <a:endParaRPr lang="en-US" sz="1200"/>
          </a:p>
        </p:txBody>
      </p:sp>
      <p:sp>
        <p:nvSpPr>
          <p:cNvPr id="1177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77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9894052F-6779-4486-8CDF-E67E49D35C13}" type="slidenum">
              <a:rPr lang="he-IL" sz="1200" smtClean="0"/>
              <a:pPr eaLnBrk="1" hangingPunct="1"/>
              <a:t>47</a:t>
            </a:fld>
            <a:endParaRPr lang="en-US" sz="1200"/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4741F09F-9FEC-48A6-8036-C365A0430543}" type="slidenum">
              <a:rPr lang="he-IL" sz="1200" smtClean="0"/>
              <a:pPr eaLnBrk="1" hangingPunct="1"/>
              <a:t>48</a:t>
            </a:fld>
            <a:endParaRPr lang="en-US" sz="1200"/>
          </a:p>
        </p:txBody>
      </p:sp>
      <p:sp>
        <p:nvSpPr>
          <p:cNvPr id="1198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98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FD8B73C3-3228-409F-AECE-5C0FC5911C4C}" type="slidenum">
              <a:rPr lang="he-IL" sz="1200" smtClean="0"/>
              <a:pPr eaLnBrk="1" hangingPunct="1"/>
              <a:t>49</a:t>
            </a:fld>
            <a:endParaRPr lang="en-US" sz="1200"/>
          </a:p>
        </p:txBody>
      </p:sp>
      <p:sp>
        <p:nvSpPr>
          <p:cNvPr id="1208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208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C2A6D826-AC00-499C-AB5C-6B8E51320287}" type="slidenum">
              <a:rPr lang="he-IL" sz="1200" smtClean="0"/>
              <a:pPr eaLnBrk="1" hangingPunct="1"/>
              <a:t>50</a:t>
            </a:fld>
            <a:endParaRPr lang="en-US" sz="1200"/>
          </a:p>
        </p:txBody>
      </p:sp>
      <p:sp>
        <p:nvSpPr>
          <p:cNvPr id="1218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218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D447CA51-DEB9-4328-A8D1-2B6CECEB3993}" type="slidenum">
              <a:rPr lang="he-IL" sz="1200" smtClean="0"/>
              <a:pPr eaLnBrk="1" hangingPunct="1"/>
              <a:t>51</a:t>
            </a:fld>
            <a:endParaRPr lang="en-US" sz="1200"/>
          </a:p>
        </p:txBody>
      </p:sp>
      <p:sp>
        <p:nvSpPr>
          <p:cNvPr id="1228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228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6A57C841-D206-4AE4-BEBC-AD74A774B860}" type="slidenum">
              <a:rPr lang="he-IL" sz="1200" smtClean="0"/>
              <a:pPr eaLnBrk="1" hangingPunct="1"/>
              <a:t>52</a:t>
            </a:fld>
            <a:endParaRPr lang="en-US" sz="1200"/>
          </a:p>
        </p:txBody>
      </p:sp>
      <p:sp>
        <p:nvSpPr>
          <p:cNvPr id="1239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239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3330EF11-3085-4937-8F49-19096C4FD665}" type="slidenum">
              <a:rPr lang="he-IL" sz="1200" smtClean="0"/>
              <a:pPr eaLnBrk="1" hangingPunct="1"/>
              <a:t>53</a:t>
            </a:fld>
            <a:endParaRPr lang="en-US" sz="1200"/>
          </a:p>
        </p:txBody>
      </p:sp>
      <p:sp>
        <p:nvSpPr>
          <p:cNvPr id="1249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249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A5969835-4036-454F-BAB5-BE57DDC3CFE6}" type="slidenum">
              <a:rPr lang="he-IL" sz="1200" smtClean="0"/>
              <a:pPr eaLnBrk="1" hangingPunct="1"/>
              <a:t>54</a:t>
            </a:fld>
            <a:endParaRPr lang="en-US" sz="1200"/>
          </a:p>
        </p:txBody>
      </p:sp>
      <p:sp>
        <p:nvSpPr>
          <p:cNvPr id="1259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259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1C689671-0FEA-41BC-95E6-4F2EE633770F}" type="slidenum">
              <a:rPr lang="he-IL" sz="1200" smtClean="0"/>
              <a:pPr eaLnBrk="1" hangingPunct="1"/>
              <a:t>55</a:t>
            </a:fld>
            <a:endParaRPr lang="en-US" sz="1200"/>
          </a:p>
        </p:txBody>
      </p:sp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4175" y="687388"/>
            <a:ext cx="6089650" cy="3425825"/>
          </a:xfrm>
          <a:ln w="12700" cap="flat"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48528D9B-6C20-41B8-B30E-FBD06B004628}" type="slidenum">
              <a:rPr lang="he-IL" sz="1200" smtClean="0"/>
              <a:pPr eaLnBrk="1" hangingPunct="1"/>
              <a:t>56</a:t>
            </a:fld>
            <a:endParaRPr lang="en-US" sz="1200"/>
          </a:p>
        </p:txBody>
      </p:sp>
      <p:sp>
        <p:nvSpPr>
          <p:cNvPr id="1280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280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FFA43E59-41E1-4E84-A5F5-9707D3CC1048}" type="slidenum">
              <a:rPr lang="he-IL" sz="1200" smtClean="0"/>
              <a:pPr eaLnBrk="1" hangingPunct="1"/>
              <a:t>57</a:t>
            </a:fld>
            <a:endParaRPr lang="en-US" sz="1200"/>
          </a:p>
        </p:txBody>
      </p:sp>
      <p:sp>
        <p:nvSpPr>
          <p:cNvPr id="1290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4175" y="687388"/>
            <a:ext cx="6089650" cy="3425825"/>
          </a:xfrm>
          <a:ln w="12700" cap="flat"/>
        </p:spPr>
      </p:sp>
      <p:sp>
        <p:nvSpPr>
          <p:cNvPr id="1290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8A982275-0FD5-413B-BC97-74D6BEE1A135}" type="slidenum">
              <a:rPr lang="he-IL" sz="1200" smtClean="0"/>
              <a:pPr eaLnBrk="1" hangingPunct="1"/>
              <a:t>58</a:t>
            </a:fld>
            <a:endParaRPr lang="en-US" sz="1200"/>
          </a:p>
        </p:txBody>
      </p:sp>
      <p:sp>
        <p:nvSpPr>
          <p:cNvPr id="1300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300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8A982275-0FD5-413B-BC97-74D6BEE1A135}" type="slidenum">
              <a:rPr lang="he-IL" sz="1200" smtClean="0"/>
              <a:pPr eaLnBrk="1" hangingPunct="1"/>
              <a:t>59</a:t>
            </a:fld>
            <a:endParaRPr lang="en-US" sz="1200"/>
          </a:p>
        </p:txBody>
      </p:sp>
      <p:sp>
        <p:nvSpPr>
          <p:cNvPr id="1300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300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8A982275-0FD5-413B-BC97-74D6BEE1A135}" type="slidenum">
              <a:rPr lang="he-IL" sz="1200" smtClean="0"/>
              <a:pPr eaLnBrk="1" hangingPunct="1"/>
              <a:t>60</a:t>
            </a:fld>
            <a:endParaRPr lang="en-US" sz="1200"/>
          </a:p>
        </p:txBody>
      </p:sp>
      <p:sp>
        <p:nvSpPr>
          <p:cNvPr id="1300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300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8A982275-0FD5-413B-BC97-74D6BEE1A135}" type="slidenum">
              <a:rPr lang="he-IL" sz="1200" smtClean="0"/>
              <a:pPr eaLnBrk="1" hangingPunct="1"/>
              <a:t>61</a:t>
            </a:fld>
            <a:endParaRPr lang="en-US" sz="1200"/>
          </a:p>
        </p:txBody>
      </p:sp>
      <p:sp>
        <p:nvSpPr>
          <p:cNvPr id="1300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300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8A982275-0FD5-413B-BC97-74D6BEE1A135}" type="slidenum">
              <a:rPr lang="he-IL" sz="1200" smtClean="0"/>
              <a:pPr eaLnBrk="1" hangingPunct="1"/>
              <a:t>62</a:t>
            </a:fld>
            <a:endParaRPr lang="en-US" sz="1200"/>
          </a:p>
        </p:txBody>
      </p:sp>
      <p:sp>
        <p:nvSpPr>
          <p:cNvPr id="1300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300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8A982275-0FD5-413B-BC97-74D6BEE1A135}" type="slidenum">
              <a:rPr lang="he-IL" sz="1200" smtClean="0"/>
              <a:pPr eaLnBrk="1" hangingPunct="1"/>
              <a:t>63</a:t>
            </a:fld>
            <a:endParaRPr lang="en-US" sz="1200"/>
          </a:p>
        </p:txBody>
      </p:sp>
      <p:sp>
        <p:nvSpPr>
          <p:cNvPr id="1300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300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8A982275-0FD5-413B-BC97-74D6BEE1A135}" type="slidenum">
              <a:rPr lang="he-IL" sz="1200" smtClean="0"/>
              <a:pPr eaLnBrk="1" hangingPunct="1"/>
              <a:t>64</a:t>
            </a:fld>
            <a:endParaRPr lang="en-US" sz="1200"/>
          </a:p>
        </p:txBody>
      </p:sp>
      <p:sp>
        <p:nvSpPr>
          <p:cNvPr id="1300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300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C461CDE-9D09-4B91-8A17-3C9A6E7B8176}" type="slidenum">
              <a:rPr lang="he-IL" smtClean="0"/>
              <a:pPr>
                <a:defRPr/>
              </a:pPr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294440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C461CDE-9D09-4B91-8A17-3C9A6E7B8176}" type="slidenum">
              <a:rPr lang="he-IL" smtClean="0"/>
              <a:pPr>
                <a:defRPr/>
              </a:pPr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294440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C461CDE-9D09-4B91-8A17-3C9A6E7B8176}" type="slidenum">
              <a:rPr lang="he-IL" smtClean="0"/>
              <a:pPr>
                <a:defRPr/>
              </a:pPr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294440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C461CDE-9D09-4B91-8A17-3C9A6E7B8176}" type="slidenum">
              <a:rPr lang="he-IL" smtClean="0"/>
              <a:pPr>
                <a:defRPr/>
              </a:pPr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232506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C461CDE-9D09-4B91-8A17-3C9A6E7B8176}" type="slidenum">
              <a:rPr lang="he-IL" smtClean="0"/>
              <a:pPr>
                <a:defRPr/>
              </a:pPr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232506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C461CDE-9D09-4B91-8A17-3C9A6E7B8176}" type="slidenum">
              <a:rPr lang="he-IL" smtClean="0"/>
              <a:pPr>
                <a:defRPr/>
              </a:pPr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232506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63B82D5F-03E7-454C-B1BB-FE2CCEAC5EE8}" type="slidenum">
              <a:rPr lang="he-IL" sz="1200" smtClean="0"/>
              <a:pPr eaLnBrk="1" hangingPunct="1"/>
              <a:t>71</a:t>
            </a:fld>
            <a:endParaRPr lang="en-US" sz="1200"/>
          </a:p>
        </p:txBody>
      </p:sp>
      <p:sp>
        <p:nvSpPr>
          <p:cNvPr id="1310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310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6F647124-C0C9-4634-9D1D-35A53548703E}" type="slidenum">
              <a:rPr lang="he-IL" sz="1200" smtClean="0"/>
              <a:pPr eaLnBrk="1" hangingPunct="1"/>
              <a:t>72</a:t>
            </a:fld>
            <a:endParaRPr lang="en-US" sz="1200"/>
          </a:p>
        </p:txBody>
      </p:sp>
      <p:sp>
        <p:nvSpPr>
          <p:cNvPr id="132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4175" y="687388"/>
            <a:ext cx="6089650" cy="3425825"/>
          </a:xfrm>
          <a:ln w="12700" cap="flat"/>
        </p:spPr>
      </p:sp>
      <p:sp>
        <p:nvSpPr>
          <p:cNvPr id="1321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643A4904-812A-4B8C-A0A9-39D931D239E1}" type="slidenum">
              <a:rPr lang="he-IL" sz="1200" smtClean="0"/>
              <a:pPr eaLnBrk="1" hangingPunct="1"/>
              <a:t>73</a:t>
            </a:fld>
            <a:endParaRPr lang="en-US" sz="1200"/>
          </a:p>
        </p:txBody>
      </p:sp>
      <p:sp>
        <p:nvSpPr>
          <p:cNvPr id="133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331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80A50B95-FC2C-48A3-A4EF-DA4C790F703C}" type="slidenum">
              <a:rPr lang="he-IL" sz="1200" smtClean="0"/>
              <a:pPr eaLnBrk="1" hangingPunct="1"/>
              <a:t>74</a:t>
            </a:fld>
            <a:endParaRPr lang="en-US" sz="1200"/>
          </a:p>
        </p:txBody>
      </p:sp>
      <p:sp>
        <p:nvSpPr>
          <p:cNvPr id="134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34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C461CDE-9D09-4B91-8A17-3C9A6E7B8176}" type="slidenum">
              <a:rPr lang="he-IL" smtClean="0"/>
              <a:pPr>
                <a:defRPr/>
              </a:pPr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3194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47ABFDAE-ACB5-4821-BAFB-34ECE3A8AC23}" type="slidenum">
              <a:rPr lang="he-IL" sz="1200" smtClean="0"/>
              <a:pPr eaLnBrk="1" hangingPunct="1"/>
              <a:t>76</a:t>
            </a:fld>
            <a:endParaRPr lang="en-US" sz="1200"/>
          </a:p>
        </p:txBody>
      </p:sp>
      <p:sp>
        <p:nvSpPr>
          <p:cNvPr id="136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36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912FEE57-0568-4FCD-92CF-58F66FBE910F}" type="slidenum">
              <a:rPr lang="he-IL" sz="1200" smtClean="0"/>
              <a:pPr eaLnBrk="1" hangingPunct="1"/>
              <a:t>77</a:t>
            </a:fld>
            <a:endParaRPr lang="en-US" sz="1200"/>
          </a:p>
        </p:txBody>
      </p:sp>
      <p:sp>
        <p:nvSpPr>
          <p:cNvPr id="140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40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34B7C25A-16DA-4401-9F75-6F09F031772A}" type="slidenum">
              <a:rPr lang="he-IL" sz="1200" smtClean="0"/>
              <a:pPr eaLnBrk="1" hangingPunct="1"/>
              <a:t>78</a:t>
            </a:fld>
            <a:endParaRPr lang="en-US" sz="1200"/>
          </a:p>
        </p:txBody>
      </p:sp>
      <p:sp>
        <p:nvSpPr>
          <p:cNvPr id="137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372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FD294962-8175-4629-9FA1-D19D787AF6A4}" type="slidenum">
              <a:rPr lang="he-IL" sz="1200" smtClean="0"/>
              <a:pPr eaLnBrk="1" hangingPunct="1"/>
              <a:t>79</a:t>
            </a:fld>
            <a:endParaRPr lang="en-US" sz="1200"/>
          </a:p>
        </p:txBody>
      </p:sp>
      <p:sp>
        <p:nvSpPr>
          <p:cNvPr id="138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382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241DA2C6-AEFE-40AC-85A1-371F0704D7EB}" type="slidenum">
              <a:rPr lang="he-IL" sz="1200" smtClean="0"/>
              <a:pPr eaLnBrk="1" hangingPunct="1"/>
              <a:t>80</a:t>
            </a:fld>
            <a:endParaRPr lang="en-US" sz="1200"/>
          </a:p>
        </p:txBody>
      </p:sp>
      <p:sp>
        <p:nvSpPr>
          <p:cNvPr id="139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39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9EBE3D66-2B8F-41EC-838B-82F22C37A786}" type="slidenum">
              <a:rPr lang="he-IL" sz="1200" smtClean="0"/>
              <a:pPr eaLnBrk="1" hangingPunct="1"/>
              <a:t>81</a:t>
            </a:fld>
            <a:endParaRPr lang="en-US" sz="1200"/>
          </a:p>
        </p:txBody>
      </p:sp>
      <p:sp>
        <p:nvSpPr>
          <p:cNvPr id="141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41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8352504F-431D-48BF-A614-A597B24E4CAF}" type="slidenum">
              <a:rPr lang="he-IL" sz="1200" smtClean="0"/>
              <a:pPr eaLnBrk="1" hangingPunct="1"/>
              <a:t>82</a:t>
            </a:fld>
            <a:endParaRPr lang="en-US" sz="1200"/>
          </a:p>
        </p:txBody>
      </p:sp>
      <p:sp>
        <p:nvSpPr>
          <p:cNvPr id="142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42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5FF486-0284-42A3-A6D6-13F8991FC944}" type="datetime12">
              <a:rPr lang="he-IL" smtClean="0"/>
              <a:pPr>
                <a:defRPr/>
              </a:pPr>
              <a:t>28/01/2024 18:13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99014D-EF24-4FD5-9FE1-316A5E8FF64D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227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9E1F49-D6F9-46CC-A5D7-7BE12C78E18B}" type="datetime12">
              <a:rPr lang="he-IL" smtClean="0"/>
              <a:pPr>
                <a:defRPr/>
              </a:pPr>
              <a:t>28/01/2024 18:13</a:t>
            </a:fld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B00C1C-2CB2-4421-9878-782440F6D2F0}" type="slidenum">
              <a:rPr lang="he-IL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73979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963084" y="2906715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22FE34-0046-4DC7-BB97-C2DFA97FB85F}" type="datetime12">
              <a:rPr lang="he-IL" smtClean="0"/>
              <a:pPr>
                <a:defRPr/>
              </a:pPr>
              <a:t>28/01/2024 18:13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59B5F6-D5C2-4C21-9C15-5B728CF2E3EA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785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sz="half" idx="1"/>
          </p:nvPr>
        </p:nvSpPr>
        <p:spPr>
          <a:xfrm>
            <a:off x="914400" y="1981201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6197600" y="1981201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199C3D-9256-41C2-A95A-C2196C2A15D3}" type="datetime12">
              <a:rPr lang="he-IL" smtClean="0"/>
              <a:pPr>
                <a:defRPr/>
              </a:pPr>
              <a:t>28/01/2024 18:13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35C9B0-B44B-4BF3-AECA-F2F716ABAAFA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732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609600" y="2174876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/>
          <p:cNvSpPr>
            <a:spLocks noGrp="1"/>
          </p:cNvSpPr>
          <p:nvPr>
            <p:ph type="body" sz="quarter" idx="3"/>
          </p:nvPr>
        </p:nvSpPr>
        <p:spPr>
          <a:xfrm>
            <a:off x="6193370" y="1535114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/>
          <p:cNvSpPr>
            <a:spLocks noGrp="1"/>
          </p:cNvSpPr>
          <p:nvPr>
            <p:ph sz="quarter" idx="4"/>
          </p:nvPr>
        </p:nvSpPr>
        <p:spPr>
          <a:xfrm>
            <a:off x="6193370" y="2174876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67DB84-00FB-439C-9B55-8E312915C6C0}" type="datetime12">
              <a:rPr lang="he-IL" smtClean="0"/>
              <a:pPr>
                <a:defRPr/>
              </a:pPr>
              <a:t>28/01/2024 18:13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7570AA-F319-4F75-BD87-E1CC62557AB2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6283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D26CC7-CC3D-49A5-BC3A-DFCEFE33AAFD}" type="datetime12">
              <a:rPr lang="he-IL" smtClean="0"/>
              <a:pPr>
                <a:defRPr/>
              </a:pPr>
              <a:t>28/01/2024 18:13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E841CF-6684-4FB7-BEF5-4122827B09B3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141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AEF747-7FC7-4D13-B0F4-A96F9D3910EB}" type="datetime12">
              <a:rPr lang="he-IL" smtClean="0"/>
              <a:pPr>
                <a:defRPr/>
              </a:pPr>
              <a:t>28/01/2024 18:13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A07F13-4A01-4E8A-AF66-9AA7DC93C675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006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609603" y="1435102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6FE9A3-5B6B-4613-824C-964BA9DDD4EB}" type="datetime12">
              <a:rPr lang="he-IL" smtClean="0"/>
              <a:pPr>
                <a:defRPr/>
              </a:pPr>
              <a:t>28/01/2024 18:13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3F532F-607E-4642-A0EC-537709222A33}" type="slidenum">
              <a:rPr lang="he-IL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99223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8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/>
          <p:cNvSpPr>
            <a:spLocks noGrp="1"/>
          </p:cNvSpPr>
          <p:nvPr>
            <p:ph type="pic" idx="1"/>
          </p:nvPr>
        </p:nvSpPr>
        <p:spPr>
          <a:xfrm>
            <a:off x="2389717" y="612776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he-IL" noProof="0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719078-D340-456F-A7C0-73A20EDB5C2E}" type="datetime12">
              <a:rPr lang="he-IL" smtClean="0"/>
              <a:pPr>
                <a:defRPr/>
              </a:pPr>
              <a:t>28/01/2024 18:13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C3E804-7E4F-4A69-A62C-4199D15BD92A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170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5EFFE1-C64F-4D99-9F77-4B7EC9052369}" type="datetime12">
              <a:rPr lang="he-IL" smtClean="0"/>
              <a:pPr>
                <a:defRPr/>
              </a:pPr>
              <a:t>28/01/2024 18:13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CAB6AF-9E7D-40CF-80DC-99BF6A6EDCDC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881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/>
          <p:cNvSpPr>
            <a:spLocks noGrp="1"/>
          </p:cNvSpPr>
          <p:nvPr>
            <p:ph type="title" orient="vert"/>
          </p:nvPr>
        </p:nvSpPr>
        <p:spPr>
          <a:xfrm>
            <a:off x="8773587" y="1"/>
            <a:ext cx="2618316" cy="6096000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>
          <a:xfrm>
            <a:off x="914400" y="1"/>
            <a:ext cx="7655984" cy="6096000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28BB34-8304-4F90-903E-0DA51F7947D6}" type="datetime12">
              <a:rPr lang="he-IL" smtClean="0"/>
              <a:pPr>
                <a:defRPr/>
              </a:pPr>
              <a:t>28/01/2024 18:13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153077-947B-4E9F-B60E-BA9040A6D4DC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3840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כותרת, טקסט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028700" y="0"/>
            <a:ext cx="10363200" cy="1143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sz="half" idx="1"/>
          </p:nvPr>
        </p:nvSpPr>
        <p:spPr>
          <a:xfrm>
            <a:off x="914400" y="1981201"/>
            <a:ext cx="5080000" cy="4114800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6197600" y="1981201"/>
            <a:ext cx="5080000" cy="4114800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57A2EE-70CA-455A-BE19-F673F3BEA85E}" type="datetime12">
              <a:rPr lang="he-IL" smtClean="0"/>
              <a:pPr>
                <a:defRPr/>
              </a:pPr>
              <a:t>28/01/2024 18:13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C96C57-6FCA-4D03-B5A2-D1DC5D525BB9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3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28700" y="0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fld id="{8BBC24E1-6795-4ACF-B38D-67D9B89D7569}" type="datetime12">
              <a:rPr lang="he-IL" smtClean="0"/>
              <a:pPr>
                <a:defRPr/>
              </a:pPr>
              <a:t>28/01/2024 18:13</a:t>
            </a:fld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413067" y="6489700"/>
            <a:ext cx="66040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cs typeface="Times New Roman" pitchFamily="18" charset="0"/>
              </a:defRPr>
            </a:lvl1pPr>
          </a:lstStyle>
          <a:p>
            <a:pPr>
              <a:defRPr/>
            </a:pPr>
            <a:fld id="{68F9B8EB-2934-4EC0-99D4-74361D9A3120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sz="3200">
          <a:solidFill>
            <a:schemeClr val="accent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jpe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wmf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98EC6B52-855F-4D56-BB54-7E4011ED32EB}" type="slidenum">
              <a:rPr lang="he-IL" sz="1400"/>
              <a:pPr eaLnBrk="1" hangingPunct="1"/>
              <a:t>1</a:t>
            </a:fld>
            <a:endParaRPr lang="en-US" sz="1400"/>
          </a:p>
        </p:txBody>
      </p:sp>
      <p:sp>
        <p:nvSpPr>
          <p:cNvPr id="205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501900" y="1612900"/>
            <a:ext cx="7772400" cy="1143000"/>
          </a:xfrm>
        </p:spPr>
        <p:txBody>
          <a:bodyPr/>
          <a:lstStyle/>
          <a:p>
            <a:pPr eaLnBrk="1" hangingPunct="1"/>
            <a:r>
              <a:rPr lang="en-US" dirty="0"/>
              <a:t>Processes and Threads</a:t>
            </a:r>
          </a:p>
        </p:txBody>
      </p:sp>
      <p:sp>
        <p:nvSpPr>
          <p:cNvPr id="2052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844800" y="762000"/>
            <a:ext cx="6400800" cy="889000"/>
          </a:xfrm>
        </p:spPr>
        <p:txBody>
          <a:bodyPr/>
          <a:lstStyle/>
          <a:p>
            <a:pPr eaLnBrk="1" hangingPunct="1"/>
            <a:r>
              <a:rPr lang="en-US" sz="4400" dirty="0"/>
              <a:t>Chapter 2</a:t>
            </a:r>
            <a:endParaRPr lang="en-US" dirty="0"/>
          </a:p>
        </p:txBody>
      </p:sp>
      <p:sp>
        <p:nvSpPr>
          <p:cNvPr id="2053" name="Text Box 4"/>
          <p:cNvSpPr txBox="1">
            <a:spLocks noChangeArrowheads="1"/>
          </p:cNvSpPr>
          <p:nvPr/>
        </p:nvSpPr>
        <p:spPr bwMode="auto">
          <a:xfrm>
            <a:off x="3883026" y="3216275"/>
            <a:ext cx="4137025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/>
              <a:t>2.1 Processes </a:t>
            </a:r>
            <a:endParaRPr lang="en-US" dirty="0"/>
          </a:p>
          <a:p>
            <a:pPr eaLnBrk="1" hangingPunct="1"/>
            <a:r>
              <a:rPr lang="en-US" dirty="0"/>
              <a:t>2.2 Threads</a:t>
            </a:r>
          </a:p>
          <a:p>
            <a:pPr eaLnBrk="1" hangingPunct="1"/>
            <a:r>
              <a:rPr lang="en-US" dirty="0"/>
              <a:t>2.3 </a:t>
            </a:r>
            <a:r>
              <a:rPr lang="en-US" dirty="0" err="1"/>
              <a:t>Interprocess</a:t>
            </a:r>
            <a:r>
              <a:rPr lang="en-US" dirty="0"/>
              <a:t> communication</a:t>
            </a:r>
          </a:p>
          <a:p>
            <a:pPr eaLnBrk="1" hangingPunct="1"/>
            <a:r>
              <a:rPr lang="en-US" dirty="0"/>
              <a:t>2.4 Classical IPC problems</a:t>
            </a:r>
          </a:p>
          <a:p>
            <a:pPr eaLnBrk="1" hangingPunct="1"/>
            <a:r>
              <a:rPr lang="en-US" dirty="0"/>
              <a:t>2.5 Scheduling</a:t>
            </a:r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83E9555-3FED-4295-9D36-5C44FDF7981B}" type="datetime12">
              <a:rPr lang="he-IL" smtClean="0"/>
              <a:pPr>
                <a:defRPr/>
              </a:pPr>
              <a:t>28/01/2024 18:13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5DDDCECE-D209-4AC6-8285-5B711D189BA3}" type="slidenum">
              <a:rPr lang="he-IL" sz="1400"/>
              <a:pPr eaLnBrk="1" hangingPunct="1"/>
              <a:t>2</a:t>
            </a:fld>
            <a:endParaRPr lang="en-US" sz="1400"/>
          </a:p>
        </p:txBody>
      </p:sp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Processes</a:t>
            </a:r>
            <a:br>
              <a:rPr lang="en-US"/>
            </a:br>
            <a:r>
              <a:rPr lang="en-US" sz="3200"/>
              <a:t>The Process Model</a:t>
            </a:r>
            <a:endParaRPr lang="en-US"/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78000" y="4572000"/>
            <a:ext cx="8890000" cy="914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dirty="0"/>
              <a:t>Multiprogramming of four programs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dirty="0"/>
              <a:t>Conceptual model of 4 independent, sequential processes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dirty="0"/>
              <a:t>Only one program active at any instant</a:t>
            </a:r>
          </a:p>
        </p:txBody>
      </p:sp>
      <p:pic>
        <p:nvPicPr>
          <p:cNvPr id="3077" name="Picture 6" descr="2-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1039" y="1663700"/>
            <a:ext cx="7997825" cy="256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6945FA0-F73D-43A5-A42C-A6DE9C255702}" type="datetime12">
              <a:rPr lang="he-IL" smtClean="0"/>
              <a:pPr>
                <a:defRPr/>
              </a:pPr>
              <a:t>28/01/2024 18:13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5DDDCECE-D209-4AC6-8285-5B711D189BA3}" type="slidenum">
              <a:rPr lang="he-IL" sz="1400"/>
              <a:pPr eaLnBrk="1" hangingPunct="1"/>
              <a:t>3</a:t>
            </a:fld>
            <a:endParaRPr lang="en-US" sz="1400"/>
          </a:p>
        </p:txBody>
      </p:sp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Processes</a:t>
            </a:r>
            <a:br>
              <a:rPr lang="en-US"/>
            </a:br>
            <a:r>
              <a:rPr lang="en-US" sz="3200"/>
              <a:t>The Process Model</a:t>
            </a:r>
            <a:endParaRPr lang="en-US"/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78000" y="4572000"/>
            <a:ext cx="8890000" cy="914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dirty="0"/>
              <a:t>Multiprogramming of four programs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dirty="0"/>
              <a:t>Conceptual model of 4 independent, sequential processes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dirty="0"/>
              <a:t>Only one program active at any instant</a:t>
            </a:r>
          </a:p>
        </p:txBody>
      </p:sp>
      <p:pic>
        <p:nvPicPr>
          <p:cNvPr id="3077" name="Picture 6" descr="2-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1039" y="1663700"/>
            <a:ext cx="7997825" cy="256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8" name="TextBox 1"/>
          <p:cNvSpPr txBox="1">
            <a:spLocks noChangeArrowheads="1"/>
          </p:cNvSpPr>
          <p:nvPr/>
        </p:nvSpPr>
        <p:spPr bwMode="auto">
          <a:xfrm>
            <a:off x="3629026" y="942975"/>
            <a:ext cx="6467475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r" rtl="1" eaLnBrk="1" hangingPunct="1"/>
            <a:r>
              <a:rPr lang="he-IL" sz="1400" dirty="0"/>
              <a:t>מקבליות מדומה – החלפה </a:t>
            </a:r>
            <a:r>
              <a:rPr lang="he-IL" sz="1400" b="1" u="sng" dirty="0"/>
              <a:t>מהירה</a:t>
            </a:r>
            <a:r>
              <a:rPr lang="he-IL" sz="1400" dirty="0"/>
              <a:t> בין תהליכים, יש תקורה </a:t>
            </a:r>
            <a:r>
              <a:rPr lang="en-US" sz="1400" dirty="0"/>
              <a:t>overhead</a:t>
            </a:r>
            <a:r>
              <a:rPr lang="he-IL" sz="1400" dirty="0"/>
              <a:t> </a:t>
            </a:r>
          </a:p>
          <a:p>
            <a:pPr algn="r" rtl="1" eaLnBrk="1" hangingPunct="1"/>
            <a:r>
              <a:rPr lang="he-IL" sz="1400" dirty="0"/>
              <a:t>החלפה == </a:t>
            </a:r>
            <a:r>
              <a:rPr lang="en-US" sz="1400" dirty="0"/>
              <a:t>context switch</a:t>
            </a:r>
            <a:r>
              <a:rPr lang="he-IL" sz="1400" dirty="0"/>
              <a:t>, לא ניתן לעשות הנחות על זמן, התהליך לא מודע להשהייתו</a:t>
            </a:r>
          </a:p>
          <a:p>
            <a:pPr algn="r" rtl="1" eaLnBrk="1" hangingPunct="1"/>
            <a:r>
              <a:rPr lang="he-IL" sz="1400" dirty="0"/>
              <a:t>----- </a:t>
            </a:r>
          </a:p>
          <a:p>
            <a:pPr algn="r" rtl="1" eaLnBrk="1" hangingPunct="1"/>
            <a:r>
              <a:rPr lang="he-IL" sz="1400" dirty="0"/>
              <a:t>מקבליות </a:t>
            </a:r>
            <a:r>
              <a:rPr lang="he-IL" sz="1400" dirty="0" err="1"/>
              <a:t>אמיתית</a:t>
            </a:r>
            <a:r>
              <a:rPr lang="he-IL" sz="1400" dirty="0"/>
              <a:t> – </a:t>
            </a:r>
            <a:r>
              <a:rPr lang="en-US" sz="1400" dirty="0"/>
              <a:t>i/o</a:t>
            </a:r>
            <a:r>
              <a:rPr lang="he-IL" sz="1400" dirty="0"/>
              <a:t> כאשר תהליכים ממתינים ל</a:t>
            </a:r>
            <a:r>
              <a:rPr lang="en-US" sz="1400" dirty="0"/>
              <a:t>IO</a:t>
            </a:r>
            <a:r>
              <a:rPr lang="he-IL" sz="1400" dirty="0"/>
              <a:t> ניתן להריץ אחרים</a:t>
            </a:r>
          </a:p>
        </p:txBody>
      </p:sp>
      <p:cxnSp>
        <p:nvCxnSpPr>
          <p:cNvPr id="3079" name="מחבר ישר 3"/>
          <p:cNvCxnSpPr>
            <a:cxnSpLocks noChangeShapeType="1"/>
          </p:cNvCxnSpPr>
          <p:nvPr/>
        </p:nvCxnSpPr>
        <p:spPr bwMode="auto">
          <a:xfrm>
            <a:off x="7929561" y="3100386"/>
            <a:ext cx="9525" cy="22860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80" name="מחבר ישר 5"/>
          <p:cNvCxnSpPr>
            <a:cxnSpLocks noChangeShapeType="1"/>
          </p:cNvCxnSpPr>
          <p:nvPr/>
        </p:nvCxnSpPr>
        <p:spPr bwMode="auto">
          <a:xfrm>
            <a:off x="8186737" y="2797969"/>
            <a:ext cx="0" cy="230981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82" name="TextBox 10"/>
          <p:cNvSpPr txBox="1">
            <a:spLocks noChangeArrowheads="1"/>
          </p:cNvSpPr>
          <p:nvPr/>
        </p:nvSpPr>
        <p:spPr bwMode="auto">
          <a:xfrm>
            <a:off x="7734301" y="3409951"/>
            <a:ext cx="5048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1400"/>
              <a:t>IO</a:t>
            </a:r>
            <a:endParaRPr lang="he-IL" sz="1400"/>
          </a:p>
        </p:txBody>
      </p:sp>
      <p:sp>
        <p:nvSpPr>
          <p:cNvPr id="3083" name="TextBox 15"/>
          <p:cNvSpPr txBox="1">
            <a:spLocks noChangeArrowheads="1"/>
          </p:cNvSpPr>
          <p:nvPr/>
        </p:nvSpPr>
        <p:spPr bwMode="auto">
          <a:xfrm>
            <a:off x="7991476" y="3079751"/>
            <a:ext cx="5048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1400"/>
              <a:t>IO</a:t>
            </a:r>
            <a:endParaRPr lang="he-IL" sz="1400"/>
          </a:p>
        </p:txBody>
      </p:sp>
      <p:sp>
        <p:nvSpPr>
          <p:cNvPr id="3084" name="TextBox 11"/>
          <p:cNvSpPr txBox="1">
            <a:spLocks noChangeArrowheads="1"/>
          </p:cNvSpPr>
          <p:nvPr/>
        </p:nvSpPr>
        <p:spPr bwMode="auto">
          <a:xfrm>
            <a:off x="7035800" y="4156076"/>
            <a:ext cx="2514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r" rtl="1" eaLnBrk="1" hangingPunct="1"/>
            <a:r>
              <a:rPr lang="en-US" sz="1400" dirty="0"/>
              <a:t>Q</a:t>
            </a:r>
            <a:r>
              <a:rPr lang="he-IL" sz="1400" dirty="0"/>
              <a:t> קטן משפר מקבליות מדומה,</a:t>
            </a:r>
          </a:p>
          <a:p>
            <a:pPr algn="r" rtl="1" eaLnBrk="1" hangingPunct="1"/>
            <a:r>
              <a:rPr lang="en-US" sz="1400" dirty="0"/>
              <a:t>Q</a:t>
            </a:r>
            <a:r>
              <a:rPr lang="he-IL" sz="1400" dirty="0"/>
              <a:t> גדול משפר ניצולת מעבד</a:t>
            </a:r>
          </a:p>
        </p:txBody>
      </p:sp>
      <p:sp>
        <p:nvSpPr>
          <p:cNvPr id="3085" name="TextBox 12"/>
          <p:cNvSpPr txBox="1">
            <a:spLocks noChangeArrowheads="1"/>
          </p:cNvSpPr>
          <p:nvPr/>
        </p:nvSpPr>
        <p:spPr bwMode="auto">
          <a:xfrm>
            <a:off x="8796337" y="5434016"/>
            <a:ext cx="14525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1400" dirty="0" err="1"/>
              <a:t>i</a:t>
            </a:r>
            <a:r>
              <a:rPr lang="en-US" sz="1400" dirty="0"/>
              <a:t>++</a:t>
            </a:r>
          </a:p>
          <a:p>
            <a:pPr eaLnBrk="1" hangingPunct="1"/>
            <a:r>
              <a:rPr lang="en-US" sz="1400" dirty="0" err="1"/>
              <a:t>Getch</a:t>
            </a:r>
            <a:r>
              <a:rPr lang="en-US" sz="1400" dirty="0"/>
              <a:t>()</a:t>
            </a:r>
            <a:endParaRPr lang="he-IL" sz="1400" dirty="0"/>
          </a:p>
        </p:txBody>
      </p:sp>
      <p:cxnSp>
        <p:nvCxnSpPr>
          <p:cNvPr id="3086" name="מחבר חץ ישר 14"/>
          <p:cNvCxnSpPr>
            <a:cxnSpLocks noChangeShapeType="1"/>
          </p:cNvCxnSpPr>
          <p:nvPr/>
        </p:nvCxnSpPr>
        <p:spPr bwMode="auto">
          <a:xfrm>
            <a:off x="8439152" y="5695953"/>
            <a:ext cx="376237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88" name="TextBox 18"/>
          <p:cNvSpPr txBox="1">
            <a:spLocks noChangeArrowheads="1"/>
          </p:cNvSpPr>
          <p:nvPr/>
        </p:nvSpPr>
        <p:spPr bwMode="auto">
          <a:xfrm>
            <a:off x="7901780" y="5548310"/>
            <a:ext cx="6365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1400" dirty="0"/>
              <a:t>C.SW</a:t>
            </a:r>
          </a:p>
          <a:p>
            <a:pPr eaLnBrk="1" hangingPunct="1"/>
            <a:r>
              <a:rPr lang="en-US" sz="1400" dirty="0"/>
              <a:t>C.SW</a:t>
            </a:r>
            <a:endParaRPr lang="he-IL" sz="1400" dirty="0"/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D3F38E0-06CD-4AE2-A163-A35E9F8EF57B}" type="datetime12">
              <a:rPr lang="he-IL" smtClean="0"/>
              <a:pPr>
                <a:defRPr/>
              </a:pPr>
              <a:t>28/01/2024 18:13</a:t>
            </a:fld>
            <a:endParaRPr lang="en-US"/>
          </a:p>
        </p:txBody>
      </p:sp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E5920E31-A9C3-430B-982C-D1805AD3649C}"/>
              </a:ext>
            </a:extLst>
          </p:cNvPr>
          <p:cNvSpPr txBox="1"/>
          <p:nvPr/>
        </p:nvSpPr>
        <p:spPr>
          <a:xfrm>
            <a:off x="9304907" y="4775398"/>
            <a:ext cx="2540000" cy="30777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sz="1400" dirty="0"/>
              <a:t>מה ההבדל </a:t>
            </a:r>
            <a:r>
              <a:rPr lang="he-IL" sz="1400"/>
              <a:t>בין תוכנית לתהליך?</a:t>
            </a:r>
            <a:endParaRPr lang="he-IL" sz="1400" dirty="0"/>
          </a:p>
        </p:txBody>
      </p:sp>
      <p:cxnSp>
        <p:nvCxnSpPr>
          <p:cNvPr id="30" name="מחבר חץ ישר 14">
            <a:extLst>
              <a:ext uri="{FF2B5EF4-FFF2-40B4-BE49-F238E27FC236}">
                <a16:creationId xmlns:a16="http://schemas.microsoft.com/office/drawing/2014/main" id="{153C8798-75BC-4EAA-9E17-0D878F9931F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462964" y="5900741"/>
            <a:ext cx="376237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2847592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0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0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0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0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0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0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0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0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0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0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0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0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0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0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0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0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0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0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8" grpId="0"/>
      <p:bldP spid="3082" grpId="0"/>
      <p:bldP spid="3083" grpId="0"/>
      <p:bldP spid="3084" grpId="0"/>
      <p:bldP spid="3085" grpId="0"/>
      <p:bldP spid="3088" grpId="0"/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07D96EF9-ABBB-48E5-809A-596AF2F053CF}" type="slidenum">
              <a:rPr lang="he-IL" sz="1400"/>
              <a:pPr eaLnBrk="1" hangingPunct="1"/>
              <a:t>4</a:t>
            </a:fld>
            <a:endParaRPr lang="en-US" sz="1400"/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Process Creation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None/>
            </a:pPr>
            <a:r>
              <a:rPr lang="en-US"/>
              <a:t>Principal events that cause process creation</a:t>
            </a:r>
          </a:p>
          <a:p>
            <a:pPr marL="609600" indent="-609600" eaLnBrk="1" hangingPunct="1">
              <a:buFont typeface="Times New Roman" pitchFamily="18" charset="0"/>
              <a:buAutoNum type="arabicPeriod"/>
            </a:pPr>
            <a:r>
              <a:rPr lang="en-US"/>
              <a:t>System initialization</a:t>
            </a:r>
          </a:p>
          <a:p>
            <a:pPr marL="609600" indent="-609600" eaLnBrk="1" hangingPunct="1">
              <a:buFont typeface="Times New Roman" pitchFamily="18" charset="0"/>
              <a:buAutoNum type="arabicPeriod"/>
            </a:pPr>
            <a:r>
              <a:rPr lang="en-US"/>
              <a:t>Execution of a process creation system </a:t>
            </a:r>
          </a:p>
          <a:p>
            <a:pPr marL="609600" indent="-609600" eaLnBrk="1" hangingPunct="1">
              <a:buFont typeface="Times New Roman" pitchFamily="18" charset="0"/>
              <a:buAutoNum type="arabicPeriod"/>
            </a:pPr>
            <a:r>
              <a:rPr lang="en-US"/>
              <a:t>User request to create a new process</a:t>
            </a:r>
          </a:p>
          <a:p>
            <a:pPr marL="609600" indent="-609600" eaLnBrk="1" hangingPunct="1">
              <a:buFont typeface="Times New Roman" pitchFamily="18" charset="0"/>
              <a:buAutoNum type="arabicPeriod"/>
            </a:pPr>
            <a:r>
              <a:rPr lang="en-US"/>
              <a:t>Initiation of a batch job</a:t>
            </a:r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86EE0B7-5C44-41E7-948C-489E4F35C56F}" type="datetime12">
              <a:rPr lang="he-IL" smtClean="0"/>
              <a:pPr>
                <a:defRPr/>
              </a:pPr>
              <a:t>28/01/2024 18:13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E9B50EAB-E2EA-470D-A0C8-7F13E8867903}" type="slidenum">
              <a:rPr lang="he-IL" sz="1400"/>
              <a:pPr eaLnBrk="1" hangingPunct="1"/>
              <a:t>5</a:t>
            </a:fld>
            <a:endParaRPr lang="en-US" sz="1400"/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Process Termination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None/>
            </a:pPr>
            <a:r>
              <a:rPr lang="en-US"/>
              <a:t>Conditions which terminate processes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en-US"/>
              <a:t>Normal exit (voluntary)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en-US"/>
              <a:t>Error exit (voluntary)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en-US"/>
              <a:t>Fatal error (involuntary)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en-US"/>
              <a:t>Killed by another process (involuntary)</a:t>
            </a:r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4E3CA93-9BE6-4B46-8533-EDE14D068851}" type="datetime12">
              <a:rPr lang="he-IL" smtClean="0"/>
              <a:pPr>
                <a:defRPr/>
              </a:pPr>
              <a:t>28/01/2024 18:13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DF43562A-7C69-4579-BD68-06B440E29114}" type="slidenum">
              <a:rPr lang="he-IL" sz="1400"/>
              <a:pPr eaLnBrk="1" hangingPunct="1"/>
              <a:t>6</a:t>
            </a:fld>
            <a:endParaRPr lang="en-US" sz="1400"/>
          </a:p>
        </p:txBody>
      </p:sp>
      <p:sp>
        <p:nvSpPr>
          <p:cNvPr id="6147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Process Hierarchies</a:t>
            </a:r>
          </a:p>
        </p:txBody>
      </p:sp>
      <p:sp>
        <p:nvSpPr>
          <p:cNvPr id="6148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2209800" y="1981200"/>
            <a:ext cx="8458200" cy="4114800"/>
          </a:xfrm>
        </p:spPr>
        <p:txBody>
          <a:bodyPr/>
          <a:lstStyle/>
          <a:p>
            <a:pPr eaLnBrk="1" hangingPunct="1"/>
            <a:r>
              <a:rPr lang="en-US"/>
              <a:t>Parent creates a child process, child processes can create its own process</a:t>
            </a:r>
          </a:p>
          <a:p>
            <a:pPr eaLnBrk="1" hangingPunct="1"/>
            <a:r>
              <a:rPr lang="en-US"/>
              <a:t>Forms a hierarchy</a:t>
            </a:r>
          </a:p>
          <a:p>
            <a:pPr lvl="1" eaLnBrk="1" hangingPunct="1"/>
            <a:r>
              <a:rPr lang="en-US"/>
              <a:t>UNIX calls this a "process group"</a:t>
            </a:r>
          </a:p>
          <a:p>
            <a:pPr eaLnBrk="1" hangingPunct="1"/>
            <a:r>
              <a:rPr lang="en-US"/>
              <a:t>Windows has no concept of process hierarchy</a:t>
            </a:r>
          </a:p>
          <a:p>
            <a:pPr lvl="1" eaLnBrk="1" hangingPunct="1"/>
            <a:r>
              <a:rPr lang="en-US"/>
              <a:t>all processes are created equal</a:t>
            </a:r>
          </a:p>
        </p:txBody>
      </p:sp>
      <p:sp>
        <p:nvSpPr>
          <p:cNvPr id="6149" name="אליפסה 1"/>
          <p:cNvSpPr>
            <a:spLocks noChangeArrowheads="1"/>
          </p:cNvSpPr>
          <p:nvPr/>
        </p:nvSpPr>
        <p:spPr bwMode="auto">
          <a:xfrm>
            <a:off x="8458200" y="2971800"/>
            <a:ext cx="476250" cy="32385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6150" name="אליפסה 5"/>
          <p:cNvSpPr>
            <a:spLocks noChangeArrowheads="1"/>
          </p:cNvSpPr>
          <p:nvPr/>
        </p:nvSpPr>
        <p:spPr bwMode="auto">
          <a:xfrm>
            <a:off x="8143875" y="3562350"/>
            <a:ext cx="476250" cy="32385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he-IL"/>
          </a:p>
        </p:txBody>
      </p:sp>
      <p:cxnSp>
        <p:nvCxnSpPr>
          <p:cNvPr id="6151" name="מחבר ישר 3"/>
          <p:cNvCxnSpPr>
            <a:cxnSpLocks noChangeShapeType="1"/>
            <a:stCxn id="6149" idx="4"/>
          </p:cNvCxnSpPr>
          <p:nvPr/>
        </p:nvCxnSpPr>
        <p:spPr bwMode="auto">
          <a:xfrm flipH="1">
            <a:off x="8458201" y="3295650"/>
            <a:ext cx="238125" cy="26670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152" name="מחבר ישר 6"/>
          <p:cNvCxnSpPr>
            <a:cxnSpLocks noChangeShapeType="1"/>
          </p:cNvCxnSpPr>
          <p:nvPr/>
        </p:nvCxnSpPr>
        <p:spPr bwMode="auto">
          <a:xfrm flipH="1">
            <a:off x="8934452" y="3295651"/>
            <a:ext cx="819149" cy="428625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153" name="אליפסה 10"/>
          <p:cNvSpPr>
            <a:spLocks noChangeArrowheads="1"/>
          </p:cNvSpPr>
          <p:nvPr/>
        </p:nvSpPr>
        <p:spPr bwMode="auto">
          <a:xfrm>
            <a:off x="8715375" y="3724275"/>
            <a:ext cx="476250" cy="32385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6154" name="אליפסה 7"/>
          <p:cNvSpPr>
            <a:spLocks noChangeArrowheads="1"/>
          </p:cNvSpPr>
          <p:nvPr/>
        </p:nvSpPr>
        <p:spPr bwMode="auto">
          <a:xfrm>
            <a:off x="9505950" y="2895600"/>
            <a:ext cx="495300" cy="32385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he-IL"/>
          </a:p>
        </p:txBody>
      </p:sp>
      <p:cxnSp>
        <p:nvCxnSpPr>
          <p:cNvPr id="11" name="מחבר ישר 6"/>
          <p:cNvCxnSpPr>
            <a:cxnSpLocks noChangeShapeType="1"/>
          </p:cNvCxnSpPr>
          <p:nvPr/>
        </p:nvCxnSpPr>
        <p:spPr bwMode="auto">
          <a:xfrm>
            <a:off x="8934450" y="3295651"/>
            <a:ext cx="152402" cy="428625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E44984C-0AF5-4CA4-9B20-CCFA407E6BAE}" type="datetime12">
              <a:rPr lang="he-IL" smtClean="0"/>
              <a:pPr>
                <a:defRPr/>
              </a:pPr>
              <a:t>28/01/2024 18:13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A5F8A66A-9403-49CF-9472-340ECEE03EA6}" type="slidenum">
              <a:rPr lang="he-IL" sz="1400"/>
              <a:pPr eaLnBrk="1" hangingPunct="1"/>
              <a:t>7</a:t>
            </a:fld>
            <a:endParaRPr lang="en-US" sz="1400"/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Process States (1)</a:t>
            </a:r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19450" y="4238625"/>
            <a:ext cx="7772400" cy="14859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/>
              <a:t>Possible process states</a:t>
            </a:r>
          </a:p>
          <a:p>
            <a:pPr lvl="1" eaLnBrk="1" hangingPunct="1">
              <a:lnSpc>
                <a:spcPct val="90000"/>
              </a:lnSpc>
            </a:pPr>
            <a:r>
              <a:rPr lang="en-US"/>
              <a:t>running</a:t>
            </a:r>
          </a:p>
          <a:p>
            <a:pPr lvl="1" eaLnBrk="1" hangingPunct="1">
              <a:lnSpc>
                <a:spcPct val="90000"/>
              </a:lnSpc>
            </a:pPr>
            <a:r>
              <a:rPr lang="en-US"/>
              <a:t>blocked</a:t>
            </a:r>
          </a:p>
          <a:p>
            <a:pPr lvl="1" eaLnBrk="1" hangingPunct="1">
              <a:lnSpc>
                <a:spcPct val="90000"/>
              </a:lnSpc>
            </a:pPr>
            <a:r>
              <a:rPr lang="en-US"/>
              <a:t>ready</a:t>
            </a:r>
            <a:endParaRPr lang="en-US" sz="2000"/>
          </a:p>
          <a:p>
            <a:pPr eaLnBrk="1" hangingPunct="1">
              <a:lnSpc>
                <a:spcPct val="90000"/>
              </a:lnSpc>
            </a:pPr>
            <a:r>
              <a:rPr lang="en-US"/>
              <a:t>Transitions between states shown</a:t>
            </a:r>
            <a:endParaRPr lang="en-US" sz="2400"/>
          </a:p>
        </p:txBody>
      </p:sp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9325" y="1512888"/>
            <a:ext cx="7639050" cy="2076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4" name="TextBox 5"/>
          <p:cNvSpPr txBox="1">
            <a:spLocks noChangeArrowheads="1"/>
          </p:cNvSpPr>
          <p:nvPr/>
        </p:nvSpPr>
        <p:spPr bwMode="auto">
          <a:xfrm>
            <a:off x="2603500" y="2032001"/>
            <a:ext cx="7239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dirty="0"/>
              <a:t>IO</a:t>
            </a:r>
            <a:endParaRPr lang="he-IL" dirty="0"/>
          </a:p>
        </p:txBody>
      </p:sp>
      <p:sp>
        <p:nvSpPr>
          <p:cNvPr id="7175" name="TextBox 6"/>
          <p:cNvSpPr txBox="1">
            <a:spLocks noChangeArrowheads="1"/>
          </p:cNvSpPr>
          <p:nvPr/>
        </p:nvSpPr>
        <p:spPr bwMode="auto">
          <a:xfrm>
            <a:off x="5105400" y="1636713"/>
            <a:ext cx="161290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he-IL" dirty="0"/>
              <a:t>נגמר ה </a:t>
            </a:r>
            <a:r>
              <a:rPr lang="en-US" dirty="0" err="1"/>
              <a:t>quantom</a:t>
            </a:r>
            <a:endParaRPr lang="he-IL" dirty="0"/>
          </a:p>
        </p:txBody>
      </p:sp>
      <p:sp>
        <p:nvSpPr>
          <p:cNvPr id="7176" name="TextBox 7"/>
          <p:cNvSpPr txBox="1">
            <a:spLocks noChangeArrowheads="1"/>
          </p:cNvSpPr>
          <p:nvPr/>
        </p:nvSpPr>
        <p:spPr bwMode="auto">
          <a:xfrm>
            <a:off x="2349500" y="3314701"/>
            <a:ext cx="10795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he-IL" dirty="0"/>
              <a:t>ממתין ל</a:t>
            </a:r>
            <a:r>
              <a:rPr lang="en-US" dirty="0"/>
              <a:t>IO</a:t>
            </a:r>
            <a:r>
              <a:rPr lang="he-IL" dirty="0"/>
              <a:t> </a:t>
            </a:r>
          </a:p>
        </p:txBody>
      </p:sp>
      <p:sp>
        <p:nvSpPr>
          <p:cNvPr id="7177" name="TextBox 8"/>
          <p:cNvSpPr txBox="1">
            <a:spLocks noChangeArrowheads="1"/>
          </p:cNvSpPr>
          <p:nvPr/>
        </p:nvSpPr>
        <p:spPr bwMode="auto">
          <a:xfrm>
            <a:off x="3860800" y="2551114"/>
            <a:ext cx="9017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he-IL" sz="1400" dirty="0"/>
              <a:t>מקבל תזמון</a:t>
            </a:r>
          </a:p>
        </p:txBody>
      </p:sp>
      <p:sp>
        <p:nvSpPr>
          <p:cNvPr id="7178" name="TextBox 9"/>
          <p:cNvSpPr txBox="1">
            <a:spLocks noChangeArrowheads="1"/>
          </p:cNvSpPr>
          <p:nvPr/>
        </p:nvSpPr>
        <p:spPr bwMode="auto">
          <a:xfrm>
            <a:off x="3746500" y="3589339"/>
            <a:ext cx="927100" cy="73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r" rtl="1" eaLnBrk="1" hangingPunct="1"/>
            <a:r>
              <a:rPr lang="he-IL" sz="1400" dirty="0"/>
              <a:t>אירוע הגיע </a:t>
            </a:r>
            <a:r>
              <a:rPr lang="he-IL" sz="1400" dirty="0" err="1"/>
              <a:t>ומ"ה</a:t>
            </a:r>
            <a:r>
              <a:rPr lang="he-IL" sz="1400" dirty="0"/>
              <a:t> טיפלה בו </a:t>
            </a:r>
          </a:p>
        </p:txBody>
      </p:sp>
      <p:sp>
        <p:nvSpPr>
          <p:cNvPr id="7179" name="TextBox 13"/>
          <p:cNvSpPr txBox="1">
            <a:spLocks noChangeArrowheads="1"/>
          </p:cNvSpPr>
          <p:nvPr/>
        </p:nvSpPr>
        <p:spPr bwMode="auto">
          <a:xfrm>
            <a:off x="2219326" y="2551114"/>
            <a:ext cx="9429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he-IL" sz="1400" dirty="0" err="1"/>
              <a:t>אמיתי</a:t>
            </a:r>
            <a:endParaRPr lang="he-IL" sz="1400" dirty="0"/>
          </a:p>
        </p:txBody>
      </p:sp>
      <p:sp>
        <p:nvSpPr>
          <p:cNvPr id="7180" name="TextBox 18"/>
          <p:cNvSpPr txBox="1">
            <a:spLocks noChangeArrowheads="1"/>
          </p:cNvSpPr>
          <p:nvPr/>
        </p:nvSpPr>
        <p:spPr bwMode="auto">
          <a:xfrm>
            <a:off x="5440364" y="2555876"/>
            <a:ext cx="9429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he-IL" sz="1400" dirty="0"/>
              <a:t>מדומה</a:t>
            </a:r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99E7E32-0E74-4C1D-87F2-2A2F517B716A}" type="datetime12">
              <a:rPr lang="he-IL" smtClean="0"/>
              <a:pPr>
                <a:defRPr/>
              </a:pPr>
              <a:t>28/01/2024 18:13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1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1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1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1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1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1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1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1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4" grpId="0"/>
      <p:bldP spid="7175" grpId="0"/>
      <p:bldP spid="7176" grpId="0"/>
      <p:bldP spid="7177" grpId="0"/>
      <p:bldP spid="7178" grpId="0"/>
      <p:bldP spid="7179" grpId="0"/>
      <p:bldP spid="718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B4D36B30-5734-4B9A-987B-F8643EF4228F}" type="slidenum">
              <a:rPr lang="he-IL" sz="1400"/>
              <a:pPr eaLnBrk="1" hangingPunct="1"/>
              <a:t>8</a:t>
            </a:fld>
            <a:endParaRPr lang="en-US" sz="1400"/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Process States (2)</a:t>
            </a:r>
          </a:p>
        </p:txBody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95525" y="4657725"/>
            <a:ext cx="7772400" cy="1828800"/>
          </a:xfrm>
        </p:spPr>
        <p:txBody>
          <a:bodyPr/>
          <a:lstStyle/>
          <a:p>
            <a:pPr eaLnBrk="1" hangingPunct="1"/>
            <a:r>
              <a:rPr lang="en-US"/>
              <a:t>Lowest layer of process-structured OS</a:t>
            </a:r>
          </a:p>
          <a:p>
            <a:pPr lvl="1" eaLnBrk="1" hangingPunct="1"/>
            <a:r>
              <a:rPr lang="en-US"/>
              <a:t>handles interrupts, scheduling</a:t>
            </a:r>
          </a:p>
          <a:p>
            <a:pPr eaLnBrk="1" hangingPunct="1"/>
            <a:r>
              <a:rPr lang="en-US"/>
              <a:t>Above that layer are sequential processes</a:t>
            </a:r>
          </a:p>
        </p:txBody>
      </p:sp>
      <p:pic>
        <p:nvPicPr>
          <p:cNvPr id="8197" name="Picture 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8239" y="1524000"/>
            <a:ext cx="5064125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928BD1A-C473-465C-9ECE-7C156BBA2063}" type="datetime12">
              <a:rPr lang="he-IL" smtClean="0"/>
              <a:pPr>
                <a:defRPr/>
              </a:pPr>
              <a:t>28/01/2024 18:13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F2A226DA-2AE3-4D01-8609-33FF0E263D4D}" type="slidenum">
              <a:rPr lang="he-IL" sz="1400"/>
              <a:pPr eaLnBrk="1" hangingPunct="1"/>
              <a:t>9</a:t>
            </a:fld>
            <a:endParaRPr lang="en-US" sz="1400"/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>
          <a:xfrm>
            <a:off x="2441575" y="0"/>
            <a:ext cx="7772400" cy="857250"/>
          </a:xfrm>
        </p:spPr>
        <p:txBody>
          <a:bodyPr/>
          <a:lstStyle/>
          <a:p>
            <a:pPr eaLnBrk="1" hangingPunct="1"/>
            <a:r>
              <a:rPr lang="en-US"/>
              <a:t>Implementation of Processes (1)</a:t>
            </a:r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324100" y="5953125"/>
            <a:ext cx="7772400" cy="514350"/>
          </a:xfrm>
        </p:spPr>
        <p:txBody>
          <a:bodyPr/>
          <a:lstStyle/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en-US"/>
              <a:t>Some Fields of a process table entry</a:t>
            </a:r>
          </a:p>
        </p:txBody>
      </p:sp>
      <p:pic>
        <p:nvPicPr>
          <p:cNvPr id="9221" name="Picture 2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6351" y="1352551"/>
            <a:ext cx="7089775" cy="395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E7309E9-AE21-4D21-8F58-751895A6D867}" type="datetime12">
              <a:rPr lang="he-IL" smtClean="0"/>
              <a:pPr>
                <a:defRPr/>
              </a:pPr>
              <a:t>28/01/2024 18:13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A2138010-7D12-4BDC-89EE-F89BEB82A9C0}" type="slidenum">
              <a:rPr lang="he-IL" sz="1400"/>
              <a:pPr eaLnBrk="1" hangingPunct="1"/>
              <a:t>10</a:t>
            </a:fld>
            <a:endParaRPr lang="en-US" sz="1400"/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Implementation of Processes (2)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1" y="5153026"/>
            <a:ext cx="8086725" cy="942975"/>
          </a:xfrm>
        </p:spPr>
        <p:txBody>
          <a:bodyPr/>
          <a:lstStyle/>
          <a:p>
            <a:pPr marL="609600" indent="-609600" eaLnBrk="1" hangingPunct="1">
              <a:lnSpc>
                <a:spcPct val="90000"/>
              </a:lnSpc>
              <a:buNone/>
            </a:pPr>
            <a:r>
              <a:rPr lang="en-US" sz="2800"/>
              <a:t>Skeleton of what lowest level of OS does when an interrupt occurs</a:t>
            </a:r>
          </a:p>
          <a:p>
            <a:pPr marL="609600" indent="-609600" eaLnBrk="1" hangingPunct="1">
              <a:lnSpc>
                <a:spcPct val="90000"/>
              </a:lnSpc>
              <a:spcBef>
                <a:spcPct val="50000"/>
              </a:spcBef>
              <a:buFontTx/>
              <a:buAutoNum type="arabicPeriod"/>
            </a:pPr>
            <a:endParaRPr lang="en-US" sz="2400"/>
          </a:p>
          <a:p>
            <a:pPr marL="609600" indent="-609600" eaLnBrk="1" hangingPunct="1">
              <a:lnSpc>
                <a:spcPct val="90000"/>
              </a:lnSpc>
              <a:buFontTx/>
              <a:buAutoNum type="arabicPeriod"/>
            </a:pPr>
            <a:endParaRPr lang="en-US" sz="2800"/>
          </a:p>
        </p:txBody>
      </p:sp>
      <p:pic>
        <p:nvPicPr>
          <p:cNvPr id="10245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5900" y="1590675"/>
            <a:ext cx="6648450" cy="2559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B6EA337-4167-483A-A284-5D6E680F2066}" type="datetime12">
              <a:rPr lang="he-IL" smtClean="0"/>
              <a:pPr>
                <a:defRPr/>
              </a:pPr>
              <a:t>28/01/2024 18:13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ChangeArrowheads="1"/>
          </p:cNvSpPr>
          <p:nvPr/>
        </p:nvSpPr>
        <p:spPr bwMode="auto">
          <a:xfrm>
            <a:off x="1524000" y="5715000"/>
            <a:ext cx="9144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 marL="609600" indent="-609600">
              <a:spcBef>
                <a:spcPct val="20000"/>
              </a:spcBef>
            </a:pPr>
            <a:r>
              <a:rPr lang="en-US">
                <a:latin typeface="Arial" pitchFamily="34" charset="0"/>
              </a:rPr>
              <a:t>Figure 2-6. CPU utilization as a function of the number of processes in memory.</a:t>
            </a:r>
          </a:p>
        </p:txBody>
      </p:sp>
      <p:sp>
        <p:nvSpPr>
          <p:cNvPr id="11267" name="Rectangle 3"/>
          <p:cNvSpPr>
            <a:spLocks noChangeArrowheads="1"/>
          </p:cNvSpPr>
          <p:nvPr/>
        </p:nvSpPr>
        <p:spPr bwMode="auto">
          <a:xfrm>
            <a:off x="1524000" y="0"/>
            <a:ext cx="9144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/>
          <a:p>
            <a:r>
              <a:rPr lang="en-US" sz="3600">
                <a:solidFill>
                  <a:srgbClr val="FF0000"/>
                </a:solidFill>
                <a:latin typeface="Arial" pitchFamily="34" charset="0"/>
              </a:rPr>
              <a:t>Modeling Multiprogramming</a:t>
            </a:r>
          </a:p>
        </p:txBody>
      </p:sp>
      <p:sp>
        <p:nvSpPr>
          <p:cNvPr id="11268" name="Rectangle 4"/>
          <p:cNvSpPr>
            <a:spLocks noChangeArrowheads="1"/>
          </p:cNvSpPr>
          <p:nvPr/>
        </p:nvSpPr>
        <p:spPr bwMode="auto">
          <a:xfrm>
            <a:off x="1701800" y="6565901"/>
            <a:ext cx="8712200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/>
          <a:p>
            <a:r>
              <a:rPr lang="en-US" sz="1200">
                <a:solidFill>
                  <a:srgbClr val="898989"/>
                </a:solidFill>
              </a:rPr>
              <a:t>Tanenbaum, Modern Operating Systems 3 e, (c) 2008 Prentice-Hall, Inc. All rights reserved. 0-13-</a:t>
            </a:r>
            <a:r>
              <a:rPr lang="en-US" sz="1200" b="1">
                <a:solidFill>
                  <a:srgbClr val="898989"/>
                </a:solidFill>
              </a:rPr>
              <a:t>6006639</a:t>
            </a:r>
          </a:p>
        </p:txBody>
      </p:sp>
      <p:pic>
        <p:nvPicPr>
          <p:cNvPr id="11269" name="Picture 6" descr="02-0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5900" y="1573214"/>
            <a:ext cx="6604000" cy="371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A5E5AC8-F9C6-4213-A707-9E4576C35CE9}" type="datetime12">
              <a:rPr lang="he-IL" smtClean="0"/>
              <a:pPr>
                <a:defRPr/>
              </a:pPr>
              <a:t>28/01/2024 18:13</a:t>
            </a:fld>
            <a:endParaRPr lang="en-US"/>
          </a:p>
        </p:txBody>
      </p:sp>
      <p:sp>
        <p:nvSpPr>
          <p:cNvPr id="3" name="מציין מיקום של מספר שקופית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A07F13-4A01-4E8A-AF66-9AA7DC93C675}" type="slidenum">
              <a:rPr lang="he-IL" smtClean="0"/>
              <a:pPr>
                <a:defRPr/>
              </a:pPr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8BF885D0-BB80-4A97-9FD3-AC0F44473152}" type="slidenum">
              <a:rPr lang="he-IL" sz="1400"/>
              <a:pPr eaLnBrk="1" hangingPunct="1"/>
              <a:t>12</a:t>
            </a:fld>
            <a:endParaRPr lang="en-US" sz="1400"/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Thread Usage (1)</a:t>
            </a:r>
          </a:p>
        </p:txBody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5610226"/>
            <a:ext cx="7772400" cy="485775"/>
          </a:xfrm>
        </p:spPr>
        <p:txBody>
          <a:bodyPr/>
          <a:lstStyle/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en-US"/>
              <a:t>A word processor with three threads</a:t>
            </a:r>
            <a:endParaRPr lang="en-US" sz="2800"/>
          </a:p>
        </p:txBody>
      </p:sp>
      <p:pic>
        <p:nvPicPr>
          <p:cNvPr id="12293" name="Picture 6" descr="2-9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6589" y="1386837"/>
            <a:ext cx="7607300" cy="3824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769327" y="812839"/>
            <a:ext cx="2486722" cy="375487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 algn="r" rtl="1">
              <a:buFont typeface="Arial" pitchFamily="34" charset="0"/>
              <a:buChar char="•"/>
            </a:pPr>
            <a:r>
              <a:rPr lang="he-IL" sz="1400" dirty="0"/>
              <a:t>חלוקה למודולים לוגיים</a:t>
            </a:r>
          </a:p>
          <a:p>
            <a:pPr marL="285750" indent="-285750" algn="r" rtl="1">
              <a:buFont typeface="Arial" pitchFamily="34" charset="0"/>
              <a:buChar char="•"/>
            </a:pPr>
            <a:r>
              <a:rPr lang="he-IL" sz="1400" dirty="0"/>
              <a:t>מענה אלגנטי לטיפול במאורעות </a:t>
            </a:r>
            <a:r>
              <a:rPr lang="he-IL" sz="1400" dirty="0" err="1"/>
              <a:t>אנסיכרוניים</a:t>
            </a:r>
            <a:r>
              <a:rPr lang="he-IL" sz="1400" dirty="0"/>
              <a:t> </a:t>
            </a:r>
          </a:p>
          <a:p>
            <a:pPr marL="285750" indent="-285750" algn="r" rtl="1">
              <a:buFont typeface="Arial" pitchFamily="34" charset="0"/>
              <a:buChar char="•"/>
            </a:pPr>
            <a:endParaRPr lang="he-IL" sz="1400" dirty="0"/>
          </a:p>
          <a:p>
            <a:pPr algn="r" rtl="1"/>
            <a:r>
              <a:rPr lang="he-IL" sz="1400" dirty="0"/>
              <a:t>יתרונות</a:t>
            </a:r>
          </a:p>
          <a:p>
            <a:pPr marL="342900" indent="-342900" algn="r" rtl="1">
              <a:buFont typeface="+mj-lt"/>
              <a:buAutoNum type="arabicPeriod"/>
            </a:pPr>
            <a:r>
              <a:rPr lang="he-IL" sz="1400" dirty="0"/>
              <a:t>זמן  יצירה קטן 1:10</a:t>
            </a:r>
          </a:p>
          <a:p>
            <a:pPr marL="342900" indent="-342900" algn="r" rtl="1">
              <a:buFont typeface="+mj-lt"/>
              <a:buAutoNum type="arabicPeriod"/>
            </a:pPr>
            <a:r>
              <a:rPr lang="he-IL" sz="1400" dirty="0"/>
              <a:t>זמן סיום קטן</a:t>
            </a:r>
          </a:p>
          <a:p>
            <a:pPr marL="342900" indent="-342900" algn="r" rtl="1">
              <a:buFont typeface="+mj-lt"/>
              <a:buAutoNum type="arabicPeriod"/>
            </a:pPr>
            <a:r>
              <a:rPr lang="he-IL" sz="1400" dirty="0"/>
              <a:t>זמן החלפה קטן</a:t>
            </a:r>
          </a:p>
          <a:p>
            <a:pPr marL="342900" indent="-342900" algn="r" rtl="1">
              <a:buFont typeface="+mj-lt"/>
              <a:buAutoNum type="arabicPeriod"/>
            </a:pPr>
            <a:r>
              <a:rPr lang="he-IL" sz="1400" dirty="0"/>
              <a:t>התקשרות מהירה, יש מרחב זיכרון משותף </a:t>
            </a:r>
            <a:r>
              <a:rPr lang="en-US" sz="1400" dirty="0"/>
              <a:t>address space</a:t>
            </a:r>
          </a:p>
          <a:p>
            <a:pPr algn="r" rtl="1"/>
            <a:endParaRPr lang="he-IL" sz="1400" dirty="0"/>
          </a:p>
          <a:p>
            <a:pPr algn="r" rtl="1"/>
            <a:r>
              <a:rPr lang="he-IL" sz="1400" dirty="0"/>
              <a:t>חסרונות (נושאים לטיפול)</a:t>
            </a:r>
          </a:p>
          <a:p>
            <a:pPr marL="342900" indent="-342900" algn="r" rtl="1">
              <a:buAutoNum type="arabicPeriod"/>
            </a:pPr>
            <a:r>
              <a:rPr lang="he-IL" sz="1400" dirty="0" err="1"/>
              <a:t>תהליכון</a:t>
            </a:r>
            <a:r>
              <a:rPr lang="he-IL" sz="1400" dirty="0"/>
              <a:t> נחסם, האם חוסם התהליך? </a:t>
            </a:r>
          </a:p>
          <a:p>
            <a:pPr marL="342900" indent="-342900" algn="r" rtl="1">
              <a:buAutoNum type="arabicPeriod"/>
            </a:pPr>
            <a:r>
              <a:rPr lang="he-IL" sz="1400" dirty="0"/>
              <a:t>שכפול </a:t>
            </a:r>
            <a:r>
              <a:rPr lang="en-US" sz="1400" dirty="0"/>
              <a:t>fork</a:t>
            </a:r>
            <a:r>
              <a:rPr lang="he-IL" sz="1400" dirty="0"/>
              <a:t>? משכפל רק </a:t>
            </a:r>
            <a:r>
              <a:rPr lang="he-IL" sz="1400" dirty="0" err="1"/>
              <a:t>תהליכון</a:t>
            </a:r>
            <a:r>
              <a:rPr lang="he-IL" sz="1400" dirty="0"/>
              <a:t> או התהליך</a:t>
            </a:r>
          </a:p>
          <a:p>
            <a:pPr marL="342900" indent="-342900" algn="r" rtl="1">
              <a:buAutoNum type="arabicPeriod"/>
            </a:pPr>
            <a:r>
              <a:rPr lang="he-IL" sz="1400" dirty="0"/>
              <a:t>סינכרון.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48547" y="1438507"/>
            <a:ext cx="2107581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 algn="r" rtl="1">
              <a:buFont typeface="Arial" pitchFamily="34" charset="0"/>
              <a:buChar char="•"/>
            </a:pPr>
            <a:r>
              <a:rPr lang="he-IL" sz="1400" dirty="0"/>
              <a:t>מימוש ברמת המשתמש </a:t>
            </a:r>
          </a:p>
          <a:p>
            <a:pPr marL="285750" indent="-285750" algn="r" rtl="1">
              <a:buFont typeface="Arial" pitchFamily="34" charset="0"/>
              <a:buChar char="•"/>
            </a:pPr>
            <a:r>
              <a:rPr lang="he-IL" sz="1400" dirty="0"/>
              <a:t>ברמת המערכת הפעלה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05385" y="2810108"/>
            <a:ext cx="1750742" cy="30777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endParaRPr lang="he-IL" sz="1400" dirty="0"/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9B6E463-CD3F-4551-9E8E-5F75F49ADD83}" type="datetime12">
              <a:rPr lang="he-IL" smtClean="0"/>
              <a:pPr>
                <a:defRPr/>
              </a:pPr>
              <a:t>28/01/2024 18:13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BDAA207F-ED74-491E-977A-A4EF62DA882E}" type="slidenum">
              <a:rPr lang="he-IL" sz="1400"/>
              <a:pPr eaLnBrk="1" hangingPunct="1"/>
              <a:t>13</a:t>
            </a:fld>
            <a:endParaRPr lang="en-US" sz="1400"/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Thread Usage (2)</a:t>
            </a:r>
          </a:p>
        </p:txBody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54250" y="5864226"/>
            <a:ext cx="7772400" cy="771525"/>
          </a:xfrm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en-US"/>
              <a:t>A multithreaded Web server</a:t>
            </a:r>
          </a:p>
        </p:txBody>
      </p:sp>
      <p:pic>
        <p:nvPicPr>
          <p:cNvPr id="13317" name="Picture 7" descr="2-10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3550" y="1266825"/>
            <a:ext cx="6527800" cy="432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BF6CE77-A1A4-42B9-9565-C5EF07064AAD}" type="datetime12">
              <a:rPr lang="he-IL" smtClean="0"/>
              <a:pPr>
                <a:defRPr/>
              </a:pPr>
              <a:t>28/01/2024 18:13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21761305-4E0D-458C-A4AA-8BF55B1F9B41}" type="slidenum">
              <a:rPr lang="he-IL" sz="1400"/>
              <a:pPr eaLnBrk="1" hangingPunct="1"/>
              <a:t>14</a:t>
            </a:fld>
            <a:endParaRPr lang="en-US" sz="1400"/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Thread Usage (3)</a:t>
            </a:r>
          </a:p>
        </p:txBody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4552950"/>
            <a:ext cx="7772400" cy="15430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/>
              <a:t>Rough outline of code for previous slide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/>
              <a:t>(a) Dispatcher thread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/>
              <a:t>(b) Worker thread</a:t>
            </a:r>
          </a:p>
        </p:txBody>
      </p:sp>
      <p:pic>
        <p:nvPicPr>
          <p:cNvPr id="14341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6464" y="1785939"/>
            <a:ext cx="7439025" cy="1976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BDEE779-0858-4659-AF29-504BB07945C6}" type="datetime12">
              <a:rPr lang="he-IL" smtClean="0"/>
              <a:pPr>
                <a:defRPr/>
              </a:pPr>
              <a:t>28/01/2024 18:13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61211E93-05BB-4702-9056-BDD39B248421}" type="slidenum">
              <a:rPr lang="he-IL" sz="1400"/>
              <a:pPr eaLnBrk="1" hangingPunct="1"/>
              <a:t>15</a:t>
            </a:fld>
            <a:endParaRPr lang="en-US" sz="1400"/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Thread Usage (4)</a:t>
            </a:r>
          </a:p>
        </p:txBody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81225" y="4752976"/>
            <a:ext cx="7772400" cy="714375"/>
          </a:xfrm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en-US"/>
              <a:t>Three ways to construct a server</a:t>
            </a:r>
          </a:p>
        </p:txBody>
      </p:sp>
      <p:pic>
        <p:nvPicPr>
          <p:cNvPr id="15365" name="Picture 37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6313" y="1709738"/>
            <a:ext cx="8039100" cy="1712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5400D1E-A40D-4229-BC62-0BB8B24F6D72}" type="datetime12">
              <a:rPr lang="he-IL" smtClean="0"/>
              <a:pPr>
                <a:defRPr/>
              </a:pPr>
              <a:t>28/01/2024 18:13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E42283B2-1CAE-4586-BCE8-B6760B6600CD}" type="slidenum">
              <a:rPr lang="he-IL" sz="1400"/>
              <a:pPr eaLnBrk="1" hangingPunct="1"/>
              <a:t>16</a:t>
            </a:fld>
            <a:endParaRPr lang="en-US" sz="1400"/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Threads</a:t>
            </a:r>
            <a:br>
              <a:rPr lang="en-US"/>
            </a:br>
            <a:r>
              <a:rPr lang="en-US" sz="3200"/>
              <a:t>The Thread Model (1)</a:t>
            </a:r>
            <a:endParaRPr lang="en-US"/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5381626"/>
            <a:ext cx="7772400" cy="714375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/>
              <a:t>(a) Three processes each with one thread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/>
              <a:t>(b) One process with three threads</a:t>
            </a:r>
            <a:endParaRPr lang="en-US" sz="2800"/>
          </a:p>
        </p:txBody>
      </p:sp>
      <p:pic>
        <p:nvPicPr>
          <p:cNvPr id="16389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5013" y="1470025"/>
            <a:ext cx="8228012" cy="3354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90" name="TextBox 1"/>
          <p:cNvSpPr txBox="1">
            <a:spLocks noChangeArrowheads="1"/>
          </p:cNvSpPr>
          <p:nvPr/>
        </p:nvSpPr>
        <p:spPr bwMode="auto">
          <a:xfrm>
            <a:off x="8128001" y="1017589"/>
            <a:ext cx="23717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he-IL" sz="1400" dirty="0" err="1"/>
              <a:t>תהליכונים</a:t>
            </a:r>
            <a:r>
              <a:rPr lang="he-IL" sz="1400" dirty="0"/>
              <a:t> בתמיכת המשתמש</a:t>
            </a:r>
          </a:p>
        </p:txBody>
      </p:sp>
      <p:sp>
        <p:nvSpPr>
          <p:cNvPr id="16391" name="TextBox 6"/>
          <p:cNvSpPr txBox="1">
            <a:spLocks noChangeArrowheads="1"/>
          </p:cNvSpPr>
          <p:nvPr/>
        </p:nvSpPr>
        <p:spPr bwMode="auto">
          <a:xfrm>
            <a:off x="2400301" y="1060451"/>
            <a:ext cx="23717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he-IL" sz="1400" dirty="0" err="1"/>
              <a:t>תהליכונים</a:t>
            </a:r>
            <a:r>
              <a:rPr lang="he-IL" sz="1400" dirty="0"/>
              <a:t> בתמיכת הגרעין</a:t>
            </a:r>
          </a:p>
        </p:txBody>
      </p:sp>
      <p:sp>
        <p:nvSpPr>
          <p:cNvPr id="16392" name="TextBox 2"/>
          <p:cNvSpPr txBox="1">
            <a:spLocks noChangeArrowheads="1"/>
          </p:cNvSpPr>
          <p:nvPr/>
        </p:nvSpPr>
        <p:spPr bwMode="auto">
          <a:xfrm>
            <a:off x="6604000" y="4799014"/>
            <a:ext cx="3895726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r" rtl="1" eaLnBrk="1" hangingPunct="1"/>
            <a:r>
              <a:rPr lang="he-IL" sz="1400" dirty="0"/>
              <a:t>יתרונות : </a:t>
            </a:r>
          </a:p>
          <a:p>
            <a:pPr marL="342900" indent="-342900" algn="r" rtl="1" eaLnBrk="1" hangingPunct="1">
              <a:buAutoNum type="arabicPeriod"/>
            </a:pPr>
            <a:r>
              <a:rPr lang="he-IL" sz="1400" dirty="0"/>
              <a:t>ניתן לבחור תזמון כרצוננו, שליטה שלנו</a:t>
            </a:r>
          </a:p>
          <a:p>
            <a:pPr marL="342900" indent="-342900" algn="r" rtl="1" eaLnBrk="1" hangingPunct="1">
              <a:buAutoNum type="arabicPeriod"/>
            </a:pPr>
            <a:r>
              <a:rPr lang="he-IL" sz="1400" dirty="0"/>
              <a:t>אין צורך ב </a:t>
            </a:r>
            <a:r>
              <a:rPr lang="en-US" sz="1400" dirty="0" err="1"/>
              <a:t>csw</a:t>
            </a:r>
            <a:r>
              <a:rPr lang="he-IL" sz="1400" dirty="0"/>
              <a:t> אין מעבר לגרעין</a:t>
            </a:r>
          </a:p>
          <a:p>
            <a:pPr marL="342900" indent="-342900" algn="r" rtl="1" eaLnBrk="1" hangingPunct="1">
              <a:buAutoNum type="arabicPeriod"/>
            </a:pPr>
            <a:r>
              <a:rPr lang="he-IL" sz="1400"/>
              <a:t>ניידות</a:t>
            </a:r>
          </a:p>
          <a:p>
            <a:pPr algn="r" rtl="1" eaLnBrk="1" hangingPunct="1"/>
            <a:endParaRPr lang="he-IL" sz="1400" dirty="0"/>
          </a:p>
          <a:p>
            <a:pPr algn="r" rtl="1" eaLnBrk="1" hangingPunct="1"/>
            <a:r>
              <a:rPr lang="he-IL" sz="1400" dirty="0"/>
              <a:t>חסרונות: הגדלת הליבה</a:t>
            </a:r>
          </a:p>
        </p:txBody>
      </p:sp>
      <p:sp>
        <p:nvSpPr>
          <p:cNvPr id="16393" name="TextBox 3"/>
          <p:cNvSpPr txBox="1">
            <a:spLocks noChangeArrowheads="1"/>
          </p:cNvSpPr>
          <p:nvPr/>
        </p:nvSpPr>
        <p:spPr bwMode="auto">
          <a:xfrm>
            <a:off x="2400301" y="4849814"/>
            <a:ext cx="32051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r" rtl="1" eaLnBrk="1" hangingPunct="1"/>
            <a:r>
              <a:rPr lang="he-IL" sz="1400"/>
              <a:t>משתמש במנגנון קיים</a:t>
            </a:r>
          </a:p>
          <a:p>
            <a:pPr algn="r" rtl="1" eaLnBrk="1" hangingPunct="1"/>
            <a:r>
              <a:rPr lang="he-IL" sz="1400"/>
              <a:t>ניתן לנצל כמה מעבדים</a:t>
            </a:r>
          </a:p>
        </p:txBody>
      </p:sp>
      <p:sp>
        <p:nvSpPr>
          <p:cNvPr id="16394" name="TextBox 4"/>
          <p:cNvSpPr txBox="1">
            <a:spLocks noChangeArrowheads="1"/>
          </p:cNvSpPr>
          <p:nvPr/>
        </p:nvSpPr>
        <p:spPr bwMode="auto">
          <a:xfrm>
            <a:off x="9105901" y="1945245"/>
            <a:ext cx="1127125" cy="1169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r" rtl="1" eaLnBrk="1" hangingPunct="1"/>
            <a:r>
              <a:rPr lang="he-IL" sz="1400" dirty="0"/>
              <a:t>מה יקרה </a:t>
            </a:r>
            <a:r>
              <a:rPr lang="he-IL" sz="1400" dirty="0" err="1"/>
              <a:t>לתהליכון</a:t>
            </a:r>
            <a:r>
              <a:rPr lang="he-IL" sz="1400" dirty="0"/>
              <a:t> שעושה </a:t>
            </a:r>
            <a:r>
              <a:rPr lang="en-US" sz="1400" dirty="0"/>
              <a:t>IO</a:t>
            </a:r>
            <a:r>
              <a:rPr lang="he-IL" sz="1400" dirty="0"/>
              <a:t>?</a:t>
            </a:r>
          </a:p>
          <a:p>
            <a:pPr algn="r" rtl="1" eaLnBrk="1" hangingPunct="1"/>
            <a:r>
              <a:rPr lang="he-IL" sz="1400" dirty="0" err="1"/>
              <a:t>תהליכון</a:t>
            </a:r>
            <a:r>
              <a:rPr lang="he-IL" sz="1400" dirty="0"/>
              <a:t> עושה </a:t>
            </a:r>
            <a:r>
              <a:rPr lang="en-US" sz="1400" dirty="0"/>
              <a:t>fork()</a:t>
            </a:r>
            <a:r>
              <a:rPr lang="he-IL" sz="1400" dirty="0"/>
              <a:t> ?</a:t>
            </a:r>
          </a:p>
        </p:txBody>
      </p:sp>
      <p:sp>
        <p:nvSpPr>
          <p:cNvPr id="16395" name="אליפסה 7"/>
          <p:cNvSpPr>
            <a:spLocks noChangeArrowheads="1"/>
          </p:cNvSpPr>
          <p:nvPr/>
        </p:nvSpPr>
        <p:spPr bwMode="auto">
          <a:xfrm>
            <a:off x="9677401" y="3429000"/>
            <a:ext cx="822325" cy="8382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he-IL"/>
          </a:p>
        </p:txBody>
      </p:sp>
      <p:cxnSp>
        <p:nvCxnSpPr>
          <p:cNvPr id="16396" name="מחבר ישר 9"/>
          <p:cNvCxnSpPr>
            <a:cxnSpLocks noChangeShapeType="1"/>
          </p:cNvCxnSpPr>
          <p:nvPr/>
        </p:nvCxnSpPr>
        <p:spPr bwMode="auto">
          <a:xfrm>
            <a:off x="10233025" y="3657600"/>
            <a:ext cx="0" cy="38100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397" name="מחבר ישר 11"/>
          <p:cNvCxnSpPr>
            <a:cxnSpLocks noChangeShapeType="1"/>
          </p:cNvCxnSpPr>
          <p:nvPr/>
        </p:nvCxnSpPr>
        <p:spPr bwMode="auto">
          <a:xfrm>
            <a:off x="10088563" y="3568700"/>
            <a:ext cx="0" cy="46990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398" name="מחבר ישר 13"/>
          <p:cNvCxnSpPr>
            <a:cxnSpLocks noChangeShapeType="1"/>
          </p:cNvCxnSpPr>
          <p:nvPr/>
        </p:nvCxnSpPr>
        <p:spPr bwMode="auto">
          <a:xfrm>
            <a:off x="9931400" y="3657600"/>
            <a:ext cx="0" cy="46990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399" name="TextBox 15"/>
          <p:cNvSpPr txBox="1">
            <a:spLocks noChangeArrowheads="1"/>
          </p:cNvSpPr>
          <p:nvPr/>
        </p:nvSpPr>
        <p:spPr bwMode="auto">
          <a:xfrm>
            <a:off x="1905000" y="1790701"/>
            <a:ext cx="8763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1400" dirty="0" err="1"/>
              <a:t>vfork</a:t>
            </a:r>
            <a:r>
              <a:rPr lang="en-US" sz="1400" dirty="0"/>
              <a:t>()</a:t>
            </a:r>
            <a:endParaRPr lang="he-IL" sz="1400" dirty="0"/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23B1F8D-43F2-4FD8-B525-A7E6C431E5A8}" type="datetime12">
              <a:rPr lang="he-IL" smtClean="0"/>
              <a:pPr>
                <a:defRPr/>
              </a:pPr>
              <a:t>28/01/2024 18:13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3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3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3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63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63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3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63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3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3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63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63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63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92" grpId="0"/>
      <p:bldP spid="16393" grpId="0"/>
      <p:bldP spid="16394" grpId="0"/>
      <p:bldP spid="1639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6F014894-2DB6-42C3-815E-FE546DDE19F5}" type="slidenum">
              <a:rPr lang="he-IL" sz="1400"/>
              <a:pPr eaLnBrk="1" hangingPunct="1"/>
              <a:t>17</a:t>
            </a:fld>
            <a:endParaRPr lang="en-US" sz="1400"/>
          </a:p>
        </p:txBody>
      </p:sp>
      <p:sp>
        <p:nvSpPr>
          <p:cNvPr id="17411" name="Rectangle 1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The Thread Model (2)</a:t>
            </a:r>
          </a:p>
        </p:txBody>
      </p:sp>
      <p:sp>
        <p:nvSpPr>
          <p:cNvPr id="17412" name="Rectangle 20"/>
          <p:cNvSpPr>
            <a:spLocks noGrp="1" noChangeArrowheads="1"/>
          </p:cNvSpPr>
          <p:nvPr>
            <p:ph type="body" idx="1"/>
          </p:nvPr>
        </p:nvSpPr>
        <p:spPr>
          <a:xfrm>
            <a:off x="2209800" y="4924426"/>
            <a:ext cx="7772400" cy="1171575"/>
          </a:xfrm>
        </p:spPr>
        <p:txBody>
          <a:bodyPr/>
          <a:lstStyle/>
          <a:p>
            <a:pPr eaLnBrk="1" hangingPunct="1"/>
            <a:r>
              <a:rPr lang="en-US"/>
              <a:t>Items shared by all threads in a process</a:t>
            </a:r>
          </a:p>
          <a:p>
            <a:pPr eaLnBrk="1" hangingPunct="1"/>
            <a:r>
              <a:rPr lang="en-US"/>
              <a:t>Items private to each thread</a:t>
            </a:r>
          </a:p>
        </p:txBody>
      </p:sp>
      <p:pic>
        <p:nvPicPr>
          <p:cNvPr id="17413" name="Picture 18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895"/>
          <a:stretch>
            <a:fillRect/>
          </a:stretch>
        </p:blipFill>
        <p:spPr bwMode="auto">
          <a:xfrm>
            <a:off x="1876425" y="1619250"/>
            <a:ext cx="8534400" cy="298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4" name="Line 21"/>
          <p:cNvSpPr>
            <a:spLocks noChangeShapeType="1"/>
          </p:cNvSpPr>
          <p:nvPr/>
        </p:nvSpPr>
        <p:spPr bwMode="auto">
          <a:xfrm>
            <a:off x="10401300" y="1752601"/>
            <a:ext cx="0" cy="282892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17415" name="מלבן 1"/>
          <p:cNvSpPr>
            <a:spLocks noChangeArrowheads="1"/>
          </p:cNvSpPr>
          <p:nvPr/>
        </p:nvSpPr>
        <p:spPr bwMode="auto">
          <a:xfrm>
            <a:off x="9105900" y="4775200"/>
            <a:ext cx="546100" cy="1244600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he-IL"/>
          </a:p>
        </p:txBody>
      </p:sp>
      <p:cxnSp>
        <p:nvCxnSpPr>
          <p:cNvPr id="17416" name="מחבר ישר 3"/>
          <p:cNvCxnSpPr>
            <a:cxnSpLocks noChangeShapeType="1"/>
          </p:cNvCxnSpPr>
          <p:nvPr/>
        </p:nvCxnSpPr>
        <p:spPr bwMode="auto">
          <a:xfrm>
            <a:off x="9105900" y="5753100"/>
            <a:ext cx="54610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417" name="TextBox 4"/>
          <p:cNvSpPr txBox="1">
            <a:spLocks noChangeArrowheads="1"/>
          </p:cNvSpPr>
          <p:nvPr/>
        </p:nvSpPr>
        <p:spPr bwMode="auto">
          <a:xfrm>
            <a:off x="8420100" y="5397501"/>
            <a:ext cx="6985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1400"/>
              <a:t>Fib(7)</a:t>
            </a:r>
            <a:endParaRPr lang="he-IL" sz="1400"/>
          </a:p>
        </p:txBody>
      </p:sp>
      <p:sp>
        <p:nvSpPr>
          <p:cNvPr id="17418" name="TextBox 10"/>
          <p:cNvSpPr txBox="1">
            <a:spLocks noChangeArrowheads="1"/>
          </p:cNvSpPr>
          <p:nvPr/>
        </p:nvSpPr>
        <p:spPr bwMode="auto">
          <a:xfrm>
            <a:off x="6642100" y="5983289"/>
            <a:ext cx="7874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1400"/>
              <a:t>Fib(17)</a:t>
            </a:r>
            <a:endParaRPr lang="he-IL" sz="1400"/>
          </a:p>
        </p:txBody>
      </p:sp>
      <p:cxnSp>
        <p:nvCxnSpPr>
          <p:cNvPr id="17419" name="מחבר ישר 6"/>
          <p:cNvCxnSpPr>
            <a:cxnSpLocks noChangeShapeType="1"/>
            <a:stCxn id="17415" idx="1"/>
            <a:endCxn id="17415" idx="3"/>
          </p:cNvCxnSpPr>
          <p:nvPr/>
        </p:nvCxnSpPr>
        <p:spPr bwMode="auto">
          <a:xfrm>
            <a:off x="9105900" y="5397500"/>
            <a:ext cx="54610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20" name="מחבר ישר 8"/>
          <p:cNvCxnSpPr>
            <a:cxnSpLocks noChangeShapeType="1"/>
          </p:cNvCxnSpPr>
          <p:nvPr/>
        </p:nvCxnSpPr>
        <p:spPr bwMode="auto">
          <a:xfrm>
            <a:off x="9105900" y="5080000"/>
            <a:ext cx="54610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421" name="מלבן 15"/>
          <p:cNvSpPr>
            <a:spLocks noChangeArrowheads="1"/>
          </p:cNvSpPr>
          <p:nvPr/>
        </p:nvSpPr>
        <p:spPr bwMode="auto">
          <a:xfrm>
            <a:off x="7175500" y="5613400"/>
            <a:ext cx="546100" cy="1244600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he-IL"/>
          </a:p>
        </p:txBody>
      </p:sp>
      <p:cxnSp>
        <p:nvCxnSpPr>
          <p:cNvPr id="17422" name="מחבר ישר 16"/>
          <p:cNvCxnSpPr>
            <a:cxnSpLocks noChangeShapeType="1"/>
          </p:cNvCxnSpPr>
          <p:nvPr/>
        </p:nvCxnSpPr>
        <p:spPr bwMode="auto">
          <a:xfrm>
            <a:off x="7175500" y="6591300"/>
            <a:ext cx="54610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23" name="מחבר ישר 17"/>
          <p:cNvCxnSpPr>
            <a:cxnSpLocks noChangeShapeType="1"/>
            <a:stCxn id="17421" idx="1"/>
            <a:endCxn id="17421" idx="3"/>
          </p:cNvCxnSpPr>
          <p:nvPr/>
        </p:nvCxnSpPr>
        <p:spPr bwMode="auto">
          <a:xfrm>
            <a:off x="7175500" y="6235700"/>
            <a:ext cx="54610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24" name="מחבר ישר 18"/>
          <p:cNvCxnSpPr>
            <a:cxnSpLocks noChangeShapeType="1"/>
          </p:cNvCxnSpPr>
          <p:nvPr/>
        </p:nvCxnSpPr>
        <p:spPr bwMode="auto">
          <a:xfrm>
            <a:off x="7175500" y="5918200"/>
            <a:ext cx="54610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25" name="מחבר ישר 11"/>
          <p:cNvCxnSpPr>
            <a:cxnSpLocks noChangeShapeType="1"/>
            <a:stCxn id="17415" idx="0"/>
          </p:cNvCxnSpPr>
          <p:nvPr/>
        </p:nvCxnSpPr>
        <p:spPr bwMode="auto">
          <a:xfrm>
            <a:off x="9378950" y="4775200"/>
            <a:ext cx="171450" cy="20320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26" name="מחבר ישר 13"/>
          <p:cNvCxnSpPr>
            <a:cxnSpLocks noChangeShapeType="1"/>
          </p:cNvCxnSpPr>
          <p:nvPr/>
        </p:nvCxnSpPr>
        <p:spPr bwMode="auto">
          <a:xfrm flipV="1">
            <a:off x="9378950" y="4775200"/>
            <a:ext cx="273050" cy="20320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45BC418-0F46-4055-BF24-63BB8668288D}" type="datetime12">
              <a:rPr lang="he-IL" smtClean="0"/>
              <a:pPr>
                <a:defRPr/>
              </a:pPr>
              <a:t>28/01/2024 18:13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8262152" y="4926112"/>
            <a:ext cx="843749" cy="30777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en-US" sz="1400" dirty="0"/>
              <a:t>return ;</a:t>
            </a:r>
            <a:endParaRPr lang="he-IL" sz="1400" dirty="0"/>
          </a:p>
        </p:txBody>
      </p:sp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01A89609-4A3A-4F5F-8CAD-79B8EF727E7C}"/>
              </a:ext>
            </a:extLst>
          </p:cNvPr>
          <p:cNvSpPr txBox="1"/>
          <p:nvPr/>
        </p:nvSpPr>
        <p:spPr>
          <a:xfrm>
            <a:off x="257452" y="594804"/>
            <a:ext cx="1618973" cy="203132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400" dirty="0"/>
              <a:t>int fib(int n){ </a:t>
            </a:r>
          </a:p>
          <a:p>
            <a:r>
              <a:rPr lang="en-US" sz="1400" dirty="0"/>
              <a:t>   int </a:t>
            </a:r>
            <a:r>
              <a:rPr lang="en-US" sz="1400" dirty="0" err="1"/>
              <a:t>a,b,c</a:t>
            </a:r>
            <a:r>
              <a:rPr lang="en-US" sz="1400" dirty="0"/>
              <a:t>;</a:t>
            </a:r>
          </a:p>
          <a:p>
            <a:r>
              <a:rPr lang="en-US" sz="1400" dirty="0"/>
              <a:t>   if (n&lt;3) return 1;</a:t>
            </a:r>
          </a:p>
          <a:p>
            <a:r>
              <a:rPr lang="en-US" sz="1400" dirty="0"/>
              <a:t>   a=fib(n-1);</a:t>
            </a:r>
            <a:endParaRPr lang="he-IL" sz="1400" dirty="0"/>
          </a:p>
          <a:p>
            <a:r>
              <a:rPr lang="en-US" sz="1400" dirty="0"/>
              <a:t>   b=fib(n-2) ;</a:t>
            </a:r>
            <a:endParaRPr lang="he-IL" sz="1400" dirty="0"/>
          </a:p>
          <a:p>
            <a:r>
              <a:rPr lang="en-US" sz="1400" dirty="0"/>
              <a:t>   c=</a:t>
            </a:r>
            <a:r>
              <a:rPr lang="en-US" sz="1400" dirty="0" err="1"/>
              <a:t>a+b</a:t>
            </a:r>
            <a:r>
              <a:rPr lang="en-US" sz="1400" dirty="0"/>
              <a:t>;</a:t>
            </a:r>
          </a:p>
          <a:p>
            <a:r>
              <a:rPr lang="en-US" sz="1400" dirty="0"/>
              <a:t>  return c;</a:t>
            </a:r>
          </a:p>
          <a:p>
            <a:r>
              <a:rPr lang="en-US" sz="1400" dirty="0"/>
              <a:t>}</a:t>
            </a:r>
          </a:p>
          <a:p>
            <a:endParaRPr lang="en-US" sz="1400" dirty="0"/>
          </a:p>
        </p:txBody>
      </p:sp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B2F842A4-A1A2-4D24-81C1-7E1DDDA8B6DA}"/>
              </a:ext>
            </a:extLst>
          </p:cNvPr>
          <p:cNvSpPr txBox="1"/>
          <p:nvPr/>
        </p:nvSpPr>
        <p:spPr>
          <a:xfrm>
            <a:off x="1338214" y="613263"/>
            <a:ext cx="2585715" cy="30777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400" dirty="0"/>
              <a:t>// return n&lt;3?1:fib(n-1)+fib(</a:t>
            </a:r>
            <a:r>
              <a:rPr lang="en-US" sz="1400"/>
              <a:t>n-2)</a:t>
            </a:r>
            <a:endParaRPr lang="he-IL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268E65E1-2FB8-4185-B072-8AE154C6FF35}" type="slidenum">
              <a:rPr lang="he-IL" sz="1400"/>
              <a:pPr eaLnBrk="1" hangingPunct="1"/>
              <a:t>18</a:t>
            </a:fld>
            <a:endParaRPr lang="en-US" sz="1400"/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The Thread Model (3)</a:t>
            </a:r>
          </a:p>
        </p:txBody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5553076"/>
            <a:ext cx="7772400" cy="542925"/>
          </a:xfrm>
        </p:spPr>
        <p:txBody>
          <a:bodyPr/>
          <a:lstStyle/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en-US"/>
              <a:t>Each thread has its own stack</a:t>
            </a:r>
          </a:p>
        </p:txBody>
      </p:sp>
      <p:pic>
        <p:nvPicPr>
          <p:cNvPr id="18437" name="Picture 5" descr="2-8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5114" y="1306514"/>
            <a:ext cx="6499225" cy="3641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2785FF2-4CE6-4A86-8B23-5AF06C4FDE43}" type="datetime12">
              <a:rPr lang="he-IL" smtClean="0"/>
              <a:pPr>
                <a:defRPr/>
              </a:pPr>
              <a:t>28/01/2024 18:13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ChangeArrowheads="1"/>
          </p:cNvSpPr>
          <p:nvPr/>
        </p:nvSpPr>
        <p:spPr bwMode="auto">
          <a:xfrm>
            <a:off x="1524000" y="5715000"/>
            <a:ext cx="9144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 marL="609600" indent="-609600">
              <a:spcBef>
                <a:spcPct val="20000"/>
              </a:spcBef>
            </a:pPr>
            <a:r>
              <a:rPr lang="en-US">
                <a:latin typeface="Arial" pitchFamily="34" charset="0"/>
              </a:rPr>
              <a:t>Figure 2-14. Some of the Pthreads function calls.</a:t>
            </a:r>
          </a:p>
        </p:txBody>
      </p:sp>
      <p:sp>
        <p:nvSpPr>
          <p:cNvPr id="19459" name="Rectangle 3"/>
          <p:cNvSpPr>
            <a:spLocks noChangeArrowheads="1"/>
          </p:cNvSpPr>
          <p:nvPr/>
        </p:nvSpPr>
        <p:spPr bwMode="auto">
          <a:xfrm>
            <a:off x="1524000" y="0"/>
            <a:ext cx="9144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/>
          <a:p>
            <a:r>
              <a:rPr lang="en-US" sz="3600">
                <a:solidFill>
                  <a:srgbClr val="FF0000"/>
                </a:solidFill>
                <a:latin typeface="Arial" pitchFamily="34" charset="0"/>
              </a:rPr>
              <a:t>POSIX Threads (1)</a:t>
            </a:r>
          </a:p>
        </p:txBody>
      </p:sp>
      <p:sp>
        <p:nvSpPr>
          <p:cNvPr id="19460" name="Rectangle 4"/>
          <p:cNvSpPr>
            <a:spLocks noChangeArrowheads="1"/>
          </p:cNvSpPr>
          <p:nvPr/>
        </p:nvSpPr>
        <p:spPr bwMode="auto">
          <a:xfrm>
            <a:off x="1701800" y="6565901"/>
            <a:ext cx="8712200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/>
          <a:p>
            <a:r>
              <a:rPr lang="en-US" sz="1200">
                <a:solidFill>
                  <a:srgbClr val="898989"/>
                </a:solidFill>
              </a:rPr>
              <a:t>Tanenbaum, Modern Operating Systems 3 e, (c) 2008 Prentice-Hall, Inc. All rights reserved. 0-13-</a:t>
            </a:r>
            <a:r>
              <a:rPr lang="en-US" sz="1200" b="1">
                <a:solidFill>
                  <a:srgbClr val="898989"/>
                </a:solidFill>
              </a:rPr>
              <a:t>6006639</a:t>
            </a:r>
          </a:p>
        </p:txBody>
      </p:sp>
      <p:pic>
        <p:nvPicPr>
          <p:cNvPr id="19461" name="Picture 6" descr="02-1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9176" y="2016126"/>
            <a:ext cx="7642225" cy="272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B951260-7D2C-4A5C-9F11-4F84CDAD634A}" type="datetime12">
              <a:rPr lang="he-IL" smtClean="0"/>
              <a:pPr>
                <a:defRPr/>
              </a:pPr>
              <a:t>28/01/2024 18:13</a:t>
            </a:fld>
            <a:endParaRPr lang="en-US"/>
          </a:p>
        </p:txBody>
      </p:sp>
      <p:sp>
        <p:nvSpPr>
          <p:cNvPr id="3" name="מציין מיקום של מספר שקופית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A07F13-4A01-4E8A-AF66-9AA7DC93C675}" type="slidenum">
              <a:rPr lang="he-IL" smtClean="0"/>
              <a:pPr>
                <a:defRPr/>
              </a:pPr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1524000" y="5715000"/>
            <a:ext cx="9144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 marL="609600" indent="-609600">
              <a:spcBef>
                <a:spcPct val="20000"/>
              </a:spcBef>
            </a:pPr>
            <a:r>
              <a:rPr lang="en-US">
                <a:latin typeface="Arial" pitchFamily="34" charset="0"/>
              </a:rPr>
              <a:t>Figure 2-15. An example program using threads.</a:t>
            </a:r>
          </a:p>
        </p:txBody>
      </p:sp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1524000" y="0"/>
            <a:ext cx="9144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/>
          <a:p>
            <a:r>
              <a:rPr lang="en-US" sz="3600">
                <a:solidFill>
                  <a:srgbClr val="FF0000"/>
                </a:solidFill>
                <a:latin typeface="Arial" pitchFamily="34" charset="0"/>
              </a:rPr>
              <a:t>POSIX Threads (2)</a:t>
            </a:r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1701800" y="6565901"/>
            <a:ext cx="8712200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/>
          <a:p>
            <a:r>
              <a:rPr lang="en-US" sz="1200">
                <a:solidFill>
                  <a:srgbClr val="898989"/>
                </a:solidFill>
              </a:rPr>
              <a:t>Tanenbaum, Modern Operating Systems 3 e, (c) 2008 Prentice-Hall, Inc. All rights reserved. 0-13-</a:t>
            </a:r>
            <a:r>
              <a:rPr lang="en-US" sz="1200" b="1">
                <a:solidFill>
                  <a:srgbClr val="898989"/>
                </a:solidFill>
              </a:rPr>
              <a:t>6006639</a:t>
            </a:r>
          </a:p>
        </p:txBody>
      </p:sp>
      <p:sp>
        <p:nvSpPr>
          <p:cNvPr id="20485" name="Rectangle 6"/>
          <p:cNvSpPr>
            <a:spLocks noChangeArrowheads="1"/>
          </p:cNvSpPr>
          <p:nvPr/>
        </p:nvSpPr>
        <p:spPr bwMode="auto">
          <a:xfrm>
            <a:off x="2874964" y="5008563"/>
            <a:ext cx="11318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/>
          <a:p>
            <a:r>
              <a:rPr lang="en-US"/>
              <a:t>. . .</a:t>
            </a:r>
          </a:p>
        </p:txBody>
      </p:sp>
      <p:pic>
        <p:nvPicPr>
          <p:cNvPr id="20486" name="Picture 7" descr="02-1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9788" y="1090613"/>
            <a:ext cx="5472112" cy="469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0FCC56B-EA77-440C-BDE8-B6C58AEBC5E1}" type="datetime12">
              <a:rPr lang="he-IL" smtClean="0"/>
              <a:pPr>
                <a:defRPr/>
              </a:pPr>
              <a:t>28/01/2024 18:13</a:t>
            </a:fld>
            <a:endParaRPr lang="en-US"/>
          </a:p>
        </p:txBody>
      </p:sp>
      <p:sp>
        <p:nvSpPr>
          <p:cNvPr id="3" name="מציין מיקום של מספר שקופית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A07F13-4A01-4E8A-AF66-9AA7DC93C675}" type="slidenum">
              <a:rPr lang="he-IL" smtClean="0"/>
              <a:pPr>
                <a:defRPr/>
              </a:pPr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6F882A55-1877-4712-92C7-242AD6A72064}" type="slidenum">
              <a:rPr lang="he-IL" sz="1400"/>
              <a:pPr eaLnBrk="1" hangingPunct="1"/>
              <a:t>21</a:t>
            </a:fld>
            <a:endParaRPr lang="en-US" sz="1400"/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0"/>
            <a:ext cx="9144000" cy="1143000"/>
          </a:xfrm>
        </p:spPr>
        <p:txBody>
          <a:bodyPr/>
          <a:lstStyle/>
          <a:p>
            <a:pPr eaLnBrk="1" hangingPunct="1"/>
            <a:r>
              <a:rPr lang="en-US"/>
              <a:t>Implementing Threads in User Space</a:t>
            </a:r>
            <a:endParaRPr lang="en-US" sz="4000"/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51175" y="5664201"/>
            <a:ext cx="6515100" cy="885825"/>
          </a:xfrm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en-US"/>
              <a:t>A user-level threads package</a:t>
            </a:r>
          </a:p>
        </p:txBody>
      </p:sp>
      <p:pic>
        <p:nvPicPr>
          <p:cNvPr id="21509" name="Picture 6" descr="2-13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6289" y="1255714"/>
            <a:ext cx="5153025" cy="4383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3BD6307-0A6E-411C-96BA-D40666C49EE2}" type="datetime12">
              <a:rPr lang="he-IL" smtClean="0"/>
              <a:pPr>
                <a:defRPr/>
              </a:pPr>
              <a:t>28/01/2024 18:13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1056F0F6-BC65-4F33-B894-32B269B3CA5C}" type="slidenum">
              <a:rPr lang="he-IL" sz="1400"/>
              <a:pPr eaLnBrk="1" hangingPunct="1"/>
              <a:t>22</a:t>
            </a:fld>
            <a:endParaRPr lang="en-US" sz="1400"/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0"/>
            <a:ext cx="9144000" cy="1143000"/>
          </a:xfrm>
        </p:spPr>
        <p:txBody>
          <a:bodyPr/>
          <a:lstStyle/>
          <a:p>
            <a:pPr eaLnBrk="1" hangingPunct="1"/>
            <a:r>
              <a:rPr lang="en-US"/>
              <a:t>Implementing Threads in the Kernel</a:t>
            </a:r>
            <a:endParaRPr lang="en-US" sz="4000"/>
          </a:p>
        </p:txBody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38375" y="5810250"/>
            <a:ext cx="7772400" cy="628650"/>
          </a:xfrm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en-US"/>
              <a:t>A threads package managed by the kernel</a:t>
            </a:r>
          </a:p>
        </p:txBody>
      </p:sp>
      <p:pic>
        <p:nvPicPr>
          <p:cNvPr id="22533" name="Picture 5" descr="2-1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3200" y="1198564"/>
            <a:ext cx="4203700" cy="444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02701E7-F5EF-4E66-80F7-A7590DB91520}" type="datetime12">
              <a:rPr lang="he-IL" smtClean="0"/>
              <a:pPr>
                <a:defRPr/>
              </a:pPr>
              <a:t>28/01/2024 18:13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827A9320-BE3B-4724-9E20-8202D29EB1A3}" type="slidenum">
              <a:rPr lang="he-IL" sz="1400"/>
              <a:pPr eaLnBrk="1" hangingPunct="1"/>
              <a:t>23</a:t>
            </a:fld>
            <a:endParaRPr lang="en-US" sz="1400"/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Hybrid Implementations</a:t>
            </a:r>
          </a:p>
        </p:txBody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5495926"/>
            <a:ext cx="7772400" cy="600075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/>
              <a:t>    Multiplexing user-level threads onto kernel- level threads</a:t>
            </a:r>
            <a:endParaRPr lang="en-US" sz="2400"/>
          </a:p>
        </p:txBody>
      </p:sp>
      <p:pic>
        <p:nvPicPr>
          <p:cNvPr id="23557" name="Picture 5" descr="2-1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8488" y="1247775"/>
            <a:ext cx="6316662" cy="3778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6749870-06D3-4F96-8F2C-13E42C0A3066}" type="datetime12">
              <a:rPr lang="he-IL" smtClean="0"/>
              <a:pPr>
                <a:defRPr/>
              </a:pPr>
              <a:t>28/01/2024 18:13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27B18799-6651-4FCB-B1D9-A903928A1B75}" type="slidenum">
              <a:rPr lang="he-IL" sz="1400"/>
              <a:pPr eaLnBrk="1" hangingPunct="1"/>
              <a:t>24</a:t>
            </a:fld>
            <a:endParaRPr lang="en-US" sz="1400"/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Scheduler Activations</a:t>
            </a:r>
          </a:p>
        </p:txBody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/>
              <a:t>Goal – mimic functionality of kernel threads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gain performance of user space threads</a:t>
            </a:r>
          </a:p>
          <a:p>
            <a:pPr eaLnBrk="1" hangingPunct="1">
              <a:lnSpc>
                <a:spcPct val="90000"/>
              </a:lnSpc>
            </a:pPr>
            <a:r>
              <a:rPr lang="en-US" sz="2800"/>
              <a:t>Avoids unnecessary user/kernel transitions</a:t>
            </a:r>
          </a:p>
          <a:p>
            <a:pPr eaLnBrk="1" hangingPunct="1">
              <a:lnSpc>
                <a:spcPct val="90000"/>
              </a:lnSpc>
            </a:pPr>
            <a:r>
              <a:rPr lang="en-US" sz="2800"/>
              <a:t>Kernel assigns virtual processors to each process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lets runtime system allocate threads to processors</a:t>
            </a:r>
          </a:p>
          <a:p>
            <a:pPr eaLnBrk="1" hangingPunct="1">
              <a:lnSpc>
                <a:spcPct val="90000"/>
              </a:lnSpc>
            </a:pPr>
            <a:r>
              <a:rPr lang="en-US" sz="2800"/>
              <a:t>Problem:</a:t>
            </a:r>
            <a:br>
              <a:rPr lang="en-US" sz="2800"/>
            </a:br>
            <a:r>
              <a:rPr lang="en-US" sz="2800"/>
              <a:t>    Fundamental reliance on kernel (lower layer)    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800"/>
              <a:t>        calling procedures in user space (higher layer)</a:t>
            </a:r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B156576-3620-4A2F-9646-DD655CEC4EBE}" type="datetime12">
              <a:rPr lang="he-IL" smtClean="0"/>
              <a:pPr>
                <a:defRPr/>
              </a:pPr>
              <a:t>28/01/2024 18:13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3DB62751-F7F9-4A1B-A0EA-38096A976CF9}" type="slidenum">
              <a:rPr lang="he-IL" sz="1400"/>
              <a:pPr eaLnBrk="1" hangingPunct="1"/>
              <a:t>25</a:t>
            </a:fld>
            <a:endParaRPr lang="en-US" sz="1400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2066925" y="0"/>
            <a:ext cx="7772400" cy="1143000"/>
          </a:xfrm>
        </p:spPr>
        <p:txBody>
          <a:bodyPr/>
          <a:lstStyle/>
          <a:p>
            <a:pPr eaLnBrk="1" hangingPunct="1"/>
            <a:r>
              <a:rPr lang="en-US"/>
              <a:t>Pop-Up Threads</a:t>
            </a:r>
          </a:p>
        </p:txBody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57400" y="5216526"/>
            <a:ext cx="8458200" cy="7143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/>
              <a:t>Creation of a new thread when message arrives</a:t>
            </a:r>
            <a:endParaRPr lang="en-US" sz="2800"/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/>
              <a:t>(a) before message arrives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/>
              <a:t>(b) after message arrives</a:t>
            </a:r>
            <a:endParaRPr lang="en-US" sz="2400"/>
          </a:p>
        </p:txBody>
      </p:sp>
      <p:pic>
        <p:nvPicPr>
          <p:cNvPr id="25605" name="Picture 5" descr="2-1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7376" y="1184276"/>
            <a:ext cx="6200775" cy="3889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95BA71C-148F-4DDE-9355-CA6B70AD081D}" type="datetime12">
              <a:rPr lang="he-IL" smtClean="0"/>
              <a:pPr>
                <a:defRPr/>
              </a:pPr>
              <a:t>28/01/2024 18:13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19258C9C-25EC-44C3-8AA5-2857B9410CC9}" type="slidenum">
              <a:rPr lang="he-IL" sz="1400"/>
              <a:pPr eaLnBrk="1" hangingPunct="1"/>
              <a:t>26</a:t>
            </a:fld>
            <a:endParaRPr lang="en-US" sz="1400"/>
          </a:p>
        </p:txBody>
      </p:sp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0"/>
            <a:ext cx="9144000" cy="1143000"/>
          </a:xfrm>
        </p:spPr>
        <p:txBody>
          <a:bodyPr/>
          <a:lstStyle/>
          <a:p>
            <a:pPr eaLnBrk="1" hangingPunct="1"/>
            <a:r>
              <a:rPr lang="en-US" sz="3200"/>
              <a:t>Making Single-Threaded Code Multithreaded (1)</a:t>
            </a:r>
          </a:p>
        </p:txBody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0" y="5610225"/>
            <a:ext cx="9144000" cy="400050"/>
          </a:xfrm>
        </p:spPr>
        <p:txBody>
          <a:bodyPr/>
          <a:lstStyle/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en-US" sz="2800"/>
              <a:t>Conflicts between threads over the use of a global variable</a:t>
            </a:r>
          </a:p>
        </p:txBody>
      </p:sp>
      <p:pic>
        <p:nvPicPr>
          <p:cNvPr id="26629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593" t="42694" r="26979" b="36827"/>
          <a:stretch>
            <a:fillRect/>
          </a:stretch>
        </p:blipFill>
        <p:spPr bwMode="auto">
          <a:xfrm>
            <a:off x="2978151" y="1095376"/>
            <a:ext cx="6557963" cy="427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DB65296-3787-4121-BAF2-64B2EAF8C088}" type="datetime12">
              <a:rPr lang="he-IL" smtClean="0"/>
              <a:pPr>
                <a:defRPr/>
              </a:pPr>
              <a:t>28/01/2024 18:13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33FE220D-2252-452A-AE5D-298FCDBF41F6}" type="slidenum">
              <a:rPr lang="he-IL" sz="1400"/>
              <a:pPr eaLnBrk="1" hangingPunct="1"/>
              <a:t>27</a:t>
            </a:fld>
            <a:endParaRPr lang="en-US" sz="1400"/>
          </a:p>
        </p:txBody>
      </p:sp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0"/>
            <a:ext cx="9144000" cy="1143000"/>
          </a:xfrm>
        </p:spPr>
        <p:txBody>
          <a:bodyPr/>
          <a:lstStyle/>
          <a:p>
            <a:pPr eaLnBrk="1" hangingPunct="1"/>
            <a:r>
              <a:rPr lang="en-US" sz="3200"/>
              <a:t>Making Single-Threaded Code Multithreaded (2)</a:t>
            </a:r>
          </a:p>
        </p:txBody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5553076"/>
            <a:ext cx="7772400" cy="542925"/>
          </a:xfrm>
        </p:spPr>
        <p:txBody>
          <a:bodyPr/>
          <a:lstStyle/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en-US"/>
              <a:t>Threads can have private global variables</a:t>
            </a:r>
          </a:p>
        </p:txBody>
      </p:sp>
      <p:pic>
        <p:nvPicPr>
          <p:cNvPr id="27653" name="Picture 5" descr="2-17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5438" y="1350963"/>
            <a:ext cx="3848100" cy="410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4DB8201-E530-4598-AB5A-BD8BEDC585B5}" type="datetime12">
              <a:rPr lang="he-IL" smtClean="0"/>
              <a:pPr>
                <a:defRPr/>
              </a:pPr>
              <a:t>28/01/2024 18:13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7FC41E63-B9B3-458B-A0C2-DB255CFF8A3B}" type="slidenum">
              <a:rPr lang="he-IL" sz="1400"/>
              <a:pPr eaLnBrk="1" hangingPunct="1"/>
              <a:t>28</a:t>
            </a:fld>
            <a:endParaRPr lang="en-US" sz="1400"/>
          </a:p>
        </p:txBody>
      </p:sp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Interprocess Communication</a:t>
            </a:r>
            <a:br>
              <a:rPr lang="en-US"/>
            </a:br>
            <a:r>
              <a:rPr lang="en-US" sz="3200"/>
              <a:t>Race Conditions</a:t>
            </a:r>
            <a:endParaRPr lang="en-US"/>
          </a:p>
        </p:txBody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0" y="5410200"/>
            <a:ext cx="9144000" cy="685800"/>
          </a:xfrm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en-US" sz="2800"/>
              <a:t>Two processes want to access shared memory at same time</a:t>
            </a:r>
          </a:p>
        </p:txBody>
      </p:sp>
      <p:pic>
        <p:nvPicPr>
          <p:cNvPr id="28677" name="Picture 5" descr="2-18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7125" y="1390651"/>
            <a:ext cx="4921250" cy="3611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8" name="TextBox 1"/>
          <p:cNvSpPr txBox="1">
            <a:spLocks noChangeArrowheads="1"/>
          </p:cNvSpPr>
          <p:nvPr/>
        </p:nvSpPr>
        <p:spPr bwMode="auto">
          <a:xfrm>
            <a:off x="8588375" y="1162050"/>
            <a:ext cx="1409700" cy="73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r" rtl="1" eaLnBrk="1" hangingPunct="1"/>
            <a:r>
              <a:rPr lang="he-IL" sz="1400" dirty="0"/>
              <a:t>קטע קריטי</a:t>
            </a:r>
          </a:p>
          <a:p>
            <a:pPr algn="r" rtl="1" eaLnBrk="1" hangingPunct="1"/>
            <a:r>
              <a:rPr lang="he-IL" sz="1400" dirty="0"/>
              <a:t>פעולה אטומית</a:t>
            </a:r>
          </a:p>
          <a:p>
            <a:pPr algn="r" rtl="1" eaLnBrk="1" hangingPunct="1"/>
            <a:r>
              <a:rPr lang="he-IL" sz="1400" dirty="0"/>
              <a:t>מניעה הדדית</a:t>
            </a:r>
          </a:p>
        </p:txBody>
      </p:sp>
      <p:sp>
        <p:nvSpPr>
          <p:cNvPr id="28679" name="TextBox 2"/>
          <p:cNvSpPr txBox="1">
            <a:spLocks noChangeArrowheads="1"/>
          </p:cNvSpPr>
          <p:nvPr/>
        </p:nvSpPr>
        <p:spPr bwMode="auto">
          <a:xfrm>
            <a:off x="8972550" y="4121151"/>
            <a:ext cx="8509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1400" dirty="0"/>
              <a:t>Yakir.txt</a:t>
            </a:r>
            <a:endParaRPr lang="he-IL" sz="1400" dirty="0"/>
          </a:p>
        </p:txBody>
      </p:sp>
      <p:sp>
        <p:nvSpPr>
          <p:cNvPr id="28680" name="TextBox 7"/>
          <p:cNvSpPr txBox="1">
            <a:spLocks noChangeArrowheads="1"/>
          </p:cNvSpPr>
          <p:nvPr/>
        </p:nvSpPr>
        <p:spPr bwMode="auto">
          <a:xfrm>
            <a:off x="5822950" y="3646489"/>
            <a:ext cx="8509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1400" dirty="0"/>
              <a:t>foo.txt</a:t>
            </a:r>
            <a:endParaRPr lang="he-IL" sz="1400" dirty="0"/>
          </a:p>
        </p:txBody>
      </p:sp>
      <p:sp>
        <p:nvSpPr>
          <p:cNvPr id="28681" name="TextBox 3"/>
          <p:cNvSpPr txBox="1">
            <a:spLocks noChangeArrowheads="1"/>
          </p:cNvSpPr>
          <p:nvPr/>
        </p:nvSpPr>
        <p:spPr bwMode="auto">
          <a:xfrm>
            <a:off x="8902700" y="3941764"/>
            <a:ext cx="12319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1400" dirty="0"/>
              <a:t>Print(</a:t>
            </a:r>
            <a:r>
              <a:rPr lang="en-US" sz="1400" dirty="0" err="1"/>
              <a:t>str</a:t>
            </a:r>
            <a:r>
              <a:rPr lang="en-US" sz="1400" dirty="0"/>
              <a:t>)</a:t>
            </a:r>
            <a:endParaRPr lang="he-IL" sz="1400" dirty="0"/>
          </a:p>
        </p:txBody>
      </p:sp>
      <p:sp>
        <p:nvSpPr>
          <p:cNvPr id="28682" name="TextBox 9"/>
          <p:cNvSpPr txBox="1">
            <a:spLocks noChangeArrowheads="1"/>
          </p:cNvSpPr>
          <p:nvPr/>
        </p:nvSpPr>
        <p:spPr bwMode="auto">
          <a:xfrm>
            <a:off x="3276600" y="1574800"/>
            <a:ext cx="177800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1400" dirty="0" err="1"/>
              <a:t>Enque</a:t>
            </a:r>
            <a:r>
              <a:rPr lang="en-US" sz="1400" dirty="0"/>
              <a:t>(string str){</a:t>
            </a:r>
          </a:p>
          <a:p>
            <a:pPr eaLnBrk="1" hangingPunct="1"/>
            <a:r>
              <a:rPr lang="en-US" sz="1400" dirty="0"/>
              <a:t>   a[in]=str</a:t>
            </a:r>
          </a:p>
          <a:p>
            <a:pPr eaLnBrk="1" hangingPunct="1"/>
            <a:r>
              <a:rPr lang="en-US" sz="1400" dirty="0"/>
              <a:t>   in++;</a:t>
            </a:r>
          </a:p>
          <a:p>
            <a:pPr eaLnBrk="1" hangingPunct="1"/>
            <a:r>
              <a:rPr lang="en-US" sz="1400" dirty="0"/>
              <a:t>}</a:t>
            </a:r>
            <a:endParaRPr lang="he-IL" sz="1400" dirty="0"/>
          </a:p>
        </p:txBody>
      </p:sp>
      <p:cxnSp>
        <p:nvCxnSpPr>
          <p:cNvPr id="28683" name="מחבר חץ ישר 5"/>
          <p:cNvCxnSpPr>
            <a:cxnSpLocks noChangeShapeType="1"/>
          </p:cNvCxnSpPr>
          <p:nvPr/>
        </p:nvCxnSpPr>
        <p:spPr bwMode="auto">
          <a:xfrm>
            <a:off x="2654300" y="1728788"/>
            <a:ext cx="520700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684" name="TextBox 12"/>
          <p:cNvSpPr txBox="1">
            <a:spLocks noChangeArrowheads="1"/>
          </p:cNvSpPr>
          <p:nvPr/>
        </p:nvSpPr>
        <p:spPr bwMode="auto">
          <a:xfrm>
            <a:off x="1663700" y="1592264"/>
            <a:ext cx="12319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1400"/>
              <a:t>Print(str)</a:t>
            </a:r>
            <a:endParaRPr lang="he-IL" sz="1400"/>
          </a:p>
        </p:txBody>
      </p:sp>
      <p:sp>
        <p:nvSpPr>
          <p:cNvPr id="28685" name="TextBox 13"/>
          <p:cNvSpPr txBox="1">
            <a:spLocks noChangeArrowheads="1"/>
          </p:cNvSpPr>
          <p:nvPr/>
        </p:nvSpPr>
        <p:spPr bwMode="auto">
          <a:xfrm>
            <a:off x="1819836" y="3580000"/>
            <a:ext cx="12319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1400" dirty="0"/>
              <a:t>Print(</a:t>
            </a:r>
            <a:r>
              <a:rPr lang="en-US" sz="1400" dirty="0" err="1"/>
              <a:t>str</a:t>
            </a:r>
            <a:r>
              <a:rPr lang="en-US" sz="1400" dirty="0"/>
              <a:t>)</a:t>
            </a:r>
          </a:p>
          <a:p>
            <a:pPr eaLnBrk="1" hangingPunct="1"/>
            <a:r>
              <a:rPr lang="en-US" sz="1400" dirty="0"/>
              <a:t>foo.txt</a:t>
            </a:r>
            <a:endParaRPr lang="he-IL" sz="1400" dirty="0"/>
          </a:p>
        </p:txBody>
      </p:sp>
      <p:cxnSp>
        <p:nvCxnSpPr>
          <p:cNvPr id="28686" name="מחבר חץ ישר 8"/>
          <p:cNvCxnSpPr>
            <a:cxnSpLocks noChangeShapeType="1"/>
          </p:cNvCxnSpPr>
          <p:nvPr/>
        </p:nvCxnSpPr>
        <p:spPr bwMode="auto">
          <a:xfrm>
            <a:off x="3086100" y="2052638"/>
            <a:ext cx="406400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687" name="TextBox 17"/>
          <p:cNvSpPr txBox="1">
            <a:spLocks noChangeArrowheads="1"/>
          </p:cNvSpPr>
          <p:nvPr/>
        </p:nvSpPr>
        <p:spPr bwMode="auto">
          <a:xfrm>
            <a:off x="2660359" y="1893137"/>
            <a:ext cx="49847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r" rtl="1" eaLnBrk="1" hangingPunct="1"/>
            <a:r>
              <a:rPr lang="en-US" sz="1400" dirty="0" err="1"/>
              <a:t>csw</a:t>
            </a:r>
            <a:endParaRPr lang="he-IL" sz="1400" dirty="0"/>
          </a:p>
        </p:txBody>
      </p:sp>
      <p:sp>
        <p:nvSpPr>
          <p:cNvPr id="28688" name="TextBox 18"/>
          <p:cNvSpPr txBox="1">
            <a:spLocks noChangeArrowheads="1"/>
          </p:cNvSpPr>
          <p:nvPr/>
        </p:nvSpPr>
        <p:spPr bwMode="auto">
          <a:xfrm>
            <a:off x="5822950" y="4095751"/>
            <a:ext cx="8509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he-IL" sz="1400" dirty="0"/>
              <a:t>זבל</a:t>
            </a:r>
          </a:p>
        </p:txBody>
      </p:sp>
      <p:sp>
        <p:nvSpPr>
          <p:cNvPr id="28689" name="מלבן 11"/>
          <p:cNvSpPr>
            <a:spLocks noChangeArrowheads="1"/>
          </p:cNvSpPr>
          <p:nvPr/>
        </p:nvSpPr>
        <p:spPr bwMode="auto">
          <a:xfrm>
            <a:off x="3289300" y="1849438"/>
            <a:ext cx="1092200" cy="41116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AEBAB89-EDF1-4D78-B634-F65BFE3B33E7}" type="datetime12">
              <a:rPr lang="he-IL" smtClean="0"/>
              <a:pPr>
                <a:defRPr/>
              </a:pPr>
              <a:t>28/01/2024 18:13</a:t>
            </a:fld>
            <a:endParaRPr lang="en-US"/>
          </a:p>
        </p:txBody>
      </p:sp>
      <p:sp>
        <p:nvSpPr>
          <p:cNvPr id="20" name="TextBox 3"/>
          <p:cNvSpPr txBox="1">
            <a:spLocks noChangeArrowheads="1"/>
          </p:cNvSpPr>
          <p:nvPr/>
        </p:nvSpPr>
        <p:spPr bwMode="auto">
          <a:xfrm>
            <a:off x="6110195" y="3663858"/>
            <a:ext cx="12319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1400" dirty="0"/>
              <a:t>Yakir.txt</a:t>
            </a:r>
            <a:endParaRPr lang="he-IL" sz="1400" dirty="0"/>
          </a:p>
        </p:txBody>
      </p:sp>
      <p:sp>
        <p:nvSpPr>
          <p:cNvPr id="21" name="TextBox 17">
            <a:extLst>
              <a:ext uri="{FF2B5EF4-FFF2-40B4-BE49-F238E27FC236}">
                <a16:creationId xmlns:a16="http://schemas.microsoft.com/office/drawing/2014/main" id="{A8E2CF8A-9AE7-4C22-AA23-789401EA2B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531" y="1686044"/>
            <a:ext cx="8509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r" rtl="1" eaLnBrk="1" hangingPunct="1"/>
            <a:r>
              <a:rPr lang="en-US" sz="1400" dirty="0" err="1"/>
              <a:t>c.s</a:t>
            </a:r>
            <a:r>
              <a:rPr lang="en-US" sz="1400" dirty="0"/>
              <a:t>()</a:t>
            </a:r>
            <a:endParaRPr lang="he-IL" sz="1400" dirty="0"/>
          </a:p>
        </p:txBody>
      </p:sp>
      <p:cxnSp>
        <p:nvCxnSpPr>
          <p:cNvPr id="24" name="מחבר חץ ישר 8">
            <a:extLst>
              <a:ext uri="{FF2B5EF4-FFF2-40B4-BE49-F238E27FC236}">
                <a16:creationId xmlns:a16="http://schemas.microsoft.com/office/drawing/2014/main" id="{771C4676-B974-49EE-A0F6-EA4D4A4A0F4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175000" y="1162050"/>
            <a:ext cx="216593" cy="41275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" name="מחבר חץ ישר 8">
            <a:extLst>
              <a:ext uri="{FF2B5EF4-FFF2-40B4-BE49-F238E27FC236}">
                <a16:creationId xmlns:a16="http://schemas.microsoft.com/office/drawing/2014/main" id="{EB603E74-A744-416D-942B-96D61C32E86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492500" y="1161257"/>
            <a:ext cx="108296" cy="396082"/>
          </a:xfrm>
          <a:prstGeom prst="straightConnector1">
            <a:avLst/>
          </a:prstGeom>
          <a:noFill/>
          <a:ln w="9525" algn="ctr">
            <a:solidFill>
              <a:schemeClr val="accent2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86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86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86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86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86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86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86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86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86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86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86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86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86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86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86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86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86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86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6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60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286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86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86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86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86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86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86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8" grpId="0"/>
      <p:bldP spid="28680" grpId="0"/>
      <p:bldP spid="28682" grpId="0"/>
      <p:bldP spid="28684" grpId="0"/>
      <p:bldP spid="28687" grpId="0"/>
      <p:bldP spid="28688" grpId="0"/>
      <p:bldP spid="28689" grpId="0" animBg="1"/>
      <p:bldP spid="20" grpId="0"/>
      <p:bldP spid="20" grpId="1"/>
      <p:bldP spid="2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EB00C1C-2CB2-4421-9878-782440F6D2F0}" type="slidenum">
              <a:rPr lang="he-IL" smtClean="0"/>
              <a:pPr>
                <a:defRPr/>
              </a:pPr>
              <a:t>29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917902" y="2899318"/>
            <a:ext cx="1962615" cy="138499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400" dirty="0"/>
              <a:t>X= </a:t>
            </a:r>
            <a:r>
              <a:rPr lang="he-IL" sz="1400" dirty="0"/>
              <a:t>יתרה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Y= </a:t>
            </a:r>
            <a:r>
              <a:rPr lang="he-IL" sz="1400" dirty="0"/>
              <a:t>משיכה</a:t>
            </a:r>
            <a:r>
              <a:rPr lang="en-US" sz="1400" dirty="0"/>
              <a:t> 800 </a:t>
            </a:r>
            <a:r>
              <a:rPr lang="he-IL" sz="1400" dirty="0"/>
              <a:t>ש"ח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Z= </a:t>
            </a:r>
            <a:r>
              <a:rPr lang="he-IL" sz="1400" dirty="0"/>
              <a:t>יתרה חדשה</a:t>
            </a:r>
          </a:p>
          <a:p>
            <a:pPr marL="285750" indent="-285750">
              <a:buFontTx/>
              <a:buChar char="-"/>
            </a:pPr>
            <a:endParaRPr lang="he-IL" sz="1400" dirty="0"/>
          </a:p>
          <a:p>
            <a:pPr marL="285750" indent="-285750">
              <a:buFontTx/>
              <a:buChar char="-"/>
            </a:pPr>
            <a:r>
              <a:rPr lang="en-US" sz="1400" dirty="0"/>
              <a:t>Z=X-Y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X=Z</a:t>
            </a:r>
            <a:endParaRPr lang="he-IL" sz="1400" dirty="0"/>
          </a:p>
        </p:txBody>
      </p:sp>
      <p:sp>
        <p:nvSpPr>
          <p:cNvPr id="6" name="TextBox 5"/>
          <p:cNvSpPr txBox="1"/>
          <p:nvPr/>
        </p:nvSpPr>
        <p:spPr>
          <a:xfrm>
            <a:off x="6441688" y="2687445"/>
            <a:ext cx="2910468" cy="203132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400" dirty="0"/>
              <a:t>//++</a:t>
            </a:r>
            <a:r>
              <a:rPr lang="en-US" sz="1400" dirty="0" err="1"/>
              <a:t>cnt</a:t>
            </a:r>
            <a:r>
              <a:rPr lang="en-US" sz="1400" dirty="0"/>
              <a:t>   ==  </a:t>
            </a:r>
            <a:r>
              <a:rPr lang="en-US" sz="1400" dirty="0" err="1"/>
              <a:t>inc</a:t>
            </a:r>
            <a:r>
              <a:rPr lang="en-US" sz="1400" dirty="0"/>
              <a:t> </a:t>
            </a:r>
            <a:r>
              <a:rPr lang="en-US" sz="1400" dirty="0" err="1"/>
              <a:t>cnt</a:t>
            </a:r>
            <a:r>
              <a:rPr lang="en-US" sz="1400" dirty="0"/>
              <a:t> ; == </a:t>
            </a:r>
            <a:r>
              <a:rPr lang="en-US" sz="1400" dirty="0" err="1"/>
              <a:t>cnt</a:t>
            </a:r>
            <a:r>
              <a:rPr lang="en-US" sz="1400" dirty="0"/>
              <a:t>=cnt+1; </a:t>
            </a:r>
          </a:p>
          <a:p>
            <a:endParaRPr lang="en-US" sz="1400" dirty="0"/>
          </a:p>
          <a:p>
            <a:r>
              <a:rPr lang="en-US" sz="1400" dirty="0"/>
              <a:t>   00   FF</a:t>
            </a:r>
          </a:p>
          <a:p>
            <a:r>
              <a:rPr lang="en-US" sz="1400" dirty="0"/>
              <a:t>+ </a:t>
            </a:r>
            <a:r>
              <a:rPr lang="en-US" sz="1400" u="sng" dirty="0"/>
              <a:t>00   01</a:t>
            </a:r>
          </a:p>
          <a:p>
            <a:r>
              <a:rPr lang="en-US" sz="1400" dirty="0"/>
              <a:t>   00   00</a:t>
            </a:r>
          </a:p>
          <a:p>
            <a:r>
              <a:rPr lang="en-US" sz="1400" dirty="0" err="1"/>
              <a:t>Cs.w</a:t>
            </a:r>
            <a:endParaRPr lang="en-US" sz="1400" dirty="0"/>
          </a:p>
          <a:p>
            <a:r>
              <a:rPr lang="en-US" sz="1400" dirty="0"/>
              <a:t>    01  00</a:t>
            </a:r>
          </a:p>
          <a:p>
            <a:pPr marL="342900" indent="-342900">
              <a:buAutoNum type="arabicPlain"/>
            </a:pPr>
            <a:endParaRPr lang="en-US" sz="1400" dirty="0"/>
          </a:p>
          <a:p>
            <a:pPr marL="342900" indent="-342900">
              <a:buAutoNum type="arabicPlain"/>
            </a:pPr>
            <a:endParaRPr lang="he-IL" sz="1400" dirty="0"/>
          </a:p>
        </p:txBody>
      </p:sp>
      <p:sp>
        <p:nvSpPr>
          <p:cNvPr id="7" name="מציין מיקום של תאריך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5403C6B-9D4A-4A93-8BFC-784764CB8178}" type="datetime12">
              <a:rPr lang="he-IL" smtClean="0"/>
              <a:pPr>
                <a:defRPr/>
              </a:pPr>
              <a:t>28/01/2024 18:13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8746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B05B5343-3196-48AA-8F56-E5AA1C7B3BFF}" type="slidenum">
              <a:rPr lang="he-IL" sz="1400"/>
              <a:pPr eaLnBrk="1" hangingPunct="1"/>
              <a:t>30</a:t>
            </a:fld>
            <a:endParaRPr lang="en-US" sz="1400"/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Critical Regions (1)	</a:t>
            </a:r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09725" y="1981200"/>
            <a:ext cx="9144000" cy="4114800"/>
          </a:xfrm>
        </p:spPr>
        <p:txBody>
          <a:bodyPr/>
          <a:lstStyle/>
          <a:p>
            <a:pPr marL="609600" indent="-609600" eaLnBrk="1" hangingPunct="1">
              <a:buNone/>
            </a:pPr>
            <a:r>
              <a:rPr lang="en-US"/>
              <a:t>Four conditions to provide mutual exclusion</a:t>
            </a:r>
          </a:p>
          <a:p>
            <a:pPr marL="609600" indent="-609600" eaLnBrk="1" hangingPunct="1">
              <a:buSzPct val="50000"/>
              <a:buFont typeface="Wingdings" pitchFamily="2" charset="2"/>
              <a:buAutoNum type="arabicPeriod"/>
            </a:pPr>
            <a:r>
              <a:rPr lang="en-US" sz="2800"/>
              <a:t>No two processes simultaneously in critical region</a:t>
            </a:r>
          </a:p>
          <a:p>
            <a:pPr marL="609600" indent="-609600" eaLnBrk="1" hangingPunct="1">
              <a:buSzPct val="50000"/>
              <a:buFont typeface="Wingdings" pitchFamily="2" charset="2"/>
              <a:buAutoNum type="arabicPeriod"/>
            </a:pPr>
            <a:r>
              <a:rPr lang="en-US" sz="2800"/>
              <a:t>No assumptions made about speeds or numbers of CPUs</a:t>
            </a:r>
          </a:p>
          <a:p>
            <a:pPr marL="609600" indent="-609600" eaLnBrk="1" hangingPunct="1">
              <a:buSzPct val="50000"/>
              <a:buFont typeface="Wingdings" pitchFamily="2" charset="2"/>
              <a:buAutoNum type="arabicPeriod"/>
            </a:pPr>
            <a:r>
              <a:rPr lang="en-US" sz="2800"/>
              <a:t>No process running outside its critical region may block another process</a:t>
            </a:r>
          </a:p>
          <a:p>
            <a:pPr marL="609600" indent="-609600" eaLnBrk="1" hangingPunct="1">
              <a:buSzPct val="50000"/>
              <a:buFont typeface="Wingdings" pitchFamily="2" charset="2"/>
              <a:buAutoNum type="arabicPeriod"/>
            </a:pPr>
            <a:r>
              <a:rPr lang="en-US" sz="2800"/>
              <a:t>No process must wait forever to enter its critical region</a:t>
            </a:r>
          </a:p>
        </p:txBody>
      </p:sp>
      <p:sp>
        <p:nvSpPr>
          <p:cNvPr id="29701" name="TextBox 1"/>
          <p:cNvSpPr txBox="1">
            <a:spLocks noChangeArrowheads="1"/>
          </p:cNvSpPr>
          <p:nvPr/>
        </p:nvSpPr>
        <p:spPr bwMode="auto">
          <a:xfrm>
            <a:off x="1905000" y="2540001"/>
            <a:ext cx="1143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he-IL" sz="1400" dirty="0"/>
              <a:t>פתרון</a:t>
            </a:r>
          </a:p>
        </p:txBody>
      </p:sp>
      <p:sp>
        <p:nvSpPr>
          <p:cNvPr id="29702" name="TextBox 5"/>
          <p:cNvSpPr txBox="1">
            <a:spLocks noChangeArrowheads="1"/>
          </p:cNvSpPr>
          <p:nvPr/>
        </p:nvSpPr>
        <p:spPr bwMode="auto">
          <a:xfrm rot="-5400000">
            <a:off x="1482725" y="3684588"/>
            <a:ext cx="1143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he-IL" sz="3200" dirty="0"/>
              <a:t>סביר</a:t>
            </a:r>
            <a:endParaRPr lang="he-IL" sz="1400" dirty="0"/>
          </a:p>
        </p:txBody>
      </p:sp>
      <p:sp>
        <p:nvSpPr>
          <p:cNvPr id="29703" name="סוגר מסולסל שמאלי 2"/>
          <p:cNvSpPr>
            <a:spLocks/>
          </p:cNvSpPr>
          <p:nvPr/>
        </p:nvSpPr>
        <p:spPr bwMode="auto">
          <a:xfrm>
            <a:off x="2054225" y="3251200"/>
            <a:ext cx="292100" cy="1701800"/>
          </a:xfrm>
          <a:prstGeom prst="leftBrace">
            <a:avLst>
              <a:gd name="adj1" fmla="val 8335"/>
              <a:gd name="adj2" fmla="val 50000"/>
            </a:avLst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ED2F4A9-B91B-4A50-BF0A-177F34FA865D}" type="datetime12">
              <a:rPr lang="he-IL" smtClean="0"/>
              <a:pPr>
                <a:defRPr/>
              </a:pPr>
              <a:t>28/01/2024 18:13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97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97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97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97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97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97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2" grpId="0"/>
      <p:bldP spid="2970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0610DF40-6983-4362-91BB-4E8DA30A7677}" type="slidenum">
              <a:rPr lang="he-IL" sz="1400"/>
              <a:pPr eaLnBrk="1" hangingPunct="1"/>
              <a:t>31</a:t>
            </a:fld>
            <a:endParaRPr lang="en-US" sz="1400"/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Critical Regions (2)</a:t>
            </a:r>
          </a:p>
        </p:txBody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5495926"/>
            <a:ext cx="7772400" cy="600075"/>
          </a:xfrm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en-US"/>
              <a:t>Mutual exclusion using critical regions</a:t>
            </a:r>
          </a:p>
        </p:txBody>
      </p:sp>
      <p:pic>
        <p:nvPicPr>
          <p:cNvPr id="30725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1675" y="1254126"/>
            <a:ext cx="8305800" cy="4037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16C74E9-87EA-483E-952D-F82609B6B8B2}" type="datetime12">
              <a:rPr lang="he-IL" smtClean="0"/>
              <a:pPr>
                <a:defRPr/>
              </a:pPr>
              <a:t>28/01/2024 18:13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ChangeArrowheads="1"/>
          </p:cNvSpPr>
          <p:nvPr/>
        </p:nvSpPr>
        <p:spPr bwMode="auto">
          <a:xfrm>
            <a:off x="2765426" y="1487489"/>
            <a:ext cx="7491413" cy="4738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 marL="609600" indent="-609600" eaLnBrk="0" hangingPunct="0">
              <a:spcBef>
                <a:spcPct val="20000"/>
              </a:spcBef>
            </a:pPr>
            <a:r>
              <a:rPr lang="en-US" sz="2800" dirty="0">
                <a:latin typeface="Arial" pitchFamily="34" charset="0"/>
              </a:rPr>
              <a:t>Proposals for achieving mutual exclusion:</a:t>
            </a:r>
          </a:p>
          <a:p>
            <a:pPr marL="609600" indent="-609600" eaLnBrk="0" hangingPunct="0">
              <a:spcBef>
                <a:spcPct val="20000"/>
              </a:spcBef>
            </a:pPr>
            <a:endParaRPr lang="en-US" sz="2800" dirty="0">
              <a:latin typeface="Arial" pitchFamily="34" charset="0"/>
            </a:endParaRPr>
          </a:p>
          <a:p>
            <a:pPr marL="609600" indent="-609600" eaLnBrk="0" hangingPunct="0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dirty="0">
                <a:latin typeface="Arial" pitchFamily="34" charset="0"/>
              </a:rPr>
              <a:t>Disabling interrupts</a:t>
            </a:r>
          </a:p>
          <a:p>
            <a:pPr marL="609600" indent="-609600" eaLnBrk="0" hangingPunct="0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dirty="0">
                <a:latin typeface="Arial" pitchFamily="34" charset="0"/>
              </a:rPr>
              <a:t>Lock variables</a:t>
            </a:r>
          </a:p>
          <a:p>
            <a:pPr marL="609600" indent="-609600" eaLnBrk="0" hangingPunct="0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dirty="0">
                <a:latin typeface="Arial" pitchFamily="34" charset="0"/>
              </a:rPr>
              <a:t>Strict alternation</a:t>
            </a:r>
          </a:p>
          <a:p>
            <a:pPr marL="609600" indent="-609600" eaLnBrk="0" hangingPunct="0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dirty="0">
                <a:latin typeface="Arial" pitchFamily="34" charset="0"/>
              </a:rPr>
              <a:t>Peterson's solution</a:t>
            </a:r>
          </a:p>
          <a:p>
            <a:pPr marL="609600" indent="-609600" eaLnBrk="0" hangingPunct="0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dirty="0">
                <a:latin typeface="Arial" pitchFamily="34" charset="0"/>
              </a:rPr>
              <a:t>The TSL instruction</a:t>
            </a:r>
          </a:p>
        </p:txBody>
      </p:sp>
      <p:sp>
        <p:nvSpPr>
          <p:cNvPr id="31747" name="Rectangle 3"/>
          <p:cNvSpPr>
            <a:spLocks noChangeArrowheads="1"/>
          </p:cNvSpPr>
          <p:nvPr/>
        </p:nvSpPr>
        <p:spPr bwMode="auto">
          <a:xfrm>
            <a:off x="1524000" y="0"/>
            <a:ext cx="9144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/>
          <a:p>
            <a:pPr eaLnBrk="0" hangingPunct="0"/>
            <a:r>
              <a:rPr lang="en-US" sz="3600" dirty="0">
                <a:solidFill>
                  <a:srgbClr val="FF0000"/>
                </a:solidFill>
                <a:latin typeface="Arial" pitchFamily="34" charset="0"/>
              </a:rPr>
              <a:t>Mutual Exclusion with Busy Waiting</a:t>
            </a:r>
          </a:p>
        </p:txBody>
      </p:sp>
      <p:sp>
        <p:nvSpPr>
          <p:cNvPr id="31748" name="Rectangle 4"/>
          <p:cNvSpPr>
            <a:spLocks noChangeArrowheads="1"/>
          </p:cNvSpPr>
          <p:nvPr/>
        </p:nvSpPr>
        <p:spPr bwMode="auto">
          <a:xfrm>
            <a:off x="1701800" y="6565901"/>
            <a:ext cx="8712200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/>
          <a:p>
            <a:r>
              <a:rPr lang="en-US" sz="1200">
                <a:solidFill>
                  <a:srgbClr val="898989"/>
                </a:solidFill>
              </a:rPr>
              <a:t>Tanenbaum, Modern Operating Systems 3 e, (c) 2008 Prentice-Hall, Inc. All rights reserved. 0-13-</a:t>
            </a:r>
            <a:r>
              <a:rPr lang="en-US" sz="1200" b="1">
                <a:solidFill>
                  <a:srgbClr val="898989"/>
                </a:solidFill>
              </a:rPr>
              <a:t>6006639</a:t>
            </a:r>
          </a:p>
        </p:txBody>
      </p:sp>
      <p:sp>
        <p:nvSpPr>
          <p:cNvPr id="31749" name="מלבן 1"/>
          <p:cNvSpPr>
            <a:spLocks noChangeArrowheads="1"/>
          </p:cNvSpPr>
          <p:nvPr/>
        </p:nvSpPr>
        <p:spPr bwMode="auto">
          <a:xfrm>
            <a:off x="2463800" y="2247900"/>
            <a:ext cx="4191000" cy="3162300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31750" name="מלבן 2"/>
          <p:cNvSpPr>
            <a:spLocks noChangeArrowheads="1"/>
          </p:cNvSpPr>
          <p:nvPr/>
        </p:nvSpPr>
        <p:spPr bwMode="auto">
          <a:xfrm>
            <a:off x="6057900" y="342900"/>
            <a:ext cx="2921000" cy="800100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31751" name="TextBox 3"/>
          <p:cNvSpPr txBox="1">
            <a:spLocks noChangeArrowheads="1"/>
          </p:cNvSpPr>
          <p:nvPr/>
        </p:nvSpPr>
        <p:spPr bwMode="auto">
          <a:xfrm>
            <a:off x="6878638" y="2120901"/>
            <a:ext cx="3091530" cy="1169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r" rtl="1" eaLnBrk="1" hangingPunct="1"/>
            <a:r>
              <a:rPr lang="he-IL" sz="1400" dirty="0"/>
              <a:t>אסור לתת למשתמש כזה </a:t>
            </a:r>
            <a:r>
              <a:rPr lang="he-IL" sz="1400" dirty="0" err="1"/>
              <a:t>כח</a:t>
            </a:r>
            <a:r>
              <a:rPr lang="he-IL" sz="1400" dirty="0"/>
              <a:t> !!! ואם ישכח להחזיר את </a:t>
            </a:r>
            <a:r>
              <a:rPr lang="he-IL" sz="1400" dirty="0" err="1"/>
              <a:t>הפסיקות,אז</a:t>
            </a:r>
            <a:r>
              <a:rPr lang="he-IL" sz="1400" dirty="0"/>
              <a:t> המחשב נתקע.</a:t>
            </a:r>
          </a:p>
          <a:p>
            <a:pPr algn="r" rtl="1" eaLnBrk="1" hangingPunct="1"/>
            <a:r>
              <a:rPr lang="he-IL" sz="1400" dirty="0"/>
              <a:t>מערכת ההפעלה משתמשת בטריק זה של ביטול פסיקות לזמן קצר מאוד.</a:t>
            </a:r>
          </a:p>
          <a:p>
            <a:pPr algn="r" rtl="1" eaLnBrk="1" hangingPunct="1"/>
            <a:r>
              <a:rPr lang="he-IL" sz="1400" dirty="0"/>
              <a:t>* לא יעבוד על מספר מעבדים</a:t>
            </a:r>
          </a:p>
        </p:txBody>
      </p:sp>
      <p:cxnSp>
        <p:nvCxnSpPr>
          <p:cNvPr id="31752" name="מחבר חץ ישר 5"/>
          <p:cNvCxnSpPr>
            <a:cxnSpLocks noChangeShapeType="1"/>
          </p:cNvCxnSpPr>
          <p:nvPr/>
        </p:nvCxnSpPr>
        <p:spPr bwMode="auto">
          <a:xfrm flipH="1">
            <a:off x="6096000" y="2352584"/>
            <a:ext cx="782638" cy="353311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753" name="TextBox 6"/>
          <p:cNvSpPr txBox="1">
            <a:spLocks noChangeArrowheads="1"/>
          </p:cNvSpPr>
          <p:nvPr/>
        </p:nvSpPr>
        <p:spPr bwMode="auto">
          <a:xfrm>
            <a:off x="6985000" y="3290889"/>
            <a:ext cx="2700338" cy="1169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1400" dirty="0"/>
              <a:t>    While(lock) </a:t>
            </a:r>
          </a:p>
          <a:p>
            <a:pPr eaLnBrk="1" hangingPunct="1"/>
            <a:r>
              <a:rPr lang="en-US" sz="1400" dirty="0"/>
              <a:t>        ;</a:t>
            </a:r>
          </a:p>
          <a:p>
            <a:pPr eaLnBrk="1" hangingPunct="1"/>
            <a:r>
              <a:rPr lang="en-US" sz="1400" dirty="0"/>
              <a:t>     lock=1 //assuming lock is =0</a:t>
            </a:r>
          </a:p>
          <a:p>
            <a:pPr eaLnBrk="1" hangingPunct="1"/>
            <a:r>
              <a:rPr lang="en-US" sz="1400" dirty="0"/>
              <a:t>     </a:t>
            </a:r>
            <a:r>
              <a:rPr lang="en-US" sz="1400" dirty="0" err="1"/>
              <a:t>c.s</a:t>
            </a:r>
            <a:r>
              <a:rPr lang="en-US" sz="1400" dirty="0"/>
              <a:t>()</a:t>
            </a:r>
          </a:p>
          <a:p>
            <a:pPr eaLnBrk="1" hangingPunct="1"/>
            <a:r>
              <a:rPr lang="en-US" sz="1400" dirty="0"/>
              <a:t>     lock=0</a:t>
            </a:r>
          </a:p>
        </p:txBody>
      </p:sp>
      <p:cxnSp>
        <p:nvCxnSpPr>
          <p:cNvPr id="31754" name="מחבר חץ ישר 8"/>
          <p:cNvCxnSpPr>
            <a:cxnSpLocks noChangeShapeType="1"/>
          </p:cNvCxnSpPr>
          <p:nvPr/>
        </p:nvCxnSpPr>
        <p:spPr bwMode="auto">
          <a:xfrm>
            <a:off x="6551613" y="3543300"/>
            <a:ext cx="673100" cy="223838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755" name="TextBox 9"/>
          <p:cNvSpPr txBox="1">
            <a:spLocks noChangeArrowheads="1"/>
          </p:cNvSpPr>
          <p:nvPr/>
        </p:nvSpPr>
        <p:spPr bwMode="auto">
          <a:xfrm>
            <a:off x="6183314" y="3459164"/>
            <a:ext cx="6365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1400" dirty="0"/>
              <a:t>CSW</a:t>
            </a:r>
            <a:endParaRPr lang="he-IL" sz="1400" dirty="0"/>
          </a:p>
        </p:txBody>
      </p:sp>
      <p:cxnSp>
        <p:nvCxnSpPr>
          <p:cNvPr id="31756" name="מחבר חץ ישר 13"/>
          <p:cNvCxnSpPr>
            <a:cxnSpLocks noChangeShapeType="1"/>
          </p:cNvCxnSpPr>
          <p:nvPr/>
        </p:nvCxnSpPr>
        <p:spPr bwMode="auto">
          <a:xfrm>
            <a:off x="6677025" y="3913189"/>
            <a:ext cx="330200" cy="223837"/>
          </a:xfrm>
          <a:prstGeom prst="straightConnector1">
            <a:avLst/>
          </a:prstGeom>
          <a:noFill/>
          <a:ln w="9525" algn="ctr">
            <a:solidFill>
              <a:schemeClr val="accent6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757" name="TextBox 14"/>
          <p:cNvSpPr txBox="1">
            <a:spLocks noChangeArrowheads="1"/>
          </p:cNvSpPr>
          <p:nvPr/>
        </p:nvSpPr>
        <p:spPr bwMode="auto">
          <a:xfrm>
            <a:off x="6203950" y="3829051"/>
            <a:ext cx="6365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1400" dirty="0">
                <a:solidFill>
                  <a:schemeClr val="accent2">
                    <a:lumMod val="75000"/>
                  </a:schemeClr>
                </a:solidFill>
              </a:rPr>
              <a:t>CSW</a:t>
            </a:r>
            <a:endParaRPr lang="he-IL" sz="14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1758" name="מלבן 11"/>
          <p:cNvSpPr>
            <a:spLocks noChangeArrowheads="1"/>
          </p:cNvSpPr>
          <p:nvPr/>
        </p:nvSpPr>
        <p:spPr bwMode="auto">
          <a:xfrm>
            <a:off x="7007226" y="3290888"/>
            <a:ext cx="2678113" cy="692150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823B86-CCD7-411A-AF07-8982A882EAFB}" type="datetime12">
              <a:rPr lang="he-IL" smtClean="0"/>
              <a:pPr>
                <a:defRPr/>
              </a:pPr>
              <a:t>28/01/2024 18:13</a:t>
            </a:fld>
            <a:endParaRPr lang="en-US"/>
          </a:p>
        </p:txBody>
      </p:sp>
      <p:sp>
        <p:nvSpPr>
          <p:cNvPr id="3" name="מציין מיקום של מספר שקופית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A07F13-4A01-4E8A-AF66-9AA7DC93C675}" type="slidenum">
              <a:rPr lang="he-IL" smtClean="0"/>
              <a:pPr>
                <a:defRPr/>
              </a:pPr>
              <a:t>32</a:t>
            </a:fld>
            <a:endParaRPr lang="en-US"/>
          </a:p>
        </p:txBody>
      </p:sp>
      <p:cxnSp>
        <p:nvCxnSpPr>
          <p:cNvPr id="19" name="מחבר חץ ישר 13"/>
          <p:cNvCxnSpPr>
            <a:cxnSpLocks noChangeShapeType="1"/>
          </p:cNvCxnSpPr>
          <p:nvPr/>
        </p:nvCxnSpPr>
        <p:spPr bwMode="auto">
          <a:xfrm>
            <a:off x="6840539" y="2853237"/>
            <a:ext cx="47625" cy="352300"/>
          </a:xfrm>
          <a:prstGeom prst="straightConnector1">
            <a:avLst/>
          </a:prstGeom>
          <a:noFill/>
          <a:ln w="9525" algn="ctr">
            <a:solidFill>
              <a:schemeClr val="accent6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" name="מחבר חץ ישר 8"/>
          <p:cNvCxnSpPr>
            <a:cxnSpLocks noChangeShapeType="1"/>
          </p:cNvCxnSpPr>
          <p:nvPr/>
        </p:nvCxnSpPr>
        <p:spPr bwMode="auto">
          <a:xfrm>
            <a:off x="6677025" y="3655219"/>
            <a:ext cx="556518" cy="42545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17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17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17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17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17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17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17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17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17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17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17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17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17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17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17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17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17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17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7" presetClass="entr" presetSubtype="0" fill="hold" nodeType="click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47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500"/>
                                        <p:tgtEl>
                                          <p:spTgt spid="317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500" fill="hold"/>
                                        <p:tgtEl>
                                          <p:spTgt spid="317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500" fill="hold"/>
                                        <p:tgtEl>
                                          <p:spTgt spid="317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600"/>
                                        <p:tgtEl>
                                          <p:spTgt spid="317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600" fill="hold"/>
                                        <p:tgtEl>
                                          <p:spTgt spid="317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600" fill="hold"/>
                                        <p:tgtEl>
                                          <p:spTgt spid="317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51" grpId="0"/>
      <p:bldP spid="31753" grpId="0"/>
      <p:bldP spid="31755" grpId="0"/>
      <p:bldP spid="31757" grpId="0"/>
      <p:bldP spid="3175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3241342E-756C-411D-844C-16552223580F}" type="slidenum">
              <a:rPr lang="he-IL" sz="1400"/>
              <a:pPr eaLnBrk="1" hangingPunct="1"/>
              <a:t>33</a:t>
            </a:fld>
            <a:endParaRPr lang="en-US" sz="1400"/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>
          <a:xfrm>
            <a:off x="1866900" y="423863"/>
            <a:ext cx="8458200" cy="1143000"/>
          </a:xfrm>
        </p:spPr>
        <p:txBody>
          <a:bodyPr/>
          <a:lstStyle/>
          <a:p>
            <a:pPr eaLnBrk="1" hangingPunct="1"/>
            <a:r>
              <a:rPr lang="en-US" sz="3600" dirty="0">
                <a:latin typeface="Arial" pitchFamily="34" charset="0"/>
              </a:rPr>
              <a:t>Strict Alternation</a:t>
            </a:r>
            <a:br>
              <a:rPr lang="en-US" sz="3600" dirty="0">
                <a:latin typeface="Arial" pitchFamily="34" charset="0"/>
              </a:rPr>
            </a:br>
            <a:r>
              <a:rPr lang="he-IL" sz="3600" dirty="0">
                <a:latin typeface="Arial" pitchFamily="34" charset="0"/>
              </a:rPr>
              <a:t>פתרון התור</a:t>
            </a:r>
            <a:br>
              <a:rPr lang="en-US" sz="3600" dirty="0">
                <a:latin typeface="Arial" pitchFamily="34" charset="0"/>
              </a:rPr>
            </a:br>
            <a:endParaRPr lang="en-US" sz="3600" dirty="0"/>
          </a:p>
        </p:txBody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5410200"/>
            <a:ext cx="7772400" cy="685800"/>
          </a:xfrm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en-US"/>
              <a:t>Proposed solution to critical region problem</a:t>
            </a:r>
          </a:p>
          <a:p>
            <a:pPr lvl="1" eaLnBrk="1" hangingPunct="1">
              <a:buFontTx/>
              <a:buNone/>
            </a:pPr>
            <a:r>
              <a:rPr lang="en-US"/>
              <a:t>(a) Process 0.        (b) Process 1.</a:t>
            </a:r>
          </a:p>
        </p:txBody>
      </p:sp>
      <p:pic>
        <p:nvPicPr>
          <p:cNvPr id="32773" name="Picture 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4975" y="1881188"/>
            <a:ext cx="8820150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4" name="אליפסה 1"/>
          <p:cNvSpPr>
            <a:spLocks noChangeArrowheads="1"/>
          </p:cNvSpPr>
          <p:nvPr/>
        </p:nvSpPr>
        <p:spPr bwMode="auto">
          <a:xfrm>
            <a:off x="5486400" y="2324100"/>
            <a:ext cx="495300" cy="5969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32775" name="אליפסה 2"/>
          <p:cNvSpPr>
            <a:spLocks noChangeArrowheads="1"/>
          </p:cNvSpPr>
          <p:nvPr/>
        </p:nvSpPr>
        <p:spPr bwMode="auto">
          <a:xfrm>
            <a:off x="10147300" y="2146300"/>
            <a:ext cx="520700" cy="10922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A394D86-8867-4692-91E7-D569136A20B5}" type="datetime12">
              <a:rPr lang="he-IL" smtClean="0"/>
              <a:pPr>
                <a:defRPr/>
              </a:pPr>
              <a:t>28/01/2024 18:13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2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32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4" grpId="0" animBg="1"/>
      <p:bldP spid="3277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30FE3752-8A5C-4A73-B70C-332365B61B11}" type="slidenum">
              <a:rPr lang="he-IL" sz="1400"/>
              <a:pPr eaLnBrk="1" hangingPunct="1"/>
              <a:t>34</a:t>
            </a:fld>
            <a:endParaRPr lang="en-US" sz="1400"/>
          </a:p>
        </p:txBody>
      </p:sp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>
          <a:xfrm>
            <a:off x="1809750" y="0"/>
            <a:ext cx="8458200" cy="1143000"/>
          </a:xfrm>
        </p:spPr>
        <p:txBody>
          <a:bodyPr/>
          <a:lstStyle/>
          <a:p>
            <a:r>
              <a:rPr lang="en-US" sz="3600">
                <a:latin typeface="Arial" pitchFamily="34" charset="0"/>
              </a:rPr>
              <a:t>Peterson's Solution</a:t>
            </a:r>
          </a:p>
        </p:txBody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51025" y="6286501"/>
            <a:ext cx="8661400" cy="485775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/>
              <a:t>Peterson's solution for achieving mutual exclusion</a:t>
            </a:r>
          </a:p>
        </p:txBody>
      </p:sp>
      <p:pic>
        <p:nvPicPr>
          <p:cNvPr id="33797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1126" y="1066800"/>
            <a:ext cx="6880225" cy="509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798" name="אליפסה 1"/>
          <p:cNvSpPr>
            <a:spLocks noChangeArrowheads="1"/>
          </p:cNvSpPr>
          <p:nvPr/>
        </p:nvSpPr>
        <p:spPr bwMode="auto">
          <a:xfrm>
            <a:off x="9258300" y="4457700"/>
            <a:ext cx="457200" cy="6985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he-IL"/>
          </a:p>
        </p:txBody>
      </p:sp>
      <p:cxnSp>
        <p:nvCxnSpPr>
          <p:cNvPr id="33799" name="מחבר חץ ישר 11"/>
          <p:cNvCxnSpPr>
            <a:cxnSpLocks noChangeShapeType="1"/>
          </p:cNvCxnSpPr>
          <p:nvPr/>
        </p:nvCxnSpPr>
        <p:spPr bwMode="auto">
          <a:xfrm>
            <a:off x="2251075" y="4457700"/>
            <a:ext cx="635000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3800" name="TextBox 12"/>
          <p:cNvSpPr txBox="1">
            <a:spLocks noChangeArrowheads="1"/>
          </p:cNvSpPr>
          <p:nvPr/>
        </p:nvSpPr>
        <p:spPr bwMode="auto">
          <a:xfrm>
            <a:off x="8331200" y="1257300"/>
            <a:ext cx="1739900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rtl="1" eaLnBrk="1" hangingPunct="1"/>
            <a:r>
              <a:rPr lang="he-IL" sz="1400" b="1" u="sng" dirty="0"/>
              <a:t>חסרון</a:t>
            </a:r>
          </a:p>
          <a:p>
            <a:pPr algn="r" rtl="1" eaLnBrk="1" hangingPunct="1">
              <a:buFontTx/>
              <a:buAutoNum type="arabicPeriod"/>
            </a:pPr>
            <a:r>
              <a:rPr lang="he-IL" sz="1400" dirty="0"/>
              <a:t>המתנה פעילה</a:t>
            </a:r>
          </a:p>
          <a:p>
            <a:pPr algn="r" rtl="1" eaLnBrk="1" hangingPunct="1">
              <a:buFontTx/>
              <a:buAutoNum type="arabicPeriod"/>
            </a:pPr>
            <a:r>
              <a:rPr lang="he-IL" sz="1400" dirty="0"/>
              <a:t>היפוך קדימויות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727201" y="4140201"/>
            <a:ext cx="841375" cy="95410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400" dirty="0"/>
              <a:t>פתרון נדיב.</a:t>
            </a:r>
          </a:p>
          <a:p>
            <a:r>
              <a:rPr lang="he-IL" sz="1400" dirty="0"/>
              <a:t>מתנדב להמתין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64600" y="2298700"/>
            <a:ext cx="2413000" cy="73866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400" dirty="0" err="1"/>
              <a:t>Enter_region</a:t>
            </a:r>
            <a:r>
              <a:rPr lang="en-US" sz="1400" dirty="0"/>
              <a:t>(</a:t>
            </a:r>
            <a:r>
              <a:rPr lang="en-US" sz="1400" dirty="0" err="1"/>
              <a:t>i</a:t>
            </a:r>
            <a:r>
              <a:rPr lang="en-US" sz="1400" dirty="0"/>
              <a:t>)</a:t>
            </a:r>
          </a:p>
          <a:p>
            <a:r>
              <a:rPr lang="en-US" sz="1400" dirty="0" err="1"/>
              <a:t>c.s</a:t>
            </a:r>
            <a:r>
              <a:rPr lang="en-US" sz="1400" dirty="0"/>
              <a:t>()</a:t>
            </a:r>
          </a:p>
          <a:p>
            <a:r>
              <a:rPr lang="en-US" sz="1400" dirty="0" err="1"/>
              <a:t>Leave_region</a:t>
            </a:r>
            <a:r>
              <a:rPr lang="en-US" sz="1400" dirty="0"/>
              <a:t>()</a:t>
            </a:r>
            <a:endParaRPr lang="he-IL" sz="1400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DA0B20F-EFBD-4022-AB1B-38C1E6A61DB8}" type="datetime12">
              <a:rPr lang="he-IL" smtClean="0"/>
              <a:pPr>
                <a:defRPr/>
              </a:pPr>
              <a:t>28/01/2024 18:13</a:t>
            </a:fld>
            <a:endParaRPr lang="en-US"/>
          </a:p>
        </p:txBody>
      </p:sp>
      <p:cxnSp>
        <p:nvCxnSpPr>
          <p:cNvPr id="5" name="מחבר חץ ישר 11">
            <a:extLst>
              <a:ext uri="{FF2B5EF4-FFF2-40B4-BE49-F238E27FC236}">
                <a16:creationId xmlns:a16="http://schemas.microsoft.com/office/drawing/2014/main" id="{520A4AA1-C945-7151-B871-2FDD8AEDD93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074460" y="2931771"/>
            <a:ext cx="370290" cy="0"/>
          </a:xfrm>
          <a:prstGeom prst="straightConnector1">
            <a:avLst/>
          </a:prstGeom>
          <a:noFill/>
          <a:ln w="9525" algn="ctr">
            <a:solidFill>
              <a:schemeClr val="accent6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" name="מחבר חץ ישר 11">
            <a:extLst>
              <a:ext uri="{FF2B5EF4-FFF2-40B4-BE49-F238E27FC236}">
                <a16:creationId xmlns:a16="http://schemas.microsoft.com/office/drawing/2014/main" id="{C488191C-DC66-A3A9-4C04-6C5386C9DAB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060812" y="3054244"/>
            <a:ext cx="383938" cy="0"/>
          </a:xfrm>
          <a:prstGeom prst="straightConnector1">
            <a:avLst/>
          </a:prstGeom>
          <a:noFill/>
          <a:ln w="9525" algn="ctr">
            <a:solidFill>
              <a:srgbClr val="C0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3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37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37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38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38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8" grpId="0" animBg="1"/>
      <p:bldP spid="33800" grpId="0"/>
      <p:bldP spid="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48D06191-0C52-4446-A74F-AEB1F5F25E9B}" type="slidenum">
              <a:rPr lang="he-IL" sz="1400"/>
              <a:pPr eaLnBrk="1" hangingPunct="1"/>
              <a:t>35</a:t>
            </a:fld>
            <a:endParaRPr lang="en-US" sz="1400"/>
          </a:p>
        </p:txBody>
      </p:sp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>
          <a:xfrm>
            <a:off x="1711325" y="0"/>
            <a:ext cx="8458200" cy="1143000"/>
          </a:xfrm>
        </p:spPr>
        <p:txBody>
          <a:bodyPr/>
          <a:lstStyle/>
          <a:p>
            <a:pPr eaLnBrk="1" hangingPunct="1"/>
            <a:r>
              <a:rPr lang="en-US" sz="3600">
                <a:latin typeface="Arial" pitchFamily="34" charset="0"/>
              </a:rPr>
              <a:t>The TSL Instruction</a:t>
            </a:r>
            <a:endParaRPr lang="en-US" sz="3600"/>
          </a:p>
        </p:txBody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0" y="5438776"/>
            <a:ext cx="9144000" cy="657225"/>
          </a:xfrm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en-US"/>
              <a:t>Entering and leaving a critical region using the </a:t>
            </a:r>
          </a:p>
          <a:p>
            <a:pPr algn="ctr" eaLnBrk="1" hangingPunct="1">
              <a:buFontTx/>
              <a:buNone/>
            </a:pPr>
            <a:r>
              <a:rPr lang="en-US">
                <a:latin typeface="Helvetica" pitchFamily="2" charset="0"/>
              </a:rPr>
              <a:t>TSL</a:t>
            </a:r>
            <a:r>
              <a:rPr lang="en-US"/>
              <a:t> instruction</a:t>
            </a:r>
          </a:p>
        </p:txBody>
      </p:sp>
      <p:pic>
        <p:nvPicPr>
          <p:cNvPr id="34821" name="Picture 6" descr="02-2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4450" y="2027239"/>
            <a:ext cx="7531100" cy="240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22" name="TextBox 1"/>
          <p:cNvSpPr txBox="1">
            <a:spLocks noChangeArrowheads="1"/>
          </p:cNvSpPr>
          <p:nvPr/>
        </p:nvSpPr>
        <p:spPr bwMode="auto">
          <a:xfrm>
            <a:off x="4775200" y="1536700"/>
            <a:ext cx="24511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1400" dirty="0" err="1"/>
              <a:t>tsl</a:t>
            </a:r>
            <a:r>
              <a:rPr lang="en-US" sz="1400" dirty="0"/>
              <a:t>  register=lock, lock=1;</a:t>
            </a:r>
            <a:endParaRPr lang="he-IL" sz="1400" dirty="0"/>
          </a:p>
          <a:p>
            <a:pPr eaLnBrk="1" hangingPunct="1"/>
            <a:endParaRPr lang="he-IL" sz="1400" dirty="0"/>
          </a:p>
        </p:txBody>
      </p:sp>
      <p:cxnSp>
        <p:nvCxnSpPr>
          <p:cNvPr id="34823" name="מחבר חץ ישר 3"/>
          <p:cNvCxnSpPr>
            <a:cxnSpLocks noChangeShapeType="1"/>
          </p:cNvCxnSpPr>
          <p:nvPr/>
        </p:nvCxnSpPr>
        <p:spPr bwMode="auto">
          <a:xfrm flipH="1" flipV="1">
            <a:off x="2584450" y="2489200"/>
            <a:ext cx="361950" cy="5461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מלבן 1"/>
          <p:cNvSpPr/>
          <p:nvPr/>
        </p:nvSpPr>
        <p:spPr bwMode="auto">
          <a:xfrm>
            <a:off x="4648200" y="1358900"/>
            <a:ext cx="2298700" cy="70102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endParaRPr lang="he-IL"/>
          </a:p>
        </p:txBody>
      </p:sp>
      <p:sp>
        <p:nvSpPr>
          <p:cNvPr id="3" name="TextBox 2"/>
          <p:cNvSpPr txBox="1"/>
          <p:nvPr/>
        </p:nvSpPr>
        <p:spPr>
          <a:xfrm>
            <a:off x="7823200" y="628760"/>
            <a:ext cx="2374900" cy="116955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342900" indent="-342900" algn="ctr" rtl="1"/>
            <a:r>
              <a:rPr lang="he-IL" sz="1400" b="1" u="sng" dirty="0"/>
              <a:t>חסרון</a:t>
            </a:r>
            <a:endParaRPr lang="he-IL" sz="1400" dirty="0"/>
          </a:p>
          <a:p>
            <a:pPr marL="342900" indent="-342900" algn="r" rtl="1">
              <a:buFont typeface="+mj-lt"/>
              <a:buAutoNum type="arabicPeriod"/>
            </a:pPr>
            <a:r>
              <a:rPr lang="he-IL" sz="1400" dirty="0"/>
              <a:t>דורש חומרה מיוחדת.</a:t>
            </a:r>
          </a:p>
          <a:p>
            <a:pPr marL="342900" indent="-342900" algn="r" rtl="1">
              <a:buFont typeface="+mj-lt"/>
              <a:buAutoNum type="arabicPeriod"/>
            </a:pPr>
            <a:r>
              <a:rPr lang="he-IL" sz="1400" dirty="0"/>
              <a:t>לא בהכרח יעבוד עם מספר מעבדים. צריך לוודא שתומך </a:t>
            </a:r>
            <a:r>
              <a:rPr lang="he-IL" sz="1400"/>
              <a:t>במספר מעבדים</a:t>
            </a:r>
            <a:endParaRPr lang="he-IL" sz="1400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121D3FB-9278-44C1-8BF8-A0C04C56BB2C}" type="datetime12">
              <a:rPr lang="he-IL" smtClean="0"/>
              <a:pPr>
                <a:defRPr/>
              </a:pPr>
              <a:t>28/01/2024 18:13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4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ChangeArrowheads="1"/>
          </p:cNvSpPr>
          <p:nvPr/>
        </p:nvSpPr>
        <p:spPr bwMode="auto">
          <a:xfrm>
            <a:off x="1524000" y="5715000"/>
            <a:ext cx="9144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 marL="609600" indent="-609600" eaLnBrk="0" hangingPunct="0">
              <a:spcBef>
                <a:spcPct val="20000"/>
              </a:spcBef>
            </a:pPr>
            <a:r>
              <a:rPr lang="en-US">
                <a:latin typeface="Arial" pitchFamily="34" charset="0"/>
              </a:rPr>
              <a:t>Figure 2-26. Entering and leaving a critical region </a:t>
            </a:r>
            <a:br>
              <a:rPr lang="en-US">
                <a:latin typeface="Arial" pitchFamily="34" charset="0"/>
              </a:rPr>
            </a:br>
            <a:r>
              <a:rPr lang="en-US">
                <a:latin typeface="Arial" pitchFamily="34" charset="0"/>
              </a:rPr>
              <a:t>using the XCHG instruction.</a:t>
            </a:r>
          </a:p>
        </p:txBody>
      </p:sp>
      <p:sp>
        <p:nvSpPr>
          <p:cNvPr id="35843" name="Rectangle 3"/>
          <p:cNvSpPr>
            <a:spLocks noChangeArrowheads="1"/>
          </p:cNvSpPr>
          <p:nvPr/>
        </p:nvSpPr>
        <p:spPr bwMode="auto">
          <a:xfrm>
            <a:off x="1524000" y="0"/>
            <a:ext cx="9144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/>
          <a:p>
            <a:pPr eaLnBrk="0" hangingPunct="0"/>
            <a:r>
              <a:rPr lang="en-US" sz="3600">
                <a:solidFill>
                  <a:srgbClr val="FF0000"/>
                </a:solidFill>
                <a:latin typeface="Arial" pitchFamily="34" charset="0"/>
              </a:rPr>
              <a:t>The TSL Instruction (2)</a:t>
            </a:r>
          </a:p>
        </p:txBody>
      </p:sp>
      <p:sp>
        <p:nvSpPr>
          <p:cNvPr id="35844" name="Rectangle 4"/>
          <p:cNvSpPr>
            <a:spLocks noChangeArrowheads="1"/>
          </p:cNvSpPr>
          <p:nvPr/>
        </p:nvSpPr>
        <p:spPr bwMode="auto">
          <a:xfrm>
            <a:off x="1701800" y="6565901"/>
            <a:ext cx="8712200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/>
          <a:p>
            <a:r>
              <a:rPr lang="en-US" sz="1200">
                <a:solidFill>
                  <a:srgbClr val="898989"/>
                </a:solidFill>
              </a:rPr>
              <a:t>Tanenbaum, Modern Operating Systems 3 e, (c) 2008 Prentice-Hall, Inc. All rights reserved. 0-13-</a:t>
            </a:r>
            <a:r>
              <a:rPr lang="en-US" sz="1200" b="1">
                <a:solidFill>
                  <a:srgbClr val="898989"/>
                </a:solidFill>
              </a:rPr>
              <a:t>6006639</a:t>
            </a:r>
          </a:p>
        </p:txBody>
      </p:sp>
      <p:pic>
        <p:nvPicPr>
          <p:cNvPr id="35845" name="Picture 10" descr="02-2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8826" y="2144714"/>
            <a:ext cx="8131175" cy="2568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5846" name="מחבר חץ ישר 2"/>
          <p:cNvCxnSpPr>
            <a:cxnSpLocks noChangeShapeType="1"/>
          </p:cNvCxnSpPr>
          <p:nvPr/>
        </p:nvCxnSpPr>
        <p:spPr bwMode="auto">
          <a:xfrm flipH="1" flipV="1">
            <a:off x="2273300" y="2540000"/>
            <a:ext cx="203200" cy="6731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847" name="מלבן 3"/>
          <p:cNvSpPr>
            <a:spLocks noChangeArrowheads="1"/>
          </p:cNvSpPr>
          <p:nvPr/>
        </p:nvSpPr>
        <p:spPr bwMode="auto">
          <a:xfrm>
            <a:off x="2476500" y="2400300"/>
            <a:ext cx="2311400" cy="476250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ED935F-EA36-491A-B8C0-D4D6005D41C3}" type="datetime12">
              <a:rPr lang="he-IL" smtClean="0"/>
              <a:pPr>
                <a:defRPr/>
              </a:pPr>
              <a:t>28/01/2024 18:13</a:t>
            </a:fld>
            <a:endParaRPr lang="en-US"/>
          </a:p>
        </p:txBody>
      </p:sp>
      <p:sp>
        <p:nvSpPr>
          <p:cNvPr id="3" name="מציין מיקום של מספר שקופית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A07F13-4A01-4E8A-AF66-9AA7DC93C675}" type="slidenum">
              <a:rPr lang="he-IL" smtClean="0"/>
              <a:pPr>
                <a:defRPr/>
              </a:pPr>
              <a:t>36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5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5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7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04C00CE0-4212-48E6-9F52-BD7F63093D40}" type="slidenum">
              <a:rPr lang="he-IL" sz="1400"/>
              <a:pPr eaLnBrk="1" hangingPunct="1"/>
              <a:t>37</a:t>
            </a:fld>
            <a:endParaRPr lang="en-US" sz="1400"/>
          </a:p>
        </p:txBody>
      </p:sp>
      <p:sp>
        <p:nvSpPr>
          <p:cNvPr id="36867" name="Rectangle 2"/>
          <p:cNvSpPr>
            <a:spLocks noGrp="1" noChangeArrowheads="1"/>
          </p:cNvSpPr>
          <p:nvPr>
            <p:ph type="title"/>
          </p:nvPr>
        </p:nvSpPr>
        <p:spPr>
          <a:xfrm>
            <a:off x="2219325" y="138114"/>
            <a:ext cx="7772400" cy="828675"/>
          </a:xfrm>
        </p:spPr>
        <p:txBody>
          <a:bodyPr/>
          <a:lstStyle/>
          <a:p>
            <a:pPr eaLnBrk="1" hangingPunct="1"/>
            <a:r>
              <a:rPr lang="en-US" dirty="0"/>
              <a:t>Sleep and Wakeup</a:t>
            </a:r>
          </a:p>
        </p:txBody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82700" y="6143626"/>
            <a:ext cx="9575800" cy="714375"/>
          </a:xfrm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en-US"/>
              <a:t>Producer-consumer problem with fatal race condition</a:t>
            </a:r>
          </a:p>
        </p:txBody>
      </p:sp>
      <p:pic>
        <p:nvPicPr>
          <p:cNvPr id="36869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0876" y="966788"/>
            <a:ext cx="5553075" cy="509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70" name="מלבן 1"/>
          <p:cNvSpPr>
            <a:spLocks noChangeArrowheads="1"/>
          </p:cNvSpPr>
          <p:nvPr/>
        </p:nvSpPr>
        <p:spPr bwMode="auto">
          <a:xfrm>
            <a:off x="5499100" y="1943100"/>
            <a:ext cx="3467100" cy="292100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he-IL"/>
          </a:p>
        </p:txBody>
      </p:sp>
      <p:cxnSp>
        <p:nvCxnSpPr>
          <p:cNvPr id="36871" name="מחבר ישר 3"/>
          <p:cNvCxnSpPr>
            <a:cxnSpLocks noChangeShapeType="1"/>
          </p:cNvCxnSpPr>
          <p:nvPr/>
        </p:nvCxnSpPr>
        <p:spPr bwMode="auto">
          <a:xfrm>
            <a:off x="5727700" y="1943100"/>
            <a:ext cx="0" cy="29210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872" name="מחבר ישר 8"/>
          <p:cNvCxnSpPr>
            <a:cxnSpLocks noChangeShapeType="1"/>
          </p:cNvCxnSpPr>
          <p:nvPr/>
        </p:nvCxnSpPr>
        <p:spPr bwMode="auto">
          <a:xfrm>
            <a:off x="5980113" y="1955800"/>
            <a:ext cx="0" cy="29210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873" name="מחבר ישר 9"/>
          <p:cNvCxnSpPr>
            <a:cxnSpLocks noChangeShapeType="1"/>
          </p:cNvCxnSpPr>
          <p:nvPr/>
        </p:nvCxnSpPr>
        <p:spPr bwMode="auto">
          <a:xfrm>
            <a:off x="7480300" y="1955800"/>
            <a:ext cx="0" cy="29210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874" name="מחבר ישר 10"/>
          <p:cNvCxnSpPr>
            <a:cxnSpLocks noChangeShapeType="1"/>
          </p:cNvCxnSpPr>
          <p:nvPr/>
        </p:nvCxnSpPr>
        <p:spPr bwMode="auto">
          <a:xfrm>
            <a:off x="7937500" y="1955800"/>
            <a:ext cx="0" cy="29210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875" name="מחבר ישר 11"/>
          <p:cNvCxnSpPr>
            <a:cxnSpLocks noChangeShapeType="1"/>
          </p:cNvCxnSpPr>
          <p:nvPr/>
        </p:nvCxnSpPr>
        <p:spPr bwMode="auto">
          <a:xfrm>
            <a:off x="8521700" y="1943100"/>
            <a:ext cx="0" cy="29210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876" name="מחבר חץ ישר 5"/>
          <p:cNvCxnSpPr>
            <a:cxnSpLocks noChangeShapeType="1"/>
          </p:cNvCxnSpPr>
          <p:nvPr/>
        </p:nvCxnSpPr>
        <p:spPr bwMode="auto">
          <a:xfrm>
            <a:off x="5124450" y="1494789"/>
            <a:ext cx="355600" cy="415131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877" name="מחבר חץ ישר 7"/>
          <p:cNvCxnSpPr>
            <a:cxnSpLocks noChangeShapeType="1"/>
          </p:cNvCxnSpPr>
          <p:nvPr/>
        </p:nvCxnSpPr>
        <p:spPr bwMode="auto">
          <a:xfrm flipV="1">
            <a:off x="5081588" y="2171855"/>
            <a:ext cx="393700" cy="26035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878" name="מחבר חץ ישר 13"/>
          <p:cNvCxnSpPr>
            <a:cxnSpLocks noChangeShapeType="1"/>
          </p:cNvCxnSpPr>
          <p:nvPr/>
        </p:nvCxnSpPr>
        <p:spPr bwMode="auto">
          <a:xfrm flipV="1">
            <a:off x="9081294" y="1631950"/>
            <a:ext cx="710406" cy="27797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879" name="מחבר חץ ישר 15"/>
          <p:cNvCxnSpPr>
            <a:cxnSpLocks noChangeShapeType="1"/>
          </p:cNvCxnSpPr>
          <p:nvPr/>
        </p:nvCxnSpPr>
        <p:spPr bwMode="auto">
          <a:xfrm>
            <a:off x="9105900" y="2302030"/>
            <a:ext cx="685800" cy="21098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906B13F-7C44-4A16-90D3-731CCF6B7AA8}" type="datetime12">
              <a:rPr lang="he-IL" smtClean="0"/>
              <a:pPr>
                <a:defRPr/>
              </a:pPr>
              <a:t>28/01/2024 18:13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68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68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68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68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68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68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68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68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68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68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68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68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68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68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68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68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68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68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68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68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68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68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68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68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68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68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68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368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68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68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70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ChangeArrowheads="1"/>
          </p:cNvSpPr>
          <p:nvPr/>
        </p:nvSpPr>
        <p:spPr bwMode="auto">
          <a:xfrm>
            <a:off x="2765426" y="1487489"/>
            <a:ext cx="7491413" cy="4738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 marL="609600" indent="-609600" eaLnBrk="0" hangingPunct="0">
              <a:spcBef>
                <a:spcPct val="20000"/>
              </a:spcBef>
            </a:pPr>
            <a:r>
              <a:rPr lang="en-US" sz="2800" dirty="0">
                <a:latin typeface="Arial" pitchFamily="34" charset="0"/>
              </a:rPr>
              <a:t>Proposals for achieving mutual exclusion:</a:t>
            </a:r>
          </a:p>
          <a:p>
            <a:pPr marL="609600" indent="-609600" eaLnBrk="0" hangingPunct="0">
              <a:spcBef>
                <a:spcPct val="20000"/>
              </a:spcBef>
            </a:pPr>
            <a:endParaRPr lang="en-US" sz="2800" dirty="0">
              <a:latin typeface="Arial" pitchFamily="34" charset="0"/>
            </a:endParaRPr>
          </a:p>
          <a:p>
            <a:pPr marL="609600" indent="-609600" eaLnBrk="0" hangingPunct="0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dirty="0">
                <a:latin typeface="Arial" pitchFamily="34" charset="0"/>
              </a:rPr>
              <a:t>Semaphores &amp; </a:t>
            </a:r>
            <a:r>
              <a:rPr lang="en-US" dirty="0" err="1">
                <a:latin typeface="Arial" pitchFamily="34" charset="0"/>
              </a:rPr>
              <a:t>Mutexes</a:t>
            </a:r>
            <a:endParaRPr lang="en-US" dirty="0">
              <a:latin typeface="Arial" pitchFamily="34" charset="0"/>
            </a:endParaRPr>
          </a:p>
          <a:p>
            <a:pPr marL="609600" indent="-609600" eaLnBrk="0" hangingPunct="0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dirty="0">
                <a:latin typeface="Arial" pitchFamily="34" charset="0"/>
              </a:rPr>
              <a:t>Monitors </a:t>
            </a:r>
          </a:p>
          <a:p>
            <a:pPr marL="609600" indent="-609600" eaLnBrk="0" hangingPunct="0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dirty="0">
                <a:latin typeface="Arial" pitchFamily="34" charset="0"/>
              </a:rPr>
              <a:t>Message Passing</a:t>
            </a:r>
          </a:p>
          <a:p>
            <a:pPr marL="609600" indent="-609600" eaLnBrk="0" hangingPunct="0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endParaRPr lang="en-US" dirty="0">
              <a:latin typeface="Arial" pitchFamily="34" charset="0"/>
            </a:endParaRPr>
          </a:p>
        </p:txBody>
      </p:sp>
      <p:sp>
        <p:nvSpPr>
          <p:cNvPr id="31747" name="Rectangle 3"/>
          <p:cNvSpPr>
            <a:spLocks noChangeArrowheads="1"/>
          </p:cNvSpPr>
          <p:nvPr/>
        </p:nvSpPr>
        <p:spPr bwMode="auto">
          <a:xfrm>
            <a:off x="1524000" y="0"/>
            <a:ext cx="9144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/>
          <a:p>
            <a:pPr eaLnBrk="0" hangingPunct="0"/>
            <a:r>
              <a:rPr lang="en-US" sz="3600" dirty="0">
                <a:solidFill>
                  <a:srgbClr val="FF0000"/>
                </a:solidFill>
                <a:latin typeface="Arial" pitchFamily="34" charset="0"/>
              </a:rPr>
              <a:t>Mutual Exclusion with Sleep and Wakeup</a:t>
            </a:r>
          </a:p>
        </p:txBody>
      </p:sp>
      <p:sp>
        <p:nvSpPr>
          <p:cNvPr id="31748" name="Rectangle 4"/>
          <p:cNvSpPr>
            <a:spLocks noChangeArrowheads="1"/>
          </p:cNvSpPr>
          <p:nvPr/>
        </p:nvSpPr>
        <p:spPr bwMode="auto">
          <a:xfrm>
            <a:off x="1701800" y="6565901"/>
            <a:ext cx="8712200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/>
          <a:p>
            <a:r>
              <a:rPr lang="en-US" sz="1200">
                <a:solidFill>
                  <a:srgbClr val="898989"/>
                </a:solidFill>
              </a:rPr>
              <a:t>Tanenbaum, Modern Operating Systems 3 e, (c) 2008 Prentice-Hall, Inc. All rights reserved. 0-13-</a:t>
            </a:r>
            <a:r>
              <a:rPr lang="en-US" sz="1200" b="1">
                <a:solidFill>
                  <a:srgbClr val="898989"/>
                </a:solidFill>
              </a:rPr>
              <a:t>6006639</a:t>
            </a:r>
          </a:p>
        </p:txBody>
      </p:sp>
      <p:sp>
        <p:nvSpPr>
          <p:cNvPr id="31749" name="מלבן 1"/>
          <p:cNvSpPr>
            <a:spLocks noChangeArrowheads="1"/>
          </p:cNvSpPr>
          <p:nvPr/>
        </p:nvSpPr>
        <p:spPr bwMode="auto">
          <a:xfrm>
            <a:off x="2463800" y="2247900"/>
            <a:ext cx="4191000" cy="3162300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31750" name="מלבן 2"/>
          <p:cNvSpPr>
            <a:spLocks noChangeArrowheads="1"/>
          </p:cNvSpPr>
          <p:nvPr/>
        </p:nvSpPr>
        <p:spPr bwMode="auto">
          <a:xfrm>
            <a:off x="6057900" y="342900"/>
            <a:ext cx="4203700" cy="647700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B6F4EDD-2747-4253-B536-59C8C7C9BB58}" type="datetime12">
              <a:rPr lang="he-IL" smtClean="0"/>
              <a:pPr>
                <a:defRPr/>
              </a:pPr>
              <a:t>28/01/2024 18:13</a:t>
            </a:fld>
            <a:endParaRPr lang="en-US"/>
          </a:p>
        </p:txBody>
      </p:sp>
      <p:sp>
        <p:nvSpPr>
          <p:cNvPr id="3" name="מציין מיקום של מספר שקופית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A07F13-4A01-4E8A-AF66-9AA7DC93C675}" type="slidenum">
              <a:rPr lang="he-IL" smtClean="0"/>
              <a:pPr>
                <a:defRPr/>
              </a:pPr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70442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3E436483-2C91-4ED7-9FF1-CC17B8D1666E}" type="slidenum">
              <a:rPr lang="he-IL" sz="1400"/>
              <a:pPr eaLnBrk="1" hangingPunct="1"/>
              <a:t>39</a:t>
            </a:fld>
            <a:endParaRPr lang="en-US" sz="1400"/>
          </a:p>
        </p:txBody>
      </p:sp>
      <p:pic>
        <p:nvPicPr>
          <p:cNvPr id="37891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8951" y="762001"/>
            <a:ext cx="5302249" cy="548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2" name="Rectangle 2"/>
          <p:cNvSpPr>
            <a:spLocks noGrp="1" noChangeArrowheads="1"/>
          </p:cNvSpPr>
          <p:nvPr>
            <p:ph type="title"/>
          </p:nvPr>
        </p:nvSpPr>
        <p:spPr>
          <a:xfrm>
            <a:off x="2181225" y="0"/>
            <a:ext cx="7772400" cy="857250"/>
          </a:xfrm>
        </p:spPr>
        <p:txBody>
          <a:bodyPr/>
          <a:lstStyle/>
          <a:p>
            <a:pPr eaLnBrk="1" hangingPunct="1"/>
            <a:r>
              <a:rPr lang="en-US" dirty="0"/>
              <a:t>Semaphores</a:t>
            </a:r>
          </a:p>
        </p:txBody>
      </p:sp>
      <p:sp>
        <p:nvSpPr>
          <p:cNvPr id="3789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08100" y="6197600"/>
            <a:ext cx="9118600" cy="660400"/>
          </a:xfrm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en-US"/>
              <a:t>The producer-consumer problem using semaphores</a:t>
            </a:r>
          </a:p>
        </p:txBody>
      </p:sp>
      <p:sp>
        <p:nvSpPr>
          <p:cNvPr id="37894" name="TextBox 1"/>
          <p:cNvSpPr txBox="1">
            <a:spLocks noChangeArrowheads="1"/>
          </p:cNvSpPr>
          <p:nvPr/>
        </p:nvSpPr>
        <p:spPr bwMode="auto">
          <a:xfrm>
            <a:off x="9838664" y="3902956"/>
            <a:ext cx="2349500" cy="1169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1400" dirty="0"/>
              <a:t>Down(semaphore *</a:t>
            </a:r>
            <a:r>
              <a:rPr lang="en-US" sz="1400" dirty="0" err="1"/>
              <a:t>sem</a:t>
            </a:r>
            <a:r>
              <a:rPr lang="en-US" sz="1400" dirty="0"/>
              <a:t>){</a:t>
            </a:r>
          </a:p>
          <a:p>
            <a:pPr eaLnBrk="1" hangingPunct="1"/>
            <a:r>
              <a:rPr lang="en-US" sz="1400" dirty="0"/>
              <a:t>   while (</a:t>
            </a:r>
            <a:r>
              <a:rPr lang="en-US" sz="1400" dirty="0" err="1"/>
              <a:t>sem</a:t>
            </a:r>
            <a:r>
              <a:rPr lang="en-US" sz="1400" dirty="0"/>
              <a:t>==0)</a:t>
            </a:r>
          </a:p>
          <a:p>
            <a:pPr eaLnBrk="1" hangingPunct="1"/>
            <a:r>
              <a:rPr lang="en-US" sz="1400" dirty="0"/>
              <a:t>       yield </a:t>
            </a:r>
            <a:r>
              <a:rPr lang="he-IL" sz="1400" dirty="0"/>
              <a:t>נרדמים על </a:t>
            </a:r>
            <a:r>
              <a:rPr lang="he-IL" sz="1400" dirty="0" err="1"/>
              <a:t>הסמפור</a:t>
            </a:r>
            <a:endParaRPr lang="en-US" sz="1400" dirty="0"/>
          </a:p>
          <a:p>
            <a:pPr eaLnBrk="1" hangingPunct="1"/>
            <a:r>
              <a:rPr lang="en-US" sz="1400" dirty="0" err="1"/>
              <a:t>sem</a:t>
            </a:r>
            <a:r>
              <a:rPr lang="en-US" sz="1400" dirty="0"/>
              <a:t>--</a:t>
            </a:r>
          </a:p>
          <a:p>
            <a:pPr eaLnBrk="1" hangingPunct="1"/>
            <a:r>
              <a:rPr lang="en-US" sz="1400" dirty="0"/>
              <a:t>    </a:t>
            </a:r>
            <a:endParaRPr lang="he-IL" sz="1400" dirty="0"/>
          </a:p>
        </p:txBody>
      </p:sp>
      <p:sp>
        <p:nvSpPr>
          <p:cNvPr id="37895" name="TextBox 6"/>
          <p:cNvSpPr txBox="1">
            <a:spLocks noChangeArrowheads="1"/>
          </p:cNvSpPr>
          <p:nvPr/>
        </p:nvSpPr>
        <p:spPr bwMode="auto">
          <a:xfrm>
            <a:off x="9838664" y="5515857"/>
            <a:ext cx="23495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1400" dirty="0"/>
              <a:t>up(semaphore *</a:t>
            </a:r>
            <a:r>
              <a:rPr lang="en-US" sz="1400" dirty="0" err="1"/>
              <a:t>sem</a:t>
            </a:r>
            <a:r>
              <a:rPr lang="en-US" sz="1400" dirty="0"/>
              <a:t>){ </a:t>
            </a:r>
          </a:p>
          <a:p>
            <a:pPr eaLnBrk="1" hangingPunct="1"/>
            <a:r>
              <a:rPr lang="en-US" sz="1400" dirty="0"/>
              <a:t>   </a:t>
            </a:r>
            <a:r>
              <a:rPr lang="en-US" sz="1400" dirty="0" err="1"/>
              <a:t>sem</a:t>
            </a:r>
            <a:r>
              <a:rPr lang="en-US" sz="1400" dirty="0"/>
              <a:t>++</a:t>
            </a:r>
            <a:endParaRPr lang="he-IL" sz="1400" dirty="0"/>
          </a:p>
        </p:txBody>
      </p:sp>
      <p:sp>
        <p:nvSpPr>
          <p:cNvPr id="37896" name="TextBox 8"/>
          <p:cNvSpPr txBox="1">
            <a:spLocks noChangeArrowheads="1"/>
          </p:cNvSpPr>
          <p:nvPr/>
        </p:nvSpPr>
        <p:spPr bwMode="auto">
          <a:xfrm>
            <a:off x="7543801" y="3479801"/>
            <a:ext cx="3108325" cy="123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he-IL" sz="1800" b="1" u="sng" dirty="0"/>
              <a:t>פרוטוקול כניסה לקטע קריטי</a:t>
            </a:r>
            <a:endParaRPr lang="en-US" sz="1800" b="1" u="sng" dirty="0"/>
          </a:p>
          <a:p>
            <a:pPr eaLnBrk="1" hangingPunct="1"/>
            <a:r>
              <a:rPr lang="en-US" sz="1400" dirty="0"/>
              <a:t>down(</a:t>
            </a:r>
            <a:r>
              <a:rPr lang="en-US" sz="1400" dirty="0" err="1"/>
              <a:t>mutex</a:t>
            </a:r>
            <a:r>
              <a:rPr lang="en-US" sz="1400" dirty="0"/>
              <a:t>);</a:t>
            </a:r>
          </a:p>
          <a:p>
            <a:pPr eaLnBrk="1" hangingPunct="1"/>
            <a:r>
              <a:rPr lang="en-US" sz="1400" dirty="0" err="1"/>
              <a:t>c.s</a:t>
            </a:r>
            <a:r>
              <a:rPr lang="en-US" sz="1400" dirty="0"/>
              <a:t>();</a:t>
            </a:r>
          </a:p>
          <a:p>
            <a:pPr eaLnBrk="1" hangingPunct="1"/>
            <a:r>
              <a:rPr lang="en-US" sz="1400" dirty="0"/>
              <a:t>up(mutex);</a:t>
            </a:r>
          </a:p>
          <a:p>
            <a:pPr eaLnBrk="1" hangingPunct="1"/>
            <a:r>
              <a:rPr lang="en-US" sz="1400" dirty="0"/>
              <a:t>  </a:t>
            </a:r>
            <a:endParaRPr lang="he-IL" sz="1400" dirty="0"/>
          </a:p>
        </p:txBody>
      </p:sp>
      <p:cxnSp>
        <p:nvCxnSpPr>
          <p:cNvPr id="37897" name="מחבר חץ ישר 4"/>
          <p:cNvCxnSpPr>
            <a:cxnSpLocks noChangeShapeType="1"/>
          </p:cNvCxnSpPr>
          <p:nvPr/>
        </p:nvCxnSpPr>
        <p:spPr bwMode="auto">
          <a:xfrm>
            <a:off x="9533864" y="4220456"/>
            <a:ext cx="518187" cy="172408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7898" name="TextBox 5"/>
          <p:cNvSpPr txBox="1">
            <a:spLocks noChangeArrowheads="1"/>
          </p:cNvSpPr>
          <p:nvPr/>
        </p:nvSpPr>
        <p:spPr bwMode="auto">
          <a:xfrm>
            <a:off x="9175592" y="3927021"/>
            <a:ext cx="520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1400" dirty="0" err="1"/>
              <a:t>c.sw</a:t>
            </a:r>
            <a:endParaRPr lang="he-IL" sz="1400" dirty="0"/>
          </a:p>
        </p:txBody>
      </p:sp>
      <p:sp>
        <p:nvSpPr>
          <p:cNvPr id="37899" name="מלבן 7"/>
          <p:cNvSpPr>
            <a:spLocks noChangeArrowheads="1"/>
          </p:cNvSpPr>
          <p:nvPr/>
        </p:nvSpPr>
        <p:spPr bwMode="auto">
          <a:xfrm>
            <a:off x="3495675" y="2952750"/>
            <a:ext cx="1473200" cy="482600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37900" name="מלבן 13"/>
          <p:cNvSpPr>
            <a:spLocks noChangeArrowheads="1"/>
          </p:cNvSpPr>
          <p:nvPr/>
        </p:nvSpPr>
        <p:spPr bwMode="auto">
          <a:xfrm>
            <a:off x="3495675" y="5168900"/>
            <a:ext cx="1587500" cy="482600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he-IL"/>
          </a:p>
        </p:txBody>
      </p:sp>
      <p:cxnSp>
        <p:nvCxnSpPr>
          <p:cNvPr id="37901" name="מחבר חץ ישר 10"/>
          <p:cNvCxnSpPr>
            <a:cxnSpLocks noChangeShapeType="1"/>
            <a:endCxn id="37899" idx="1"/>
          </p:cNvCxnSpPr>
          <p:nvPr/>
        </p:nvCxnSpPr>
        <p:spPr bwMode="auto">
          <a:xfrm flipV="1">
            <a:off x="2819401" y="3194050"/>
            <a:ext cx="676275" cy="9017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02" name="מחבר חץ ישר 12"/>
          <p:cNvCxnSpPr>
            <a:cxnSpLocks noChangeShapeType="1"/>
          </p:cNvCxnSpPr>
          <p:nvPr/>
        </p:nvCxnSpPr>
        <p:spPr bwMode="auto">
          <a:xfrm>
            <a:off x="2819401" y="4203700"/>
            <a:ext cx="657225" cy="12065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7903" name="TextBox 14"/>
          <p:cNvSpPr txBox="1">
            <a:spLocks noChangeArrowheads="1"/>
          </p:cNvSpPr>
          <p:nvPr/>
        </p:nvSpPr>
        <p:spPr bwMode="auto">
          <a:xfrm>
            <a:off x="2032000" y="4095751"/>
            <a:ext cx="7874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1400"/>
              <a:t>c.sc()</a:t>
            </a:r>
            <a:endParaRPr lang="he-IL" sz="1400"/>
          </a:p>
        </p:txBody>
      </p:sp>
      <p:cxnSp>
        <p:nvCxnSpPr>
          <p:cNvPr id="37904" name="מחבר חץ ישר 27"/>
          <p:cNvCxnSpPr>
            <a:cxnSpLocks noChangeShapeType="1"/>
          </p:cNvCxnSpPr>
          <p:nvPr/>
        </p:nvCxnSpPr>
        <p:spPr bwMode="auto">
          <a:xfrm flipV="1">
            <a:off x="3352800" y="2857500"/>
            <a:ext cx="247650" cy="635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05" name="מחבר חץ ישר 29"/>
          <p:cNvCxnSpPr>
            <a:cxnSpLocks noChangeShapeType="1"/>
          </p:cNvCxnSpPr>
          <p:nvPr/>
        </p:nvCxnSpPr>
        <p:spPr bwMode="auto">
          <a:xfrm flipV="1">
            <a:off x="3352800" y="2997200"/>
            <a:ext cx="247650" cy="635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06" name="מחבר ישר 37887"/>
          <p:cNvCxnSpPr>
            <a:cxnSpLocks noChangeShapeType="1"/>
          </p:cNvCxnSpPr>
          <p:nvPr/>
        </p:nvCxnSpPr>
        <p:spPr bwMode="auto">
          <a:xfrm>
            <a:off x="3352800" y="2857500"/>
            <a:ext cx="0" cy="19050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07" name="מחבר חץ ישר 36"/>
          <p:cNvCxnSpPr>
            <a:cxnSpLocks noChangeShapeType="1"/>
          </p:cNvCxnSpPr>
          <p:nvPr/>
        </p:nvCxnSpPr>
        <p:spPr bwMode="auto">
          <a:xfrm flipV="1">
            <a:off x="3286125" y="5086350"/>
            <a:ext cx="247650" cy="635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08" name="מחבר חץ ישר 37"/>
          <p:cNvCxnSpPr>
            <a:cxnSpLocks noChangeShapeType="1"/>
          </p:cNvCxnSpPr>
          <p:nvPr/>
        </p:nvCxnSpPr>
        <p:spPr bwMode="auto">
          <a:xfrm flipV="1">
            <a:off x="3286125" y="5226050"/>
            <a:ext cx="247650" cy="635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09" name="מחבר ישר 38"/>
          <p:cNvCxnSpPr>
            <a:cxnSpLocks noChangeShapeType="1"/>
          </p:cNvCxnSpPr>
          <p:nvPr/>
        </p:nvCxnSpPr>
        <p:spPr bwMode="auto">
          <a:xfrm>
            <a:off x="3286125" y="5086350"/>
            <a:ext cx="0" cy="19050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B0C6940-D31B-4E16-A350-3EC87F8DECE5}" type="datetime12">
              <a:rPr lang="he-IL" smtClean="0"/>
              <a:pPr>
                <a:defRPr/>
              </a:pPr>
              <a:t>28/01/2024 18:13</a:t>
            </a:fld>
            <a:endParaRPr lang="en-US"/>
          </a:p>
        </p:txBody>
      </p:sp>
      <p:sp>
        <p:nvSpPr>
          <p:cNvPr id="23" name="מלבן 1">
            <a:extLst>
              <a:ext uri="{FF2B5EF4-FFF2-40B4-BE49-F238E27FC236}">
                <a16:creationId xmlns:a16="http://schemas.microsoft.com/office/drawing/2014/main" id="{52CAC8B1-503C-4C40-997B-4AAC36E91B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80867" y="2084805"/>
            <a:ext cx="3467100" cy="292100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he-IL"/>
          </a:p>
        </p:txBody>
      </p:sp>
      <p:cxnSp>
        <p:nvCxnSpPr>
          <p:cNvPr id="24" name="מחבר ישר 3">
            <a:extLst>
              <a:ext uri="{FF2B5EF4-FFF2-40B4-BE49-F238E27FC236}">
                <a16:creationId xmlns:a16="http://schemas.microsoft.com/office/drawing/2014/main" id="{01DF9C86-7060-445C-A3BE-7DDA8BCA7A8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009467" y="2084805"/>
            <a:ext cx="0" cy="29210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" name="מחבר ישר 8">
            <a:extLst>
              <a:ext uri="{FF2B5EF4-FFF2-40B4-BE49-F238E27FC236}">
                <a16:creationId xmlns:a16="http://schemas.microsoft.com/office/drawing/2014/main" id="{80AB3E65-5B12-4992-B97D-98051052294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261880" y="2097505"/>
            <a:ext cx="0" cy="29210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" name="מחבר ישר 9">
            <a:extLst>
              <a:ext uri="{FF2B5EF4-FFF2-40B4-BE49-F238E27FC236}">
                <a16:creationId xmlns:a16="http://schemas.microsoft.com/office/drawing/2014/main" id="{95DA08EE-F0EF-4350-8B1E-AA76FC5D909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9762067" y="2097505"/>
            <a:ext cx="0" cy="29210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" name="מחבר ישר 10">
            <a:extLst>
              <a:ext uri="{FF2B5EF4-FFF2-40B4-BE49-F238E27FC236}">
                <a16:creationId xmlns:a16="http://schemas.microsoft.com/office/drawing/2014/main" id="{4DE414E8-9546-443C-971F-1AD31A30A03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0219267" y="2097505"/>
            <a:ext cx="0" cy="29210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" name="מחבר ישר 11">
            <a:extLst>
              <a:ext uri="{FF2B5EF4-FFF2-40B4-BE49-F238E27FC236}">
                <a16:creationId xmlns:a16="http://schemas.microsoft.com/office/drawing/2014/main" id="{E6F011C0-A37A-44E7-B9E9-54625913208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0803467" y="2084805"/>
            <a:ext cx="0" cy="29210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מחבר חץ ישר 5">
            <a:extLst>
              <a:ext uri="{FF2B5EF4-FFF2-40B4-BE49-F238E27FC236}">
                <a16:creationId xmlns:a16="http://schemas.microsoft.com/office/drawing/2014/main" id="{CA5FA9FA-2B32-4B85-B259-0D0AEAFA1AC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501467" y="1602205"/>
            <a:ext cx="279400" cy="3429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" name="מחבר חץ ישר 7">
            <a:extLst>
              <a:ext uri="{FF2B5EF4-FFF2-40B4-BE49-F238E27FC236}">
                <a16:creationId xmlns:a16="http://schemas.microsoft.com/office/drawing/2014/main" id="{E14B574B-1984-477E-90F6-06052AD98F02}"/>
              </a:ext>
            </a:extLst>
          </p:cNvPr>
          <p:cNvCxnSpPr>
            <a:cxnSpLocks noChangeShapeType="1"/>
            <a:endCxn id="23" idx="1"/>
          </p:cNvCxnSpPr>
          <p:nvPr/>
        </p:nvCxnSpPr>
        <p:spPr bwMode="auto">
          <a:xfrm flipV="1">
            <a:off x="7387167" y="2230855"/>
            <a:ext cx="393700" cy="26035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" name="מחבר חץ ישר 13">
            <a:extLst>
              <a:ext uri="{FF2B5EF4-FFF2-40B4-BE49-F238E27FC236}">
                <a16:creationId xmlns:a16="http://schemas.microsoft.com/office/drawing/2014/main" id="{04F6B63D-623D-43CA-9E6A-C18447921FAD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1247967" y="1773655"/>
            <a:ext cx="825500" cy="32385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" name="מחבר חץ ישר 15">
            <a:extLst>
              <a:ext uri="{FF2B5EF4-FFF2-40B4-BE49-F238E27FC236}">
                <a16:creationId xmlns:a16="http://schemas.microsoft.com/office/drawing/2014/main" id="{D70429E3-7B53-4AF1-94DD-7016A0EF0D8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1349567" y="2243555"/>
            <a:ext cx="596900" cy="38735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378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78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78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378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78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378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378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378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78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378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378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378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378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378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378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78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378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3789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37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379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379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3790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37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379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379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3790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37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379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379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3790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37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379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379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3790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1000"/>
                                        <p:tgtEl>
                                          <p:spTgt spid="37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379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379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3790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1" dur="1000"/>
                                        <p:tgtEl>
                                          <p:spTgt spid="37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379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379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3790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7" dur="1000"/>
                                        <p:tgtEl>
                                          <p:spTgt spid="37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379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379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3790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3" dur="1000"/>
                                        <p:tgtEl>
                                          <p:spTgt spid="37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379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1000" fill="hold"/>
                                        <p:tgtEl>
                                          <p:spTgt spid="379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3790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1000"/>
                                        <p:tgtEl>
                                          <p:spTgt spid="37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2" dur="1000" fill="hold"/>
                                        <p:tgtEl>
                                          <p:spTgt spid="379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379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3790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5" dur="1000"/>
                                        <p:tgtEl>
                                          <p:spTgt spid="37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379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379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3790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1" dur="1000"/>
                                        <p:tgtEl>
                                          <p:spTgt spid="37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4" grpId="0"/>
      <p:bldP spid="37894" grpId="1"/>
      <p:bldP spid="37895" grpId="0"/>
      <p:bldP spid="37895" grpId="1"/>
      <p:bldP spid="37896" grpId="0"/>
      <p:bldP spid="37896" grpId="1"/>
      <p:bldP spid="37898" grpId="0"/>
      <p:bldP spid="37898" grpId="1"/>
      <p:bldP spid="37899" grpId="0" animBg="1"/>
      <p:bldP spid="37899" grpId="1" animBg="1"/>
      <p:bldP spid="37900" grpId="0" animBg="1"/>
      <p:bldP spid="37900" grpId="1" animBg="1"/>
      <p:bldP spid="37903" grpId="0"/>
      <p:bldP spid="37903" grpId="1"/>
      <p:bldP spid="23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506D88F8-7251-4417-A8B8-94B0169C9AD5}" type="slidenum">
              <a:rPr lang="he-IL" sz="1400"/>
              <a:pPr eaLnBrk="1" hangingPunct="1"/>
              <a:t>40</a:t>
            </a:fld>
            <a:endParaRPr lang="en-US" sz="1400"/>
          </a:p>
        </p:txBody>
      </p:sp>
      <p:sp>
        <p:nvSpPr>
          <p:cNvPr id="389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err="1"/>
              <a:t>Mutexes</a:t>
            </a:r>
            <a:endParaRPr lang="en-US" dirty="0"/>
          </a:p>
        </p:txBody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0" y="5470526"/>
            <a:ext cx="9144000" cy="828675"/>
          </a:xfrm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en-US"/>
              <a:t>Implementation of </a:t>
            </a:r>
            <a:r>
              <a:rPr lang="en-US" i="1"/>
              <a:t>mutex_lock</a:t>
            </a:r>
            <a:r>
              <a:rPr lang="en-US"/>
              <a:t> and </a:t>
            </a:r>
            <a:r>
              <a:rPr lang="en-US" i="1"/>
              <a:t>mutex_unlock</a:t>
            </a:r>
          </a:p>
        </p:txBody>
      </p:sp>
      <p:pic>
        <p:nvPicPr>
          <p:cNvPr id="38917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4988" y="1585914"/>
            <a:ext cx="8691562" cy="335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FD3B05F-254B-4E73-B470-0E7CBD0C89BB}" type="datetime12">
              <a:rPr lang="he-IL" smtClean="0"/>
              <a:pPr>
                <a:defRPr/>
              </a:pPr>
              <a:t>28/01/2024 18:13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1FFAFD45-AEBC-48AE-B71F-17ADE0A730BF}" type="slidenum">
              <a:rPr lang="he-IL" sz="1400"/>
              <a:pPr eaLnBrk="1" hangingPunct="1"/>
              <a:t>41</a:t>
            </a:fld>
            <a:endParaRPr lang="en-US" sz="1400"/>
          </a:p>
        </p:txBody>
      </p:sp>
      <p:sp>
        <p:nvSpPr>
          <p:cNvPr id="39939" name="Rectangle 2"/>
          <p:cNvSpPr>
            <a:spLocks noGrp="1" noChangeArrowheads="1"/>
          </p:cNvSpPr>
          <p:nvPr>
            <p:ph type="title"/>
          </p:nvPr>
        </p:nvSpPr>
        <p:spPr>
          <a:xfrm>
            <a:off x="4289425" y="222250"/>
            <a:ext cx="3733800" cy="736600"/>
          </a:xfrm>
        </p:spPr>
        <p:txBody>
          <a:bodyPr/>
          <a:lstStyle/>
          <a:p>
            <a:pPr algn="l" eaLnBrk="1" hangingPunct="1"/>
            <a:r>
              <a:rPr lang="en-US" dirty="0"/>
              <a:t>Monitors (1)</a:t>
            </a:r>
          </a:p>
        </p:txBody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41701" y="5969000"/>
            <a:ext cx="5210175" cy="469900"/>
          </a:xfrm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en-US"/>
              <a:t>Example of a monitor</a:t>
            </a:r>
          </a:p>
        </p:txBody>
      </p:sp>
      <p:pic>
        <p:nvPicPr>
          <p:cNvPr id="39941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2650" y="1038226"/>
            <a:ext cx="3187700" cy="476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A21E380-6D81-43B0-8392-33ECABBBF828}" type="datetime12">
              <a:rPr lang="he-IL" smtClean="0"/>
              <a:pPr>
                <a:defRPr/>
              </a:pPr>
              <a:t>28/01/2024 18:13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2492CE68-B51A-4C2A-9531-077EDE582F06}" type="slidenum">
              <a:rPr lang="he-IL" sz="1400"/>
              <a:pPr eaLnBrk="1" hangingPunct="1"/>
              <a:t>42</a:t>
            </a:fld>
            <a:endParaRPr lang="en-US" sz="1400"/>
          </a:p>
        </p:txBody>
      </p:sp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>
          <a:xfrm>
            <a:off x="2095500" y="0"/>
            <a:ext cx="7772400" cy="1143000"/>
          </a:xfrm>
        </p:spPr>
        <p:txBody>
          <a:bodyPr/>
          <a:lstStyle/>
          <a:p>
            <a:pPr eaLnBrk="1" hangingPunct="1"/>
            <a:r>
              <a:rPr lang="en-US"/>
              <a:t>Monitors (2)</a:t>
            </a:r>
          </a:p>
        </p:txBody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95450" y="5743576"/>
            <a:ext cx="8972550" cy="11144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/>
              <a:t>Outline of producer-consumer problem with monitors</a:t>
            </a:r>
            <a:endParaRPr lang="en-US" sz="2400"/>
          </a:p>
          <a:p>
            <a:pPr lvl="1" eaLnBrk="1" hangingPunct="1">
              <a:lnSpc>
                <a:spcPct val="90000"/>
              </a:lnSpc>
            </a:pPr>
            <a:r>
              <a:rPr lang="en-US" sz="2000"/>
              <a:t>only one monitor procedure active at one time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/>
              <a:t>buffer has </a:t>
            </a:r>
            <a:r>
              <a:rPr lang="en-US" sz="2000" i="1"/>
              <a:t>N</a:t>
            </a:r>
            <a:r>
              <a:rPr lang="en-US" sz="2000"/>
              <a:t> slots</a:t>
            </a:r>
          </a:p>
        </p:txBody>
      </p:sp>
      <p:pic>
        <p:nvPicPr>
          <p:cNvPr id="40965" name="Picture 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395"/>
          <a:stretch>
            <a:fillRect/>
          </a:stretch>
        </p:blipFill>
        <p:spPr bwMode="auto">
          <a:xfrm>
            <a:off x="1885950" y="987425"/>
            <a:ext cx="3733800" cy="4770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6" name="Picture 7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638"/>
          <a:stretch>
            <a:fillRect/>
          </a:stretch>
        </p:blipFill>
        <p:spPr bwMode="auto">
          <a:xfrm>
            <a:off x="6172200" y="1276350"/>
            <a:ext cx="3733800" cy="3721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ECC6D8C-CA87-431E-A226-127F6DBDD4E1}" type="datetime12">
              <a:rPr lang="he-IL" smtClean="0"/>
              <a:pPr>
                <a:defRPr/>
              </a:pPr>
              <a:t>28/01/2024 18:13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9C3498B2-4F73-474E-ACE1-E320B8CF4A7D}" type="slidenum">
              <a:rPr lang="he-IL" sz="1400"/>
              <a:pPr eaLnBrk="1" hangingPunct="1"/>
              <a:t>43</a:t>
            </a:fld>
            <a:endParaRPr lang="en-US" sz="1400"/>
          </a:p>
        </p:txBody>
      </p:sp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>
          <a:xfrm>
            <a:off x="2066925" y="0"/>
            <a:ext cx="7772400" cy="1143000"/>
          </a:xfrm>
        </p:spPr>
        <p:txBody>
          <a:bodyPr/>
          <a:lstStyle/>
          <a:p>
            <a:pPr eaLnBrk="1" hangingPunct="1"/>
            <a:r>
              <a:rPr lang="en-US"/>
              <a:t>Monitors (3)</a:t>
            </a:r>
          </a:p>
        </p:txBody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95475" y="6200776"/>
            <a:ext cx="8458200" cy="485775"/>
          </a:xfrm>
        </p:spPr>
        <p:txBody>
          <a:bodyPr/>
          <a:lstStyle/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en-US" sz="2800"/>
              <a:t>Solution to producer-consumer problem in Java (part 1)</a:t>
            </a:r>
          </a:p>
        </p:txBody>
      </p:sp>
      <p:pic>
        <p:nvPicPr>
          <p:cNvPr id="41989" name="Picture 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2572"/>
          <a:stretch>
            <a:fillRect/>
          </a:stretch>
        </p:blipFill>
        <p:spPr bwMode="auto">
          <a:xfrm>
            <a:off x="3009901" y="969963"/>
            <a:ext cx="5610225" cy="528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4D2C5E8-DC26-4DFC-A0F6-AF6708C22F20}" type="datetime12">
              <a:rPr lang="he-IL" smtClean="0"/>
              <a:pPr>
                <a:defRPr/>
              </a:pPr>
              <a:t>28/01/2024 18:13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מציין מיקום של מספר שקופית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FB1ED59F-15F1-4A72-B50D-A83AAE37879B}" type="slidenum">
              <a:rPr lang="he-IL" sz="1400"/>
              <a:pPr eaLnBrk="1" hangingPunct="1"/>
              <a:t>44</a:t>
            </a:fld>
            <a:endParaRPr lang="en-US" sz="1400"/>
          </a:p>
        </p:txBody>
      </p:sp>
      <p:sp>
        <p:nvSpPr>
          <p:cNvPr id="430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Monitors (4)</a:t>
            </a:r>
          </a:p>
        </p:txBody>
      </p:sp>
      <p:pic>
        <p:nvPicPr>
          <p:cNvPr id="43012" name="Picture 6" descr="Picture2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90800" y="1236663"/>
            <a:ext cx="7023100" cy="4945062"/>
          </a:xfrm>
          <a:noFill/>
        </p:spPr>
      </p:pic>
      <p:sp>
        <p:nvSpPr>
          <p:cNvPr id="43013" name="מלבן 1"/>
          <p:cNvSpPr>
            <a:spLocks noChangeArrowheads="1"/>
          </p:cNvSpPr>
          <p:nvPr/>
        </p:nvSpPr>
        <p:spPr bwMode="auto">
          <a:xfrm>
            <a:off x="3829050" y="1917701"/>
            <a:ext cx="1146856" cy="25717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43014" name="מלבן 5"/>
          <p:cNvSpPr>
            <a:spLocks noChangeArrowheads="1"/>
          </p:cNvSpPr>
          <p:nvPr/>
        </p:nvSpPr>
        <p:spPr bwMode="auto">
          <a:xfrm>
            <a:off x="3819525" y="3468689"/>
            <a:ext cx="1175431" cy="255587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46B9561-520C-4A65-B2B0-A709A29F78C6}" type="datetime12">
              <a:rPr lang="he-IL" smtClean="0"/>
              <a:pPr>
                <a:defRPr/>
              </a:pPr>
              <a:t>28/01/2024 18:13</a:t>
            </a:fld>
            <a:endParaRPr lang="en-US"/>
          </a:p>
        </p:txBody>
      </p:sp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58274D39-7AEF-4718-B375-E00836BC7DA3}"/>
              </a:ext>
            </a:extLst>
          </p:cNvPr>
          <p:cNvSpPr txBox="1"/>
          <p:nvPr/>
        </p:nvSpPr>
        <p:spPr>
          <a:xfrm>
            <a:off x="3080659" y="2101235"/>
            <a:ext cx="598714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1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while</a:t>
            </a:r>
            <a:endParaRPr lang="he-IL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7FF0FEFE-92CB-4925-BDE1-C51ED2441029}"/>
              </a:ext>
            </a:extLst>
          </p:cNvPr>
          <p:cNvSpPr txBox="1"/>
          <p:nvPr/>
        </p:nvSpPr>
        <p:spPr>
          <a:xfrm>
            <a:off x="3048002" y="3897378"/>
            <a:ext cx="598714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1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while</a:t>
            </a:r>
            <a:endParaRPr lang="he-IL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תיבת טקסט 10">
            <a:extLst>
              <a:ext uri="{FF2B5EF4-FFF2-40B4-BE49-F238E27FC236}">
                <a16:creationId xmlns:a16="http://schemas.microsoft.com/office/drawing/2014/main" id="{EC93D84D-3A45-4C21-9CF1-D984414B82C9}"/>
              </a:ext>
            </a:extLst>
          </p:cNvPr>
          <p:cNvSpPr txBox="1"/>
          <p:nvPr/>
        </p:nvSpPr>
        <p:spPr>
          <a:xfrm>
            <a:off x="5344884" y="4668484"/>
            <a:ext cx="391885" cy="27699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200" dirty="0"/>
              <a:t>All</a:t>
            </a:r>
            <a:endParaRPr lang="he-IL" sz="1100" dirty="0"/>
          </a:p>
        </p:txBody>
      </p:sp>
      <p:sp>
        <p:nvSpPr>
          <p:cNvPr id="12" name="תיבת טקסט 11">
            <a:extLst>
              <a:ext uri="{FF2B5EF4-FFF2-40B4-BE49-F238E27FC236}">
                <a16:creationId xmlns:a16="http://schemas.microsoft.com/office/drawing/2014/main" id="{7F65BAD1-FE2A-4D3F-A1B4-0121E5D25DA7}"/>
              </a:ext>
            </a:extLst>
          </p:cNvPr>
          <p:cNvSpPr txBox="1"/>
          <p:nvPr/>
        </p:nvSpPr>
        <p:spPr>
          <a:xfrm>
            <a:off x="5004481" y="2866800"/>
            <a:ext cx="391885" cy="27699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200" dirty="0"/>
              <a:t>All</a:t>
            </a:r>
            <a:endParaRPr lang="he-IL" sz="1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0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0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30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30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3" grpId="0" animBg="1"/>
      <p:bldP spid="43014" grpId="0" animBg="1"/>
      <p:bldP spid="3" grpId="0" animBg="1"/>
      <p:bldP spid="10" grpId="0" animBg="1"/>
      <p:bldP spid="11" grpId="0"/>
      <p:bldP spid="12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4323B8B9-A6FF-488B-83CF-578B3EF435AA}" type="slidenum">
              <a:rPr lang="he-IL" sz="1400"/>
              <a:pPr eaLnBrk="1" hangingPunct="1"/>
              <a:t>45</a:t>
            </a:fld>
            <a:endParaRPr lang="en-US" sz="1400"/>
          </a:p>
        </p:txBody>
      </p:sp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>
          <a:xfrm>
            <a:off x="2152650" y="0"/>
            <a:ext cx="7772400" cy="914400"/>
          </a:xfrm>
        </p:spPr>
        <p:txBody>
          <a:bodyPr/>
          <a:lstStyle/>
          <a:p>
            <a:pPr eaLnBrk="1" hangingPunct="1"/>
            <a:r>
              <a:rPr lang="en-US" dirty="0"/>
              <a:t>Message Passing</a:t>
            </a:r>
          </a:p>
        </p:txBody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81175" y="6067425"/>
            <a:ext cx="8686800" cy="400050"/>
          </a:xfrm>
        </p:spPr>
        <p:txBody>
          <a:bodyPr/>
          <a:lstStyle/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en-US"/>
              <a:t>The producer-consumer problem with N messages</a:t>
            </a:r>
          </a:p>
        </p:txBody>
      </p:sp>
      <p:pic>
        <p:nvPicPr>
          <p:cNvPr id="44037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7101" y="822326"/>
            <a:ext cx="5457825" cy="5064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038" name="TextBox 1"/>
          <p:cNvSpPr txBox="1">
            <a:spLocks noChangeArrowheads="1"/>
          </p:cNvSpPr>
          <p:nvPr/>
        </p:nvSpPr>
        <p:spPr bwMode="auto">
          <a:xfrm>
            <a:off x="8523515" y="914400"/>
            <a:ext cx="179841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r" rtl="1" eaLnBrk="1" hangingPunct="1">
              <a:buFontTx/>
              <a:buAutoNum type="arabicPeriod"/>
            </a:pPr>
            <a:r>
              <a:rPr lang="he-IL" sz="1400" dirty="0"/>
              <a:t>תיבת דואר</a:t>
            </a:r>
          </a:p>
          <a:p>
            <a:pPr algn="r" rtl="1" eaLnBrk="1" hangingPunct="1">
              <a:buFontTx/>
              <a:buAutoNum type="arabicPeriod"/>
            </a:pPr>
            <a:r>
              <a:rPr lang="he-IL" sz="1400" dirty="0"/>
              <a:t>מפגש </a:t>
            </a:r>
            <a:r>
              <a:rPr lang="en-US" sz="1400" dirty="0"/>
              <a:t>rendezvous</a:t>
            </a:r>
            <a:r>
              <a:rPr lang="he-IL" sz="1400" dirty="0"/>
              <a:t> </a:t>
            </a:r>
          </a:p>
        </p:txBody>
      </p:sp>
      <p:cxnSp>
        <p:nvCxnSpPr>
          <p:cNvPr id="44040" name="מחבר חץ ישר 5"/>
          <p:cNvCxnSpPr>
            <a:cxnSpLocks noChangeShapeType="1"/>
          </p:cNvCxnSpPr>
          <p:nvPr/>
        </p:nvCxnSpPr>
        <p:spPr bwMode="auto">
          <a:xfrm>
            <a:off x="3141663" y="4918076"/>
            <a:ext cx="812800" cy="11113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41" name="מחבר ישר 8"/>
          <p:cNvCxnSpPr>
            <a:cxnSpLocks noChangeShapeType="1"/>
          </p:cNvCxnSpPr>
          <p:nvPr/>
        </p:nvCxnSpPr>
        <p:spPr bwMode="auto">
          <a:xfrm>
            <a:off x="2768601" y="2993572"/>
            <a:ext cx="373063" cy="1935617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42" name="מחבר חץ ישר 14"/>
          <p:cNvCxnSpPr>
            <a:cxnSpLocks noChangeShapeType="1"/>
          </p:cNvCxnSpPr>
          <p:nvPr/>
        </p:nvCxnSpPr>
        <p:spPr bwMode="auto">
          <a:xfrm>
            <a:off x="2768600" y="2684463"/>
            <a:ext cx="1227138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44" name="מחבר ישר 16"/>
          <p:cNvCxnSpPr>
            <a:cxnSpLocks noChangeShapeType="1"/>
          </p:cNvCxnSpPr>
          <p:nvPr/>
        </p:nvCxnSpPr>
        <p:spPr bwMode="auto">
          <a:xfrm>
            <a:off x="2768600" y="2633663"/>
            <a:ext cx="573088" cy="264795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736DA90-E576-4354-B225-B261F6F482DA}" type="datetime12">
              <a:rPr lang="he-IL" smtClean="0"/>
              <a:pPr>
                <a:defRPr/>
              </a:pPr>
              <a:t>28/01/2024 18:13</a:t>
            </a:fld>
            <a:endParaRPr lang="en-US"/>
          </a:p>
        </p:txBody>
      </p:sp>
      <p:cxnSp>
        <p:nvCxnSpPr>
          <p:cNvPr id="12" name="מחבר ישר 11"/>
          <p:cNvCxnSpPr/>
          <p:nvPr/>
        </p:nvCxnSpPr>
        <p:spPr bwMode="auto">
          <a:xfrm>
            <a:off x="3341688" y="5270729"/>
            <a:ext cx="654050" cy="1088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7" name="מחבר ישר 26"/>
          <p:cNvCxnSpPr/>
          <p:nvPr/>
        </p:nvCxnSpPr>
        <p:spPr bwMode="auto">
          <a:xfrm>
            <a:off x="2731409" y="2993571"/>
            <a:ext cx="1223055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3" name="טבלה 3">
            <a:extLst>
              <a:ext uri="{FF2B5EF4-FFF2-40B4-BE49-F238E27FC236}">
                <a16:creationId xmlns:a16="http://schemas.microsoft.com/office/drawing/2014/main" id="{F1457482-EAA5-4D70-8CA8-95AE891563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1273669"/>
              </p:ext>
            </p:extLst>
          </p:nvPr>
        </p:nvGraphicFramePr>
        <p:xfrm>
          <a:off x="10810394" y="1056640"/>
          <a:ext cx="932873" cy="5191760"/>
        </p:xfrm>
        <a:graphic>
          <a:graphicData uri="http://schemas.openxmlformats.org/drawingml/2006/table">
            <a:tbl>
              <a:tblPr rtl="1">
                <a:tableStyleId>{5C22544A-7EE6-4342-B048-85BDC9FD1C3A}</a:tableStyleId>
              </a:tblPr>
              <a:tblGrid>
                <a:gridCol w="932873">
                  <a:extLst>
                    <a:ext uri="{9D8B030D-6E8A-4147-A177-3AD203B41FA5}">
                      <a16:colId xmlns:a16="http://schemas.microsoft.com/office/drawing/2014/main" val="39203898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09119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16538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02246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95923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1339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92018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98921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21581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2107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6311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98929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33237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5784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474503"/>
                  </a:ext>
                </a:extLst>
              </a:tr>
            </a:tbl>
          </a:graphicData>
        </a:graphic>
      </p:graphicFrame>
      <p:sp>
        <p:nvSpPr>
          <p:cNvPr id="5" name="מלבן 4">
            <a:extLst>
              <a:ext uri="{FF2B5EF4-FFF2-40B4-BE49-F238E27FC236}">
                <a16:creationId xmlns:a16="http://schemas.microsoft.com/office/drawing/2014/main" id="{D8107CB3-8BAC-492D-8EF1-38FA7A860B24}"/>
              </a:ext>
            </a:extLst>
          </p:cNvPr>
          <p:cNvSpPr/>
          <p:nvPr/>
        </p:nvSpPr>
        <p:spPr bwMode="auto">
          <a:xfrm>
            <a:off x="10963656" y="5202936"/>
            <a:ext cx="660400" cy="25603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e-IL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7" name="מלבן 16">
            <a:extLst>
              <a:ext uri="{FF2B5EF4-FFF2-40B4-BE49-F238E27FC236}">
                <a16:creationId xmlns:a16="http://schemas.microsoft.com/office/drawing/2014/main" id="{E82640C6-1585-44F6-A6A5-748DC56124A3}"/>
              </a:ext>
            </a:extLst>
          </p:cNvPr>
          <p:cNvSpPr/>
          <p:nvPr/>
        </p:nvSpPr>
        <p:spPr bwMode="auto">
          <a:xfrm>
            <a:off x="10963656" y="5544058"/>
            <a:ext cx="660400" cy="25603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e-IL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8" name="מלבן 17">
            <a:extLst>
              <a:ext uri="{FF2B5EF4-FFF2-40B4-BE49-F238E27FC236}">
                <a16:creationId xmlns:a16="http://schemas.microsoft.com/office/drawing/2014/main" id="{141EA91B-E430-4986-90F4-D41B0ED8EF4B}"/>
              </a:ext>
            </a:extLst>
          </p:cNvPr>
          <p:cNvSpPr/>
          <p:nvPr/>
        </p:nvSpPr>
        <p:spPr bwMode="auto">
          <a:xfrm>
            <a:off x="10963656" y="5939409"/>
            <a:ext cx="660400" cy="25603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e-IL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9" name="מלבן 18">
            <a:extLst>
              <a:ext uri="{FF2B5EF4-FFF2-40B4-BE49-F238E27FC236}">
                <a16:creationId xmlns:a16="http://schemas.microsoft.com/office/drawing/2014/main" id="{B08F0E11-24CE-480F-AC33-81AB19180EF6}"/>
              </a:ext>
            </a:extLst>
          </p:cNvPr>
          <p:cNvSpPr/>
          <p:nvPr/>
        </p:nvSpPr>
        <p:spPr bwMode="auto">
          <a:xfrm>
            <a:off x="10963656" y="4081717"/>
            <a:ext cx="660400" cy="25603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e-IL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0" name="מלבן 19">
            <a:extLst>
              <a:ext uri="{FF2B5EF4-FFF2-40B4-BE49-F238E27FC236}">
                <a16:creationId xmlns:a16="http://schemas.microsoft.com/office/drawing/2014/main" id="{A51AC394-FE9A-445C-BBB8-16BAF89201A5}"/>
              </a:ext>
            </a:extLst>
          </p:cNvPr>
          <p:cNvSpPr/>
          <p:nvPr/>
        </p:nvSpPr>
        <p:spPr bwMode="auto">
          <a:xfrm>
            <a:off x="10963656" y="4422839"/>
            <a:ext cx="660400" cy="25603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e-IL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1" name="מלבן 20">
            <a:extLst>
              <a:ext uri="{FF2B5EF4-FFF2-40B4-BE49-F238E27FC236}">
                <a16:creationId xmlns:a16="http://schemas.microsoft.com/office/drawing/2014/main" id="{D5045DF7-8E01-4662-9179-8F95B4083BCD}"/>
              </a:ext>
            </a:extLst>
          </p:cNvPr>
          <p:cNvSpPr/>
          <p:nvPr/>
        </p:nvSpPr>
        <p:spPr bwMode="auto">
          <a:xfrm>
            <a:off x="10963656" y="4818190"/>
            <a:ext cx="660400" cy="25603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e-IL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3" name="מלבן 22">
            <a:extLst>
              <a:ext uri="{FF2B5EF4-FFF2-40B4-BE49-F238E27FC236}">
                <a16:creationId xmlns:a16="http://schemas.microsoft.com/office/drawing/2014/main" id="{7A475020-90DF-4567-ABD4-E93FA87976F4}"/>
              </a:ext>
            </a:extLst>
          </p:cNvPr>
          <p:cNvSpPr/>
          <p:nvPr/>
        </p:nvSpPr>
        <p:spPr bwMode="auto">
          <a:xfrm>
            <a:off x="5361517" y="3172968"/>
            <a:ext cx="660400" cy="25603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e-IL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הודעה</a:t>
            </a:r>
          </a:p>
        </p:txBody>
      </p:sp>
      <p:sp>
        <p:nvSpPr>
          <p:cNvPr id="24" name="מלבן 23">
            <a:extLst>
              <a:ext uri="{FF2B5EF4-FFF2-40B4-BE49-F238E27FC236}">
                <a16:creationId xmlns:a16="http://schemas.microsoft.com/office/drawing/2014/main" id="{D305C21A-D1E2-4D70-B08F-A056E6C4A3ED}"/>
              </a:ext>
            </a:extLst>
          </p:cNvPr>
          <p:cNvSpPr/>
          <p:nvPr/>
        </p:nvSpPr>
        <p:spPr bwMode="auto">
          <a:xfrm>
            <a:off x="5535613" y="5559552"/>
            <a:ext cx="660400" cy="25603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e-IL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250"/>
                            </p:stCondLst>
                            <p:childTnLst>
                              <p:par>
                                <p:cTn id="5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1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500"/>
                            </p:stCondLst>
                            <p:childTnLst>
                              <p:par>
                                <p:cTn id="5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1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3750"/>
                            </p:stCondLst>
                            <p:childTnLst>
                              <p:par>
                                <p:cTn id="6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1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0"/>
                            </p:stCondLst>
                            <p:childTnLst>
                              <p:par>
                                <p:cTn id="6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6250"/>
                            </p:stCondLst>
                            <p:childTnLst>
                              <p:par>
                                <p:cTn id="7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1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5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263 -0.28935 L -0.25026 -0.28935 C -0.17135 -0.28935 -0.07409 -0.21042 -0.07409 -0.14607 L -0.07409 -0.00209 " pathEditMode="relative" rAng="0" ptsTypes="AAAA">
                                      <p:cBhvr>
                                        <p:cTn id="77" dur="2000" spd="-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604" y="1435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5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0 L 0.22903 0 C 0.33164 0 0.33763 -0.09074 0.33763 -0.12176 C 0.33763 -0.14468 0.4582 -0.11528 0.4582 -0.13819 " pathEditMode="relative" rAng="0" ptsTypes="AAAA">
                                      <p:cBhvr>
                                        <p:cTn id="87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904" y="-692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0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582 -0.13819 L 0.3582 -0.13819 C 0.31367 -0.13819 0.26705 -0.01875 0.26705 0.06435 C 0.22682 0.11227 0.08476 0.07037 0.04479 0.09931 C 0.00442 0.12847 0.03216 0.21042 0.01718 0.22292 " pathEditMode="relative" rAng="0" ptsTypes="AAAAA">
                                      <p:cBhvr>
                                        <p:cTn id="91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057" y="180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xit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0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3.33333E-6 L 0.22383 3.33333E-6 C 0.32396 3.33333E-6 0.33411 -0.20417 0.33411 -0.27686 C 0.33411 -0.33079 0.44766 -0.27061 0.44766 -0.32431 " pathEditMode="relative" rAng="0" ptsTypes="AAAA">
                                      <p:cBhvr>
                                        <p:cTn id="101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383" y="-1622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7" grpId="0" animBg="1"/>
      <p:bldP spid="18" grpId="0" animBg="1"/>
      <p:bldP spid="19" grpId="0" animBg="1"/>
      <p:bldP spid="19" grpId="1" animBg="1"/>
      <p:bldP spid="19" grpId="2" animBg="1"/>
      <p:bldP spid="20" grpId="0" animBg="1"/>
      <p:bldP spid="21" grpId="0" animBg="1"/>
      <p:bldP spid="23" grpId="0" animBg="1"/>
      <p:bldP spid="23" grpId="1" animBg="1"/>
      <p:bldP spid="23" grpId="2" animBg="1"/>
      <p:bldP spid="23" grpId="3" animBg="1"/>
      <p:bldP spid="23" grpId="4" animBg="1"/>
      <p:bldP spid="24" grpId="0" animBg="1"/>
      <p:bldP spid="24" grpId="1" animBg="1"/>
      <p:bldP spid="24" grpId="2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A279F341-BF2F-4568-8CE8-AE098626640C}" type="slidenum">
              <a:rPr lang="he-IL" sz="1400"/>
              <a:pPr eaLnBrk="1" hangingPunct="1"/>
              <a:t>46</a:t>
            </a:fld>
            <a:endParaRPr lang="en-US" sz="1400"/>
          </a:p>
        </p:txBody>
      </p:sp>
      <p:sp>
        <p:nvSpPr>
          <p:cNvPr id="45059" name="Rectangle 2"/>
          <p:cNvSpPr>
            <a:spLocks noGrp="1" noChangeArrowheads="1"/>
          </p:cNvSpPr>
          <p:nvPr>
            <p:ph type="title"/>
          </p:nvPr>
        </p:nvSpPr>
        <p:spPr>
          <a:xfrm>
            <a:off x="2146300" y="0"/>
            <a:ext cx="7772400" cy="1143000"/>
          </a:xfrm>
        </p:spPr>
        <p:txBody>
          <a:bodyPr/>
          <a:lstStyle/>
          <a:p>
            <a:pPr eaLnBrk="1" hangingPunct="1"/>
            <a:r>
              <a:rPr lang="en-US"/>
              <a:t>Barriers</a:t>
            </a:r>
          </a:p>
        </p:txBody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4924426"/>
            <a:ext cx="7772400" cy="11715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/>
              <a:t>Use of a barrier</a:t>
            </a:r>
            <a:endParaRPr lang="en-US" sz="2800"/>
          </a:p>
          <a:p>
            <a:pPr lvl="1" eaLnBrk="1" hangingPunct="1">
              <a:lnSpc>
                <a:spcPct val="90000"/>
              </a:lnSpc>
            </a:pPr>
            <a:r>
              <a:rPr lang="en-US"/>
              <a:t>processes approaching a barrier</a:t>
            </a:r>
          </a:p>
          <a:p>
            <a:pPr lvl="1" eaLnBrk="1" hangingPunct="1">
              <a:lnSpc>
                <a:spcPct val="90000"/>
              </a:lnSpc>
            </a:pPr>
            <a:r>
              <a:rPr lang="en-US"/>
              <a:t>all processes but one blocked at barrier</a:t>
            </a:r>
          </a:p>
          <a:p>
            <a:pPr lvl="1" eaLnBrk="1" hangingPunct="1">
              <a:lnSpc>
                <a:spcPct val="90000"/>
              </a:lnSpc>
            </a:pPr>
            <a:r>
              <a:rPr lang="en-US"/>
              <a:t>last process arrives, all are let through</a:t>
            </a:r>
            <a:endParaRPr lang="en-US" sz="2400"/>
          </a:p>
        </p:txBody>
      </p:sp>
      <p:pic>
        <p:nvPicPr>
          <p:cNvPr id="45061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30" t="42694" r="17986" b="37154"/>
          <a:stretch>
            <a:fillRect/>
          </a:stretch>
        </p:blipFill>
        <p:spPr bwMode="auto">
          <a:xfrm>
            <a:off x="2640013" y="1387476"/>
            <a:ext cx="7219950" cy="331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0695D56-67A3-4B7F-82B6-3A407A9C21B0}" type="datetime12">
              <a:rPr lang="he-IL" smtClean="0"/>
              <a:pPr>
                <a:defRPr/>
              </a:pPr>
              <a:t>28/01/2024 18:13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0445CCC8-1312-4595-8049-78848549EAF8}" type="slidenum">
              <a:rPr lang="he-IL" sz="1400"/>
              <a:pPr eaLnBrk="1" hangingPunct="1"/>
              <a:t>47</a:t>
            </a:fld>
            <a:endParaRPr lang="en-US" sz="1400"/>
          </a:p>
        </p:txBody>
      </p:sp>
      <p:sp>
        <p:nvSpPr>
          <p:cNvPr id="46083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-46038"/>
            <a:ext cx="8637588" cy="1189038"/>
          </a:xfrm>
        </p:spPr>
        <p:txBody>
          <a:bodyPr/>
          <a:lstStyle/>
          <a:p>
            <a:pPr eaLnBrk="1" hangingPunct="1"/>
            <a:r>
              <a:rPr lang="en-US"/>
              <a:t>Dining Philosophers (1)</a:t>
            </a:r>
            <a:endParaRPr lang="en-US" sz="4000"/>
          </a:p>
        </p:txBody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08151" y="2085975"/>
            <a:ext cx="4765675" cy="24955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/>
              <a:t>Philosophers eat/think</a:t>
            </a:r>
          </a:p>
          <a:p>
            <a:pPr eaLnBrk="1" hangingPunct="1">
              <a:lnSpc>
                <a:spcPct val="90000"/>
              </a:lnSpc>
            </a:pPr>
            <a:r>
              <a:rPr lang="en-US"/>
              <a:t>Eating needs 2 forks</a:t>
            </a:r>
          </a:p>
          <a:p>
            <a:pPr eaLnBrk="1" hangingPunct="1">
              <a:lnSpc>
                <a:spcPct val="90000"/>
              </a:lnSpc>
            </a:pPr>
            <a:r>
              <a:rPr lang="en-US"/>
              <a:t>Pick one fork at a time </a:t>
            </a:r>
          </a:p>
          <a:p>
            <a:pPr eaLnBrk="1" hangingPunct="1">
              <a:lnSpc>
                <a:spcPct val="90000"/>
              </a:lnSpc>
            </a:pPr>
            <a:r>
              <a:rPr lang="en-US"/>
              <a:t>How to prevent deadlock </a:t>
            </a:r>
          </a:p>
          <a:p>
            <a:pPr lvl="1" eaLnBrk="1" hangingPunct="1">
              <a:lnSpc>
                <a:spcPct val="90000"/>
              </a:lnSpc>
            </a:pPr>
            <a:endParaRPr lang="en-US"/>
          </a:p>
          <a:p>
            <a:pPr eaLnBrk="1" hangingPunct="1">
              <a:lnSpc>
                <a:spcPct val="90000"/>
              </a:lnSpc>
            </a:pPr>
            <a:endParaRPr lang="en-US"/>
          </a:p>
        </p:txBody>
      </p:sp>
      <p:pic>
        <p:nvPicPr>
          <p:cNvPr id="46085" name="Picture 6" descr="2-3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9576" y="1604964"/>
            <a:ext cx="3425825" cy="324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086" name="Oval 7"/>
          <p:cNvSpPr>
            <a:spLocks noChangeArrowheads="1"/>
          </p:cNvSpPr>
          <p:nvPr/>
        </p:nvSpPr>
        <p:spPr bwMode="auto">
          <a:xfrm>
            <a:off x="6769100" y="1536700"/>
            <a:ext cx="3378200" cy="33909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D96A20F-7720-4684-88D1-9D98397783CB}" type="datetime12">
              <a:rPr lang="he-IL" smtClean="0"/>
              <a:pPr>
                <a:defRPr/>
              </a:pPr>
              <a:t>28/01/2024 18:13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97FF96CF-B235-4989-8B39-7BEA2A8AF5B6}" type="slidenum">
              <a:rPr lang="he-IL" sz="1400"/>
              <a:pPr eaLnBrk="1" hangingPunct="1"/>
              <a:t>48</a:t>
            </a:fld>
            <a:endParaRPr lang="en-US" sz="1400"/>
          </a:p>
        </p:txBody>
      </p:sp>
      <p:sp>
        <p:nvSpPr>
          <p:cNvPr id="471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Dining Philosophers (2)</a:t>
            </a:r>
            <a:endParaRPr lang="en-US" sz="4000"/>
          </a:p>
        </p:txBody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0700" y="5753100"/>
            <a:ext cx="8610600" cy="342900"/>
          </a:xfrm>
        </p:spPr>
        <p:txBody>
          <a:bodyPr/>
          <a:lstStyle/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en-US"/>
              <a:t>A </a:t>
            </a:r>
            <a:r>
              <a:rPr lang="en-US" u="sng"/>
              <a:t>non</a:t>
            </a:r>
            <a:r>
              <a:rPr lang="en-US"/>
              <a:t>solution to the dining philosophers problem</a:t>
            </a:r>
          </a:p>
        </p:txBody>
      </p:sp>
      <p:pic>
        <p:nvPicPr>
          <p:cNvPr id="47109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9725" y="1289051"/>
            <a:ext cx="8764588" cy="3935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7110" name="מחבר חץ ישר 2"/>
          <p:cNvCxnSpPr>
            <a:cxnSpLocks noChangeShapeType="1"/>
          </p:cNvCxnSpPr>
          <p:nvPr/>
        </p:nvCxnSpPr>
        <p:spPr bwMode="auto">
          <a:xfrm>
            <a:off x="1903414" y="3546475"/>
            <a:ext cx="712787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3E53EDE-0802-4EFA-A448-486A30EAE036}" type="datetime12">
              <a:rPr lang="he-IL" smtClean="0"/>
              <a:pPr>
                <a:defRPr/>
              </a:pPr>
              <a:t>28/01/2024 18:13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71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7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7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EA5411AE-E438-48D2-8AB8-41DA8A994E82}" type="slidenum">
              <a:rPr lang="he-IL" sz="1400"/>
              <a:pPr eaLnBrk="1" hangingPunct="1"/>
              <a:t>49</a:t>
            </a:fld>
            <a:endParaRPr lang="en-US" sz="1400"/>
          </a:p>
        </p:txBody>
      </p:sp>
      <p:sp>
        <p:nvSpPr>
          <p:cNvPr id="481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Dining Philosophers (3)</a:t>
            </a:r>
            <a:endParaRPr lang="en-US" sz="4000"/>
          </a:p>
        </p:txBody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47850" y="6286500"/>
            <a:ext cx="8610600" cy="514350"/>
          </a:xfrm>
        </p:spPr>
        <p:txBody>
          <a:bodyPr/>
          <a:lstStyle/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en-US"/>
              <a:t>Solution to dining philosophers problem (part 1)</a:t>
            </a:r>
          </a:p>
        </p:txBody>
      </p:sp>
      <p:pic>
        <p:nvPicPr>
          <p:cNvPr id="48133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594"/>
          <a:stretch>
            <a:fillRect/>
          </a:stretch>
        </p:blipFill>
        <p:spPr bwMode="auto">
          <a:xfrm>
            <a:off x="2259013" y="1182689"/>
            <a:ext cx="7866062" cy="4979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9FA0826-63FE-48D0-84EA-FF3F4720B9A7}" type="datetime12">
              <a:rPr lang="he-IL" smtClean="0"/>
              <a:pPr>
                <a:defRPr/>
              </a:pPr>
              <a:t>28/01/2024 18:13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CA44547E-A655-4208-BD0B-6F16E458ABC2}" type="slidenum">
              <a:rPr lang="he-IL" sz="1400"/>
              <a:pPr eaLnBrk="1" hangingPunct="1"/>
              <a:t>50</a:t>
            </a:fld>
            <a:endParaRPr lang="en-US" sz="1400"/>
          </a:p>
        </p:txBody>
      </p:sp>
      <p:sp>
        <p:nvSpPr>
          <p:cNvPr id="49155" name="Rectangle 2"/>
          <p:cNvSpPr>
            <a:spLocks noGrp="1" noChangeArrowheads="1"/>
          </p:cNvSpPr>
          <p:nvPr>
            <p:ph type="title"/>
          </p:nvPr>
        </p:nvSpPr>
        <p:spPr>
          <a:xfrm>
            <a:off x="2124075" y="0"/>
            <a:ext cx="7772400" cy="1143000"/>
          </a:xfrm>
        </p:spPr>
        <p:txBody>
          <a:bodyPr/>
          <a:lstStyle/>
          <a:p>
            <a:pPr eaLnBrk="1" hangingPunct="1"/>
            <a:r>
              <a:rPr lang="en-US"/>
              <a:t>Dining Philosophers (4)</a:t>
            </a:r>
            <a:endParaRPr lang="en-US" sz="4000"/>
          </a:p>
        </p:txBody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14550" y="6343650"/>
            <a:ext cx="8077200" cy="514350"/>
          </a:xfrm>
        </p:spPr>
        <p:txBody>
          <a:bodyPr/>
          <a:lstStyle/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en-US"/>
              <a:t>Solution to dining philosophers problem (part 2)</a:t>
            </a:r>
          </a:p>
        </p:txBody>
      </p:sp>
      <p:pic>
        <p:nvPicPr>
          <p:cNvPr id="49157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960"/>
          <a:stretch>
            <a:fillRect/>
          </a:stretch>
        </p:blipFill>
        <p:spPr bwMode="auto">
          <a:xfrm>
            <a:off x="2809875" y="1066800"/>
            <a:ext cx="6669088" cy="5118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158" name="מלבן 1"/>
          <p:cNvSpPr>
            <a:spLocks noChangeArrowheads="1"/>
          </p:cNvSpPr>
          <p:nvPr/>
        </p:nvSpPr>
        <p:spPr bwMode="auto">
          <a:xfrm>
            <a:off x="3141663" y="1582738"/>
            <a:ext cx="1928812" cy="781050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49159" name="מלבן 2"/>
          <p:cNvSpPr>
            <a:spLocks noChangeArrowheads="1"/>
          </p:cNvSpPr>
          <p:nvPr/>
        </p:nvSpPr>
        <p:spPr bwMode="auto">
          <a:xfrm>
            <a:off x="3141664" y="3289301"/>
            <a:ext cx="2084387" cy="111601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he-IL"/>
          </a:p>
        </p:txBody>
      </p:sp>
      <p:cxnSp>
        <p:nvCxnSpPr>
          <p:cNvPr id="49160" name="מחבר חץ ישר 4"/>
          <p:cNvCxnSpPr>
            <a:cxnSpLocks noChangeShapeType="1"/>
          </p:cNvCxnSpPr>
          <p:nvPr/>
        </p:nvCxnSpPr>
        <p:spPr bwMode="auto">
          <a:xfrm flipV="1">
            <a:off x="2345635" y="2424045"/>
            <a:ext cx="748322" cy="24957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75386DE-51DB-433D-B267-ED5662E665E6}" type="datetime12">
              <a:rPr lang="he-IL" smtClean="0"/>
              <a:pPr>
                <a:defRPr/>
              </a:pPr>
              <a:t>28/01/2024 18:13</a:t>
            </a:fld>
            <a:endParaRPr lang="en-US"/>
          </a:p>
        </p:txBody>
      </p:sp>
      <p:pic>
        <p:nvPicPr>
          <p:cNvPr id="10" name="Picture 6" descr="2-31">
            <a:extLst>
              <a:ext uri="{FF2B5EF4-FFF2-40B4-BE49-F238E27FC236}">
                <a16:creationId xmlns:a16="http://schemas.microsoft.com/office/drawing/2014/main" id="{C592CB3F-F662-4FD3-9650-ED69A8B5E4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0107" y="843756"/>
            <a:ext cx="2467568" cy="25852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26">
            <a:extLst>
              <a:ext uri="{FF2B5EF4-FFF2-40B4-BE49-F238E27FC236}">
                <a16:creationId xmlns:a16="http://schemas.microsoft.com/office/drawing/2014/main" id="{B523EF1E-3E40-4947-9B64-243703085A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1908" y="2295014"/>
            <a:ext cx="51504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1400" dirty="0" err="1"/>
              <a:t>c.sw</a:t>
            </a:r>
            <a:endParaRPr lang="he-IL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49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49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49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49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500"/>
                                        <p:tgtEl>
                                          <p:spTgt spid="491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500" fill="hold"/>
                                        <p:tgtEl>
                                          <p:spTgt spid="49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500" fill="hold"/>
                                        <p:tgtEl>
                                          <p:spTgt spid="49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8" grpId="0" animBg="1"/>
      <p:bldP spid="49159" grpId="0" animBg="1"/>
      <p:bldP spid="13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6825DA53-A28E-4155-B686-9BB6D4A5067D}" type="slidenum">
              <a:rPr lang="he-IL" sz="1400"/>
              <a:pPr eaLnBrk="1" hangingPunct="1"/>
              <a:t>51</a:t>
            </a:fld>
            <a:endParaRPr lang="en-US" sz="1400"/>
          </a:p>
        </p:txBody>
      </p:sp>
      <p:sp>
        <p:nvSpPr>
          <p:cNvPr id="50179" name="Rectangle 2"/>
          <p:cNvSpPr>
            <a:spLocks noGrp="1" noChangeArrowheads="1"/>
          </p:cNvSpPr>
          <p:nvPr>
            <p:ph type="title"/>
          </p:nvPr>
        </p:nvSpPr>
        <p:spPr>
          <a:xfrm>
            <a:off x="1724026" y="0"/>
            <a:ext cx="8715375" cy="1143000"/>
          </a:xfrm>
        </p:spPr>
        <p:txBody>
          <a:bodyPr/>
          <a:lstStyle/>
          <a:p>
            <a:pPr eaLnBrk="1" hangingPunct="1"/>
            <a:r>
              <a:rPr lang="en-US"/>
              <a:t>The Readers and Writers Problem</a:t>
            </a:r>
            <a:endParaRPr lang="en-US" sz="4000"/>
          </a:p>
        </p:txBody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6181726"/>
            <a:ext cx="7772400" cy="257175"/>
          </a:xfrm>
        </p:spPr>
        <p:txBody>
          <a:bodyPr/>
          <a:lstStyle/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en-US"/>
              <a:t>A solution to the readers and writers problem</a:t>
            </a:r>
          </a:p>
        </p:txBody>
      </p:sp>
      <p:pic>
        <p:nvPicPr>
          <p:cNvPr id="50181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4925" y="996950"/>
            <a:ext cx="4503738" cy="500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11EEE6A-8734-4417-BE24-0CDB6E3ED3B4}" type="datetime12">
              <a:rPr lang="he-IL" smtClean="0"/>
              <a:pPr>
                <a:defRPr/>
              </a:pPr>
              <a:t>28/01/2024 18:13</a:t>
            </a:fld>
            <a:endParaRPr lang="en-US"/>
          </a:p>
        </p:txBody>
      </p:sp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61A8E6EE-411F-4064-9ECF-5D8D0F747428}"/>
              </a:ext>
            </a:extLst>
          </p:cNvPr>
          <p:cNvSpPr txBox="1"/>
          <p:nvPr/>
        </p:nvSpPr>
        <p:spPr>
          <a:xfrm>
            <a:off x="2784767" y="2335876"/>
            <a:ext cx="1313408" cy="30777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400" dirty="0" err="1"/>
              <a:t>enterRegion</a:t>
            </a:r>
            <a:r>
              <a:rPr lang="en-US" sz="1400" dirty="0"/>
              <a:t>(){</a:t>
            </a:r>
            <a:endParaRPr lang="he-IL" sz="1400" dirty="0"/>
          </a:p>
        </p:txBody>
      </p:sp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75C730D9-CCD2-47C5-A7A8-DD68A2266231}"/>
              </a:ext>
            </a:extLst>
          </p:cNvPr>
          <p:cNvSpPr txBox="1"/>
          <p:nvPr/>
        </p:nvSpPr>
        <p:spPr>
          <a:xfrm>
            <a:off x="2854037" y="3200697"/>
            <a:ext cx="1388226" cy="30777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400"/>
              <a:t>leaveRegion</a:t>
            </a:r>
            <a:r>
              <a:rPr lang="en-US" sz="1400" dirty="0"/>
              <a:t>(){</a:t>
            </a:r>
            <a:endParaRPr lang="he-IL" sz="1400" dirty="0"/>
          </a:p>
        </p:txBody>
      </p:sp>
      <p:sp>
        <p:nvSpPr>
          <p:cNvPr id="9" name="מלבן 1">
            <a:extLst>
              <a:ext uri="{FF2B5EF4-FFF2-40B4-BE49-F238E27FC236}">
                <a16:creationId xmlns:a16="http://schemas.microsoft.com/office/drawing/2014/main" id="{8B20C506-C039-400C-A47C-027C54A401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4304" y="2402378"/>
            <a:ext cx="1487979" cy="61734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10" name="מלבן 1">
            <a:extLst>
              <a:ext uri="{FF2B5EF4-FFF2-40B4-BE49-F238E27FC236}">
                <a16:creationId xmlns:a16="http://schemas.microsoft.com/office/drawing/2014/main" id="{B44217E2-CDA0-4EDA-A4EA-AF60365893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4304" y="3200697"/>
            <a:ext cx="1487979" cy="61734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E83BAFF6-BCEA-7FE7-CB14-65007F40C21F}"/>
              </a:ext>
            </a:extLst>
          </p:cNvPr>
          <p:cNvSpPr txBox="1"/>
          <p:nvPr/>
        </p:nvSpPr>
        <p:spPr>
          <a:xfrm>
            <a:off x="4098175" y="2219417"/>
            <a:ext cx="4077636" cy="190063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endParaRPr lang="en-IL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9" grpId="0" animBg="1"/>
      <p:bldP spid="10" grpId="0" animBg="1"/>
      <p:bldP spid="4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EB537727-51E1-4451-B35A-0166DF686D22}" type="slidenum">
              <a:rPr lang="he-IL" sz="1400"/>
              <a:pPr eaLnBrk="1" hangingPunct="1"/>
              <a:t>52</a:t>
            </a:fld>
            <a:endParaRPr lang="en-US" sz="1400"/>
          </a:p>
        </p:txBody>
      </p:sp>
      <p:sp>
        <p:nvSpPr>
          <p:cNvPr id="51203" name="Rectangle 2"/>
          <p:cNvSpPr>
            <a:spLocks noGrp="1" noChangeArrowheads="1"/>
          </p:cNvSpPr>
          <p:nvPr>
            <p:ph type="title"/>
          </p:nvPr>
        </p:nvSpPr>
        <p:spPr>
          <a:xfrm>
            <a:off x="2066925" y="0"/>
            <a:ext cx="7772400" cy="1143000"/>
          </a:xfrm>
        </p:spPr>
        <p:txBody>
          <a:bodyPr/>
          <a:lstStyle/>
          <a:p>
            <a:pPr eaLnBrk="1" hangingPunct="1"/>
            <a:r>
              <a:rPr lang="en-US"/>
              <a:t>The Sleeping Barber Problem (1)</a:t>
            </a:r>
            <a:endParaRPr lang="en-US" sz="4000"/>
          </a:p>
        </p:txBody>
      </p:sp>
      <p:pic>
        <p:nvPicPr>
          <p:cNvPr id="51204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14" t="36014" r="16373" b="26724"/>
          <a:stretch>
            <a:fillRect/>
          </a:stretch>
        </p:blipFill>
        <p:spPr bwMode="auto">
          <a:xfrm>
            <a:off x="3243263" y="1430338"/>
            <a:ext cx="6191250" cy="5230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DFCC638-9552-4402-8777-A27D509F6952}" type="datetime12">
              <a:rPr lang="he-IL" smtClean="0"/>
              <a:pPr>
                <a:defRPr/>
              </a:pPr>
              <a:t>28/01/2024 18:13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FE0B35B9-D035-4AB9-AB22-0F34A5A7A679}" type="slidenum">
              <a:rPr lang="he-IL" sz="1400"/>
              <a:pPr eaLnBrk="1" hangingPunct="1"/>
              <a:t>53</a:t>
            </a:fld>
            <a:endParaRPr lang="en-US" sz="1400"/>
          </a:p>
        </p:txBody>
      </p:sp>
      <p:sp>
        <p:nvSpPr>
          <p:cNvPr id="52227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1"/>
            <a:ext cx="7772400" cy="828675"/>
          </a:xfrm>
        </p:spPr>
        <p:txBody>
          <a:bodyPr/>
          <a:lstStyle/>
          <a:p>
            <a:pPr eaLnBrk="1" hangingPunct="1"/>
            <a:r>
              <a:rPr lang="en-US"/>
              <a:t>The Sleeping Barber Problem (2)</a:t>
            </a:r>
            <a:endParaRPr lang="en-US" sz="4000"/>
          </a:p>
        </p:txBody>
      </p:sp>
      <p:pic>
        <p:nvPicPr>
          <p:cNvPr id="52228" name="Picture 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0775" y="808038"/>
            <a:ext cx="4749800" cy="5675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29" name="Text Box 5"/>
          <p:cNvSpPr txBox="1">
            <a:spLocks noChangeArrowheads="1"/>
          </p:cNvSpPr>
          <p:nvPr/>
        </p:nvSpPr>
        <p:spPr bwMode="auto">
          <a:xfrm>
            <a:off x="4559300" y="6235701"/>
            <a:ext cx="50673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>
                <a:solidFill>
                  <a:schemeClr val="accent2"/>
                </a:solidFill>
              </a:rPr>
              <a:t>Solution to sleeping barber problem.</a:t>
            </a:r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3097BFB-35BC-4404-B812-D4238868205F}" type="datetime12">
              <a:rPr lang="he-IL" smtClean="0"/>
              <a:pPr>
                <a:defRPr/>
              </a:pPr>
              <a:t>28/01/2024 18:13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80EED577-5C82-4664-A2A1-18A055534152}" type="slidenum">
              <a:rPr lang="he-IL" sz="1400"/>
              <a:pPr eaLnBrk="1" hangingPunct="1"/>
              <a:t>54</a:t>
            </a:fld>
            <a:endParaRPr lang="en-US" sz="1400"/>
          </a:p>
        </p:txBody>
      </p:sp>
      <p:sp>
        <p:nvSpPr>
          <p:cNvPr id="532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Scheduling</a:t>
            </a:r>
            <a:br>
              <a:rPr lang="en-US"/>
            </a:br>
            <a:r>
              <a:rPr lang="en-US" sz="3600"/>
              <a:t>Introduction to Scheduling (1)</a:t>
            </a:r>
            <a:endParaRPr lang="en-US"/>
          </a:p>
        </p:txBody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95475" y="5010150"/>
            <a:ext cx="8458200" cy="9715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/>
              <a:t>Bursts of CPU usage alternate with periods of I/O wait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a CPU-bound process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an I/O bound process</a:t>
            </a:r>
          </a:p>
        </p:txBody>
      </p:sp>
      <p:pic>
        <p:nvPicPr>
          <p:cNvPr id="53253" name="Picture 7" descr="2-37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3613" y="1724026"/>
            <a:ext cx="7435850" cy="298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1F7BD83-142E-4446-A53B-765D0CC822AB}" type="datetime12">
              <a:rPr lang="he-IL" smtClean="0"/>
              <a:pPr>
                <a:defRPr/>
              </a:pPr>
              <a:t>28/01/2024 18:13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מציין מיקום של מספר שקופית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7F029057-8ECF-4DC1-B532-2FD0EB98B811}" type="slidenum">
              <a:rPr lang="he-IL" sz="1400"/>
              <a:pPr eaLnBrk="1" hangingPunct="1"/>
              <a:t>55</a:t>
            </a:fld>
            <a:endParaRPr lang="en-US" sz="1400"/>
          </a:p>
        </p:txBody>
      </p:sp>
      <p:sp>
        <p:nvSpPr>
          <p:cNvPr id="54275" name="Rectangle 2"/>
          <p:cNvSpPr>
            <a:spLocks noChangeArrowheads="1"/>
          </p:cNvSpPr>
          <p:nvPr/>
        </p:nvSpPr>
        <p:spPr bwMode="auto">
          <a:xfrm>
            <a:off x="3213100" y="1781653"/>
            <a:ext cx="2971800" cy="304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 marL="609600" indent="-609600" eaLnBrk="0" hangingPunct="0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800" dirty="0">
                <a:latin typeface="Arial" pitchFamily="34" charset="0"/>
              </a:rPr>
              <a:t>Batch</a:t>
            </a:r>
          </a:p>
          <a:p>
            <a:pPr marL="609600" indent="-609600" eaLnBrk="0" hangingPunct="0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800" dirty="0">
                <a:latin typeface="Arial" pitchFamily="34" charset="0"/>
              </a:rPr>
              <a:t>Interactive</a:t>
            </a:r>
          </a:p>
          <a:p>
            <a:pPr marL="609600" indent="-609600" eaLnBrk="0" hangingPunct="0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800" dirty="0">
                <a:latin typeface="Arial" pitchFamily="34" charset="0"/>
              </a:rPr>
              <a:t>Real time</a:t>
            </a:r>
          </a:p>
        </p:txBody>
      </p:sp>
      <p:sp>
        <p:nvSpPr>
          <p:cNvPr id="54276" name="Rectangle 3"/>
          <p:cNvSpPr>
            <a:spLocks noChangeArrowheads="1"/>
          </p:cNvSpPr>
          <p:nvPr/>
        </p:nvSpPr>
        <p:spPr bwMode="auto">
          <a:xfrm>
            <a:off x="1524000" y="0"/>
            <a:ext cx="9144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/>
          <a:p>
            <a:pPr algn="ctr" eaLnBrk="0" hangingPunct="0"/>
            <a:r>
              <a:rPr lang="en-US" sz="3600">
                <a:solidFill>
                  <a:srgbClr val="FF0000"/>
                </a:solidFill>
                <a:latin typeface="Arial" pitchFamily="34" charset="0"/>
              </a:rPr>
              <a:t>Categories of Scheduling Algorithms</a:t>
            </a:r>
          </a:p>
        </p:txBody>
      </p:sp>
      <p:sp>
        <p:nvSpPr>
          <p:cNvPr id="54277" name="Rectangle 4"/>
          <p:cNvSpPr>
            <a:spLocks noChangeArrowheads="1"/>
          </p:cNvSpPr>
          <p:nvPr/>
        </p:nvSpPr>
        <p:spPr bwMode="auto">
          <a:xfrm>
            <a:off x="1701800" y="6565901"/>
            <a:ext cx="8712200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/>
          <a:p>
            <a:pPr algn="ctr"/>
            <a:r>
              <a:rPr lang="en-US" sz="1200">
                <a:solidFill>
                  <a:srgbClr val="898989"/>
                </a:solidFill>
              </a:rPr>
              <a:t>Tanenbaum, Modern Operating Systems 3 e, (c) 2008 Prentice-Hall, Inc. All rights reserved. 0-13-</a:t>
            </a:r>
            <a:r>
              <a:rPr lang="en-US" sz="1200" b="1">
                <a:solidFill>
                  <a:srgbClr val="898989"/>
                </a:solidFill>
              </a:rPr>
              <a:t>6006639</a:t>
            </a:r>
          </a:p>
        </p:txBody>
      </p:sp>
      <p:sp>
        <p:nvSpPr>
          <p:cNvPr id="54278" name="TextBox 1"/>
          <p:cNvSpPr txBox="1">
            <a:spLocks noChangeArrowheads="1"/>
          </p:cNvSpPr>
          <p:nvPr/>
        </p:nvSpPr>
        <p:spPr bwMode="auto">
          <a:xfrm>
            <a:off x="5359154" y="1645348"/>
            <a:ext cx="168675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r" rtl="1" eaLnBrk="1" hangingPunct="1"/>
            <a:r>
              <a:rPr lang="he-IL" sz="1100" dirty="0">
                <a:latin typeface="Arial" pitchFamily="34" charset="0"/>
              </a:rPr>
              <a:t>ללא מגע יד אדם, עבודות ידועות מראש והזמן שלהם</a:t>
            </a:r>
          </a:p>
        </p:txBody>
      </p:sp>
      <p:sp>
        <p:nvSpPr>
          <p:cNvPr id="54279" name="TextBox 2"/>
          <p:cNvSpPr txBox="1">
            <a:spLocks noChangeArrowheads="1"/>
          </p:cNvSpPr>
          <p:nvPr/>
        </p:nvSpPr>
        <p:spPr bwMode="auto">
          <a:xfrm>
            <a:off x="5696629" y="2403976"/>
            <a:ext cx="102080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r" rtl="1" eaLnBrk="1" hangingPunct="1"/>
            <a:r>
              <a:rPr lang="he-IL" sz="1100" dirty="0">
                <a:latin typeface="Arial" pitchFamily="34" charset="0"/>
              </a:rPr>
              <a:t>משתמש פעיל מזין קלט</a:t>
            </a:r>
          </a:p>
        </p:txBody>
      </p:sp>
      <p:sp>
        <p:nvSpPr>
          <p:cNvPr id="54280" name="TextBox 3"/>
          <p:cNvSpPr txBox="1">
            <a:spLocks noChangeArrowheads="1"/>
          </p:cNvSpPr>
          <p:nvPr/>
        </p:nvSpPr>
        <p:spPr bwMode="auto">
          <a:xfrm>
            <a:off x="1701801" y="2051051"/>
            <a:ext cx="17065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1400" dirty="0"/>
              <a:t>Non preemptive</a:t>
            </a:r>
          </a:p>
          <a:p>
            <a:pPr eaLnBrk="1" hangingPunct="1"/>
            <a:r>
              <a:rPr lang="en-US" sz="1400" dirty="0"/>
              <a:t>Preemptive</a:t>
            </a:r>
            <a:endParaRPr lang="he-IL" sz="1400" dirty="0"/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6D99D41-0EA3-44FD-B115-CEB0176016FC}" type="datetime12">
              <a:rPr lang="he-IL" smtClean="0"/>
              <a:pPr>
                <a:defRPr/>
              </a:pPr>
              <a:t>28/01/2024 18:13</a:t>
            </a:fld>
            <a:endParaRPr lang="en-US"/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7298448" y="1574324"/>
            <a:ext cx="3222084" cy="3654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 eaLnBrk="0" hangingPunct="0">
              <a:spcBef>
                <a:spcPct val="20000"/>
              </a:spcBef>
              <a:buClr>
                <a:schemeClr val="accent2"/>
              </a:buClr>
            </a:pPr>
            <a:r>
              <a:rPr lang="en-US" sz="1200" b="1" u="sng" dirty="0">
                <a:solidFill>
                  <a:srgbClr val="FF0000"/>
                </a:solidFill>
                <a:latin typeface="Arial" pitchFamily="34" charset="0"/>
              </a:rPr>
              <a:t>Scheduling in Batch Systems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accent2"/>
              </a:buClr>
              <a:buFont typeface="+mj-lt"/>
              <a:buAutoNum type="arabicPeriod"/>
            </a:pPr>
            <a:r>
              <a:rPr lang="en-US" sz="1200" dirty="0">
                <a:latin typeface="Arial" pitchFamily="34" charset="0"/>
              </a:rPr>
              <a:t>First-come first-served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accent2"/>
              </a:buClr>
              <a:buFont typeface="+mj-lt"/>
              <a:buAutoNum type="arabicPeriod"/>
            </a:pPr>
            <a:r>
              <a:rPr lang="en-US" sz="1200" dirty="0">
                <a:latin typeface="Arial" pitchFamily="34" charset="0"/>
              </a:rPr>
              <a:t>Shortest job first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accent2"/>
              </a:buClr>
              <a:buFont typeface="+mj-lt"/>
              <a:buAutoNum type="arabicPeriod"/>
            </a:pPr>
            <a:r>
              <a:rPr lang="en-US" sz="1200" dirty="0">
                <a:latin typeface="Arial" pitchFamily="34" charset="0"/>
              </a:rPr>
              <a:t>Shortest remaining Time next</a:t>
            </a:r>
          </a:p>
          <a:p>
            <a:pPr eaLnBrk="0" hangingPunct="0">
              <a:spcBef>
                <a:spcPct val="20000"/>
              </a:spcBef>
              <a:buClr>
                <a:schemeClr val="accent2"/>
              </a:buClr>
            </a:pPr>
            <a:endParaRPr lang="en-US" sz="1200" b="1" u="sng" dirty="0">
              <a:solidFill>
                <a:srgbClr val="FF0000"/>
              </a:solidFill>
              <a:latin typeface="Arial" pitchFamily="34" charset="0"/>
            </a:endParaRPr>
          </a:p>
          <a:p>
            <a:pPr eaLnBrk="0" hangingPunct="0">
              <a:spcBef>
                <a:spcPct val="20000"/>
              </a:spcBef>
              <a:buClr>
                <a:schemeClr val="accent2"/>
              </a:buClr>
            </a:pPr>
            <a:r>
              <a:rPr lang="en-US" sz="1200" b="1" u="sng" dirty="0">
                <a:solidFill>
                  <a:srgbClr val="FF0000"/>
                </a:solidFill>
                <a:latin typeface="Arial" pitchFamily="34" charset="0"/>
              </a:rPr>
              <a:t>Scheduling in Interactive Systems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accent2"/>
              </a:buClr>
              <a:buFont typeface="+mj-lt"/>
              <a:buAutoNum type="arabicPeriod"/>
            </a:pPr>
            <a:r>
              <a:rPr lang="en-US" sz="1200" dirty="0">
                <a:latin typeface="Arial" pitchFamily="34" charset="0"/>
              </a:rPr>
              <a:t>Round-robin scheduling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accent2"/>
              </a:buClr>
              <a:buFont typeface="+mj-lt"/>
              <a:buAutoNum type="arabicPeriod"/>
            </a:pPr>
            <a:r>
              <a:rPr lang="en-US" sz="1200" dirty="0">
                <a:latin typeface="Arial" pitchFamily="34" charset="0"/>
              </a:rPr>
              <a:t>Priority scheduling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accent2"/>
              </a:buClr>
              <a:buFont typeface="+mj-lt"/>
              <a:buAutoNum type="arabicPeriod"/>
            </a:pPr>
            <a:r>
              <a:rPr lang="en-US" sz="1200" dirty="0">
                <a:latin typeface="Arial" pitchFamily="34" charset="0"/>
              </a:rPr>
              <a:t>Multiple queues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accent2"/>
              </a:buClr>
              <a:buFont typeface="+mj-lt"/>
              <a:buAutoNum type="arabicPeriod"/>
            </a:pPr>
            <a:r>
              <a:rPr lang="en-US" sz="1200" dirty="0">
                <a:latin typeface="Arial" pitchFamily="34" charset="0"/>
              </a:rPr>
              <a:t>Shortest process next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accent2"/>
              </a:buClr>
              <a:buFont typeface="+mj-lt"/>
              <a:buAutoNum type="arabicPeriod"/>
            </a:pPr>
            <a:r>
              <a:rPr lang="en-US" sz="1200" dirty="0">
                <a:latin typeface="Arial" pitchFamily="34" charset="0"/>
              </a:rPr>
              <a:t>aging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accent2"/>
              </a:buClr>
              <a:buFont typeface="+mj-lt"/>
              <a:buAutoNum type="arabicPeriod"/>
            </a:pPr>
            <a:r>
              <a:rPr lang="en-US" sz="1200" dirty="0">
                <a:latin typeface="Arial" pitchFamily="34" charset="0"/>
              </a:rPr>
              <a:t>Guaranteed scheduling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accent2"/>
              </a:buClr>
              <a:buFont typeface="+mj-lt"/>
              <a:buAutoNum type="arabicPeriod"/>
            </a:pPr>
            <a:r>
              <a:rPr lang="en-US" sz="1200" dirty="0">
                <a:latin typeface="Arial" pitchFamily="34" charset="0"/>
              </a:rPr>
              <a:t>Fair-share scheduling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accent2"/>
              </a:buClr>
              <a:buFont typeface="+mj-lt"/>
              <a:buAutoNum type="arabicPeriod"/>
            </a:pPr>
            <a:r>
              <a:rPr lang="en-US" sz="1200" dirty="0">
                <a:latin typeface="Arial" pitchFamily="34" charset="0"/>
              </a:rPr>
              <a:t>Lottery scheduling</a:t>
            </a:r>
          </a:p>
          <a:p>
            <a:pPr eaLnBrk="0" hangingPunct="0">
              <a:spcBef>
                <a:spcPct val="20000"/>
              </a:spcBef>
              <a:buClr>
                <a:schemeClr val="accent2"/>
              </a:buClr>
            </a:pPr>
            <a:endParaRPr lang="en-US" sz="1200" dirty="0">
              <a:latin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42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42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42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42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42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42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8" grpId="0"/>
      <p:bldP spid="54279" grpId="0"/>
      <p:bldP spid="54280" grpId="0"/>
      <p:bldP spid="11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864A53AA-CB74-4094-8B91-A7360D18ABE7}" type="slidenum">
              <a:rPr lang="he-IL" sz="1400"/>
              <a:pPr eaLnBrk="1" hangingPunct="1"/>
              <a:t>56</a:t>
            </a:fld>
            <a:endParaRPr lang="en-US" sz="1400"/>
          </a:p>
        </p:txBody>
      </p:sp>
      <p:sp>
        <p:nvSpPr>
          <p:cNvPr id="552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Introduction to Scheduling (2)</a:t>
            </a:r>
          </a:p>
        </p:txBody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52650" y="5981701"/>
            <a:ext cx="7772400" cy="314325"/>
          </a:xfrm>
        </p:spPr>
        <p:txBody>
          <a:bodyPr/>
          <a:lstStyle/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en-US"/>
              <a:t>Scheduling Algorithm Goals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/>
          </a:p>
        </p:txBody>
      </p:sp>
      <p:pic>
        <p:nvPicPr>
          <p:cNvPr id="55301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3625" y="966789"/>
            <a:ext cx="7810500" cy="4738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5302" name="מחבר חץ ישר 2"/>
          <p:cNvCxnSpPr>
            <a:cxnSpLocks noChangeShapeType="1"/>
          </p:cNvCxnSpPr>
          <p:nvPr/>
        </p:nvCxnSpPr>
        <p:spPr bwMode="auto">
          <a:xfrm>
            <a:off x="2266950" y="1516063"/>
            <a:ext cx="628650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55303" name="מחבר חץ ישר 4"/>
          <p:cNvCxnSpPr>
            <a:cxnSpLocks noChangeShapeType="1"/>
          </p:cNvCxnSpPr>
          <p:nvPr/>
        </p:nvCxnSpPr>
        <p:spPr bwMode="auto">
          <a:xfrm>
            <a:off x="2581275" y="2854326"/>
            <a:ext cx="414338" cy="11113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55304" name="מחבר חץ ישר 6"/>
          <p:cNvCxnSpPr>
            <a:cxnSpLocks noChangeShapeType="1"/>
          </p:cNvCxnSpPr>
          <p:nvPr/>
        </p:nvCxnSpPr>
        <p:spPr bwMode="auto">
          <a:xfrm>
            <a:off x="2581275" y="3122613"/>
            <a:ext cx="414338" cy="11112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55305" name="TextBox 7"/>
          <p:cNvSpPr txBox="1">
            <a:spLocks noChangeArrowheads="1"/>
          </p:cNvSpPr>
          <p:nvPr/>
        </p:nvSpPr>
        <p:spPr bwMode="auto">
          <a:xfrm>
            <a:off x="1690689" y="2654300"/>
            <a:ext cx="890587" cy="73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he-IL" sz="1400"/>
              <a:t>תפוקה</a:t>
            </a:r>
            <a:endParaRPr lang="en-US" sz="1400"/>
          </a:p>
          <a:p>
            <a:pPr eaLnBrk="1" hangingPunct="1"/>
            <a:endParaRPr lang="he-IL" sz="1400"/>
          </a:p>
          <a:p>
            <a:pPr eaLnBrk="1" hangingPunct="1"/>
            <a:r>
              <a:rPr lang="he-IL" sz="1400"/>
              <a:t>זמן שהייה</a:t>
            </a:r>
          </a:p>
        </p:txBody>
      </p:sp>
      <p:cxnSp>
        <p:nvCxnSpPr>
          <p:cNvPr id="55306" name="מחבר חץ ישר 9"/>
          <p:cNvCxnSpPr>
            <a:cxnSpLocks noChangeShapeType="1"/>
          </p:cNvCxnSpPr>
          <p:nvPr/>
        </p:nvCxnSpPr>
        <p:spPr bwMode="auto">
          <a:xfrm>
            <a:off x="2136776" y="4148138"/>
            <a:ext cx="758825" cy="4445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55307" name="מחבר חץ ישר 11"/>
          <p:cNvCxnSpPr>
            <a:cxnSpLocks noChangeShapeType="1"/>
          </p:cNvCxnSpPr>
          <p:nvPr/>
        </p:nvCxnSpPr>
        <p:spPr bwMode="auto">
          <a:xfrm flipV="1">
            <a:off x="2266950" y="5308600"/>
            <a:ext cx="628650" cy="889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55308" name="TextBox 13"/>
          <p:cNvSpPr txBox="1">
            <a:spLocks noChangeArrowheads="1"/>
          </p:cNvSpPr>
          <p:nvPr/>
        </p:nvSpPr>
        <p:spPr bwMode="auto">
          <a:xfrm>
            <a:off x="9586914" y="5046664"/>
            <a:ext cx="1081087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1400"/>
              <a:t>Hard RT</a:t>
            </a:r>
          </a:p>
          <a:p>
            <a:pPr eaLnBrk="1" hangingPunct="1"/>
            <a:r>
              <a:rPr lang="en-US" sz="1400"/>
              <a:t>Soft RT</a:t>
            </a:r>
            <a:endParaRPr lang="he-IL" sz="1400"/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9D1EBB8-976C-465B-8EF3-93CD927A8E43}" type="datetime12">
              <a:rPr lang="he-IL" smtClean="0"/>
              <a:pPr>
                <a:defRPr/>
              </a:pPr>
              <a:t>28/01/2024 18:13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53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53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53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53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53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53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53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53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53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53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53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53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53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53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53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53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53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53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553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53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53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05" grpId="0"/>
      <p:bldP spid="55308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מציין מיקום של מספר שקופית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067783F1-7255-44DB-BADE-C368207DEC99}" type="slidenum">
              <a:rPr lang="he-IL" sz="1400"/>
              <a:pPr eaLnBrk="1" hangingPunct="1"/>
              <a:t>57</a:t>
            </a:fld>
            <a:endParaRPr lang="en-US" sz="1400"/>
          </a:p>
        </p:txBody>
      </p:sp>
      <p:sp>
        <p:nvSpPr>
          <p:cNvPr id="56323" name="Rectangle 2"/>
          <p:cNvSpPr>
            <a:spLocks noChangeArrowheads="1"/>
          </p:cNvSpPr>
          <p:nvPr/>
        </p:nvSpPr>
        <p:spPr bwMode="auto">
          <a:xfrm>
            <a:off x="2779713" y="1733550"/>
            <a:ext cx="5929312" cy="2636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 marL="609600" indent="-609600" eaLnBrk="0" hangingPunct="0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800" dirty="0">
                <a:latin typeface="Arial" pitchFamily="34" charset="0"/>
              </a:rPr>
              <a:t>First-come first-served</a:t>
            </a:r>
          </a:p>
          <a:p>
            <a:pPr marL="609600" indent="-609600" eaLnBrk="0" hangingPunct="0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800" dirty="0">
                <a:latin typeface="Arial" pitchFamily="34" charset="0"/>
              </a:rPr>
              <a:t>Shortest job first</a:t>
            </a:r>
          </a:p>
          <a:p>
            <a:pPr marL="609600" indent="-609600" eaLnBrk="0" hangingPunct="0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800" dirty="0">
                <a:latin typeface="Arial" pitchFamily="34" charset="0"/>
              </a:rPr>
              <a:t>Shortest remaining Time next</a:t>
            </a:r>
          </a:p>
        </p:txBody>
      </p:sp>
      <p:sp>
        <p:nvSpPr>
          <p:cNvPr id="56324" name="Rectangle 3"/>
          <p:cNvSpPr>
            <a:spLocks noChangeArrowheads="1"/>
          </p:cNvSpPr>
          <p:nvPr/>
        </p:nvSpPr>
        <p:spPr bwMode="auto">
          <a:xfrm>
            <a:off x="1524000" y="0"/>
            <a:ext cx="9144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/>
          <a:p>
            <a:pPr algn="ctr" eaLnBrk="0" hangingPunct="0"/>
            <a:r>
              <a:rPr lang="en-US" sz="3600" dirty="0">
                <a:solidFill>
                  <a:srgbClr val="FF0000"/>
                </a:solidFill>
                <a:latin typeface="Arial" pitchFamily="34" charset="0"/>
              </a:rPr>
              <a:t>Scheduling in Batch Systems</a:t>
            </a:r>
          </a:p>
        </p:txBody>
      </p:sp>
      <p:sp>
        <p:nvSpPr>
          <p:cNvPr id="56325" name="Rectangle 4"/>
          <p:cNvSpPr>
            <a:spLocks noChangeArrowheads="1"/>
          </p:cNvSpPr>
          <p:nvPr/>
        </p:nvSpPr>
        <p:spPr bwMode="auto">
          <a:xfrm>
            <a:off x="1701800" y="6565901"/>
            <a:ext cx="8712200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/>
          <a:p>
            <a:pPr algn="ctr"/>
            <a:r>
              <a:rPr lang="en-US" sz="1200">
                <a:solidFill>
                  <a:srgbClr val="898989"/>
                </a:solidFill>
              </a:rPr>
              <a:t>Tanenbaum, Modern Operating Systems 3 e, (c) 2008 Prentice-Hall, Inc. All rights reserved. 0-13-</a:t>
            </a:r>
            <a:r>
              <a:rPr lang="en-US" sz="1200" b="1">
                <a:solidFill>
                  <a:srgbClr val="898989"/>
                </a:solidFill>
              </a:rPr>
              <a:t>6006639</a:t>
            </a:r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2920403-7935-40C9-88AA-8B9EE6168E97}" type="datetime12">
              <a:rPr lang="he-IL" smtClean="0"/>
              <a:pPr>
                <a:defRPr/>
              </a:pPr>
              <a:t>28/01/2024 18:13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81436E64-D8B1-407B-8E6A-92D113BE6603}" type="slidenum">
              <a:rPr lang="he-IL" sz="1400"/>
              <a:pPr eaLnBrk="1" hangingPunct="1"/>
              <a:t>58</a:t>
            </a:fld>
            <a:endParaRPr lang="en-US" sz="1400"/>
          </a:p>
        </p:txBody>
      </p:sp>
      <p:sp>
        <p:nvSpPr>
          <p:cNvPr id="573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Scheduling in Batch Systems (1)</a:t>
            </a:r>
            <a:endParaRPr lang="en-US" sz="4000"/>
          </a:p>
        </p:txBody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5324476"/>
            <a:ext cx="7772400" cy="771525"/>
          </a:xfrm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en-US"/>
              <a:t>An example of shortest job first scheduling</a:t>
            </a:r>
          </a:p>
        </p:txBody>
      </p:sp>
      <p:pic>
        <p:nvPicPr>
          <p:cNvPr id="57349" name="Picture 5" descr="2-39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5188" y="2168525"/>
            <a:ext cx="7599362" cy="1339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D80560D-8E2A-4FCB-B8CA-76DC85247FF4}" type="datetime12">
              <a:rPr lang="he-IL" smtClean="0"/>
              <a:pPr>
                <a:defRPr/>
              </a:pPr>
              <a:t>28/01/2024 18:13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81436E64-D8B1-407B-8E6A-92D113BE6603}" type="slidenum">
              <a:rPr lang="he-IL" sz="1400"/>
              <a:pPr eaLnBrk="1" hangingPunct="1"/>
              <a:t>59</a:t>
            </a:fld>
            <a:endParaRPr lang="en-US" sz="1400"/>
          </a:p>
        </p:txBody>
      </p:sp>
      <p:sp>
        <p:nvSpPr>
          <p:cNvPr id="573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Scheduling in Batch Systems (1)</a:t>
            </a:r>
            <a:endParaRPr lang="en-US" sz="4000"/>
          </a:p>
        </p:txBody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5324476"/>
            <a:ext cx="7772400" cy="771525"/>
          </a:xfrm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en-US"/>
              <a:t>An example of shortest job first scheduling</a:t>
            </a:r>
          </a:p>
        </p:txBody>
      </p:sp>
      <p:pic>
        <p:nvPicPr>
          <p:cNvPr id="57349" name="Picture 5" descr="2-39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5188" y="2168525"/>
            <a:ext cx="7599362" cy="1339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" name="טבלה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3773879"/>
              </p:ext>
            </p:extLst>
          </p:nvPr>
        </p:nvGraphicFramePr>
        <p:xfrm>
          <a:off x="2135189" y="1109665"/>
          <a:ext cx="7807325" cy="2398711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8883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22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05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0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153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3024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042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914763"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תהליך</a:t>
                      </a:r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r>
                        <a:rPr lang="he-IL" sz="1800"/>
                        <a:t>זמן</a:t>
                      </a:r>
                      <a:r>
                        <a:rPr lang="he-IL" sz="1800" baseline="0"/>
                        <a:t> הגעה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CPU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800"/>
                        <a:t>התחלה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800"/>
                        <a:t>סיום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800"/>
                        <a:t>זמן שהייה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800"/>
                        <a:t>זמן</a:t>
                      </a:r>
                      <a:r>
                        <a:rPr lang="he-IL" sz="1800" baseline="0"/>
                        <a:t> שהייה ממוצע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87"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32" marR="91432" marT="45738" marB="4573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87"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32" marR="91432" marT="45738" marB="4573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987"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32" marR="91432" marT="45738" marB="4573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987"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32" marR="91432" marT="45738" marB="4573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8" name="טבלה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6732098"/>
              </p:ext>
            </p:extLst>
          </p:nvPr>
        </p:nvGraphicFramePr>
        <p:xfrm>
          <a:off x="2135189" y="3633950"/>
          <a:ext cx="7822599" cy="18288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9529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98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2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83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963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196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7313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1501"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תהליך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r>
                        <a:rPr lang="he-IL" dirty="0"/>
                        <a:t>זמן</a:t>
                      </a:r>
                      <a:r>
                        <a:rPr lang="he-IL" baseline="0" dirty="0"/>
                        <a:t> הגעה</a:t>
                      </a:r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CPU</a:t>
                      </a:r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התחלה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סיום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זמן שהייה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SJF</a:t>
                      </a:r>
                      <a:endParaRPr lang="he-IL" dirty="0"/>
                    </a:p>
                  </a:txBody>
                  <a:tcPr marL="91436" marR="9143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1501"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 marL="91436" marR="9143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501"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 marL="91436" marR="9143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501"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 marL="91436" marR="9143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1501"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 marL="91436" marR="91436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מציין מיקום של תאריך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825B53E-D860-4B3D-A8FC-9292B3F14B78}" type="datetime12">
              <a:rPr lang="he-IL" smtClean="0"/>
              <a:pPr>
                <a:defRPr/>
              </a:pPr>
              <a:t>28/01/2024 18:13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51643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81436E64-D8B1-407B-8E6A-92D113BE6603}" type="slidenum">
              <a:rPr lang="he-IL" sz="1400"/>
              <a:pPr eaLnBrk="1" hangingPunct="1"/>
              <a:t>60</a:t>
            </a:fld>
            <a:endParaRPr lang="en-US" sz="1400"/>
          </a:p>
        </p:txBody>
      </p:sp>
      <p:sp>
        <p:nvSpPr>
          <p:cNvPr id="573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Scheduling in Batch Systems (1)</a:t>
            </a:r>
            <a:endParaRPr lang="en-US" sz="4000"/>
          </a:p>
        </p:txBody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5324476"/>
            <a:ext cx="7772400" cy="771525"/>
          </a:xfrm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en-US"/>
              <a:t>An example of shortest job first scheduling</a:t>
            </a:r>
          </a:p>
        </p:txBody>
      </p:sp>
      <p:pic>
        <p:nvPicPr>
          <p:cNvPr id="57349" name="Picture 5" descr="2-39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5188" y="2168525"/>
            <a:ext cx="7599362" cy="1339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" name="טבלה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7339596"/>
              </p:ext>
            </p:extLst>
          </p:nvPr>
        </p:nvGraphicFramePr>
        <p:xfrm>
          <a:off x="2135188" y="1109665"/>
          <a:ext cx="8201342" cy="2398711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8378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78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59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01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336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519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60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4354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914763"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תזמון</a:t>
                      </a:r>
                    </a:p>
                    <a:p>
                      <a:pPr rtl="1"/>
                      <a:r>
                        <a:rPr lang="en-US" sz="1800" dirty="0"/>
                        <a:t>FCFS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תהליך</a:t>
                      </a:r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r>
                        <a:rPr lang="he-IL" sz="1800" dirty="0"/>
                        <a:t>זמן</a:t>
                      </a:r>
                      <a:r>
                        <a:rPr lang="he-IL" sz="1800" baseline="0" dirty="0"/>
                        <a:t> הגעה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CPU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התחלה</a:t>
                      </a:r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סיום</a:t>
                      </a:r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זמן שהייה</a:t>
                      </a:r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זמן</a:t>
                      </a:r>
                      <a:r>
                        <a:rPr lang="he-IL" sz="1800" baseline="0" dirty="0"/>
                        <a:t> שהייה ממוצע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87"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1</a:t>
                      </a:r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A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8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32" marR="91432" marT="45738" marB="4573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87"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2</a:t>
                      </a:r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B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4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32" marR="91432" marT="45738" marB="4573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987"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3</a:t>
                      </a:r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C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4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32" marR="91432" marT="45738" marB="4573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987"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4</a:t>
                      </a:r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D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4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32" marR="91432" marT="45738" marB="4573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8" name="טבלה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3474865"/>
              </p:ext>
            </p:extLst>
          </p:nvPr>
        </p:nvGraphicFramePr>
        <p:xfrm>
          <a:off x="2135188" y="3633950"/>
          <a:ext cx="8189912" cy="22860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8893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93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37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13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64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165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3159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152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71501"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תזמון</a:t>
                      </a:r>
                      <a:endParaRPr lang="en-US" dirty="0"/>
                    </a:p>
                    <a:p>
                      <a:pPr rtl="1"/>
                      <a:r>
                        <a:rPr lang="en-US" dirty="0"/>
                        <a:t>SJF</a:t>
                      </a:r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תהליך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r>
                        <a:rPr lang="he-IL" dirty="0"/>
                        <a:t>זמן</a:t>
                      </a:r>
                      <a:r>
                        <a:rPr lang="he-IL" baseline="0" dirty="0"/>
                        <a:t> הגעה</a:t>
                      </a:r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CPU</a:t>
                      </a:r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התחלה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סיום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זמן שהייה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600" dirty="0"/>
                        <a:t>זמן</a:t>
                      </a:r>
                      <a:r>
                        <a:rPr lang="he-IL" sz="1600" baseline="0" dirty="0"/>
                        <a:t> שהייה ממוצע</a:t>
                      </a:r>
                      <a:endParaRPr lang="he-IL" dirty="0"/>
                    </a:p>
                  </a:txBody>
                  <a:tcPr marL="91436" marR="9143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1501"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4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A</a:t>
                      </a:r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8</a:t>
                      </a:r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 marL="91436" marR="9143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501"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1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B</a:t>
                      </a:r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4</a:t>
                      </a:r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 marL="91436" marR="9143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501"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2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C</a:t>
                      </a:r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4</a:t>
                      </a:r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 marL="91436" marR="9143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1501"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3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/>
                        <a:t>D</a:t>
                      </a:r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4</a:t>
                      </a:r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 marL="91436" marR="91436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מציין מיקום של תאריך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22346FD-ED7B-46E9-BEB6-20588A53C36F}" type="datetime12">
              <a:rPr lang="he-IL" smtClean="0"/>
              <a:pPr>
                <a:defRPr/>
              </a:pPr>
              <a:t>28/01/2024 18:13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98376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81436E64-D8B1-407B-8E6A-92D113BE6603}" type="slidenum">
              <a:rPr lang="he-IL" sz="1400"/>
              <a:pPr eaLnBrk="1" hangingPunct="1"/>
              <a:t>61</a:t>
            </a:fld>
            <a:endParaRPr lang="en-US" sz="1400"/>
          </a:p>
        </p:txBody>
      </p:sp>
      <p:sp>
        <p:nvSpPr>
          <p:cNvPr id="573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Scheduling in Batch Systems (1)</a:t>
            </a:r>
            <a:endParaRPr lang="en-US" sz="4000"/>
          </a:p>
        </p:txBody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5324476"/>
            <a:ext cx="7772400" cy="771525"/>
          </a:xfrm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en-US"/>
              <a:t>An example of shortest job first scheduling</a:t>
            </a:r>
          </a:p>
        </p:txBody>
      </p:sp>
      <p:pic>
        <p:nvPicPr>
          <p:cNvPr id="57349" name="Picture 5" descr="2-39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5188" y="2168525"/>
            <a:ext cx="7599362" cy="1339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" name="טבלה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6076144"/>
              </p:ext>
            </p:extLst>
          </p:nvPr>
        </p:nvGraphicFramePr>
        <p:xfrm>
          <a:off x="2135185" y="1109665"/>
          <a:ext cx="8121334" cy="2398711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82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9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36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36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96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166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898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3434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914763"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תזמון</a:t>
                      </a:r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תהליך</a:t>
                      </a:r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r>
                        <a:rPr lang="he-IL" sz="1800" dirty="0"/>
                        <a:t>זמן</a:t>
                      </a:r>
                      <a:r>
                        <a:rPr lang="he-IL" sz="1800" baseline="0" dirty="0"/>
                        <a:t> הגעה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CPU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התחלה</a:t>
                      </a:r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סיום</a:t>
                      </a:r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זמן שהייה</a:t>
                      </a:r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זמן</a:t>
                      </a:r>
                      <a:r>
                        <a:rPr lang="he-IL" sz="1800" baseline="0" dirty="0"/>
                        <a:t> שהייה ממוצע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87"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1</a:t>
                      </a:r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A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8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0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8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32" marR="91432" marT="45738" marB="4573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87"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2</a:t>
                      </a:r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B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4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8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12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32" marR="91432" marT="45738" marB="4573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987"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3</a:t>
                      </a:r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C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4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12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16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32" marR="91432" marT="45738" marB="4573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987"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4</a:t>
                      </a:r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D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4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16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20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32" marR="91432" marT="45738" marB="4573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8" name="טבלה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210130"/>
              </p:ext>
            </p:extLst>
          </p:nvPr>
        </p:nvGraphicFramePr>
        <p:xfrm>
          <a:off x="2135188" y="3633950"/>
          <a:ext cx="8144192" cy="18288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8843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43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62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73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07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1032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247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9593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71501"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תזמון</a:t>
                      </a:r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תהליך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r>
                        <a:rPr lang="he-IL" dirty="0"/>
                        <a:t>זמן</a:t>
                      </a:r>
                      <a:r>
                        <a:rPr lang="he-IL" baseline="0" dirty="0"/>
                        <a:t> הגעה</a:t>
                      </a:r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CPU</a:t>
                      </a:r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התחלה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סיום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זמן שהייה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SJF</a:t>
                      </a:r>
                      <a:endParaRPr lang="he-IL" dirty="0"/>
                    </a:p>
                  </a:txBody>
                  <a:tcPr marL="91436" marR="9143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1501"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4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A</a:t>
                      </a:r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8</a:t>
                      </a:r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 marL="91436" marR="9143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501"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1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B</a:t>
                      </a:r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4</a:t>
                      </a:r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 marL="91436" marR="9143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501"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2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C</a:t>
                      </a:r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4</a:t>
                      </a:r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 marL="91436" marR="9143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1501"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3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/>
                        <a:t>D</a:t>
                      </a:r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4</a:t>
                      </a:r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 marL="91436" marR="91436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מציין מיקום של תאריך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83005E1-9713-47B1-A820-A8D23FD93A3E}" type="datetime12">
              <a:rPr lang="he-IL" smtClean="0"/>
              <a:pPr>
                <a:defRPr/>
              </a:pPr>
              <a:t>28/01/2024 18:13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98376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81436E64-D8B1-407B-8E6A-92D113BE6603}" type="slidenum">
              <a:rPr lang="he-IL" sz="1400"/>
              <a:pPr eaLnBrk="1" hangingPunct="1"/>
              <a:t>62</a:t>
            </a:fld>
            <a:endParaRPr lang="en-US" sz="1400"/>
          </a:p>
        </p:txBody>
      </p:sp>
      <p:sp>
        <p:nvSpPr>
          <p:cNvPr id="573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Scheduling in Batch Systems (1)</a:t>
            </a:r>
            <a:endParaRPr lang="en-US" sz="4000"/>
          </a:p>
        </p:txBody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5324476"/>
            <a:ext cx="7772400" cy="771525"/>
          </a:xfrm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en-US"/>
              <a:t>An example of shortest job first scheduling</a:t>
            </a:r>
          </a:p>
        </p:txBody>
      </p:sp>
      <p:pic>
        <p:nvPicPr>
          <p:cNvPr id="57349" name="Picture 5" descr="2-39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5188" y="2168525"/>
            <a:ext cx="7599362" cy="1339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" name="טבלה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969808"/>
              </p:ext>
            </p:extLst>
          </p:nvPr>
        </p:nvGraphicFramePr>
        <p:xfrm>
          <a:off x="2135187" y="1109665"/>
          <a:ext cx="8178483" cy="2398711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8355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55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24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83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296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89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5706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4091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914763"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תזמון</a:t>
                      </a:r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תהליך</a:t>
                      </a:r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r>
                        <a:rPr lang="he-IL" sz="1800" dirty="0"/>
                        <a:t>זמן</a:t>
                      </a:r>
                      <a:r>
                        <a:rPr lang="he-IL" sz="1800" baseline="0" dirty="0"/>
                        <a:t> הגעה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CPU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התחלה</a:t>
                      </a:r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סיום</a:t>
                      </a:r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זמן שהייה</a:t>
                      </a:r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זמן</a:t>
                      </a:r>
                      <a:r>
                        <a:rPr lang="he-IL" sz="1800" baseline="0" dirty="0"/>
                        <a:t> שהייה ממוצע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87"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1</a:t>
                      </a:r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A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8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0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8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8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=56/4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87"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2</a:t>
                      </a:r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B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4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8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12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12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=14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987"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3</a:t>
                      </a:r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C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4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12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16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16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32" marR="91432" marT="45738" marB="4573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987"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4</a:t>
                      </a:r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D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4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16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20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20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32" marR="91432" marT="45738" marB="4573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8" name="טבלה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6507700"/>
              </p:ext>
            </p:extLst>
          </p:nvPr>
        </p:nvGraphicFramePr>
        <p:xfrm>
          <a:off x="2135188" y="3633950"/>
          <a:ext cx="8167053" cy="18288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8868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6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00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93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35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134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281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9872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71501"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תזמון</a:t>
                      </a:r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תהליך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r>
                        <a:rPr lang="he-IL" dirty="0"/>
                        <a:t>זמן</a:t>
                      </a:r>
                      <a:r>
                        <a:rPr lang="he-IL" baseline="0" dirty="0"/>
                        <a:t> הגעה</a:t>
                      </a:r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CPU</a:t>
                      </a:r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התחלה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סיום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זמן שהייה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SJF</a:t>
                      </a:r>
                      <a:endParaRPr lang="he-IL" dirty="0"/>
                    </a:p>
                  </a:txBody>
                  <a:tcPr marL="91436" marR="9143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1501"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4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A</a:t>
                      </a:r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8</a:t>
                      </a:r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 marL="91436" marR="9143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501"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1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B</a:t>
                      </a:r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4</a:t>
                      </a:r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 marL="91436" marR="9143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501"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2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C</a:t>
                      </a:r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4</a:t>
                      </a:r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 marL="91436" marR="9143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1501"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3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/>
                        <a:t>D</a:t>
                      </a:r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4</a:t>
                      </a:r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 marL="91436" marR="91436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מציין מיקום של תאריך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A26D0BE-47F9-4B51-B024-EA09F584FF15}" type="datetime12">
              <a:rPr lang="he-IL" smtClean="0"/>
              <a:pPr>
                <a:defRPr/>
              </a:pPr>
              <a:t>28/01/2024 18:13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98376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81436E64-D8B1-407B-8E6A-92D113BE6603}" type="slidenum">
              <a:rPr lang="he-IL" sz="1400"/>
              <a:pPr eaLnBrk="1" hangingPunct="1"/>
              <a:t>63</a:t>
            </a:fld>
            <a:endParaRPr lang="en-US" sz="1400"/>
          </a:p>
        </p:txBody>
      </p:sp>
      <p:sp>
        <p:nvSpPr>
          <p:cNvPr id="573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Scheduling in Batch Systems (1)</a:t>
            </a:r>
            <a:endParaRPr lang="en-US" sz="4000"/>
          </a:p>
        </p:txBody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5324476"/>
            <a:ext cx="7772400" cy="771525"/>
          </a:xfrm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en-US"/>
              <a:t>An example of shortest job first scheduling</a:t>
            </a:r>
          </a:p>
        </p:txBody>
      </p:sp>
      <p:pic>
        <p:nvPicPr>
          <p:cNvPr id="57349" name="Picture 5" descr="2-39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5188" y="2168525"/>
            <a:ext cx="7599362" cy="1339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" name="טבלה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8799356"/>
              </p:ext>
            </p:extLst>
          </p:nvPr>
        </p:nvGraphicFramePr>
        <p:xfrm>
          <a:off x="2135187" y="1109665"/>
          <a:ext cx="8155623" cy="2398711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8332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32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89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64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256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60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538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3828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914763"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תזמון</a:t>
                      </a:r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תהליך</a:t>
                      </a:r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r>
                        <a:rPr lang="he-IL" sz="1800" dirty="0"/>
                        <a:t>זמן</a:t>
                      </a:r>
                      <a:r>
                        <a:rPr lang="he-IL" sz="1800" baseline="0" dirty="0"/>
                        <a:t> הגעה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CPU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התחלה</a:t>
                      </a:r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סיום</a:t>
                      </a:r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זמן שהייה</a:t>
                      </a:r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זמן</a:t>
                      </a:r>
                      <a:r>
                        <a:rPr lang="he-IL" sz="1800" baseline="0" dirty="0"/>
                        <a:t> שהייה ממוצע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87"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1</a:t>
                      </a:r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A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8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0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8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8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=56/4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87"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2</a:t>
                      </a:r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B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4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8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12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12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=14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987"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3</a:t>
                      </a:r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C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4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12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16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16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32" marR="91432" marT="45738" marB="4573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987"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4</a:t>
                      </a:r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D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4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16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20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20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32" marR="91432" marT="45738" marB="4573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8" name="טבלה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4495025"/>
              </p:ext>
            </p:extLst>
          </p:nvPr>
        </p:nvGraphicFramePr>
        <p:xfrm>
          <a:off x="2135188" y="3633950"/>
          <a:ext cx="8132762" cy="18288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8831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31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43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64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93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87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2299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945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71501"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תזמון</a:t>
                      </a:r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תהליך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r>
                        <a:rPr lang="he-IL" dirty="0"/>
                        <a:t>זמן</a:t>
                      </a:r>
                      <a:r>
                        <a:rPr lang="he-IL" baseline="0" dirty="0"/>
                        <a:t> הגעה</a:t>
                      </a:r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CPU</a:t>
                      </a:r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התחלה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סיום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זמן שהייה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SJF</a:t>
                      </a:r>
                      <a:endParaRPr lang="he-IL" dirty="0"/>
                    </a:p>
                  </a:txBody>
                  <a:tcPr marL="91436" marR="9143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1501"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4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A</a:t>
                      </a:r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8</a:t>
                      </a:r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12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20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 marL="91436" marR="9143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501"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1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B</a:t>
                      </a:r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4</a:t>
                      </a:r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0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4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 marL="91436" marR="9143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501"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2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C</a:t>
                      </a:r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4</a:t>
                      </a:r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4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8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 marL="91436" marR="9143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1501"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3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/>
                        <a:t>D</a:t>
                      </a:r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4</a:t>
                      </a:r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8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12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 marL="91436" marR="91436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מציין מיקום של תאריך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8B81272-F6A4-4136-A1F9-A7F7679F2585}" type="datetime12">
              <a:rPr lang="he-IL" smtClean="0"/>
              <a:pPr>
                <a:defRPr/>
              </a:pPr>
              <a:t>28/01/2024 18:13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98376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81436E64-D8B1-407B-8E6A-92D113BE6603}" type="slidenum">
              <a:rPr lang="he-IL" sz="1400"/>
              <a:pPr eaLnBrk="1" hangingPunct="1"/>
              <a:t>64</a:t>
            </a:fld>
            <a:endParaRPr lang="en-US" sz="1400"/>
          </a:p>
        </p:txBody>
      </p:sp>
      <p:sp>
        <p:nvSpPr>
          <p:cNvPr id="573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Scheduling in Batch Systems (1)</a:t>
            </a:r>
            <a:endParaRPr lang="en-US" sz="4000"/>
          </a:p>
        </p:txBody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5324476"/>
            <a:ext cx="7772400" cy="771525"/>
          </a:xfrm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en-US"/>
              <a:t>An example of shortest job first scheduling</a:t>
            </a:r>
          </a:p>
        </p:txBody>
      </p:sp>
      <p:pic>
        <p:nvPicPr>
          <p:cNvPr id="57349" name="Picture 5" descr="2-39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5188" y="2168525"/>
            <a:ext cx="7599362" cy="1339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" name="טבלה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6184593"/>
              </p:ext>
            </p:extLst>
          </p:nvPr>
        </p:nvGraphicFramePr>
        <p:xfrm>
          <a:off x="2135187" y="1109665"/>
          <a:ext cx="8222094" cy="2398711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8399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99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91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18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372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545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6323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4593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914763"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תזמון</a:t>
                      </a:r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תהליך</a:t>
                      </a:r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r>
                        <a:rPr lang="he-IL" sz="1800" dirty="0"/>
                        <a:t>זמן</a:t>
                      </a:r>
                      <a:r>
                        <a:rPr lang="he-IL" sz="1800" baseline="0" dirty="0"/>
                        <a:t> הגעה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CPU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התחלה</a:t>
                      </a:r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סיום</a:t>
                      </a:r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זמן שהייה</a:t>
                      </a:r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זמן</a:t>
                      </a:r>
                      <a:r>
                        <a:rPr lang="he-IL" sz="1800" baseline="0" dirty="0"/>
                        <a:t> שהייה ממוצע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87"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1</a:t>
                      </a:r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A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8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0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8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8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=56/4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87"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2</a:t>
                      </a:r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B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4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8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12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12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=14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987"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3</a:t>
                      </a:r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C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4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12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16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16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32" marR="91432" marT="45738" marB="4573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987"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4</a:t>
                      </a:r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D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4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16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20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20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32" marR="91432" marT="45738" marB="4573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8" name="טבלה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5699420"/>
              </p:ext>
            </p:extLst>
          </p:nvPr>
        </p:nvGraphicFramePr>
        <p:xfrm>
          <a:off x="2135188" y="3633950"/>
          <a:ext cx="8275360" cy="18288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8986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86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77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87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9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82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4444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1197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71501"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תזמון</a:t>
                      </a:r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תהליך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r>
                        <a:rPr lang="he-IL" dirty="0"/>
                        <a:t>זמן</a:t>
                      </a:r>
                      <a:r>
                        <a:rPr lang="he-IL" baseline="0" dirty="0"/>
                        <a:t> הגעה</a:t>
                      </a:r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CPU</a:t>
                      </a:r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התחלה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סיום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זמן שהייה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SJF</a:t>
                      </a:r>
                      <a:endParaRPr lang="he-IL" dirty="0"/>
                    </a:p>
                  </a:txBody>
                  <a:tcPr marL="91436" marR="9143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1501"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4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A</a:t>
                      </a:r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8</a:t>
                      </a:r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12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20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20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=44/4</a:t>
                      </a:r>
                      <a:endParaRPr lang="he-IL" dirty="0"/>
                    </a:p>
                  </a:txBody>
                  <a:tcPr marL="91436" marR="9143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501"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1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B</a:t>
                      </a:r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4</a:t>
                      </a:r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0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4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4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=11</a:t>
                      </a:r>
                      <a:endParaRPr lang="he-IL" dirty="0"/>
                    </a:p>
                  </a:txBody>
                  <a:tcPr marL="91436" marR="9143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501"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2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C</a:t>
                      </a:r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4</a:t>
                      </a:r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4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8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8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 marL="91436" marR="9143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1501"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3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/>
                        <a:t>D</a:t>
                      </a:r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4</a:t>
                      </a:r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8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12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12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 marL="91436" marR="91436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מציין מיקום של תאריך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0414310-55EE-413F-9B46-17AFBDB035C0}" type="datetime12">
              <a:rPr lang="he-IL" smtClean="0"/>
              <a:pPr>
                <a:defRPr/>
              </a:pPr>
              <a:t>28/01/2024 18:13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98376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בה</a:t>
            </a:r>
          </a:p>
        </p:txBody>
      </p:sp>
      <p:sp>
        <p:nvSpPr>
          <p:cNvPr id="58371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8372" name="מציין מיקום של מספר שקופית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E90B0953-B67A-418C-8810-154FEBF7B8FD}" type="slidenum">
              <a:rPr lang="he-IL" sz="1400"/>
              <a:pPr eaLnBrk="1" hangingPunct="1"/>
              <a:t>65</a:t>
            </a:fld>
            <a:endParaRPr lang="en-US" sz="1400"/>
          </a:p>
        </p:txBody>
      </p:sp>
      <p:sp>
        <p:nvSpPr>
          <p:cNvPr id="58373" name="Rectangle 3"/>
          <p:cNvSpPr txBox="1">
            <a:spLocks noChangeArrowheads="1"/>
          </p:cNvSpPr>
          <p:nvPr/>
        </p:nvSpPr>
        <p:spPr bwMode="auto">
          <a:xfrm>
            <a:off x="2209800" y="5324476"/>
            <a:ext cx="7772400" cy="77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accent2"/>
              </a:buClr>
            </a:pPr>
            <a:r>
              <a:rPr lang="en-US" sz="3200">
                <a:solidFill>
                  <a:schemeClr val="accent2"/>
                </a:solidFill>
              </a:rPr>
              <a:t>An example of shortest job first scheduling</a:t>
            </a:r>
          </a:p>
        </p:txBody>
      </p:sp>
      <p:pic>
        <p:nvPicPr>
          <p:cNvPr id="58374" name="Picture 5" descr="2-39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5188" y="2168525"/>
            <a:ext cx="7599362" cy="1339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7" name="טבלה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5890202"/>
              </p:ext>
            </p:extLst>
          </p:nvPr>
        </p:nvGraphicFramePr>
        <p:xfrm>
          <a:off x="2030414" y="2698751"/>
          <a:ext cx="8309112" cy="2398711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8488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88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26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89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524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574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7554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5594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914763"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תזמון</a:t>
                      </a:r>
                    </a:p>
                  </a:txBody>
                  <a:tcPr marL="91451" marR="91451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תהליך</a:t>
                      </a:r>
                    </a:p>
                  </a:txBody>
                  <a:tcPr marL="91451" marR="91451" marT="45738" marB="45738"/>
                </a:tc>
                <a:tc>
                  <a:txBody>
                    <a:bodyPr/>
                    <a:lstStyle/>
                    <a:p>
                      <a:r>
                        <a:rPr lang="he-IL" sz="1800" dirty="0"/>
                        <a:t>זמן</a:t>
                      </a:r>
                      <a:r>
                        <a:rPr lang="he-IL" sz="1800" baseline="0" dirty="0"/>
                        <a:t> הגעה</a:t>
                      </a:r>
                      <a:endParaRPr lang="he-IL" sz="1800" dirty="0"/>
                    </a:p>
                  </a:txBody>
                  <a:tcPr marL="91451" marR="91451" marT="45738" marB="45738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CPU</a:t>
                      </a:r>
                      <a:endParaRPr lang="he-IL" sz="1800" dirty="0"/>
                    </a:p>
                  </a:txBody>
                  <a:tcPr marL="91451" marR="91451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התחלה</a:t>
                      </a:r>
                    </a:p>
                  </a:txBody>
                  <a:tcPr marL="91451" marR="91451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סיום</a:t>
                      </a:r>
                    </a:p>
                  </a:txBody>
                  <a:tcPr marL="91451" marR="91451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זמן שהייה</a:t>
                      </a:r>
                    </a:p>
                  </a:txBody>
                  <a:tcPr marL="91451" marR="91451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זמן</a:t>
                      </a:r>
                      <a:r>
                        <a:rPr lang="he-IL" sz="1800" baseline="0" dirty="0"/>
                        <a:t> שהייה ממוצע</a:t>
                      </a:r>
                      <a:endParaRPr lang="he-IL" sz="1800" dirty="0"/>
                    </a:p>
                  </a:txBody>
                  <a:tcPr marL="91451" marR="91451" marT="45738" marB="4573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87"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1</a:t>
                      </a:r>
                    </a:p>
                  </a:txBody>
                  <a:tcPr marL="91451" marR="91451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A</a:t>
                      </a:r>
                      <a:endParaRPr lang="he-IL" sz="1800" dirty="0"/>
                    </a:p>
                  </a:txBody>
                  <a:tcPr marL="91451" marR="91451" marT="45738" marB="45738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  <a:endParaRPr lang="he-IL" sz="1800" dirty="0"/>
                    </a:p>
                  </a:txBody>
                  <a:tcPr marL="91451" marR="91451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2</a:t>
                      </a:r>
                      <a:endParaRPr lang="he-IL" sz="1800" dirty="0"/>
                    </a:p>
                  </a:txBody>
                  <a:tcPr marL="91451" marR="91451" marT="45738" marB="4573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51" marR="91451" marT="45738" marB="4573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51" marR="91451" marT="45738" marB="4573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51" marR="91451" marT="45738" marB="4573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51" marR="91451" marT="45738" marB="4573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87"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4</a:t>
                      </a:r>
                    </a:p>
                  </a:txBody>
                  <a:tcPr marL="91451" marR="91451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B</a:t>
                      </a:r>
                      <a:endParaRPr lang="he-IL" sz="1800" dirty="0"/>
                    </a:p>
                  </a:txBody>
                  <a:tcPr marL="91451" marR="91451" marT="45738" marB="45738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  <a:endParaRPr lang="he-IL" sz="1800" dirty="0"/>
                    </a:p>
                  </a:txBody>
                  <a:tcPr marL="91451" marR="91451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4</a:t>
                      </a:r>
                      <a:endParaRPr lang="he-IL" sz="1800" dirty="0"/>
                    </a:p>
                  </a:txBody>
                  <a:tcPr marL="91451" marR="91451" marT="45738" marB="4573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51" marR="91451" marT="45738" marB="4573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51" marR="91451" marT="45738" marB="4573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51" marR="91451" marT="45738" marB="4573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51" marR="91451" marT="45738" marB="4573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987"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2</a:t>
                      </a:r>
                    </a:p>
                  </a:txBody>
                  <a:tcPr marL="91451" marR="91451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C</a:t>
                      </a:r>
                      <a:endParaRPr lang="he-IL" sz="1800" dirty="0"/>
                    </a:p>
                  </a:txBody>
                  <a:tcPr marL="91451" marR="91451" marT="45738" marB="45738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</a:t>
                      </a:r>
                      <a:endParaRPr lang="he-IL" sz="1800" dirty="0"/>
                    </a:p>
                  </a:txBody>
                  <a:tcPr marL="91451" marR="91451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1</a:t>
                      </a:r>
                      <a:endParaRPr lang="he-IL" sz="1800" dirty="0"/>
                    </a:p>
                  </a:txBody>
                  <a:tcPr marL="91451" marR="91451" marT="45738" marB="4573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51" marR="91451" marT="45738" marB="4573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51" marR="91451" marT="45738" marB="4573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51" marR="91451" marT="45738" marB="4573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51" marR="91451" marT="45738" marB="4573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987"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3</a:t>
                      </a:r>
                    </a:p>
                  </a:txBody>
                  <a:tcPr marL="91451" marR="91451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D</a:t>
                      </a:r>
                      <a:endParaRPr lang="he-IL" sz="1800" dirty="0"/>
                    </a:p>
                  </a:txBody>
                  <a:tcPr marL="91451" marR="91451" marT="45738" marB="45738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</a:t>
                      </a:r>
                      <a:endParaRPr lang="he-IL" sz="1800" dirty="0"/>
                    </a:p>
                  </a:txBody>
                  <a:tcPr marL="91451" marR="91451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1</a:t>
                      </a:r>
                      <a:endParaRPr lang="he-IL" sz="1800" dirty="0"/>
                    </a:p>
                  </a:txBody>
                  <a:tcPr marL="91451" marR="91451" marT="45738" marB="4573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51" marR="91451" marT="45738" marB="4573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51" marR="91451" marT="45738" marB="4573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51" marR="91451" marT="45738" marB="4573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51" marR="91451" marT="45738" marB="4573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8" name="טבלה 7"/>
          <p:cNvGraphicFramePr>
            <a:graphicFrameLocks noGrp="1"/>
          </p:cNvGraphicFramePr>
          <p:nvPr/>
        </p:nvGraphicFramePr>
        <p:xfrm>
          <a:off x="2482850" y="339725"/>
          <a:ext cx="7251700" cy="18288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8251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67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00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18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59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26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2922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1501"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תהליך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r>
                        <a:rPr lang="he-IL" dirty="0"/>
                        <a:t>זמן</a:t>
                      </a:r>
                      <a:r>
                        <a:rPr lang="he-IL" baseline="0" dirty="0"/>
                        <a:t> הגעה</a:t>
                      </a:r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CPU</a:t>
                      </a:r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התחלה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סיום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זמן שהייה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SJF</a:t>
                      </a:r>
                      <a:endParaRPr lang="he-IL" dirty="0"/>
                    </a:p>
                  </a:txBody>
                  <a:tcPr marL="91436" marR="9143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1501"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A</a:t>
                      </a:r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8</a:t>
                      </a:r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12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20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20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=44/4</a:t>
                      </a:r>
                      <a:endParaRPr lang="he-IL" dirty="0"/>
                    </a:p>
                  </a:txBody>
                  <a:tcPr marL="91436" marR="9143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501"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B</a:t>
                      </a:r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4</a:t>
                      </a:r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0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4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4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=11</a:t>
                      </a:r>
                      <a:endParaRPr lang="he-IL" dirty="0"/>
                    </a:p>
                  </a:txBody>
                  <a:tcPr marL="91436" marR="9143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501"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C</a:t>
                      </a:r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4</a:t>
                      </a:r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4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8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8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 marL="91436" marR="9143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1501"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D</a:t>
                      </a:r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4</a:t>
                      </a:r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8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12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12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 marL="91436" marR="91436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" name="טבלה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4183805"/>
              </p:ext>
            </p:extLst>
          </p:nvPr>
        </p:nvGraphicFramePr>
        <p:xfrm>
          <a:off x="2135188" y="219164"/>
          <a:ext cx="8310870" cy="2397344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8490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90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28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91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528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59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7579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5614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914158"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תזמון</a:t>
                      </a:r>
                    </a:p>
                    <a:p>
                      <a:pPr rtl="1"/>
                      <a:r>
                        <a:rPr lang="en-US" sz="1800" dirty="0"/>
                        <a:t>SJF</a:t>
                      </a:r>
                      <a:endParaRPr lang="he-IL" sz="1800" dirty="0"/>
                    </a:p>
                  </a:txBody>
                  <a:tcPr marL="91432" marR="91432" marT="45708" marB="45708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תהליך</a:t>
                      </a:r>
                    </a:p>
                  </a:txBody>
                  <a:tcPr marL="91432" marR="91432" marT="45708" marB="45708"/>
                </a:tc>
                <a:tc>
                  <a:txBody>
                    <a:bodyPr/>
                    <a:lstStyle/>
                    <a:p>
                      <a:r>
                        <a:rPr lang="he-IL" sz="1800" dirty="0"/>
                        <a:t>זמן</a:t>
                      </a:r>
                      <a:r>
                        <a:rPr lang="he-IL" sz="1800" baseline="0" dirty="0"/>
                        <a:t> הגעה</a:t>
                      </a:r>
                      <a:endParaRPr lang="he-IL" sz="1800" dirty="0"/>
                    </a:p>
                  </a:txBody>
                  <a:tcPr marL="91432" marR="91432" marT="45708" marB="45708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CPU</a:t>
                      </a:r>
                      <a:endParaRPr lang="he-IL" sz="1800" dirty="0"/>
                    </a:p>
                  </a:txBody>
                  <a:tcPr marL="91432" marR="91432" marT="45708" marB="45708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התחלה</a:t>
                      </a:r>
                    </a:p>
                  </a:txBody>
                  <a:tcPr marL="91432" marR="91432" marT="45708" marB="45708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סיום</a:t>
                      </a:r>
                    </a:p>
                  </a:txBody>
                  <a:tcPr marL="91432" marR="91432" marT="45708" marB="45708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זמן שהייה</a:t>
                      </a:r>
                    </a:p>
                  </a:txBody>
                  <a:tcPr marL="91432" marR="91432" marT="45708" marB="45708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זמן</a:t>
                      </a:r>
                      <a:r>
                        <a:rPr lang="he-IL" sz="1800" baseline="0" dirty="0"/>
                        <a:t> שהייה ממוצע</a:t>
                      </a:r>
                      <a:endParaRPr lang="he-IL" sz="1800" dirty="0"/>
                    </a:p>
                  </a:txBody>
                  <a:tcPr marL="91432" marR="91432" marT="45708" marB="4570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742"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1</a:t>
                      </a:r>
                    </a:p>
                  </a:txBody>
                  <a:tcPr marL="91432" marR="91432" marT="45708" marB="4570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A</a:t>
                      </a:r>
                      <a:endParaRPr lang="he-IL" sz="1800" dirty="0"/>
                    </a:p>
                  </a:txBody>
                  <a:tcPr marL="91432" marR="91432" marT="45708" marB="45708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  <a:endParaRPr lang="he-IL" sz="1800" dirty="0"/>
                    </a:p>
                  </a:txBody>
                  <a:tcPr marL="91432" marR="91432" marT="45708" marB="4570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2</a:t>
                      </a:r>
                      <a:endParaRPr lang="he-IL" sz="1800" dirty="0"/>
                    </a:p>
                  </a:txBody>
                  <a:tcPr marL="91432" marR="91432" marT="45708" marB="4570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32" marR="91432" marT="45708" marB="4570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32" marR="91432" marT="45708" marB="4570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32" marR="91432" marT="45708" marB="4570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32" marR="91432" marT="45708" marB="4570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742"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2</a:t>
                      </a:r>
                    </a:p>
                  </a:txBody>
                  <a:tcPr marL="91432" marR="91432" marT="45708" marB="4570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B</a:t>
                      </a:r>
                      <a:endParaRPr lang="he-IL" sz="1800" dirty="0"/>
                    </a:p>
                  </a:txBody>
                  <a:tcPr marL="91432" marR="91432" marT="45708" marB="45708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  <a:endParaRPr lang="he-IL" sz="1800" dirty="0"/>
                    </a:p>
                  </a:txBody>
                  <a:tcPr marL="91432" marR="91432" marT="45708" marB="4570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4</a:t>
                      </a:r>
                      <a:endParaRPr lang="he-IL" sz="1800" dirty="0"/>
                    </a:p>
                  </a:txBody>
                  <a:tcPr marL="91432" marR="91432" marT="45708" marB="4570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32" marR="91432" marT="45708" marB="4570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32" marR="91432" marT="45708" marB="4570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32" marR="91432" marT="45708" marB="4570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32" marR="91432" marT="45708" marB="4570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742"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3</a:t>
                      </a:r>
                    </a:p>
                  </a:txBody>
                  <a:tcPr marL="91432" marR="91432" marT="45708" marB="4570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C</a:t>
                      </a:r>
                      <a:endParaRPr lang="he-IL" sz="1800" dirty="0"/>
                    </a:p>
                  </a:txBody>
                  <a:tcPr marL="91432" marR="91432" marT="45708" marB="45708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</a:t>
                      </a:r>
                      <a:endParaRPr lang="he-IL" sz="1800" dirty="0"/>
                    </a:p>
                  </a:txBody>
                  <a:tcPr marL="91432" marR="91432" marT="45708" marB="4570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1</a:t>
                      </a:r>
                      <a:endParaRPr lang="he-IL" sz="1800" dirty="0"/>
                    </a:p>
                  </a:txBody>
                  <a:tcPr marL="91432" marR="91432" marT="45708" marB="4570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32" marR="91432" marT="45708" marB="4570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32" marR="91432" marT="45708" marB="4570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32" marR="91432" marT="45708" marB="4570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32" marR="91432" marT="45708" marB="4570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742"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4</a:t>
                      </a:r>
                    </a:p>
                  </a:txBody>
                  <a:tcPr marL="91432" marR="91432" marT="45708" marB="4570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D</a:t>
                      </a:r>
                      <a:endParaRPr lang="he-IL" sz="1800" dirty="0"/>
                    </a:p>
                  </a:txBody>
                  <a:tcPr marL="91432" marR="91432" marT="45708" marB="45708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</a:t>
                      </a:r>
                      <a:endParaRPr lang="he-IL" sz="1800" dirty="0"/>
                    </a:p>
                  </a:txBody>
                  <a:tcPr marL="91432" marR="91432" marT="45708" marB="4570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1</a:t>
                      </a:r>
                      <a:endParaRPr lang="he-IL" sz="1800" dirty="0"/>
                    </a:p>
                  </a:txBody>
                  <a:tcPr marL="91432" marR="91432" marT="45708" marB="4570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32" marR="91432" marT="45708" marB="4570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32" marR="91432" marT="45708" marB="4570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32" marR="91432" marT="45708" marB="4570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32" marR="91432" marT="45708" marB="4570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C00769A-A28D-407A-AF3B-7A3B8B2BBFCA}" type="datetime12">
              <a:rPr lang="he-IL" smtClean="0"/>
              <a:pPr>
                <a:defRPr/>
              </a:pPr>
              <a:t>28/01/2024 18:13</a:t>
            </a:fld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בה</a:t>
            </a:r>
          </a:p>
        </p:txBody>
      </p:sp>
      <p:sp>
        <p:nvSpPr>
          <p:cNvPr id="58371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8372" name="מציין מיקום של מספר שקופית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E90B0953-B67A-418C-8810-154FEBF7B8FD}" type="slidenum">
              <a:rPr lang="he-IL" sz="1400"/>
              <a:pPr eaLnBrk="1" hangingPunct="1"/>
              <a:t>66</a:t>
            </a:fld>
            <a:endParaRPr lang="en-US" sz="1400"/>
          </a:p>
        </p:txBody>
      </p:sp>
      <p:sp>
        <p:nvSpPr>
          <p:cNvPr id="58373" name="Rectangle 3"/>
          <p:cNvSpPr txBox="1">
            <a:spLocks noChangeArrowheads="1"/>
          </p:cNvSpPr>
          <p:nvPr/>
        </p:nvSpPr>
        <p:spPr bwMode="auto">
          <a:xfrm>
            <a:off x="2209800" y="5324476"/>
            <a:ext cx="7772400" cy="77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accent2"/>
              </a:buClr>
            </a:pPr>
            <a:r>
              <a:rPr lang="en-US" sz="3200">
                <a:solidFill>
                  <a:schemeClr val="accent2"/>
                </a:solidFill>
              </a:rPr>
              <a:t>An example of shortest job first scheduling</a:t>
            </a:r>
          </a:p>
        </p:txBody>
      </p:sp>
      <p:pic>
        <p:nvPicPr>
          <p:cNvPr id="58374" name="Picture 5" descr="2-39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5188" y="2168525"/>
            <a:ext cx="7599362" cy="1339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7" name="טבלה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0503980"/>
              </p:ext>
            </p:extLst>
          </p:nvPr>
        </p:nvGraphicFramePr>
        <p:xfrm>
          <a:off x="2030414" y="2698751"/>
          <a:ext cx="8309112" cy="2398711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8488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88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26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89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524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574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7554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5594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914763"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תזמון</a:t>
                      </a:r>
                    </a:p>
                  </a:txBody>
                  <a:tcPr marL="91451" marR="91451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תהליך</a:t>
                      </a:r>
                    </a:p>
                  </a:txBody>
                  <a:tcPr marL="91451" marR="91451" marT="45738" marB="45738"/>
                </a:tc>
                <a:tc>
                  <a:txBody>
                    <a:bodyPr/>
                    <a:lstStyle/>
                    <a:p>
                      <a:r>
                        <a:rPr lang="he-IL" sz="1800" dirty="0"/>
                        <a:t>זמן</a:t>
                      </a:r>
                      <a:r>
                        <a:rPr lang="he-IL" sz="1800" baseline="0" dirty="0"/>
                        <a:t> הגעה</a:t>
                      </a:r>
                      <a:endParaRPr lang="he-IL" sz="1800" dirty="0"/>
                    </a:p>
                  </a:txBody>
                  <a:tcPr marL="91451" marR="91451" marT="45738" marB="45738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CPU</a:t>
                      </a:r>
                      <a:endParaRPr lang="he-IL" sz="1800" dirty="0"/>
                    </a:p>
                  </a:txBody>
                  <a:tcPr marL="91451" marR="91451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התחלה</a:t>
                      </a:r>
                    </a:p>
                  </a:txBody>
                  <a:tcPr marL="91451" marR="91451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סיום</a:t>
                      </a:r>
                    </a:p>
                  </a:txBody>
                  <a:tcPr marL="91451" marR="91451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זמן שהייה</a:t>
                      </a:r>
                    </a:p>
                  </a:txBody>
                  <a:tcPr marL="91451" marR="91451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זמן</a:t>
                      </a:r>
                      <a:r>
                        <a:rPr lang="he-IL" sz="1800" baseline="0" dirty="0"/>
                        <a:t> שהייה ממוצע</a:t>
                      </a:r>
                      <a:endParaRPr lang="he-IL" sz="1800" dirty="0"/>
                    </a:p>
                  </a:txBody>
                  <a:tcPr marL="91451" marR="91451" marT="45738" marB="4573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87"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1</a:t>
                      </a:r>
                    </a:p>
                  </a:txBody>
                  <a:tcPr marL="91451" marR="91451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A</a:t>
                      </a:r>
                      <a:endParaRPr lang="he-IL" sz="1800" dirty="0"/>
                    </a:p>
                  </a:txBody>
                  <a:tcPr marL="91451" marR="91451" marT="45738" marB="45738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  <a:endParaRPr lang="he-IL" sz="1800" dirty="0"/>
                    </a:p>
                  </a:txBody>
                  <a:tcPr marL="91451" marR="91451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2</a:t>
                      </a:r>
                      <a:endParaRPr lang="he-IL" sz="1800" dirty="0"/>
                    </a:p>
                  </a:txBody>
                  <a:tcPr marL="91451" marR="91451" marT="45738" marB="4573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51" marR="91451" marT="45738" marB="4573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51" marR="91451" marT="45738" marB="4573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51" marR="91451" marT="45738" marB="4573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51" marR="91451" marT="45738" marB="4573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87"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4</a:t>
                      </a:r>
                    </a:p>
                  </a:txBody>
                  <a:tcPr marL="91451" marR="91451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B</a:t>
                      </a:r>
                      <a:endParaRPr lang="he-IL" sz="1800" dirty="0"/>
                    </a:p>
                  </a:txBody>
                  <a:tcPr marL="91451" marR="91451" marT="45738" marB="45738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  <a:endParaRPr lang="he-IL" sz="1800" dirty="0"/>
                    </a:p>
                  </a:txBody>
                  <a:tcPr marL="91451" marR="91451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4</a:t>
                      </a:r>
                      <a:endParaRPr lang="he-IL" sz="1800" dirty="0"/>
                    </a:p>
                  </a:txBody>
                  <a:tcPr marL="91451" marR="91451" marT="45738" marB="4573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51" marR="91451" marT="45738" marB="4573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51" marR="91451" marT="45738" marB="4573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51" marR="91451" marT="45738" marB="4573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51" marR="91451" marT="45738" marB="4573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987"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2</a:t>
                      </a:r>
                    </a:p>
                  </a:txBody>
                  <a:tcPr marL="91451" marR="91451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C</a:t>
                      </a:r>
                      <a:endParaRPr lang="he-IL" sz="1800" dirty="0"/>
                    </a:p>
                  </a:txBody>
                  <a:tcPr marL="91451" marR="91451" marT="45738" marB="45738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</a:t>
                      </a:r>
                      <a:endParaRPr lang="he-IL" sz="1800" dirty="0"/>
                    </a:p>
                  </a:txBody>
                  <a:tcPr marL="91451" marR="91451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1</a:t>
                      </a:r>
                      <a:endParaRPr lang="he-IL" sz="1800" dirty="0"/>
                    </a:p>
                  </a:txBody>
                  <a:tcPr marL="91451" marR="91451" marT="45738" marB="4573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51" marR="91451" marT="45738" marB="4573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51" marR="91451" marT="45738" marB="4573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51" marR="91451" marT="45738" marB="4573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51" marR="91451" marT="45738" marB="4573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987"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3</a:t>
                      </a:r>
                    </a:p>
                  </a:txBody>
                  <a:tcPr marL="91451" marR="91451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D</a:t>
                      </a:r>
                      <a:endParaRPr lang="he-IL" sz="1800" dirty="0"/>
                    </a:p>
                  </a:txBody>
                  <a:tcPr marL="91451" marR="91451" marT="45738" marB="45738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</a:t>
                      </a:r>
                      <a:endParaRPr lang="he-IL" sz="1800" dirty="0"/>
                    </a:p>
                  </a:txBody>
                  <a:tcPr marL="91451" marR="91451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1</a:t>
                      </a:r>
                      <a:endParaRPr lang="he-IL" sz="1800" dirty="0"/>
                    </a:p>
                  </a:txBody>
                  <a:tcPr marL="91451" marR="91451" marT="45738" marB="4573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51" marR="91451" marT="45738" marB="4573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51" marR="91451" marT="45738" marB="4573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51" marR="91451" marT="45738" marB="4573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51" marR="91451" marT="45738" marB="4573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8" name="טבלה 7"/>
          <p:cNvGraphicFramePr>
            <a:graphicFrameLocks noGrp="1"/>
          </p:cNvGraphicFramePr>
          <p:nvPr/>
        </p:nvGraphicFramePr>
        <p:xfrm>
          <a:off x="2482850" y="339725"/>
          <a:ext cx="7251700" cy="18288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8251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67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00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18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59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26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2922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1501"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תהליך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r>
                        <a:rPr lang="he-IL" dirty="0"/>
                        <a:t>זמן</a:t>
                      </a:r>
                      <a:r>
                        <a:rPr lang="he-IL" baseline="0" dirty="0"/>
                        <a:t> הגעה</a:t>
                      </a:r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CPU</a:t>
                      </a:r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התחלה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סיום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זמן שהייה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SJF</a:t>
                      </a:r>
                      <a:endParaRPr lang="he-IL" dirty="0"/>
                    </a:p>
                  </a:txBody>
                  <a:tcPr marL="91436" marR="9143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1501"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A</a:t>
                      </a:r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8</a:t>
                      </a:r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12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20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20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=44/4</a:t>
                      </a:r>
                      <a:endParaRPr lang="he-IL" dirty="0"/>
                    </a:p>
                  </a:txBody>
                  <a:tcPr marL="91436" marR="9143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501"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B</a:t>
                      </a:r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4</a:t>
                      </a:r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0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4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4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=11</a:t>
                      </a:r>
                      <a:endParaRPr lang="he-IL" dirty="0"/>
                    </a:p>
                  </a:txBody>
                  <a:tcPr marL="91436" marR="9143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501"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C</a:t>
                      </a:r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4</a:t>
                      </a:r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4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8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8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 marL="91436" marR="9143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1501"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D</a:t>
                      </a:r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4</a:t>
                      </a:r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8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12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12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 marL="91436" marR="91436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" name="טבלה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9177696"/>
              </p:ext>
            </p:extLst>
          </p:nvPr>
        </p:nvGraphicFramePr>
        <p:xfrm>
          <a:off x="2135188" y="219164"/>
          <a:ext cx="8310870" cy="2397344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8490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90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28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91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528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59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7579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5614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914158"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תזמון</a:t>
                      </a:r>
                    </a:p>
                  </a:txBody>
                  <a:tcPr marL="91432" marR="91432" marT="45708" marB="45708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תהליך</a:t>
                      </a:r>
                    </a:p>
                  </a:txBody>
                  <a:tcPr marL="91432" marR="91432" marT="45708" marB="45708"/>
                </a:tc>
                <a:tc>
                  <a:txBody>
                    <a:bodyPr/>
                    <a:lstStyle/>
                    <a:p>
                      <a:r>
                        <a:rPr lang="he-IL" sz="1800" dirty="0"/>
                        <a:t>זמן</a:t>
                      </a:r>
                      <a:r>
                        <a:rPr lang="he-IL" sz="1800" baseline="0" dirty="0"/>
                        <a:t> הגעה</a:t>
                      </a:r>
                      <a:endParaRPr lang="he-IL" sz="1800" dirty="0"/>
                    </a:p>
                  </a:txBody>
                  <a:tcPr marL="91432" marR="91432" marT="45708" marB="45708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CPU</a:t>
                      </a:r>
                      <a:endParaRPr lang="he-IL" sz="1800" dirty="0"/>
                    </a:p>
                  </a:txBody>
                  <a:tcPr marL="91432" marR="91432" marT="45708" marB="45708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התחלה</a:t>
                      </a:r>
                    </a:p>
                  </a:txBody>
                  <a:tcPr marL="91432" marR="91432" marT="45708" marB="45708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סיום</a:t>
                      </a:r>
                    </a:p>
                  </a:txBody>
                  <a:tcPr marL="91432" marR="91432" marT="45708" marB="45708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זמן שהייה</a:t>
                      </a:r>
                    </a:p>
                  </a:txBody>
                  <a:tcPr marL="91432" marR="91432" marT="45708" marB="45708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זמן</a:t>
                      </a:r>
                      <a:r>
                        <a:rPr lang="he-IL" sz="1800" baseline="0" dirty="0"/>
                        <a:t> שהייה ממוצע</a:t>
                      </a:r>
                      <a:endParaRPr lang="he-IL" sz="1800" dirty="0"/>
                    </a:p>
                  </a:txBody>
                  <a:tcPr marL="91432" marR="91432" marT="45708" marB="4570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742"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1</a:t>
                      </a:r>
                    </a:p>
                  </a:txBody>
                  <a:tcPr marL="91432" marR="91432" marT="45708" marB="4570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A</a:t>
                      </a:r>
                      <a:endParaRPr lang="he-IL" sz="1800" dirty="0"/>
                    </a:p>
                  </a:txBody>
                  <a:tcPr marL="91432" marR="91432" marT="45708" marB="45708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  <a:endParaRPr lang="he-IL" sz="1800" dirty="0"/>
                    </a:p>
                  </a:txBody>
                  <a:tcPr marL="91432" marR="91432" marT="45708" marB="4570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2</a:t>
                      </a:r>
                      <a:endParaRPr lang="he-IL" sz="1800" dirty="0"/>
                    </a:p>
                  </a:txBody>
                  <a:tcPr marL="91432" marR="91432" marT="45708" marB="4570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0</a:t>
                      </a:r>
                      <a:endParaRPr lang="he-IL" sz="1800" dirty="0"/>
                    </a:p>
                  </a:txBody>
                  <a:tcPr marL="91432" marR="91432" marT="45708" marB="4570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2</a:t>
                      </a:r>
                      <a:endParaRPr lang="he-IL" sz="1800" dirty="0"/>
                    </a:p>
                  </a:txBody>
                  <a:tcPr marL="91432" marR="91432" marT="45708" marB="4570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2</a:t>
                      </a:r>
                      <a:endParaRPr lang="he-IL" sz="1800" dirty="0"/>
                    </a:p>
                  </a:txBody>
                  <a:tcPr marL="91432" marR="91432" marT="45708" marB="4570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=17/4</a:t>
                      </a:r>
                      <a:endParaRPr lang="he-IL" sz="1800" dirty="0"/>
                    </a:p>
                  </a:txBody>
                  <a:tcPr marL="91432" marR="91432" marT="45708" marB="4570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742"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2</a:t>
                      </a:r>
                    </a:p>
                  </a:txBody>
                  <a:tcPr marL="91432" marR="91432" marT="45708" marB="4570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B</a:t>
                      </a:r>
                      <a:endParaRPr lang="he-IL" sz="1800" dirty="0"/>
                    </a:p>
                  </a:txBody>
                  <a:tcPr marL="91432" marR="91432" marT="45708" marB="45708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  <a:endParaRPr lang="he-IL" sz="1800" dirty="0"/>
                    </a:p>
                  </a:txBody>
                  <a:tcPr marL="91432" marR="91432" marT="45708" marB="4570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4</a:t>
                      </a:r>
                      <a:endParaRPr lang="he-IL" sz="1800" dirty="0"/>
                    </a:p>
                  </a:txBody>
                  <a:tcPr marL="91432" marR="91432" marT="45708" marB="4570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/>
                        <a:t>2</a:t>
                      </a:r>
                      <a:endParaRPr lang="he-IL" sz="1800" dirty="0"/>
                    </a:p>
                  </a:txBody>
                  <a:tcPr marL="91432" marR="91432" marT="45708" marB="4570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6</a:t>
                      </a:r>
                      <a:endParaRPr lang="he-IL" sz="1800" dirty="0"/>
                    </a:p>
                  </a:txBody>
                  <a:tcPr marL="91432" marR="91432" marT="45708" marB="4570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6</a:t>
                      </a:r>
                      <a:endParaRPr lang="he-IL" sz="1800" dirty="0"/>
                    </a:p>
                  </a:txBody>
                  <a:tcPr marL="91432" marR="91432" marT="45708" marB="4570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32" marR="91432" marT="45708" marB="4570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742"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3</a:t>
                      </a:r>
                    </a:p>
                  </a:txBody>
                  <a:tcPr marL="91432" marR="91432" marT="45708" marB="4570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C</a:t>
                      </a:r>
                      <a:endParaRPr lang="he-IL" sz="1800" dirty="0"/>
                    </a:p>
                  </a:txBody>
                  <a:tcPr marL="91432" marR="91432" marT="45708" marB="45708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</a:t>
                      </a:r>
                      <a:endParaRPr lang="he-IL" sz="1800" dirty="0"/>
                    </a:p>
                  </a:txBody>
                  <a:tcPr marL="91432" marR="91432" marT="45708" marB="4570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1</a:t>
                      </a:r>
                      <a:endParaRPr lang="he-IL" sz="1800" dirty="0"/>
                    </a:p>
                  </a:txBody>
                  <a:tcPr marL="91432" marR="91432" marT="45708" marB="4570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6</a:t>
                      </a:r>
                      <a:endParaRPr lang="he-IL" sz="1800" dirty="0"/>
                    </a:p>
                  </a:txBody>
                  <a:tcPr marL="91432" marR="91432" marT="45708" marB="4570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7</a:t>
                      </a:r>
                      <a:endParaRPr lang="he-IL" sz="1800" dirty="0"/>
                    </a:p>
                  </a:txBody>
                  <a:tcPr marL="91432" marR="91432" marT="45708" marB="4570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4</a:t>
                      </a:r>
                      <a:endParaRPr lang="he-IL" sz="1800" dirty="0"/>
                    </a:p>
                  </a:txBody>
                  <a:tcPr marL="91432" marR="91432" marT="45708" marB="4570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32" marR="91432" marT="45708" marB="4570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742"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4</a:t>
                      </a:r>
                    </a:p>
                  </a:txBody>
                  <a:tcPr marL="91432" marR="91432" marT="45708" marB="4570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D</a:t>
                      </a:r>
                      <a:endParaRPr lang="he-IL" sz="1800" dirty="0"/>
                    </a:p>
                  </a:txBody>
                  <a:tcPr marL="91432" marR="91432" marT="45708" marB="45708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</a:t>
                      </a:r>
                      <a:endParaRPr lang="he-IL" sz="1800" dirty="0"/>
                    </a:p>
                  </a:txBody>
                  <a:tcPr marL="91432" marR="91432" marT="45708" marB="4570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1</a:t>
                      </a:r>
                      <a:endParaRPr lang="he-IL" sz="1800" dirty="0"/>
                    </a:p>
                  </a:txBody>
                  <a:tcPr marL="91432" marR="91432" marT="45708" marB="4570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7</a:t>
                      </a:r>
                      <a:endParaRPr lang="he-IL" sz="1800" dirty="0"/>
                    </a:p>
                  </a:txBody>
                  <a:tcPr marL="91432" marR="91432" marT="45708" marB="4570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8</a:t>
                      </a:r>
                      <a:endParaRPr lang="he-IL" sz="1800" dirty="0"/>
                    </a:p>
                  </a:txBody>
                  <a:tcPr marL="91432" marR="91432" marT="45708" marB="4570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5</a:t>
                      </a:r>
                      <a:endParaRPr lang="he-IL" sz="1800" dirty="0"/>
                    </a:p>
                  </a:txBody>
                  <a:tcPr marL="91432" marR="91432" marT="45708" marB="4570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32" marR="91432" marT="45708" marB="4570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C00769A-A28D-407A-AF3B-7A3B8B2BBFCA}" type="datetime12">
              <a:rPr lang="he-IL" smtClean="0"/>
              <a:pPr>
                <a:defRPr/>
              </a:pPr>
              <a:t>28/01/2024 18:13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59425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בה</a:t>
            </a:r>
          </a:p>
        </p:txBody>
      </p:sp>
      <p:sp>
        <p:nvSpPr>
          <p:cNvPr id="58371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8372" name="מציין מיקום של מספר שקופית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E90B0953-B67A-418C-8810-154FEBF7B8FD}" type="slidenum">
              <a:rPr lang="he-IL" sz="1400"/>
              <a:pPr eaLnBrk="1" hangingPunct="1"/>
              <a:t>67</a:t>
            </a:fld>
            <a:endParaRPr lang="en-US" sz="1400"/>
          </a:p>
        </p:txBody>
      </p:sp>
      <p:sp>
        <p:nvSpPr>
          <p:cNvPr id="58373" name="Rectangle 3"/>
          <p:cNvSpPr txBox="1">
            <a:spLocks noChangeArrowheads="1"/>
          </p:cNvSpPr>
          <p:nvPr/>
        </p:nvSpPr>
        <p:spPr bwMode="auto">
          <a:xfrm>
            <a:off x="2209800" y="5324476"/>
            <a:ext cx="7772400" cy="77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accent2"/>
              </a:buClr>
            </a:pPr>
            <a:r>
              <a:rPr lang="en-US" sz="3200">
                <a:solidFill>
                  <a:schemeClr val="accent2"/>
                </a:solidFill>
              </a:rPr>
              <a:t>An example of shortest job first scheduling</a:t>
            </a:r>
          </a:p>
        </p:txBody>
      </p:sp>
      <p:pic>
        <p:nvPicPr>
          <p:cNvPr id="58374" name="Picture 5" descr="2-39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5188" y="2168525"/>
            <a:ext cx="7599362" cy="1339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7" name="טבלה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068911"/>
              </p:ext>
            </p:extLst>
          </p:nvPr>
        </p:nvGraphicFramePr>
        <p:xfrm>
          <a:off x="2030414" y="2698751"/>
          <a:ext cx="8309112" cy="2398711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8488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88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26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89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524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574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7554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5594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914763"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תזמון</a:t>
                      </a:r>
                    </a:p>
                  </a:txBody>
                  <a:tcPr marL="91451" marR="91451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תהליך</a:t>
                      </a:r>
                    </a:p>
                  </a:txBody>
                  <a:tcPr marL="91451" marR="91451" marT="45738" marB="45738"/>
                </a:tc>
                <a:tc>
                  <a:txBody>
                    <a:bodyPr/>
                    <a:lstStyle/>
                    <a:p>
                      <a:r>
                        <a:rPr lang="he-IL" sz="1800" dirty="0"/>
                        <a:t>זמן</a:t>
                      </a:r>
                      <a:r>
                        <a:rPr lang="he-IL" sz="1800" baseline="0" dirty="0"/>
                        <a:t> הגעה</a:t>
                      </a:r>
                      <a:endParaRPr lang="he-IL" sz="1800" dirty="0"/>
                    </a:p>
                  </a:txBody>
                  <a:tcPr marL="91451" marR="91451" marT="45738" marB="45738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CPU</a:t>
                      </a:r>
                      <a:endParaRPr lang="he-IL" sz="1800" dirty="0"/>
                    </a:p>
                  </a:txBody>
                  <a:tcPr marL="91451" marR="91451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התחלה</a:t>
                      </a:r>
                    </a:p>
                  </a:txBody>
                  <a:tcPr marL="91451" marR="91451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סיום</a:t>
                      </a:r>
                    </a:p>
                  </a:txBody>
                  <a:tcPr marL="91451" marR="91451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זמן שהייה</a:t>
                      </a:r>
                    </a:p>
                  </a:txBody>
                  <a:tcPr marL="91451" marR="91451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זמן</a:t>
                      </a:r>
                      <a:r>
                        <a:rPr lang="he-IL" sz="1800" baseline="0" dirty="0"/>
                        <a:t> שהייה ממוצע</a:t>
                      </a:r>
                      <a:endParaRPr lang="he-IL" sz="1800" dirty="0"/>
                    </a:p>
                  </a:txBody>
                  <a:tcPr marL="91451" marR="91451" marT="45738" marB="4573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87"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1</a:t>
                      </a:r>
                    </a:p>
                  </a:txBody>
                  <a:tcPr marL="91451" marR="91451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A</a:t>
                      </a:r>
                      <a:endParaRPr lang="he-IL" sz="1800" dirty="0"/>
                    </a:p>
                  </a:txBody>
                  <a:tcPr marL="91451" marR="91451" marT="45738" marB="45738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  <a:endParaRPr lang="he-IL" sz="1800" dirty="0"/>
                    </a:p>
                  </a:txBody>
                  <a:tcPr marL="91451" marR="91451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2</a:t>
                      </a:r>
                      <a:endParaRPr lang="he-IL" sz="1800" dirty="0"/>
                    </a:p>
                  </a:txBody>
                  <a:tcPr marL="91451" marR="91451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0</a:t>
                      </a:r>
                      <a:endParaRPr lang="he-IL" sz="1800" dirty="0"/>
                    </a:p>
                  </a:txBody>
                  <a:tcPr marL="91451" marR="91451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2</a:t>
                      </a:r>
                      <a:endParaRPr lang="he-IL" sz="1800" dirty="0"/>
                    </a:p>
                  </a:txBody>
                  <a:tcPr marL="91451" marR="91451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/>
                        <a:t>2</a:t>
                      </a:r>
                      <a:endParaRPr lang="he-IL" sz="1800" dirty="0"/>
                    </a:p>
                  </a:txBody>
                  <a:tcPr marL="91451" marR="91451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=14/4</a:t>
                      </a:r>
                      <a:endParaRPr lang="he-IL" sz="1800" dirty="0"/>
                    </a:p>
                  </a:txBody>
                  <a:tcPr marL="91451" marR="91451" marT="45738" marB="4573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87"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4</a:t>
                      </a:r>
                    </a:p>
                  </a:txBody>
                  <a:tcPr marL="91451" marR="91451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B</a:t>
                      </a:r>
                      <a:endParaRPr lang="he-IL" sz="1800" dirty="0"/>
                    </a:p>
                  </a:txBody>
                  <a:tcPr marL="91451" marR="91451" marT="45738" marB="45738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  <a:endParaRPr lang="he-IL" sz="1800" dirty="0"/>
                    </a:p>
                  </a:txBody>
                  <a:tcPr marL="91451" marR="91451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4</a:t>
                      </a:r>
                      <a:endParaRPr lang="he-IL" sz="1800" dirty="0"/>
                    </a:p>
                  </a:txBody>
                  <a:tcPr marL="91451" marR="91451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5</a:t>
                      </a:r>
                      <a:endParaRPr lang="he-IL" sz="1800" dirty="0"/>
                    </a:p>
                  </a:txBody>
                  <a:tcPr marL="91451" marR="91451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9</a:t>
                      </a:r>
                      <a:endParaRPr lang="he-IL" sz="1800" dirty="0"/>
                    </a:p>
                  </a:txBody>
                  <a:tcPr marL="91451" marR="91451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/>
                        <a:t>9</a:t>
                      </a:r>
                      <a:endParaRPr lang="he-IL" sz="1800" dirty="0"/>
                    </a:p>
                  </a:txBody>
                  <a:tcPr marL="91451" marR="91451" marT="45738" marB="4573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51" marR="91451" marT="45738" marB="4573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987"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2</a:t>
                      </a:r>
                    </a:p>
                  </a:txBody>
                  <a:tcPr marL="91451" marR="91451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C</a:t>
                      </a:r>
                      <a:endParaRPr lang="he-IL" sz="1800" dirty="0"/>
                    </a:p>
                  </a:txBody>
                  <a:tcPr marL="91451" marR="91451" marT="45738" marB="45738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</a:t>
                      </a:r>
                      <a:endParaRPr lang="he-IL" sz="1800" dirty="0"/>
                    </a:p>
                  </a:txBody>
                  <a:tcPr marL="91451" marR="91451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1</a:t>
                      </a:r>
                      <a:endParaRPr lang="he-IL" sz="1800" dirty="0"/>
                    </a:p>
                  </a:txBody>
                  <a:tcPr marL="91451" marR="91451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3</a:t>
                      </a:r>
                      <a:endParaRPr lang="he-IL" sz="1800" dirty="0"/>
                    </a:p>
                  </a:txBody>
                  <a:tcPr marL="91451" marR="91451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4</a:t>
                      </a:r>
                      <a:endParaRPr lang="he-IL" sz="1800" dirty="0"/>
                    </a:p>
                  </a:txBody>
                  <a:tcPr marL="91451" marR="91451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1</a:t>
                      </a:r>
                      <a:endParaRPr lang="he-IL" sz="1800" dirty="0"/>
                    </a:p>
                  </a:txBody>
                  <a:tcPr marL="91451" marR="91451" marT="45738" marB="4573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51" marR="91451" marT="45738" marB="4573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987"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3</a:t>
                      </a:r>
                    </a:p>
                  </a:txBody>
                  <a:tcPr marL="91451" marR="91451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D</a:t>
                      </a:r>
                      <a:endParaRPr lang="he-IL" sz="1800" dirty="0"/>
                    </a:p>
                  </a:txBody>
                  <a:tcPr marL="91451" marR="91451" marT="45738" marB="45738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</a:t>
                      </a:r>
                      <a:endParaRPr lang="he-IL" sz="1800" dirty="0"/>
                    </a:p>
                  </a:txBody>
                  <a:tcPr marL="91451" marR="91451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1</a:t>
                      </a:r>
                      <a:endParaRPr lang="he-IL" sz="1800" dirty="0"/>
                    </a:p>
                  </a:txBody>
                  <a:tcPr marL="91451" marR="91451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4</a:t>
                      </a:r>
                      <a:endParaRPr lang="he-IL" sz="1800" dirty="0"/>
                    </a:p>
                  </a:txBody>
                  <a:tcPr marL="91451" marR="91451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5</a:t>
                      </a:r>
                      <a:endParaRPr lang="he-IL" sz="1800" dirty="0"/>
                    </a:p>
                  </a:txBody>
                  <a:tcPr marL="91451" marR="91451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2</a:t>
                      </a:r>
                      <a:endParaRPr lang="he-IL" sz="1800" dirty="0"/>
                    </a:p>
                  </a:txBody>
                  <a:tcPr marL="91451" marR="91451" marT="45738" marB="4573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51" marR="91451" marT="45738" marB="4573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8" name="טבלה 7"/>
          <p:cNvGraphicFramePr>
            <a:graphicFrameLocks noGrp="1"/>
          </p:cNvGraphicFramePr>
          <p:nvPr/>
        </p:nvGraphicFramePr>
        <p:xfrm>
          <a:off x="2482850" y="339725"/>
          <a:ext cx="7251700" cy="18288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8251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67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00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18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59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26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2922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1501"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תהליך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r>
                        <a:rPr lang="he-IL" dirty="0"/>
                        <a:t>זמן</a:t>
                      </a:r>
                      <a:r>
                        <a:rPr lang="he-IL" baseline="0" dirty="0"/>
                        <a:t> הגעה</a:t>
                      </a:r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CPU</a:t>
                      </a:r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התחלה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סיום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זמן שהייה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SJF</a:t>
                      </a:r>
                      <a:endParaRPr lang="he-IL" dirty="0"/>
                    </a:p>
                  </a:txBody>
                  <a:tcPr marL="91436" marR="9143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1501"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A</a:t>
                      </a:r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8</a:t>
                      </a:r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12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20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20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=44/4</a:t>
                      </a:r>
                      <a:endParaRPr lang="he-IL" dirty="0"/>
                    </a:p>
                  </a:txBody>
                  <a:tcPr marL="91436" marR="9143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501"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B</a:t>
                      </a:r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4</a:t>
                      </a:r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0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4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4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=11</a:t>
                      </a:r>
                      <a:endParaRPr lang="he-IL" dirty="0"/>
                    </a:p>
                  </a:txBody>
                  <a:tcPr marL="91436" marR="9143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501"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C</a:t>
                      </a:r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4</a:t>
                      </a:r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4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8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8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 marL="91436" marR="9143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1501"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D</a:t>
                      </a:r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4</a:t>
                      </a:r>
                      <a:endParaRPr lang="he-IL" dirty="0"/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8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12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12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 marL="91436" marR="91436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" name="טבלה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0132065"/>
              </p:ext>
            </p:extLst>
          </p:nvPr>
        </p:nvGraphicFramePr>
        <p:xfrm>
          <a:off x="2135188" y="219164"/>
          <a:ext cx="8310870" cy="2397344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8490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90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28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91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528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59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7579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5614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914158"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תזמון</a:t>
                      </a:r>
                    </a:p>
                  </a:txBody>
                  <a:tcPr marL="91432" marR="91432" marT="45708" marB="45708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תהליך</a:t>
                      </a:r>
                    </a:p>
                  </a:txBody>
                  <a:tcPr marL="91432" marR="91432" marT="45708" marB="45708"/>
                </a:tc>
                <a:tc>
                  <a:txBody>
                    <a:bodyPr/>
                    <a:lstStyle/>
                    <a:p>
                      <a:r>
                        <a:rPr lang="he-IL" sz="1800" dirty="0"/>
                        <a:t>זמן</a:t>
                      </a:r>
                      <a:r>
                        <a:rPr lang="he-IL" sz="1800" baseline="0" dirty="0"/>
                        <a:t> הגעה</a:t>
                      </a:r>
                      <a:endParaRPr lang="he-IL" sz="1800" dirty="0"/>
                    </a:p>
                  </a:txBody>
                  <a:tcPr marL="91432" marR="91432" marT="45708" marB="45708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CPU</a:t>
                      </a:r>
                      <a:endParaRPr lang="he-IL" sz="1800" dirty="0"/>
                    </a:p>
                  </a:txBody>
                  <a:tcPr marL="91432" marR="91432" marT="45708" marB="45708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התחלה</a:t>
                      </a:r>
                    </a:p>
                  </a:txBody>
                  <a:tcPr marL="91432" marR="91432" marT="45708" marB="45708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סיום</a:t>
                      </a:r>
                    </a:p>
                  </a:txBody>
                  <a:tcPr marL="91432" marR="91432" marT="45708" marB="45708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זמן שהייה</a:t>
                      </a:r>
                    </a:p>
                  </a:txBody>
                  <a:tcPr marL="91432" marR="91432" marT="45708" marB="45708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זמן</a:t>
                      </a:r>
                      <a:r>
                        <a:rPr lang="he-IL" sz="1800" baseline="0" dirty="0"/>
                        <a:t> שהייה ממוצע</a:t>
                      </a:r>
                      <a:endParaRPr lang="he-IL" sz="1800" dirty="0"/>
                    </a:p>
                  </a:txBody>
                  <a:tcPr marL="91432" marR="91432" marT="45708" marB="4570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742"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1</a:t>
                      </a:r>
                    </a:p>
                  </a:txBody>
                  <a:tcPr marL="91432" marR="91432" marT="45708" marB="4570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A</a:t>
                      </a:r>
                      <a:endParaRPr lang="he-IL" sz="1800" dirty="0"/>
                    </a:p>
                  </a:txBody>
                  <a:tcPr marL="91432" marR="91432" marT="45708" marB="45708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  <a:endParaRPr lang="he-IL" sz="1800" dirty="0"/>
                    </a:p>
                  </a:txBody>
                  <a:tcPr marL="91432" marR="91432" marT="45708" marB="4570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2</a:t>
                      </a:r>
                      <a:endParaRPr lang="he-IL" sz="1800" dirty="0"/>
                    </a:p>
                  </a:txBody>
                  <a:tcPr marL="91432" marR="91432" marT="45708" marB="4570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0</a:t>
                      </a:r>
                      <a:endParaRPr lang="he-IL" sz="1800" dirty="0"/>
                    </a:p>
                  </a:txBody>
                  <a:tcPr marL="91432" marR="91432" marT="45708" marB="4570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2</a:t>
                      </a:r>
                      <a:endParaRPr lang="he-IL" sz="1800" dirty="0"/>
                    </a:p>
                  </a:txBody>
                  <a:tcPr marL="91432" marR="91432" marT="45708" marB="4570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2</a:t>
                      </a:r>
                      <a:endParaRPr lang="he-IL" sz="1800" dirty="0"/>
                    </a:p>
                  </a:txBody>
                  <a:tcPr marL="91432" marR="91432" marT="45708" marB="4570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=17/4</a:t>
                      </a:r>
                      <a:endParaRPr lang="he-IL" sz="1800" dirty="0"/>
                    </a:p>
                  </a:txBody>
                  <a:tcPr marL="91432" marR="91432" marT="45708" marB="4570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742"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2</a:t>
                      </a:r>
                    </a:p>
                  </a:txBody>
                  <a:tcPr marL="91432" marR="91432" marT="45708" marB="4570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B</a:t>
                      </a:r>
                      <a:endParaRPr lang="he-IL" sz="1800" dirty="0"/>
                    </a:p>
                  </a:txBody>
                  <a:tcPr marL="91432" marR="91432" marT="45708" marB="45708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  <a:endParaRPr lang="he-IL" sz="1800" dirty="0"/>
                    </a:p>
                  </a:txBody>
                  <a:tcPr marL="91432" marR="91432" marT="45708" marB="4570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4</a:t>
                      </a:r>
                      <a:endParaRPr lang="he-IL" sz="1800" dirty="0"/>
                    </a:p>
                  </a:txBody>
                  <a:tcPr marL="91432" marR="91432" marT="45708" marB="4570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/>
                        <a:t>2</a:t>
                      </a:r>
                      <a:endParaRPr lang="he-IL" sz="1800" dirty="0"/>
                    </a:p>
                  </a:txBody>
                  <a:tcPr marL="91432" marR="91432" marT="45708" marB="4570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6</a:t>
                      </a:r>
                      <a:endParaRPr lang="he-IL" sz="1800" dirty="0"/>
                    </a:p>
                  </a:txBody>
                  <a:tcPr marL="91432" marR="91432" marT="45708" marB="4570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6</a:t>
                      </a:r>
                      <a:endParaRPr lang="he-IL" sz="1800" dirty="0"/>
                    </a:p>
                  </a:txBody>
                  <a:tcPr marL="91432" marR="91432" marT="45708" marB="4570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32" marR="91432" marT="45708" marB="4570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742"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3</a:t>
                      </a:r>
                    </a:p>
                  </a:txBody>
                  <a:tcPr marL="91432" marR="91432" marT="45708" marB="4570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C</a:t>
                      </a:r>
                      <a:endParaRPr lang="he-IL" sz="1800" dirty="0"/>
                    </a:p>
                  </a:txBody>
                  <a:tcPr marL="91432" marR="91432" marT="45708" marB="45708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</a:t>
                      </a:r>
                      <a:endParaRPr lang="he-IL" sz="1800" dirty="0"/>
                    </a:p>
                  </a:txBody>
                  <a:tcPr marL="91432" marR="91432" marT="45708" marB="4570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1</a:t>
                      </a:r>
                      <a:endParaRPr lang="he-IL" sz="1800" dirty="0"/>
                    </a:p>
                  </a:txBody>
                  <a:tcPr marL="91432" marR="91432" marT="45708" marB="4570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6</a:t>
                      </a:r>
                      <a:endParaRPr lang="he-IL" sz="1800" dirty="0"/>
                    </a:p>
                  </a:txBody>
                  <a:tcPr marL="91432" marR="91432" marT="45708" marB="4570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7</a:t>
                      </a:r>
                      <a:endParaRPr lang="he-IL" sz="1800" dirty="0"/>
                    </a:p>
                  </a:txBody>
                  <a:tcPr marL="91432" marR="91432" marT="45708" marB="4570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4</a:t>
                      </a:r>
                      <a:endParaRPr lang="he-IL" sz="1800" dirty="0"/>
                    </a:p>
                  </a:txBody>
                  <a:tcPr marL="91432" marR="91432" marT="45708" marB="4570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32" marR="91432" marT="45708" marB="4570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742"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4</a:t>
                      </a:r>
                    </a:p>
                  </a:txBody>
                  <a:tcPr marL="91432" marR="91432" marT="45708" marB="4570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D</a:t>
                      </a:r>
                      <a:endParaRPr lang="he-IL" sz="1800" dirty="0"/>
                    </a:p>
                  </a:txBody>
                  <a:tcPr marL="91432" marR="91432" marT="45708" marB="45708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</a:t>
                      </a:r>
                      <a:endParaRPr lang="he-IL" sz="1800" dirty="0"/>
                    </a:p>
                  </a:txBody>
                  <a:tcPr marL="91432" marR="91432" marT="45708" marB="4570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1</a:t>
                      </a:r>
                      <a:endParaRPr lang="he-IL" sz="1800" dirty="0"/>
                    </a:p>
                  </a:txBody>
                  <a:tcPr marL="91432" marR="91432" marT="45708" marB="4570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7</a:t>
                      </a:r>
                      <a:endParaRPr lang="he-IL" sz="1800" dirty="0"/>
                    </a:p>
                  </a:txBody>
                  <a:tcPr marL="91432" marR="91432" marT="45708" marB="4570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8</a:t>
                      </a:r>
                      <a:endParaRPr lang="he-IL" sz="1800" dirty="0"/>
                    </a:p>
                  </a:txBody>
                  <a:tcPr marL="91432" marR="91432" marT="45708" marB="4570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5</a:t>
                      </a:r>
                      <a:endParaRPr lang="he-IL" sz="1800" dirty="0"/>
                    </a:p>
                  </a:txBody>
                  <a:tcPr marL="91432" marR="91432" marT="45708" marB="4570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32" marR="91432" marT="45708" marB="4570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C00769A-A28D-407A-AF3B-7A3B8B2BBFCA}" type="datetime12">
              <a:rPr lang="he-IL" smtClean="0"/>
              <a:pPr>
                <a:defRPr/>
              </a:pPr>
              <a:t>28/01/2024 18:13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994189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pitchFamily="34" charset="0"/>
              </a:rPr>
              <a:t>Shortest remaining Time next</a:t>
            </a:r>
            <a:br>
              <a:rPr lang="en-US">
                <a:latin typeface="Arial" pitchFamily="34" charset="0"/>
              </a:rPr>
            </a:br>
            <a:r>
              <a:rPr lang="en-US" sz="2000">
                <a:latin typeface="Arial" pitchFamily="34" charset="0"/>
              </a:rPr>
              <a:t>PREEMPTIVE</a:t>
            </a:r>
            <a:endParaRPr lang="he-IL"/>
          </a:p>
        </p:txBody>
      </p:sp>
      <p:sp>
        <p:nvSpPr>
          <p:cNvPr id="59395" name="מציין מיקום של מספר שקופית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9CDEDF04-0A33-40AF-A788-77EB5B2CEC84}" type="slidenum">
              <a:rPr lang="he-IL" sz="1400"/>
              <a:pPr eaLnBrk="1" hangingPunct="1"/>
              <a:t>68</a:t>
            </a:fld>
            <a:endParaRPr lang="en-US" sz="1400"/>
          </a:p>
        </p:txBody>
      </p:sp>
      <p:graphicFrame>
        <p:nvGraphicFramePr>
          <p:cNvPr id="5" name="מציין מיקום תוכן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84058386"/>
              </p:ext>
            </p:extLst>
          </p:nvPr>
        </p:nvGraphicFramePr>
        <p:xfrm>
          <a:off x="1839914" y="1144589"/>
          <a:ext cx="7807325" cy="2398711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8883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22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05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0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153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3024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042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914763"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תהליך</a:t>
                      </a:r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r>
                        <a:rPr lang="he-IL" sz="1800" dirty="0"/>
                        <a:t>זמן</a:t>
                      </a:r>
                      <a:r>
                        <a:rPr lang="he-IL" sz="1800" baseline="0" dirty="0"/>
                        <a:t> הגעה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CPU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התחלה</a:t>
                      </a:r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סיום</a:t>
                      </a:r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זמן שהייה</a:t>
                      </a:r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זמן</a:t>
                      </a:r>
                      <a:r>
                        <a:rPr lang="he-IL" sz="1800" baseline="0" dirty="0"/>
                        <a:t> שהייה ממוצע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87"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A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2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32" marR="91432" marT="45738" marB="4573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87"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B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4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32" marR="91432" marT="45738" marB="4573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987"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C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3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/>
                        <a:t>1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32" marR="91432" marT="45738" marB="4573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987">
                <a:tc>
                  <a:txBody>
                    <a:bodyPr/>
                    <a:lstStyle/>
                    <a:p>
                      <a:pPr rtl="1"/>
                      <a:r>
                        <a:rPr lang="en-US" sz="1800"/>
                        <a:t>D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3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1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32" marR="91432" marT="45738" marB="4573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05FC81F-025C-4C06-8CEF-D026F82240A1}" type="datetime12">
              <a:rPr lang="he-IL" smtClean="0"/>
              <a:pPr>
                <a:defRPr/>
              </a:pPr>
              <a:t>28/01/2024 18:13</a:t>
            </a:fld>
            <a:endParaRPr 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pitchFamily="34" charset="0"/>
              </a:rPr>
              <a:t>Shortest remaining Time next</a:t>
            </a:r>
            <a:br>
              <a:rPr lang="en-US">
                <a:latin typeface="Arial" pitchFamily="34" charset="0"/>
              </a:rPr>
            </a:br>
            <a:r>
              <a:rPr lang="en-US" sz="2000">
                <a:latin typeface="Arial" pitchFamily="34" charset="0"/>
              </a:rPr>
              <a:t>PREEMPTIVE</a:t>
            </a:r>
            <a:endParaRPr lang="he-IL"/>
          </a:p>
        </p:txBody>
      </p:sp>
      <p:sp>
        <p:nvSpPr>
          <p:cNvPr id="59395" name="מציין מיקום של מספר שקופית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9CDEDF04-0A33-40AF-A788-77EB5B2CEC84}" type="slidenum">
              <a:rPr lang="he-IL" sz="1400"/>
              <a:pPr eaLnBrk="1" hangingPunct="1"/>
              <a:t>69</a:t>
            </a:fld>
            <a:endParaRPr lang="en-US" sz="1400"/>
          </a:p>
        </p:txBody>
      </p:sp>
      <p:graphicFrame>
        <p:nvGraphicFramePr>
          <p:cNvPr id="5" name="מציין מיקום תוכן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37277753"/>
              </p:ext>
            </p:extLst>
          </p:nvPr>
        </p:nvGraphicFramePr>
        <p:xfrm>
          <a:off x="1839914" y="1144589"/>
          <a:ext cx="7807325" cy="2398711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8883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22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05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0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153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3024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042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914763"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תהליך</a:t>
                      </a:r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r>
                        <a:rPr lang="he-IL" sz="1800" dirty="0"/>
                        <a:t>זמן</a:t>
                      </a:r>
                      <a:r>
                        <a:rPr lang="he-IL" sz="1800" baseline="0" dirty="0"/>
                        <a:t> הגעה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CPU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התחלה</a:t>
                      </a:r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סיום</a:t>
                      </a:r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זמן שהייה</a:t>
                      </a:r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זמן</a:t>
                      </a:r>
                      <a:r>
                        <a:rPr lang="he-IL" sz="1800" baseline="0" dirty="0"/>
                        <a:t> שהייה ממוצע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87"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A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2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0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2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32" marR="91432" marT="45738" marB="4573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87"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B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4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/>
                        <a:t>2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/>
                        <a:t>8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32" marR="91432" marT="45738" marB="4573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987"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C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3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/>
                        <a:t>1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3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/>
                        <a:t>4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32" marR="91432" marT="45738" marB="4573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987">
                <a:tc>
                  <a:txBody>
                    <a:bodyPr/>
                    <a:lstStyle/>
                    <a:p>
                      <a:pPr rtl="1"/>
                      <a:r>
                        <a:rPr lang="en-US" sz="1800"/>
                        <a:t>D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3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1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4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5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32" marR="91432" marT="45738" marB="4573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59446" name="מחבר חץ ישר 6"/>
          <p:cNvCxnSpPr>
            <a:cxnSpLocks noChangeShapeType="1"/>
          </p:cNvCxnSpPr>
          <p:nvPr/>
        </p:nvCxnSpPr>
        <p:spPr bwMode="auto">
          <a:xfrm flipV="1">
            <a:off x="2416176" y="3746501"/>
            <a:ext cx="22225" cy="199707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59447" name="מחבר חץ ישר 8"/>
          <p:cNvCxnSpPr>
            <a:cxnSpLocks noChangeShapeType="1"/>
          </p:cNvCxnSpPr>
          <p:nvPr/>
        </p:nvCxnSpPr>
        <p:spPr bwMode="auto">
          <a:xfrm>
            <a:off x="2438401" y="5743575"/>
            <a:ext cx="6958013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59448" name="TextBox 9"/>
          <p:cNvSpPr txBox="1">
            <a:spLocks noChangeArrowheads="1"/>
          </p:cNvSpPr>
          <p:nvPr/>
        </p:nvSpPr>
        <p:spPr bwMode="auto">
          <a:xfrm>
            <a:off x="1870076" y="3746500"/>
            <a:ext cx="333375" cy="181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1400" dirty="0"/>
              <a:t>D</a:t>
            </a:r>
          </a:p>
          <a:p>
            <a:pPr eaLnBrk="1" hangingPunct="1"/>
            <a:endParaRPr lang="en-US" sz="1400" dirty="0"/>
          </a:p>
          <a:p>
            <a:pPr eaLnBrk="1" hangingPunct="1"/>
            <a:r>
              <a:rPr lang="en-US" sz="1400" dirty="0"/>
              <a:t>C</a:t>
            </a:r>
          </a:p>
          <a:p>
            <a:pPr eaLnBrk="1" hangingPunct="1"/>
            <a:endParaRPr lang="en-US" sz="1400" dirty="0"/>
          </a:p>
          <a:p>
            <a:pPr eaLnBrk="1" hangingPunct="1"/>
            <a:r>
              <a:rPr lang="en-US" sz="1400" dirty="0"/>
              <a:t>B</a:t>
            </a:r>
          </a:p>
          <a:p>
            <a:pPr eaLnBrk="1" hangingPunct="1"/>
            <a:endParaRPr lang="en-US" sz="1400" dirty="0"/>
          </a:p>
          <a:p>
            <a:pPr eaLnBrk="1" hangingPunct="1"/>
            <a:endParaRPr lang="en-US" sz="1400" dirty="0"/>
          </a:p>
          <a:p>
            <a:pPr eaLnBrk="1" hangingPunct="1"/>
            <a:r>
              <a:rPr lang="en-US" sz="1400" dirty="0"/>
              <a:t>A</a:t>
            </a:r>
            <a:endParaRPr lang="he-IL" sz="1400" dirty="0"/>
          </a:p>
        </p:txBody>
      </p:sp>
      <p:cxnSp>
        <p:nvCxnSpPr>
          <p:cNvPr id="59449" name="מחבר ישר 11"/>
          <p:cNvCxnSpPr>
            <a:cxnSpLocks noChangeShapeType="1"/>
          </p:cNvCxnSpPr>
          <p:nvPr/>
        </p:nvCxnSpPr>
        <p:spPr bwMode="auto">
          <a:xfrm>
            <a:off x="2438400" y="5408613"/>
            <a:ext cx="54610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59450" name="TextBox 13"/>
          <p:cNvSpPr txBox="1">
            <a:spLocks noChangeArrowheads="1"/>
          </p:cNvSpPr>
          <p:nvPr/>
        </p:nvSpPr>
        <p:spPr bwMode="auto">
          <a:xfrm>
            <a:off x="2438400" y="5756276"/>
            <a:ext cx="70802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1400" dirty="0"/>
              <a:t>          2         3        4              5                        8             </a:t>
            </a:r>
            <a:endParaRPr lang="he-IL" sz="1400" dirty="0"/>
          </a:p>
        </p:txBody>
      </p:sp>
      <p:cxnSp>
        <p:nvCxnSpPr>
          <p:cNvPr id="59451" name="מחבר ישר 15"/>
          <p:cNvCxnSpPr>
            <a:cxnSpLocks noChangeShapeType="1"/>
          </p:cNvCxnSpPr>
          <p:nvPr/>
        </p:nvCxnSpPr>
        <p:spPr bwMode="auto">
          <a:xfrm>
            <a:off x="2984500" y="4745038"/>
            <a:ext cx="401638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59452" name="מחבר ישר 17"/>
          <p:cNvCxnSpPr>
            <a:cxnSpLocks noChangeShapeType="1"/>
          </p:cNvCxnSpPr>
          <p:nvPr/>
        </p:nvCxnSpPr>
        <p:spPr bwMode="auto">
          <a:xfrm>
            <a:off x="3386138" y="4383088"/>
            <a:ext cx="512762" cy="11112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59453" name="מחבר ישר 18"/>
          <p:cNvCxnSpPr>
            <a:cxnSpLocks noChangeShapeType="1"/>
          </p:cNvCxnSpPr>
          <p:nvPr/>
        </p:nvCxnSpPr>
        <p:spPr bwMode="auto">
          <a:xfrm>
            <a:off x="4056063" y="3981451"/>
            <a:ext cx="512762" cy="11113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59454" name="מחבר ישר 19"/>
          <p:cNvCxnSpPr>
            <a:cxnSpLocks noChangeShapeType="1"/>
          </p:cNvCxnSpPr>
          <p:nvPr/>
        </p:nvCxnSpPr>
        <p:spPr bwMode="auto">
          <a:xfrm>
            <a:off x="4713288" y="4749800"/>
            <a:ext cx="100330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5E272D4-4BAC-48DC-8D78-F16F1FA9062C}" type="datetime12">
              <a:rPr lang="he-IL" smtClean="0"/>
              <a:pPr>
                <a:defRPr/>
              </a:pPr>
              <a:t>28/01/2024 18:13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296026" y="2173189"/>
            <a:ext cx="357187" cy="307777"/>
          </a:xfrm>
          <a:prstGeom prst="rect">
            <a:avLst/>
          </a:prstGeom>
          <a:solidFill>
            <a:srgbClr val="D8F8D4"/>
          </a:solidFill>
        </p:spPr>
        <p:txBody>
          <a:bodyPr wrap="square" rtlCol="1">
            <a:spAutoFit/>
          </a:bodyPr>
          <a:lstStyle/>
          <a:p>
            <a:endParaRPr lang="he-IL" sz="1400" dirty="0"/>
          </a:p>
        </p:txBody>
      </p:sp>
      <p:sp>
        <p:nvSpPr>
          <p:cNvPr id="23" name="TextBox 22"/>
          <p:cNvSpPr txBox="1"/>
          <p:nvPr/>
        </p:nvSpPr>
        <p:spPr>
          <a:xfrm>
            <a:off x="6342063" y="2542232"/>
            <a:ext cx="357187" cy="307777"/>
          </a:xfrm>
          <a:prstGeom prst="rect">
            <a:avLst/>
          </a:prstGeom>
          <a:solidFill>
            <a:srgbClr val="D8F8D4"/>
          </a:solidFill>
        </p:spPr>
        <p:txBody>
          <a:bodyPr wrap="square" rtlCol="1">
            <a:spAutoFit/>
          </a:bodyPr>
          <a:lstStyle/>
          <a:p>
            <a:endParaRPr lang="he-IL" sz="1400" dirty="0"/>
          </a:p>
        </p:txBody>
      </p:sp>
      <p:sp>
        <p:nvSpPr>
          <p:cNvPr id="24" name="TextBox 23"/>
          <p:cNvSpPr txBox="1"/>
          <p:nvPr/>
        </p:nvSpPr>
        <p:spPr>
          <a:xfrm>
            <a:off x="6283326" y="2923976"/>
            <a:ext cx="357187" cy="307777"/>
          </a:xfrm>
          <a:prstGeom prst="rect">
            <a:avLst/>
          </a:prstGeom>
          <a:solidFill>
            <a:srgbClr val="D8F8D4"/>
          </a:solidFill>
        </p:spPr>
        <p:txBody>
          <a:bodyPr wrap="square" rtlCol="1">
            <a:spAutoFit/>
          </a:bodyPr>
          <a:lstStyle/>
          <a:p>
            <a:endParaRPr lang="he-IL" sz="1400" dirty="0"/>
          </a:p>
        </p:txBody>
      </p:sp>
      <p:sp>
        <p:nvSpPr>
          <p:cNvPr id="25" name="TextBox 24"/>
          <p:cNvSpPr txBox="1"/>
          <p:nvPr/>
        </p:nvSpPr>
        <p:spPr>
          <a:xfrm>
            <a:off x="6343651" y="3284042"/>
            <a:ext cx="357187" cy="307777"/>
          </a:xfrm>
          <a:prstGeom prst="rect">
            <a:avLst/>
          </a:prstGeom>
          <a:solidFill>
            <a:srgbClr val="D8F8D4"/>
          </a:solidFill>
        </p:spPr>
        <p:txBody>
          <a:bodyPr wrap="square" rtlCol="1">
            <a:spAutoFit/>
          </a:bodyPr>
          <a:lstStyle/>
          <a:p>
            <a:endParaRPr lang="he-IL" sz="1400" dirty="0"/>
          </a:p>
        </p:txBody>
      </p:sp>
      <p:sp>
        <p:nvSpPr>
          <p:cNvPr id="26" name="TextBox 25"/>
          <p:cNvSpPr txBox="1"/>
          <p:nvPr/>
        </p:nvSpPr>
        <p:spPr>
          <a:xfrm>
            <a:off x="4781552" y="2173932"/>
            <a:ext cx="357187" cy="307777"/>
          </a:xfrm>
          <a:prstGeom prst="rect">
            <a:avLst/>
          </a:prstGeom>
          <a:solidFill>
            <a:srgbClr val="D8F8D4"/>
          </a:solidFill>
        </p:spPr>
        <p:txBody>
          <a:bodyPr wrap="square" rtlCol="1">
            <a:spAutoFit/>
          </a:bodyPr>
          <a:lstStyle/>
          <a:p>
            <a:endParaRPr lang="he-IL" sz="1400" dirty="0"/>
          </a:p>
        </p:txBody>
      </p:sp>
      <p:sp>
        <p:nvSpPr>
          <p:cNvPr id="27" name="TextBox 26"/>
          <p:cNvSpPr txBox="1"/>
          <p:nvPr/>
        </p:nvSpPr>
        <p:spPr>
          <a:xfrm>
            <a:off x="4792664" y="2542233"/>
            <a:ext cx="357187" cy="307777"/>
          </a:xfrm>
          <a:prstGeom prst="rect">
            <a:avLst/>
          </a:prstGeom>
          <a:solidFill>
            <a:srgbClr val="D8F8D4"/>
          </a:solidFill>
        </p:spPr>
        <p:txBody>
          <a:bodyPr wrap="square" rtlCol="1">
            <a:spAutoFit/>
          </a:bodyPr>
          <a:lstStyle/>
          <a:p>
            <a:endParaRPr lang="he-IL" sz="1400" dirty="0"/>
          </a:p>
        </p:txBody>
      </p:sp>
      <p:sp>
        <p:nvSpPr>
          <p:cNvPr id="28" name="TextBox 27"/>
          <p:cNvSpPr txBox="1"/>
          <p:nvPr/>
        </p:nvSpPr>
        <p:spPr>
          <a:xfrm>
            <a:off x="4781552" y="2923977"/>
            <a:ext cx="357187" cy="307777"/>
          </a:xfrm>
          <a:prstGeom prst="rect">
            <a:avLst/>
          </a:prstGeom>
          <a:solidFill>
            <a:srgbClr val="D8F8D4"/>
          </a:solidFill>
        </p:spPr>
        <p:txBody>
          <a:bodyPr wrap="square" rtlCol="1">
            <a:spAutoFit/>
          </a:bodyPr>
          <a:lstStyle/>
          <a:p>
            <a:endParaRPr lang="he-IL" sz="1400" dirty="0"/>
          </a:p>
        </p:txBody>
      </p:sp>
      <p:sp>
        <p:nvSpPr>
          <p:cNvPr id="29" name="TextBox 28"/>
          <p:cNvSpPr txBox="1"/>
          <p:nvPr/>
        </p:nvSpPr>
        <p:spPr>
          <a:xfrm>
            <a:off x="4806952" y="3281810"/>
            <a:ext cx="357187" cy="307777"/>
          </a:xfrm>
          <a:prstGeom prst="rect">
            <a:avLst/>
          </a:prstGeom>
          <a:solidFill>
            <a:srgbClr val="D8F8D4"/>
          </a:solidFill>
        </p:spPr>
        <p:txBody>
          <a:bodyPr wrap="square" rtlCol="1">
            <a:spAutoFit/>
          </a:bodyPr>
          <a:lstStyle/>
          <a:p>
            <a:endParaRPr lang="he-IL" sz="1400" dirty="0"/>
          </a:p>
        </p:txBody>
      </p:sp>
    </p:spTree>
    <p:extLst>
      <p:ext uri="{BB962C8B-B14F-4D97-AF65-F5344CB8AC3E}">
        <p14:creationId xmlns:p14="http://schemas.microsoft.com/office/powerpoint/2010/main" val="573336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9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9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94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94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94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94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94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94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94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94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94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94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448" grpId="0"/>
      <p:bldP spid="59450" grpId="0"/>
      <p:bldP spid="3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pitchFamily="34" charset="0"/>
              </a:rPr>
              <a:t>Shortest remaining Time next</a:t>
            </a:r>
            <a:br>
              <a:rPr lang="en-US">
                <a:latin typeface="Arial" pitchFamily="34" charset="0"/>
              </a:rPr>
            </a:br>
            <a:r>
              <a:rPr lang="en-US" sz="2000">
                <a:latin typeface="Arial" pitchFamily="34" charset="0"/>
              </a:rPr>
              <a:t>PREEMPTIVE</a:t>
            </a:r>
            <a:endParaRPr lang="he-IL"/>
          </a:p>
        </p:txBody>
      </p:sp>
      <p:sp>
        <p:nvSpPr>
          <p:cNvPr id="59395" name="מציין מיקום של מספר שקופית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9CDEDF04-0A33-40AF-A788-77EB5B2CEC84}" type="slidenum">
              <a:rPr lang="he-IL" sz="1400"/>
              <a:pPr eaLnBrk="1" hangingPunct="1"/>
              <a:t>70</a:t>
            </a:fld>
            <a:endParaRPr lang="en-US" sz="1400"/>
          </a:p>
        </p:txBody>
      </p:sp>
      <p:graphicFrame>
        <p:nvGraphicFramePr>
          <p:cNvPr id="5" name="מציין מיקום תוכן 4"/>
          <p:cNvGraphicFramePr>
            <a:graphicFrameLocks noGrp="1"/>
          </p:cNvGraphicFramePr>
          <p:nvPr>
            <p:ph idx="1"/>
          </p:nvPr>
        </p:nvGraphicFramePr>
        <p:xfrm>
          <a:off x="1839914" y="1144589"/>
          <a:ext cx="7807325" cy="2398711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8883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22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05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0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153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3024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042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914763"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תהליך</a:t>
                      </a:r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r>
                        <a:rPr lang="he-IL" sz="1800" dirty="0"/>
                        <a:t>זמן</a:t>
                      </a:r>
                      <a:r>
                        <a:rPr lang="he-IL" sz="1800" baseline="0" dirty="0"/>
                        <a:t> הגעה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CPU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התחלה</a:t>
                      </a:r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סיום</a:t>
                      </a:r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זמן שהייה</a:t>
                      </a:r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800" dirty="0"/>
                        <a:t>זמן</a:t>
                      </a:r>
                      <a:r>
                        <a:rPr lang="he-IL" sz="1800" baseline="0" dirty="0"/>
                        <a:t> שהייה ממוצע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87"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A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2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/>
                        <a:t>0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/>
                        <a:t>2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/>
                        <a:t>2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/>
                        <a:t>=13/4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87"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B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4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/>
                        <a:t>2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/>
                        <a:t>8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/>
                        <a:t>8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32" marR="91432" marT="45738" marB="4573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987"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C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3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/>
                        <a:t>1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/>
                        <a:t>3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/>
                        <a:t>4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/>
                        <a:t>1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32" marR="91432" marT="45738" marB="4573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987">
                <a:tc>
                  <a:txBody>
                    <a:bodyPr/>
                    <a:lstStyle/>
                    <a:p>
                      <a:pPr rtl="1"/>
                      <a:r>
                        <a:rPr lang="en-US" sz="1800"/>
                        <a:t>D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3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 dirty="0"/>
                        <a:t>1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/>
                        <a:t>4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/>
                        <a:t>5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/>
                        <a:t>2</a:t>
                      </a:r>
                      <a:endParaRPr lang="he-IL" sz="1800" dirty="0"/>
                    </a:p>
                  </a:txBody>
                  <a:tcPr marL="91432" marR="91432" marT="45738" marB="45738"/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 marL="91432" marR="91432" marT="45738" marB="4573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59446" name="מחבר חץ ישר 6"/>
          <p:cNvCxnSpPr>
            <a:cxnSpLocks noChangeShapeType="1"/>
          </p:cNvCxnSpPr>
          <p:nvPr/>
        </p:nvCxnSpPr>
        <p:spPr bwMode="auto">
          <a:xfrm flipV="1">
            <a:off x="2416176" y="3746501"/>
            <a:ext cx="22225" cy="199707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59447" name="מחבר חץ ישר 8"/>
          <p:cNvCxnSpPr>
            <a:cxnSpLocks noChangeShapeType="1"/>
          </p:cNvCxnSpPr>
          <p:nvPr/>
        </p:nvCxnSpPr>
        <p:spPr bwMode="auto">
          <a:xfrm>
            <a:off x="2438401" y="5743575"/>
            <a:ext cx="6958013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59448" name="TextBox 9"/>
          <p:cNvSpPr txBox="1">
            <a:spLocks noChangeArrowheads="1"/>
          </p:cNvSpPr>
          <p:nvPr/>
        </p:nvSpPr>
        <p:spPr bwMode="auto">
          <a:xfrm>
            <a:off x="1870076" y="3746500"/>
            <a:ext cx="333375" cy="181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1400"/>
              <a:t>D</a:t>
            </a:r>
          </a:p>
          <a:p>
            <a:pPr eaLnBrk="1" hangingPunct="1"/>
            <a:endParaRPr lang="en-US" sz="1400"/>
          </a:p>
          <a:p>
            <a:pPr eaLnBrk="1" hangingPunct="1"/>
            <a:r>
              <a:rPr lang="en-US" sz="1400"/>
              <a:t>C</a:t>
            </a:r>
          </a:p>
          <a:p>
            <a:pPr eaLnBrk="1" hangingPunct="1"/>
            <a:endParaRPr lang="en-US" sz="1400"/>
          </a:p>
          <a:p>
            <a:pPr eaLnBrk="1" hangingPunct="1"/>
            <a:r>
              <a:rPr lang="en-US" sz="1400"/>
              <a:t>B</a:t>
            </a:r>
          </a:p>
          <a:p>
            <a:pPr eaLnBrk="1" hangingPunct="1"/>
            <a:endParaRPr lang="en-US" sz="1400"/>
          </a:p>
          <a:p>
            <a:pPr eaLnBrk="1" hangingPunct="1"/>
            <a:endParaRPr lang="en-US" sz="1400"/>
          </a:p>
          <a:p>
            <a:pPr eaLnBrk="1" hangingPunct="1"/>
            <a:r>
              <a:rPr lang="en-US" sz="1400"/>
              <a:t>A</a:t>
            </a:r>
            <a:endParaRPr lang="he-IL" sz="1400"/>
          </a:p>
        </p:txBody>
      </p:sp>
      <p:cxnSp>
        <p:nvCxnSpPr>
          <p:cNvPr id="59449" name="מחבר ישר 11"/>
          <p:cNvCxnSpPr>
            <a:cxnSpLocks noChangeShapeType="1"/>
          </p:cNvCxnSpPr>
          <p:nvPr/>
        </p:nvCxnSpPr>
        <p:spPr bwMode="auto">
          <a:xfrm>
            <a:off x="2438400" y="5408613"/>
            <a:ext cx="54610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59450" name="TextBox 13"/>
          <p:cNvSpPr txBox="1">
            <a:spLocks noChangeArrowheads="1"/>
          </p:cNvSpPr>
          <p:nvPr/>
        </p:nvSpPr>
        <p:spPr bwMode="auto">
          <a:xfrm>
            <a:off x="2438400" y="5756276"/>
            <a:ext cx="70802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1400" dirty="0"/>
              <a:t>          2         3        4              5                        8             </a:t>
            </a:r>
            <a:endParaRPr lang="he-IL" sz="1400" dirty="0"/>
          </a:p>
        </p:txBody>
      </p:sp>
      <p:cxnSp>
        <p:nvCxnSpPr>
          <p:cNvPr id="59451" name="מחבר ישר 15"/>
          <p:cNvCxnSpPr>
            <a:cxnSpLocks noChangeShapeType="1"/>
          </p:cNvCxnSpPr>
          <p:nvPr/>
        </p:nvCxnSpPr>
        <p:spPr bwMode="auto">
          <a:xfrm>
            <a:off x="2984500" y="4745038"/>
            <a:ext cx="401638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59452" name="מחבר ישר 17"/>
          <p:cNvCxnSpPr>
            <a:cxnSpLocks noChangeShapeType="1"/>
          </p:cNvCxnSpPr>
          <p:nvPr/>
        </p:nvCxnSpPr>
        <p:spPr bwMode="auto">
          <a:xfrm>
            <a:off x="3386138" y="4383088"/>
            <a:ext cx="512762" cy="11112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59453" name="מחבר ישר 18"/>
          <p:cNvCxnSpPr>
            <a:cxnSpLocks noChangeShapeType="1"/>
          </p:cNvCxnSpPr>
          <p:nvPr/>
        </p:nvCxnSpPr>
        <p:spPr bwMode="auto">
          <a:xfrm>
            <a:off x="4056063" y="3981451"/>
            <a:ext cx="512762" cy="11113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59454" name="מחבר ישר 19"/>
          <p:cNvCxnSpPr>
            <a:cxnSpLocks noChangeShapeType="1"/>
          </p:cNvCxnSpPr>
          <p:nvPr/>
        </p:nvCxnSpPr>
        <p:spPr bwMode="auto">
          <a:xfrm>
            <a:off x="4713288" y="4749800"/>
            <a:ext cx="100330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77C3EBB-CBD7-4A6C-88EC-C22A016024C5}" type="datetime12">
              <a:rPr lang="he-IL" smtClean="0"/>
              <a:pPr>
                <a:defRPr/>
              </a:pPr>
              <a:t>28/01/2024 18:13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33615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1E8EBCB0-D1DA-40FA-BE2D-96853F34C210}" type="slidenum">
              <a:rPr lang="he-IL" sz="1400"/>
              <a:pPr eaLnBrk="1" hangingPunct="1"/>
              <a:t>71</a:t>
            </a:fld>
            <a:endParaRPr lang="en-US" sz="1400"/>
          </a:p>
        </p:txBody>
      </p:sp>
      <p:sp>
        <p:nvSpPr>
          <p:cNvPr id="604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Scheduling in Batch Systems (2)</a:t>
            </a:r>
            <a:endParaRPr lang="en-US" sz="4000"/>
          </a:p>
        </p:txBody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98688" y="6000750"/>
            <a:ext cx="7772400" cy="857250"/>
          </a:xfrm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en-US"/>
              <a:t>Three level scheduling</a:t>
            </a:r>
          </a:p>
        </p:txBody>
      </p:sp>
      <p:pic>
        <p:nvPicPr>
          <p:cNvPr id="60421" name="Picture 5" descr="2-40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1563" y="1447801"/>
            <a:ext cx="7175500" cy="347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4CE7D4F-FD97-4A3A-88E4-FBB90230FD19}" type="datetime12">
              <a:rPr lang="he-IL" smtClean="0"/>
              <a:pPr>
                <a:defRPr/>
              </a:pPr>
              <a:t>28/01/2024 19:54</a:t>
            </a:fld>
            <a:endParaRPr lang="en-US"/>
          </a:p>
        </p:txBody>
      </p:sp>
      <p:grpSp>
        <p:nvGrpSpPr>
          <p:cNvPr id="4" name="קבוצה 3">
            <a:extLst>
              <a:ext uri="{FF2B5EF4-FFF2-40B4-BE49-F238E27FC236}">
                <a16:creationId xmlns:a16="http://schemas.microsoft.com/office/drawing/2014/main" id="{89913C71-5A14-E625-1E69-1ADC41F7F3F7}"/>
              </a:ext>
            </a:extLst>
          </p:cNvPr>
          <p:cNvGrpSpPr/>
          <p:nvPr/>
        </p:nvGrpSpPr>
        <p:grpSpPr>
          <a:xfrm>
            <a:off x="5557838" y="3392627"/>
            <a:ext cx="742950" cy="1225549"/>
            <a:chOff x="5422900" y="3402014"/>
            <a:chExt cx="742950" cy="1225549"/>
          </a:xfrm>
        </p:grpSpPr>
        <p:sp>
          <p:nvSpPr>
            <p:cNvPr id="5" name="אליפסה 23">
              <a:extLst>
                <a:ext uri="{FF2B5EF4-FFF2-40B4-BE49-F238E27FC236}">
                  <a16:creationId xmlns:a16="http://schemas.microsoft.com/office/drawing/2014/main" id="{EB1D1CFE-0F27-1170-601A-61DC14F4C4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2900" y="3617914"/>
              <a:ext cx="133350" cy="123825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6" name="אליפסה 24">
              <a:extLst>
                <a:ext uri="{FF2B5EF4-FFF2-40B4-BE49-F238E27FC236}">
                  <a16:creationId xmlns:a16="http://schemas.microsoft.com/office/drawing/2014/main" id="{9E5CA27E-4321-F00D-0897-686881F0BC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75300" y="3770314"/>
              <a:ext cx="133350" cy="123825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7" name="אליפסה 25">
              <a:extLst>
                <a:ext uri="{FF2B5EF4-FFF2-40B4-BE49-F238E27FC236}">
                  <a16:creationId xmlns:a16="http://schemas.microsoft.com/office/drawing/2014/main" id="{DDB90D39-5829-E568-684F-EC1D972DAC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27700" y="3922714"/>
              <a:ext cx="133350" cy="123825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8" name="אליפסה 26">
              <a:extLst>
                <a:ext uri="{FF2B5EF4-FFF2-40B4-BE49-F238E27FC236}">
                  <a16:creationId xmlns:a16="http://schemas.microsoft.com/office/drawing/2014/main" id="{55737D3F-2E0A-EDBF-26DA-794A031CDB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80100" y="4075114"/>
              <a:ext cx="133350" cy="123825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9" name="אליפסה 27">
              <a:extLst>
                <a:ext uri="{FF2B5EF4-FFF2-40B4-BE49-F238E27FC236}">
                  <a16:creationId xmlns:a16="http://schemas.microsoft.com/office/drawing/2014/main" id="{6FAAFE7D-4E0E-4179-C17E-7F4FE27EC7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32500" y="4227514"/>
              <a:ext cx="133350" cy="123825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10" name="אליפסה 28">
              <a:extLst>
                <a:ext uri="{FF2B5EF4-FFF2-40B4-BE49-F238E27FC236}">
                  <a16:creationId xmlns:a16="http://schemas.microsoft.com/office/drawing/2014/main" id="{5FC787FF-6AAC-AD62-4472-9ECD38972CC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3047001">
              <a:off x="5193926" y="3764668"/>
              <a:ext cx="1225549" cy="500242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he-IL"/>
            </a:p>
          </p:txBody>
        </p:sp>
      </p:grpSp>
      <p:grpSp>
        <p:nvGrpSpPr>
          <p:cNvPr id="11" name="קבוצה 10">
            <a:extLst>
              <a:ext uri="{FF2B5EF4-FFF2-40B4-BE49-F238E27FC236}">
                <a16:creationId xmlns:a16="http://schemas.microsoft.com/office/drawing/2014/main" id="{BC67F0E4-F26E-20C3-F676-C14B74680812}"/>
              </a:ext>
            </a:extLst>
          </p:cNvPr>
          <p:cNvGrpSpPr/>
          <p:nvPr/>
        </p:nvGrpSpPr>
        <p:grpSpPr>
          <a:xfrm>
            <a:off x="8578758" y="3210064"/>
            <a:ext cx="742950" cy="1225549"/>
            <a:chOff x="5422900" y="3402014"/>
            <a:chExt cx="742950" cy="1225549"/>
          </a:xfrm>
        </p:grpSpPr>
        <p:sp>
          <p:nvSpPr>
            <p:cNvPr id="12" name="אליפסה 23">
              <a:extLst>
                <a:ext uri="{FF2B5EF4-FFF2-40B4-BE49-F238E27FC236}">
                  <a16:creationId xmlns:a16="http://schemas.microsoft.com/office/drawing/2014/main" id="{47560500-013D-8957-E56C-E21F37AF88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2900" y="3617914"/>
              <a:ext cx="133350" cy="123825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13" name="אליפסה 24">
              <a:extLst>
                <a:ext uri="{FF2B5EF4-FFF2-40B4-BE49-F238E27FC236}">
                  <a16:creationId xmlns:a16="http://schemas.microsoft.com/office/drawing/2014/main" id="{74D9E40A-A3E7-D7BC-BD66-BD5F3DB3B9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75300" y="3770314"/>
              <a:ext cx="133350" cy="123825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14" name="אליפסה 25">
              <a:extLst>
                <a:ext uri="{FF2B5EF4-FFF2-40B4-BE49-F238E27FC236}">
                  <a16:creationId xmlns:a16="http://schemas.microsoft.com/office/drawing/2014/main" id="{72FB4C1D-4516-C1AB-1ACA-0F839B2FD7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27700" y="3922714"/>
              <a:ext cx="133350" cy="123825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15" name="אליפסה 26">
              <a:extLst>
                <a:ext uri="{FF2B5EF4-FFF2-40B4-BE49-F238E27FC236}">
                  <a16:creationId xmlns:a16="http://schemas.microsoft.com/office/drawing/2014/main" id="{A9BA8061-B438-649D-0221-95F32388F3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80100" y="4075114"/>
              <a:ext cx="133350" cy="123825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16" name="אליפסה 27">
              <a:extLst>
                <a:ext uri="{FF2B5EF4-FFF2-40B4-BE49-F238E27FC236}">
                  <a16:creationId xmlns:a16="http://schemas.microsoft.com/office/drawing/2014/main" id="{87A73E6E-A354-AD60-ABC4-63621F951A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32500" y="4227514"/>
              <a:ext cx="133350" cy="123825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17" name="אליפסה 28">
              <a:extLst>
                <a:ext uri="{FF2B5EF4-FFF2-40B4-BE49-F238E27FC236}">
                  <a16:creationId xmlns:a16="http://schemas.microsoft.com/office/drawing/2014/main" id="{5AD11D8C-1771-A887-1F25-472D8ACE5CB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3047001">
              <a:off x="5193926" y="3764668"/>
              <a:ext cx="1225549" cy="500242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he-IL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7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0.02245 L 0.06445 0.0456 C 0.07786 0.05092 0.09818 0.05393 0.11927 0.05393 C 0.14336 0.05393 0.16276 0.05092 0.17617 0.0456 L 0.24075 0.02245 " pathEditMode="relative" rAng="0" ptsTypes="AAAAA">
                                      <p:cBhvr>
                                        <p:cTn id="12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031" y="157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1.48148E-6 L -0.05586 -0.09074 C -0.06757 -0.11134 -0.08489 -0.12199 -0.10325 -0.12199 C -0.12409 -0.12199 -0.14062 -0.11134 -0.15234 -0.09074 L -0.20794 -1.48148E-6 " pathEditMode="relative" rAng="0" ptsTypes="AAAAA">
                                      <p:cBhvr>
                                        <p:cTn id="1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404" y="-61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מציין מיקום של מספר שקופית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0F079502-1E60-4C42-990E-0F8D506571FD}" type="slidenum">
              <a:rPr lang="he-IL" sz="1400"/>
              <a:pPr eaLnBrk="1" hangingPunct="1"/>
              <a:t>72</a:t>
            </a:fld>
            <a:endParaRPr lang="en-US" sz="1400"/>
          </a:p>
        </p:txBody>
      </p:sp>
      <p:sp>
        <p:nvSpPr>
          <p:cNvPr id="61443" name="Rectangle 2"/>
          <p:cNvSpPr>
            <a:spLocks noChangeArrowheads="1"/>
          </p:cNvSpPr>
          <p:nvPr/>
        </p:nvSpPr>
        <p:spPr bwMode="auto">
          <a:xfrm>
            <a:off x="2738438" y="1377950"/>
            <a:ext cx="6343650" cy="455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 marL="609600" indent="-609600" eaLnBrk="0" hangingPunct="0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800" dirty="0">
                <a:latin typeface="Arial" pitchFamily="34" charset="0"/>
              </a:rPr>
              <a:t>Round-robin scheduling</a:t>
            </a:r>
          </a:p>
          <a:p>
            <a:pPr marL="609600" indent="-609600" eaLnBrk="0" hangingPunct="0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800" dirty="0">
                <a:latin typeface="Arial" pitchFamily="34" charset="0"/>
              </a:rPr>
              <a:t>Priority scheduling</a:t>
            </a:r>
          </a:p>
          <a:p>
            <a:pPr marL="609600" indent="-609600" eaLnBrk="0" hangingPunct="0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800" dirty="0">
                <a:latin typeface="Arial" pitchFamily="34" charset="0"/>
              </a:rPr>
              <a:t>Multiple queues</a:t>
            </a:r>
          </a:p>
          <a:p>
            <a:pPr marL="609600" indent="-609600" eaLnBrk="0" hangingPunct="0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800" dirty="0">
                <a:latin typeface="Arial" pitchFamily="34" charset="0"/>
              </a:rPr>
              <a:t>Shortest process next</a:t>
            </a:r>
          </a:p>
          <a:p>
            <a:pPr marL="609600" indent="-609600" eaLnBrk="0" hangingPunct="0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800" dirty="0">
                <a:latin typeface="Arial" pitchFamily="34" charset="0"/>
              </a:rPr>
              <a:t>aging</a:t>
            </a:r>
          </a:p>
          <a:p>
            <a:pPr marL="609600" indent="-609600" eaLnBrk="0" hangingPunct="0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800" dirty="0">
                <a:latin typeface="Arial" pitchFamily="34" charset="0"/>
              </a:rPr>
              <a:t>Guaranteed scheduling</a:t>
            </a:r>
          </a:p>
          <a:p>
            <a:pPr marL="609600" indent="-609600" eaLnBrk="0" hangingPunct="0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800" dirty="0">
                <a:latin typeface="Arial" pitchFamily="34" charset="0"/>
              </a:rPr>
              <a:t>Fair-share scheduling</a:t>
            </a:r>
          </a:p>
          <a:p>
            <a:pPr marL="609600" indent="-609600" eaLnBrk="0" hangingPunct="0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800" dirty="0">
                <a:latin typeface="Arial" pitchFamily="34" charset="0"/>
              </a:rPr>
              <a:t>Lottery scheduling</a:t>
            </a:r>
          </a:p>
        </p:txBody>
      </p:sp>
      <p:sp>
        <p:nvSpPr>
          <p:cNvPr id="61444" name="Rectangle 3"/>
          <p:cNvSpPr>
            <a:spLocks noChangeArrowheads="1"/>
          </p:cNvSpPr>
          <p:nvPr/>
        </p:nvSpPr>
        <p:spPr bwMode="auto">
          <a:xfrm>
            <a:off x="1524000" y="0"/>
            <a:ext cx="9144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/>
          <a:p>
            <a:pPr algn="ctr" eaLnBrk="0" hangingPunct="0"/>
            <a:r>
              <a:rPr lang="en-US" sz="3600" dirty="0">
                <a:solidFill>
                  <a:srgbClr val="FF0000"/>
                </a:solidFill>
                <a:latin typeface="Arial" pitchFamily="34" charset="0"/>
              </a:rPr>
              <a:t>Scheduling in Interactive Systems</a:t>
            </a:r>
          </a:p>
        </p:txBody>
      </p:sp>
      <p:sp>
        <p:nvSpPr>
          <p:cNvPr id="61445" name="Rectangle 4"/>
          <p:cNvSpPr>
            <a:spLocks noChangeArrowheads="1"/>
          </p:cNvSpPr>
          <p:nvPr/>
        </p:nvSpPr>
        <p:spPr bwMode="auto">
          <a:xfrm>
            <a:off x="1701800" y="6565901"/>
            <a:ext cx="8712200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/>
          <a:p>
            <a:pPr algn="ctr"/>
            <a:r>
              <a:rPr lang="en-US" sz="1200">
                <a:solidFill>
                  <a:srgbClr val="898989"/>
                </a:solidFill>
              </a:rPr>
              <a:t>Tanenbaum, Modern Operating Systems 3 e, (c) 2008 Prentice-Hall, Inc. All rights reserved. 0-13-</a:t>
            </a:r>
            <a:r>
              <a:rPr lang="en-US" sz="1200" b="1">
                <a:solidFill>
                  <a:srgbClr val="898989"/>
                </a:solidFill>
              </a:rPr>
              <a:t>6006639</a:t>
            </a:r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7F976F3-8BAE-4162-94F4-F8DBF801DEBF}" type="datetime12">
              <a:rPr lang="he-IL" smtClean="0"/>
              <a:pPr>
                <a:defRPr/>
              </a:pPr>
              <a:t>28/01/2024 18:13</a:t>
            </a:fld>
            <a:endParaRPr lang="en-US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3D99317E-05A9-4017-9831-D24A255D6C06}" type="slidenum">
              <a:rPr lang="he-IL" sz="1400"/>
              <a:pPr eaLnBrk="1" hangingPunct="1"/>
              <a:t>73</a:t>
            </a:fld>
            <a:endParaRPr lang="en-US" sz="1400"/>
          </a:p>
        </p:txBody>
      </p:sp>
      <p:sp>
        <p:nvSpPr>
          <p:cNvPr id="62467" name="Rectangle 2"/>
          <p:cNvSpPr>
            <a:spLocks noGrp="1" noChangeArrowheads="1"/>
          </p:cNvSpPr>
          <p:nvPr>
            <p:ph type="title"/>
          </p:nvPr>
        </p:nvSpPr>
        <p:spPr>
          <a:xfrm>
            <a:off x="1695450" y="0"/>
            <a:ext cx="8801100" cy="1143000"/>
          </a:xfrm>
        </p:spPr>
        <p:txBody>
          <a:bodyPr/>
          <a:lstStyle/>
          <a:p>
            <a:pPr eaLnBrk="1" hangingPunct="1"/>
            <a:r>
              <a:rPr lang="en-US" sz="4000" dirty="0"/>
              <a:t>Scheduling in Interactive Systems (1)</a:t>
            </a:r>
          </a:p>
        </p:txBody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89100" y="5124450"/>
            <a:ext cx="8813800" cy="9715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/>
              <a:t>Round Robin Scheduling</a:t>
            </a:r>
            <a:endParaRPr lang="en-US" sz="2400"/>
          </a:p>
          <a:p>
            <a:pPr lvl="1" eaLnBrk="1" hangingPunct="1">
              <a:lnSpc>
                <a:spcPct val="90000"/>
              </a:lnSpc>
            </a:pPr>
            <a:r>
              <a:rPr lang="en-US"/>
              <a:t>list of runnable processes</a:t>
            </a:r>
          </a:p>
          <a:p>
            <a:pPr lvl="1" eaLnBrk="1" hangingPunct="1">
              <a:lnSpc>
                <a:spcPct val="90000"/>
              </a:lnSpc>
            </a:pPr>
            <a:r>
              <a:rPr lang="en-US"/>
              <a:t>list of runnable processes after B uses up its quantum</a:t>
            </a:r>
            <a:endParaRPr lang="en-US" sz="2000"/>
          </a:p>
        </p:txBody>
      </p:sp>
      <p:pic>
        <p:nvPicPr>
          <p:cNvPr id="62469" name="Picture 5" descr="2-4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5401" y="2247900"/>
            <a:ext cx="7407275" cy="142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9FC84E3-3875-4F42-9C22-482C44F62CB6}" type="datetime12">
              <a:rPr lang="he-IL" smtClean="0"/>
              <a:pPr>
                <a:defRPr/>
              </a:pPr>
              <a:t>28/01/2024 18:13</a:t>
            </a:fld>
            <a:endParaRPr lang="en-US"/>
          </a:p>
        </p:txBody>
      </p:sp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4AB5DC23-C47D-401D-B59E-6C3DAA9EEF0D}"/>
              </a:ext>
            </a:extLst>
          </p:cNvPr>
          <p:cNvSpPr txBox="1"/>
          <p:nvPr/>
        </p:nvSpPr>
        <p:spPr>
          <a:xfrm>
            <a:off x="676894" y="855023"/>
            <a:ext cx="3241963" cy="73866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400" dirty="0" err="1"/>
              <a:t>getLine</a:t>
            </a:r>
            <a:r>
              <a:rPr lang="en-US" sz="1400" dirty="0"/>
              <a:t>(char*s){</a:t>
            </a:r>
          </a:p>
          <a:p>
            <a:r>
              <a:rPr lang="en-US" sz="1400" dirty="0"/>
              <a:t>    while((*s++=</a:t>
            </a:r>
            <a:r>
              <a:rPr lang="en-US" sz="1400" dirty="0" err="1"/>
              <a:t>getchar</a:t>
            </a:r>
            <a:r>
              <a:rPr lang="en-US" sz="1400" dirty="0"/>
              <a:t>())!=‘\n’)</a:t>
            </a:r>
          </a:p>
          <a:p>
            <a:r>
              <a:rPr lang="en-US" sz="1400" dirty="0"/>
              <a:t>         ;</a:t>
            </a:r>
          </a:p>
        </p:txBody>
      </p:sp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B1A57557-2797-4B81-8CA8-5BCD6B04D786}"/>
              </a:ext>
            </a:extLst>
          </p:cNvPr>
          <p:cNvSpPr txBox="1"/>
          <p:nvPr/>
        </p:nvSpPr>
        <p:spPr>
          <a:xfrm>
            <a:off x="1562100" y="323850"/>
            <a:ext cx="184731" cy="307777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endParaRPr lang="he-IL" sz="1400" dirty="0"/>
          </a:p>
        </p:txBody>
      </p:sp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2010305E-A70B-46AA-8976-646D59611086}"/>
              </a:ext>
            </a:extLst>
          </p:cNvPr>
          <p:cNvSpPr txBox="1"/>
          <p:nvPr/>
        </p:nvSpPr>
        <p:spPr>
          <a:xfrm>
            <a:off x="8538210" y="1142999"/>
            <a:ext cx="2602230" cy="30777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/>
            <a:r>
              <a:rPr lang="en-US" sz="1400" dirty="0"/>
              <a:t>Enter name: </a:t>
            </a:r>
            <a:endParaRPr lang="he-IL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9AC35EE9-2D2A-43E2-B71B-6CF6E5E6E176}" type="slidenum">
              <a:rPr lang="he-IL" sz="1400"/>
              <a:pPr eaLnBrk="1" hangingPunct="1"/>
              <a:t>74</a:t>
            </a:fld>
            <a:endParaRPr lang="en-US" sz="1400" dirty="0"/>
          </a:p>
        </p:txBody>
      </p:sp>
      <p:sp>
        <p:nvSpPr>
          <p:cNvPr id="63491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0"/>
            <a:ext cx="9144000" cy="1143000"/>
          </a:xfrm>
        </p:spPr>
        <p:txBody>
          <a:bodyPr/>
          <a:lstStyle/>
          <a:p>
            <a:pPr eaLnBrk="1" hangingPunct="1"/>
            <a:r>
              <a:rPr lang="en-US" sz="4000"/>
              <a:t>Scheduling in Interactive Systems (2)</a:t>
            </a:r>
          </a:p>
        </p:txBody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36725" y="5610225"/>
            <a:ext cx="8661400" cy="800100"/>
          </a:xfrm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en-US"/>
              <a:t>A scheduling algorithm with four priority classes</a:t>
            </a:r>
            <a:endParaRPr lang="en-US" sz="2800"/>
          </a:p>
        </p:txBody>
      </p:sp>
      <p:pic>
        <p:nvPicPr>
          <p:cNvPr id="63493" name="Picture 5" descr="2-4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3988" y="1601789"/>
            <a:ext cx="7034212" cy="299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3494" name="TextBox 1"/>
          <p:cNvSpPr txBox="1">
            <a:spLocks noChangeArrowheads="1"/>
          </p:cNvSpPr>
          <p:nvPr/>
        </p:nvSpPr>
        <p:spPr bwMode="auto">
          <a:xfrm>
            <a:off x="8326439" y="847725"/>
            <a:ext cx="1316037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1400" dirty="0"/>
              <a:t>A++</a:t>
            </a:r>
          </a:p>
          <a:p>
            <a:pPr eaLnBrk="1" hangingPunct="1"/>
            <a:r>
              <a:rPr lang="en-US" sz="1400" dirty="0"/>
              <a:t>B++</a:t>
            </a:r>
          </a:p>
          <a:p>
            <a:pPr eaLnBrk="1" hangingPunct="1"/>
            <a:r>
              <a:rPr lang="en-US" sz="1400" dirty="0"/>
              <a:t>X=Y</a:t>
            </a:r>
          </a:p>
          <a:p>
            <a:pPr eaLnBrk="1" hangingPunct="1"/>
            <a:r>
              <a:rPr lang="en-US" sz="1400" dirty="0" err="1"/>
              <a:t>getchar</a:t>
            </a:r>
            <a:r>
              <a:rPr lang="en-US" sz="1400" dirty="0"/>
              <a:t>()</a:t>
            </a:r>
            <a:endParaRPr lang="he-IL" sz="1400" dirty="0"/>
          </a:p>
        </p:txBody>
      </p:sp>
      <p:cxnSp>
        <p:nvCxnSpPr>
          <p:cNvPr id="63495" name="מחבר חץ ישר 3"/>
          <p:cNvCxnSpPr>
            <a:cxnSpLocks noChangeShapeType="1"/>
          </p:cNvCxnSpPr>
          <p:nvPr/>
        </p:nvCxnSpPr>
        <p:spPr bwMode="auto">
          <a:xfrm flipV="1">
            <a:off x="7489826" y="1482726"/>
            <a:ext cx="836613" cy="2222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63496" name="TextBox 4"/>
          <p:cNvSpPr txBox="1">
            <a:spLocks noChangeArrowheads="1"/>
          </p:cNvSpPr>
          <p:nvPr/>
        </p:nvSpPr>
        <p:spPr bwMode="auto">
          <a:xfrm>
            <a:off x="6899275" y="1323976"/>
            <a:ext cx="6683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1400"/>
              <a:t>C.SW</a:t>
            </a:r>
            <a:endParaRPr lang="he-IL" sz="1400"/>
          </a:p>
        </p:txBody>
      </p:sp>
      <p:sp>
        <p:nvSpPr>
          <p:cNvPr id="63497" name="TextBox 9"/>
          <p:cNvSpPr txBox="1">
            <a:spLocks noChangeArrowheads="1"/>
          </p:cNvSpPr>
          <p:nvPr/>
        </p:nvSpPr>
        <p:spPr bwMode="auto">
          <a:xfrm>
            <a:off x="7021514" y="1801814"/>
            <a:ext cx="66833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1400"/>
              <a:t>C.SW</a:t>
            </a:r>
            <a:endParaRPr lang="he-IL" sz="1400"/>
          </a:p>
        </p:txBody>
      </p:sp>
      <p:cxnSp>
        <p:nvCxnSpPr>
          <p:cNvPr id="63498" name="מחבר חץ ישר 10"/>
          <p:cNvCxnSpPr>
            <a:cxnSpLocks noChangeShapeType="1"/>
          </p:cNvCxnSpPr>
          <p:nvPr/>
        </p:nvCxnSpPr>
        <p:spPr bwMode="auto">
          <a:xfrm flipV="1">
            <a:off x="7567613" y="1801814"/>
            <a:ext cx="836612" cy="2222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63499" name="TextBox 5"/>
          <p:cNvSpPr txBox="1">
            <a:spLocks noChangeArrowheads="1"/>
          </p:cNvSpPr>
          <p:nvPr/>
        </p:nvSpPr>
        <p:spPr bwMode="auto">
          <a:xfrm>
            <a:off x="2070101" y="2219326"/>
            <a:ext cx="523875" cy="2246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1400"/>
              <a:t>Q=1</a:t>
            </a:r>
          </a:p>
          <a:p>
            <a:pPr eaLnBrk="1" hangingPunct="1"/>
            <a:endParaRPr lang="en-US" sz="1400"/>
          </a:p>
          <a:p>
            <a:pPr eaLnBrk="1" hangingPunct="1"/>
            <a:endParaRPr lang="en-US" sz="1400"/>
          </a:p>
          <a:p>
            <a:pPr eaLnBrk="1" hangingPunct="1"/>
            <a:r>
              <a:rPr lang="en-US" sz="1400"/>
              <a:t>Q=2</a:t>
            </a:r>
          </a:p>
          <a:p>
            <a:pPr eaLnBrk="1" hangingPunct="1"/>
            <a:endParaRPr lang="en-US" sz="1400"/>
          </a:p>
          <a:p>
            <a:pPr eaLnBrk="1" hangingPunct="1"/>
            <a:endParaRPr lang="en-US" sz="1400"/>
          </a:p>
          <a:p>
            <a:pPr eaLnBrk="1" hangingPunct="1"/>
            <a:r>
              <a:rPr lang="en-US" sz="1400"/>
              <a:t>Q=4</a:t>
            </a:r>
          </a:p>
          <a:p>
            <a:pPr eaLnBrk="1" hangingPunct="1"/>
            <a:endParaRPr lang="en-US" sz="1400"/>
          </a:p>
          <a:p>
            <a:pPr eaLnBrk="1" hangingPunct="1"/>
            <a:endParaRPr lang="en-US" sz="1400"/>
          </a:p>
          <a:p>
            <a:pPr eaLnBrk="1" hangingPunct="1"/>
            <a:r>
              <a:rPr lang="en-US" sz="1400"/>
              <a:t>Q=8</a:t>
            </a:r>
            <a:endParaRPr lang="he-IL" sz="1400"/>
          </a:p>
        </p:txBody>
      </p:sp>
      <p:sp>
        <p:nvSpPr>
          <p:cNvPr id="63500" name="TextBox 6"/>
          <p:cNvSpPr txBox="1">
            <a:spLocks noChangeArrowheads="1"/>
          </p:cNvSpPr>
          <p:nvPr/>
        </p:nvSpPr>
        <p:spPr bwMode="auto">
          <a:xfrm>
            <a:off x="1858963" y="919164"/>
            <a:ext cx="33782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1400"/>
              <a:t>100Q</a:t>
            </a:r>
          </a:p>
          <a:p>
            <a:pPr eaLnBrk="1" hangingPunct="1"/>
            <a:r>
              <a:rPr lang="en-US" sz="1400"/>
              <a:t>Q= 1, 2, 4,8,16,32,64 </a:t>
            </a:r>
            <a:endParaRPr lang="he-IL" sz="1400"/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47A982B-C977-47B1-A6B0-408B4EE7F4B5}" type="datetime12">
              <a:rPr lang="he-IL" smtClean="0"/>
              <a:pPr>
                <a:defRPr/>
              </a:pPr>
              <a:t>28/01/2024 18:13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34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34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34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34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34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34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34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34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34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34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35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35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4" grpId="0"/>
      <p:bldP spid="63496" grpId="0"/>
      <p:bldP spid="63497" grpId="0"/>
      <p:bldP spid="63500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מציין מיקום של מספר שקופית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CDFFF3E2-F8CF-4425-8F1A-618391763E0E}" type="slidenum">
              <a:rPr lang="he-IL" sz="1400"/>
              <a:pPr eaLnBrk="1" hangingPunct="1"/>
              <a:t>75</a:t>
            </a:fld>
            <a:endParaRPr lang="en-US" sz="1400" dirty="0"/>
          </a:p>
        </p:txBody>
      </p:sp>
      <p:sp>
        <p:nvSpPr>
          <p:cNvPr id="65540" name="Rectangle 2"/>
          <p:cNvSpPr txBox="1">
            <a:spLocks noChangeArrowheads="1"/>
          </p:cNvSpPr>
          <p:nvPr/>
        </p:nvSpPr>
        <p:spPr bwMode="auto">
          <a:xfrm>
            <a:off x="2447925" y="1524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sz="4400">
                <a:solidFill>
                  <a:srgbClr val="FF0000"/>
                </a:solidFill>
              </a:rPr>
              <a:t>Shortest process next</a:t>
            </a:r>
          </a:p>
        </p:txBody>
      </p:sp>
      <p:sp>
        <p:nvSpPr>
          <p:cNvPr id="65541" name="Rectangle 3"/>
          <p:cNvSpPr txBox="1">
            <a:spLocks noChangeArrowheads="1"/>
          </p:cNvSpPr>
          <p:nvPr/>
        </p:nvSpPr>
        <p:spPr bwMode="auto">
          <a:xfrm>
            <a:off x="2239963" y="1487488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accent2"/>
              </a:buClr>
            </a:pPr>
            <a:r>
              <a:rPr lang="en-US" sz="3200" dirty="0" err="1">
                <a:solidFill>
                  <a:schemeClr val="accent2"/>
                </a:solidFill>
              </a:rPr>
              <a:t>Agin</a:t>
            </a:r>
            <a:r>
              <a:rPr lang="he-IL" sz="3200" dirty="0">
                <a:solidFill>
                  <a:schemeClr val="accent2"/>
                </a:solidFill>
                <a:cs typeface="Times New Roman" pitchFamily="18" charset="0"/>
              </a:rPr>
              <a:t>g</a:t>
            </a:r>
            <a:endParaRPr lang="en-US" sz="3200" dirty="0">
              <a:solidFill>
                <a:schemeClr val="accent2"/>
              </a:solidFill>
              <a:cs typeface="Times New Roman" pitchFamily="18" charset="0"/>
            </a:endParaRPr>
          </a:p>
          <a:p>
            <a:pPr eaLnBrk="1" hangingPunct="1">
              <a:spcBef>
                <a:spcPct val="20000"/>
              </a:spcBef>
              <a:buClr>
                <a:schemeClr val="accent2"/>
              </a:buClr>
            </a:pPr>
            <a:r>
              <a:rPr lang="he-IL" sz="3200" dirty="0">
                <a:solidFill>
                  <a:schemeClr val="accent2"/>
                </a:solidFill>
                <a:cs typeface="Times New Roman" pitchFamily="18" charset="0"/>
              </a:rPr>
              <a:t> </a:t>
            </a:r>
            <a:r>
              <a:rPr lang="en-US" sz="3200" dirty="0">
                <a:solidFill>
                  <a:schemeClr val="accent2"/>
                </a:solidFill>
                <a:cs typeface="Times New Roman" pitchFamily="18" charset="0"/>
              </a:rPr>
              <a:t>at</a:t>
            </a:r>
            <a:r>
              <a:rPr lang="en-US" sz="1600" dirty="0">
                <a:solidFill>
                  <a:schemeClr val="accent2"/>
                </a:solidFill>
                <a:cs typeface="Times New Roman" pitchFamily="18" charset="0"/>
              </a:rPr>
              <a:t>0+ </a:t>
            </a:r>
            <a:r>
              <a:rPr lang="en-US" sz="3200" dirty="0">
                <a:solidFill>
                  <a:schemeClr val="accent2"/>
                </a:solidFill>
                <a:cs typeface="Times New Roman" pitchFamily="18" charset="0"/>
              </a:rPr>
              <a:t>(1-a)t</a:t>
            </a:r>
            <a:r>
              <a:rPr lang="en-US" sz="1600" dirty="0">
                <a:solidFill>
                  <a:schemeClr val="accent2"/>
                </a:solidFill>
                <a:cs typeface="Times New Roman" pitchFamily="18" charset="0"/>
              </a:rPr>
              <a:t>1</a:t>
            </a:r>
          </a:p>
          <a:p>
            <a:pPr eaLnBrk="1" hangingPunct="1">
              <a:spcBef>
                <a:spcPct val="20000"/>
              </a:spcBef>
              <a:buClr>
                <a:schemeClr val="accent2"/>
              </a:buClr>
            </a:pPr>
            <a:r>
              <a:rPr lang="en-US" sz="1600" dirty="0">
                <a:solidFill>
                  <a:schemeClr val="accent2"/>
                </a:solidFill>
                <a:cs typeface="Times New Roman" pitchFamily="18" charset="0"/>
              </a:rPr>
              <a:t>  </a:t>
            </a:r>
            <a:r>
              <a:rPr lang="en-US" sz="2000" dirty="0">
                <a:solidFill>
                  <a:schemeClr val="accent2"/>
                </a:solidFill>
                <a:cs typeface="Times New Roman" pitchFamily="18" charset="0"/>
              </a:rPr>
              <a:t>E</a:t>
            </a:r>
            <a:r>
              <a:rPr lang="en-US" sz="2800" baseline="-25000" dirty="0">
                <a:solidFill>
                  <a:schemeClr val="accent2"/>
                </a:solidFill>
                <a:cs typeface="Times New Roman" pitchFamily="18" charset="0"/>
              </a:rPr>
              <a:t>n+1</a:t>
            </a:r>
            <a:r>
              <a:rPr lang="en-US" sz="2000" dirty="0">
                <a:solidFill>
                  <a:schemeClr val="accent2"/>
                </a:solidFill>
                <a:cs typeface="Times New Roman" pitchFamily="18" charset="0"/>
              </a:rPr>
              <a:t>= a*</a:t>
            </a:r>
            <a:r>
              <a:rPr lang="en-US" sz="2000" dirty="0" err="1">
                <a:solidFill>
                  <a:schemeClr val="accent2"/>
                </a:solidFill>
                <a:cs typeface="Times New Roman" pitchFamily="18" charset="0"/>
              </a:rPr>
              <a:t>E</a:t>
            </a:r>
            <a:r>
              <a:rPr lang="en-US" sz="2800" baseline="-25000" dirty="0" err="1">
                <a:solidFill>
                  <a:schemeClr val="accent2"/>
                </a:solidFill>
                <a:cs typeface="Times New Roman" pitchFamily="18" charset="0"/>
              </a:rPr>
              <a:t>n</a:t>
            </a:r>
            <a:r>
              <a:rPr lang="en-US" sz="2000" dirty="0">
                <a:solidFill>
                  <a:schemeClr val="accent2"/>
                </a:solidFill>
                <a:cs typeface="Times New Roman" pitchFamily="18" charset="0"/>
              </a:rPr>
              <a:t> + (1-a)*T</a:t>
            </a:r>
            <a:r>
              <a:rPr lang="en-US" sz="2800" baseline="-25000" dirty="0">
                <a:solidFill>
                  <a:schemeClr val="accent2"/>
                </a:solidFill>
                <a:cs typeface="Times New Roman" pitchFamily="18" charset="0"/>
              </a:rPr>
              <a:t>n</a:t>
            </a:r>
            <a:endParaRPr lang="en-US" baseline="-25000" dirty="0">
              <a:solidFill>
                <a:schemeClr val="accent2"/>
              </a:solidFill>
              <a:cs typeface="Times New Roman" pitchFamily="18" charset="0"/>
            </a:endParaRPr>
          </a:p>
          <a:p>
            <a:pPr eaLnBrk="1" hangingPunct="1">
              <a:spcBef>
                <a:spcPct val="20000"/>
              </a:spcBef>
              <a:buClr>
                <a:schemeClr val="accent2"/>
              </a:buClr>
            </a:pPr>
            <a:endParaRPr lang="he-IL" sz="3200" dirty="0">
              <a:solidFill>
                <a:schemeClr val="accent2"/>
              </a:solidFill>
              <a:cs typeface="Times New Roman" pitchFamily="18" charset="0"/>
            </a:endParaRPr>
          </a:p>
          <a:p>
            <a:pPr algn="r" rtl="1" eaLnBrk="1" hangingPunct="1">
              <a:spcBef>
                <a:spcPct val="20000"/>
              </a:spcBef>
              <a:buClr>
                <a:schemeClr val="accent2"/>
              </a:buClr>
            </a:pPr>
            <a:r>
              <a:rPr lang="he-IL" sz="3200" dirty="0">
                <a:solidFill>
                  <a:schemeClr val="accent2"/>
                </a:solidFill>
                <a:cs typeface="Times New Roman" pitchFamily="18" charset="0"/>
              </a:rPr>
              <a:t>	צפי התחלתי 80</a:t>
            </a:r>
          </a:p>
          <a:p>
            <a:pPr algn="r" rtl="1" eaLnBrk="1" hangingPunct="1">
              <a:spcBef>
                <a:spcPct val="20000"/>
              </a:spcBef>
              <a:buClr>
                <a:schemeClr val="accent2"/>
              </a:buClr>
            </a:pPr>
            <a:r>
              <a:rPr lang="he-IL" sz="1600" dirty="0">
                <a:solidFill>
                  <a:schemeClr val="accent2"/>
                </a:solidFill>
                <a:cs typeface="Times New Roman" pitchFamily="18" charset="0"/>
              </a:rPr>
              <a:t>זמני ריצה שנמדדו בפועל (משמאל לימין)  80,40,20,10</a:t>
            </a:r>
          </a:p>
          <a:p>
            <a:pPr algn="r" rtl="1" eaLnBrk="1" hangingPunct="1">
              <a:spcBef>
                <a:spcPct val="20000"/>
              </a:spcBef>
              <a:buClr>
                <a:schemeClr val="accent2"/>
              </a:buClr>
            </a:pPr>
            <a:r>
              <a:rPr lang="he-IL" sz="1600" dirty="0">
                <a:solidFill>
                  <a:schemeClr val="accent2"/>
                </a:solidFill>
                <a:cs typeface="Times New Roman" pitchFamily="18" charset="0"/>
              </a:rPr>
              <a:t>מה צפי זמן ריצה הבא?</a:t>
            </a:r>
          </a:p>
          <a:p>
            <a:pPr algn="r" rtl="1" eaLnBrk="1" hangingPunct="1">
              <a:spcBef>
                <a:spcPct val="20000"/>
              </a:spcBef>
              <a:buClr>
                <a:schemeClr val="accent2"/>
              </a:buClr>
            </a:pPr>
            <a:r>
              <a:rPr lang="en-US" sz="1600" dirty="0">
                <a:solidFill>
                  <a:schemeClr val="accent2"/>
                </a:solidFill>
                <a:cs typeface="Times New Roman" pitchFamily="18" charset="0"/>
              </a:rPr>
              <a:t>a=1/2</a:t>
            </a:r>
          </a:p>
          <a:p>
            <a:pPr eaLnBrk="1" hangingPunct="1">
              <a:spcBef>
                <a:spcPct val="20000"/>
              </a:spcBef>
              <a:buClr>
                <a:schemeClr val="accent2"/>
              </a:buClr>
            </a:pPr>
            <a:r>
              <a:rPr lang="en-US" sz="1600" dirty="0">
                <a:solidFill>
                  <a:schemeClr val="accent2"/>
                </a:solidFill>
                <a:cs typeface="Times New Roman" pitchFamily="18" charset="0"/>
              </a:rPr>
              <a:t>0.5*80+0.5*80=  80-&gt;60-&gt;40-&gt;25</a:t>
            </a:r>
          </a:p>
          <a:p>
            <a:pPr eaLnBrk="1" hangingPunct="1">
              <a:spcBef>
                <a:spcPct val="20000"/>
              </a:spcBef>
              <a:buClr>
                <a:schemeClr val="accent2"/>
              </a:buClr>
            </a:pPr>
            <a:endParaRPr lang="en-US" sz="1600" dirty="0">
              <a:solidFill>
                <a:schemeClr val="accent2"/>
              </a:solidFill>
              <a:cs typeface="Times New Roman" pitchFamily="18" charset="0"/>
            </a:endParaRPr>
          </a:p>
          <a:p>
            <a:pPr eaLnBrk="1" hangingPunct="1">
              <a:spcBef>
                <a:spcPct val="20000"/>
              </a:spcBef>
              <a:buClr>
                <a:schemeClr val="accent2"/>
              </a:buClr>
            </a:pPr>
            <a:r>
              <a:rPr lang="en-US" sz="1600" dirty="0">
                <a:solidFill>
                  <a:schemeClr val="accent2"/>
                </a:solidFill>
                <a:cs typeface="Times New Roman" pitchFamily="18" charset="0"/>
              </a:rPr>
              <a:t>         </a:t>
            </a:r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8651734-C994-4324-AEE2-A3C9CAD3C0E3}" type="datetime12">
              <a:rPr lang="he-IL" smtClean="0"/>
              <a:pPr>
                <a:defRPr/>
              </a:pPr>
              <a:t>28/01/2024 18:13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518951" y="4273104"/>
            <a:ext cx="3435659" cy="203132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400" dirty="0">
                <a:solidFill>
                  <a:schemeClr val="accent2"/>
                </a:solidFill>
                <a:cs typeface="Times New Roman" pitchFamily="18" charset="0"/>
              </a:rPr>
              <a:t>80+80</a:t>
            </a:r>
          </a:p>
          <a:p>
            <a:r>
              <a:rPr lang="en-US" sz="1400" dirty="0">
                <a:solidFill>
                  <a:schemeClr val="accent2"/>
                </a:solidFill>
                <a:cs typeface="Times New Roman" pitchFamily="18" charset="0"/>
              </a:rPr>
              <a:t>------    + 40</a:t>
            </a:r>
          </a:p>
          <a:p>
            <a:r>
              <a:rPr lang="en-US" sz="1400" dirty="0">
                <a:solidFill>
                  <a:schemeClr val="accent2"/>
                </a:solidFill>
                <a:cs typeface="Times New Roman" pitchFamily="18" charset="0"/>
              </a:rPr>
              <a:t>   2</a:t>
            </a:r>
          </a:p>
          <a:p>
            <a:r>
              <a:rPr lang="en-US" sz="1400" dirty="0">
                <a:solidFill>
                  <a:schemeClr val="accent2"/>
                </a:solidFill>
                <a:cs typeface="Times New Roman" pitchFamily="18" charset="0"/>
              </a:rPr>
              <a:t>------------------  +  20</a:t>
            </a:r>
          </a:p>
          <a:p>
            <a:r>
              <a:rPr lang="en-US" sz="1400" dirty="0">
                <a:solidFill>
                  <a:schemeClr val="accent2"/>
                </a:solidFill>
                <a:cs typeface="Times New Roman" pitchFamily="18" charset="0"/>
              </a:rPr>
              <a:t>           2</a:t>
            </a:r>
          </a:p>
          <a:p>
            <a:r>
              <a:rPr lang="en-US" sz="1400" dirty="0">
                <a:solidFill>
                  <a:schemeClr val="accent2"/>
                </a:solidFill>
                <a:cs typeface="Times New Roman" pitchFamily="18" charset="0"/>
              </a:rPr>
              <a:t>-------------------------- + 10</a:t>
            </a:r>
          </a:p>
          <a:p>
            <a:r>
              <a:rPr lang="en-US" sz="1400" dirty="0">
                <a:solidFill>
                  <a:schemeClr val="accent2"/>
                </a:solidFill>
                <a:cs typeface="Times New Roman" pitchFamily="18" charset="0"/>
              </a:rPr>
              <a:t>                          2</a:t>
            </a:r>
          </a:p>
          <a:p>
            <a:r>
              <a:rPr lang="en-US" sz="1400" dirty="0">
                <a:solidFill>
                  <a:schemeClr val="accent2"/>
                </a:solidFill>
                <a:cs typeface="Times New Roman" pitchFamily="18" charset="0"/>
              </a:rPr>
              <a:t>------------------------------------    =  25</a:t>
            </a:r>
          </a:p>
          <a:p>
            <a:r>
              <a:rPr lang="en-US" sz="1400" dirty="0">
                <a:solidFill>
                  <a:schemeClr val="accent2"/>
                </a:solidFill>
                <a:cs typeface="Times New Roman" pitchFamily="18" charset="0"/>
              </a:rPr>
              <a:t>                                    2  </a:t>
            </a:r>
            <a:endParaRPr lang="he-IL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41" grpId="0" uiExpand="1" build="allAtOnce"/>
      <p:bldP spid="3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645DC369-EA6F-4E8B-8DE2-C160539B6DD0}" type="slidenum">
              <a:rPr lang="he-IL" sz="1400"/>
              <a:pPr eaLnBrk="1" hangingPunct="1"/>
              <a:t>76</a:t>
            </a:fld>
            <a:endParaRPr lang="en-US" sz="1400"/>
          </a:p>
        </p:txBody>
      </p:sp>
      <p:sp>
        <p:nvSpPr>
          <p:cNvPr id="665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Lottery </a:t>
            </a:r>
          </a:p>
        </p:txBody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r" rtl="1" eaLnBrk="1" hangingPunct="1">
              <a:buFontTx/>
              <a:buNone/>
            </a:pPr>
            <a:r>
              <a:rPr lang="he-IL">
                <a:cs typeface="Times New Roman" pitchFamily="18" charset="0"/>
              </a:rPr>
              <a:t>הגרלת כרטיסים,</a:t>
            </a:r>
          </a:p>
          <a:p>
            <a:pPr algn="r" rtl="1" eaLnBrk="1" hangingPunct="1">
              <a:buFontTx/>
              <a:buNone/>
            </a:pPr>
            <a:r>
              <a:rPr lang="he-IL">
                <a:cs typeface="Times New Roman" pitchFamily="18" charset="0"/>
              </a:rPr>
              <a:t>המשתמש יכול לחלק כרטיסים בהסתברות שונה בין בניו/נכדיו או תהליכוניו</a:t>
            </a:r>
          </a:p>
          <a:p>
            <a:pPr algn="r" rtl="1" eaLnBrk="1" hangingPunct="1">
              <a:buFontTx/>
              <a:buNone/>
            </a:pPr>
            <a:r>
              <a:rPr lang="he-IL">
                <a:cs typeface="Times New Roman" pitchFamily="18" charset="0"/>
              </a:rPr>
              <a:t>למשל חלוקת מניות ל</a:t>
            </a:r>
          </a:p>
          <a:p>
            <a:pPr algn="r" rtl="1" eaLnBrk="1" hangingPunct="1">
              <a:buFontTx/>
              <a:buNone/>
            </a:pPr>
            <a:r>
              <a:rPr lang="he-IL">
                <a:cs typeface="Times New Roman" pitchFamily="18" charset="0"/>
              </a:rPr>
              <a:t>70,20,7,3</a:t>
            </a:r>
          </a:p>
          <a:p>
            <a:pPr algn="r" rtl="1" eaLnBrk="1" hangingPunct="1">
              <a:buFontTx/>
              <a:buNone/>
            </a:pPr>
            <a:r>
              <a:rPr lang="he-IL">
                <a:cs typeface="Times New Roman" pitchFamily="18" charset="0"/>
              </a:rPr>
              <a:t>ההסתברות שהתהליך עם 70 מניות יעלה בגורל</a:t>
            </a:r>
            <a:endParaRPr lang="en-US">
              <a:cs typeface="Times New Roman" pitchFamily="18" charset="0"/>
            </a:endParaRPr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EC1EB75-1DAB-460D-AB39-4E0E1F472514}" type="datetime12">
              <a:rPr lang="he-IL" smtClean="0"/>
              <a:pPr>
                <a:defRPr/>
              </a:pPr>
              <a:t>28/01/2024 18:13</a:t>
            </a:fld>
            <a:endParaRPr lang="en-US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3BCAA514-FE29-4C7D-A98C-AABCECF18BD1}" type="slidenum">
              <a:rPr lang="he-IL" sz="1400"/>
              <a:pPr eaLnBrk="1" hangingPunct="1"/>
              <a:t>77</a:t>
            </a:fld>
            <a:endParaRPr lang="en-US" sz="1400"/>
          </a:p>
        </p:txBody>
      </p:sp>
      <p:sp>
        <p:nvSpPr>
          <p:cNvPr id="70659" name="Rectangle 2"/>
          <p:cNvSpPr>
            <a:spLocks noGrp="1" noChangeArrowheads="1"/>
          </p:cNvSpPr>
          <p:nvPr>
            <p:ph type="title"/>
          </p:nvPr>
        </p:nvSpPr>
        <p:spPr>
          <a:xfrm>
            <a:off x="2178050" y="0"/>
            <a:ext cx="7772400" cy="1143000"/>
          </a:xfrm>
        </p:spPr>
        <p:txBody>
          <a:bodyPr/>
          <a:lstStyle/>
          <a:p>
            <a:pPr eaLnBrk="1" hangingPunct="1"/>
            <a:r>
              <a:rPr lang="en-US"/>
              <a:t>Policy versus Mechanism</a:t>
            </a:r>
          </a:p>
        </p:txBody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47900" y="1587500"/>
            <a:ext cx="7772400" cy="4927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/>
              <a:t>Separate what is </a:t>
            </a:r>
            <a:r>
              <a:rPr lang="en-US" u="sng"/>
              <a:t>allowed</a:t>
            </a:r>
            <a:r>
              <a:rPr lang="en-US"/>
              <a:t> to be done with </a:t>
            </a:r>
            <a:r>
              <a:rPr lang="en-US" u="sng"/>
              <a:t>how</a:t>
            </a:r>
            <a:r>
              <a:rPr lang="en-US"/>
              <a:t> it is done</a:t>
            </a:r>
          </a:p>
          <a:p>
            <a:pPr lvl="1" eaLnBrk="1" hangingPunct="1">
              <a:lnSpc>
                <a:spcPct val="90000"/>
              </a:lnSpc>
            </a:pPr>
            <a:r>
              <a:rPr lang="en-US"/>
              <a:t>a process knows which of its children threads are important and need priority</a:t>
            </a:r>
          </a:p>
          <a:p>
            <a:pPr lvl="1" eaLnBrk="1" hangingPunct="1">
              <a:lnSpc>
                <a:spcPct val="90000"/>
              </a:lnSpc>
            </a:pPr>
            <a:endParaRPr lang="en-US"/>
          </a:p>
          <a:p>
            <a:pPr eaLnBrk="1" hangingPunct="1">
              <a:lnSpc>
                <a:spcPct val="90000"/>
              </a:lnSpc>
            </a:pPr>
            <a:r>
              <a:rPr lang="en-US"/>
              <a:t>Scheduling algorithm parameterized</a:t>
            </a:r>
          </a:p>
          <a:p>
            <a:pPr lvl="1" eaLnBrk="1" hangingPunct="1">
              <a:lnSpc>
                <a:spcPct val="90000"/>
              </a:lnSpc>
            </a:pPr>
            <a:r>
              <a:rPr lang="en-US"/>
              <a:t>mechanism in the kernel</a:t>
            </a:r>
          </a:p>
          <a:p>
            <a:pPr lvl="1" eaLnBrk="1" hangingPunct="1">
              <a:lnSpc>
                <a:spcPct val="90000"/>
              </a:lnSpc>
            </a:pPr>
            <a:endParaRPr lang="en-US"/>
          </a:p>
          <a:p>
            <a:pPr eaLnBrk="1" hangingPunct="1">
              <a:lnSpc>
                <a:spcPct val="90000"/>
              </a:lnSpc>
            </a:pPr>
            <a:r>
              <a:rPr lang="en-US"/>
              <a:t>Parameters filled in by user processes</a:t>
            </a:r>
          </a:p>
          <a:p>
            <a:pPr lvl="1" eaLnBrk="1" hangingPunct="1">
              <a:lnSpc>
                <a:spcPct val="90000"/>
              </a:lnSpc>
            </a:pPr>
            <a:r>
              <a:rPr lang="en-US"/>
              <a:t>policy set by user process</a:t>
            </a:r>
          </a:p>
          <a:p>
            <a:pPr eaLnBrk="1" hangingPunct="1">
              <a:lnSpc>
                <a:spcPct val="90000"/>
              </a:lnSpc>
            </a:pPr>
            <a:endParaRPr lang="en-US"/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9FCC7D2-18A2-4EA0-9461-E3CE7CBCF928}" type="datetime12">
              <a:rPr lang="he-IL" smtClean="0"/>
              <a:pPr>
                <a:defRPr/>
              </a:pPr>
              <a:t>28/01/2024 18:13</a:t>
            </a:fld>
            <a:endParaRPr lang="en-US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15EF6C5E-7202-430A-94BC-AD3C35279665}" type="slidenum">
              <a:rPr lang="he-IL" sz="1400"/>
              <a:pPr eaLnBrk="1" hangingPunct="1"/>
              <a:t>78</a:t>
            </a:fld>
            <a:endParaRPr lang="en-US" sz="1400"/>
          </a:p>
        </p:txBody>
      </p:sp>
      <p:sp>
        <p:nvSpPr>
          <p:cNvPr id="675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Guaranteed scheduling </a:t>
            </a:r>
          </a:p>
        </p:txBody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r" rtl="1" eaLnBrk="1" hangingPunct="1"/>
            <a:r>
              <a:rPr lang="he-IL">
                <a:cs typeface="Times New Roman" pitchFamily="18" charset="0"/>
              </a:rPr>
              <a:t>הבטחת חלוקת זמן זהה בין תהליכים </a:t>
            </a:r>
          </a:p>
          <a:p>
            <a:pPr algn="r" rtl="1" eaLnBrk="1" hangingPunct="1">
              <a:buFontTx/>
              <a:buNone/>
            </a:pPr>
            <a:endParaRPr lang="en-US">
              <a:cs typeface="Times New Roman" pitchFamily="18" charset="0"/>
            </a:endParaRPr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2F6022F-BD9A-4A23-8DFF-A5124C0CA7C0}" type="datetime12">
              <a:rPr lang="he-IL" smtClean="0"/>
              <a:pPr>
                <a:defRPr/>
              </a:pPr>
              <a:t>28/01/2024 18:13</a:t>
            </a:fld>
            <a:endParaRPr lang="en-US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2C5E1114-05CF-46C2-ABF2-1D7465DFB5FF}" type="slidenum">
              <a:rPr lang="he-IL" sz="1400"/>
              <a:pPr eaLnBrk="1" hangingPunct="1"/>
              <a:t>79</a:t>
            </a:fld>
            <a:endParaRPr lang="en-US" sz="1400"/>
          </a:p>
        </p:txBody>
      </p:sp>
      <p:sp>
        <p:nvSpPr>
          <p:cNvPr id="686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Fair share scheduling </a:t>
            </a:r>
          </a:p>
        </p:txBody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r" rtl="1" eaLnBrk="1" hangingPunct="1">
              <a:buFontTx/>
              <a:buNone/>
            </a:pPr>
            <a:r>
              <a:rPr lang="he-IL">
                <a:cs typeface="Times New Roman" pitchFamily="18" charset="0"/>
              </a:rPr>
              <a:t>חלוקת זמן הוגנת בין משתמשים</a:t>
            </a:r>
            <a:endParaRPr lang="en-US">
              <a:cs typeface="Times New Roman" pitchFamily="18" charset="0"/>
            </a:endParaRPr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7713E7A-6ED7-41F0-893A-CFB7A68EFA06}" type="datetime12">
              <a:rPr lang="he-IL" smtClean="0"/>
              <a:pPr>
                <a:defRPr/>
              </a:pPr>
              <a:t>28/01/2024 18:13</a:t>
            </a:fld>
            <a:endParaRPr lang="en-US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741EE0A7-201B-46B5-9DD7-7FD10C5AA3D8}" type="slidenum">
              <a:rPr lang="he-IL" sz="1400"/>
              <a:pPr eaLnBrk="1" hangingPunct="1"/>
              <a:t>80</a:t>
            </a:fld>
            <a:endParaRPr lang="en-US" sz="1400"/>
          </a:p>
        </p:txBody>
      </p:sp>
      <p:sp>
        <p:nvSpPr>
          <p:cNvPr id="69635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1"/>
            <a:ext cx="9144000" cy="962025"/>
          </a:xfrm>
        </p:spPr>
        <p:txBody>
          <a:bodyPr/>
          <a:lstStyle/>
          <a:p>
            <a:pPr eaLnBrk="1" hangingPunct="1"/>
            <a:r>
              <a:rPr lang="en-US" sz="4000"/>
              <a:t>Scheduling in Real-Time Systems</a:t>
            </a:r>
          </a:p>
        </p:txBody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/>
              <a:t>Schedulable real-time system</a:t>
            </a:r>
          </a:p>
          <a:p>
            <a:pPr eaLnBrk="1" hangingPunct="1"/>
            <a:r>
              <a:rPr lang="en-US"/>
              <a:t>Given</a:t>
            </a:r>
          </a:p>
          <a:p>
            <a:pPr lvl="1" eaLnBrk="1" hangingPunct="1"/>
            <a:r>
              <a:rPr lang="en-US" i="1"/>
              <a:t>m</a:t>
            </a:r>
            <a:r>
              <a:rPr lang="en-US"/>
              <a:t> periodic events</a:t>
            </a:r>
          </a:p>
          <a:p>
            <a:pPr lvl="1" eaLnBrk="1" hangingPunct="1"/>
            <a:r>
              <a:rPr lang="en-US"/>
              <a:t>event </a:t>
            </a:r>
            <a:r>
              <a:rPr lang="en-US" i="1"/>
              <a:t>i</a:t>
            </a:r>
            <a:r>
              <a:rPr lang="en-US"/>
              <a:t> occurs within period P</a:t>
            </a:r>
            <a:r>
              <a:rPr lang="en-US" baseline="-25000"/>
              <a:t>i</a:t>
            </a:r>
            <a:r>
              <a:rPr lang="en-US"/>
              <a:t> and requires C</a:t>
            </a:r>
            <a:r>
              <a:rPr lang="en-US" baseline="-25000"/>
              <a:t>i</a:t>
            </a:r>
            <a:r>
              <a:rPr lang="en-US"/>
              <a:t> seconds</a:t>
            </a:r>
          </a:p>
          <a:p>
            <a:pPr eaLnBrk="1" hangingPunct="1"/>
            <a:r>
              <a:rPr lang="en-US"/>
              <a:t>Then the load can only be handled if</a:t>
            </a:r>
          </a:p>
        </p:txBody>
      </p:sp>
      <p:graphicFrame>
        <p:nvGraphicFramePr>
          <p:cNvPr id="69637" name="Object 4"/>
          <p:cNvGraphicFramePr>
            <a:graphicFrameLocks noChangeAspect="1"/>
          </p:cNvGraphicFramePr>
          <p:nvPr/>
        </p:nvGraphicFramePr>
        <p:xfrm>
          <a:off x="4978401" y="5081588"/>
          <a:ext cx="1954213" cy="148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83947" imgH="444307" progId="">
                  <p:embed/>
                </p:oleObj>
              </mc:Choice>
              <mc:Fallback>
                <p:oleObj name="Equation" r:id="rId3" imgW="583947" imgH="444307" progId="">
                  <p:embed/>
                  <p:pic>
                    <p:nvPicPr>
                      <p:cNvPr id="0" name="Picture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8401" y="5081588"/>
                        <a:ext cx="1954213" cy="148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bg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07763" dir="2700000" algn="ctr" rotWithShape="0">
                                <a:srgbClr val="B2B2B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638" name="TextBox 1"/>
          <p:cNvSpPr txBox="1">
            <a:spLocks noChangeArrowheads="1"/>
          </p:cNvSpPr>
          <p:nvPr/>
        </p:nvSpPr>
        <p:spPr bwMode="auto">
          <a:xfrm>
            <a:off x="6965950" y="5597525"/>
            <a:ext cx="315595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1400" dirty="0"/>
              <a:t>20/100,    17/100 , 18/200, </a:t>
            </a:r>
          </a:p>
          <a:p>
            <a:pPr algn="r" eaLnBrk="1" hangingPunct="1"/>
            <a:r>
              <a:rPr lang="he-IL" sz="1400" dirty="0"/>
              <a:t>מניחים החלפה זניחה</a:t>
            </a:r>
          </a:p>
          <a:p>
            <a:pPr algn="r" rtl="1" eaLnBrk="1" hangingPunct="1"/>
            <a:r>
              <a:rPr lang="he-IL" sz="1400" dirty="0"/>
              <a:t>שאלות במבחן : כמה תהליכים של 17/100 ניתן להוסיף למערכת? </a:t>
            </a:r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436029C-2A8F-4D1F-A8EB-8183658DAE43}" type="datetime12">
              <a:rPr lang="he-IL" smtClean="0"/>
              <a:pPr>
                <a:defRPr/>
              </a:pPr>
              <a:t>28/01/2024 18:13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6656070" y="6240781"/>
            <a:ext cx="1028700" cy="30777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sz="1400" dirty="0"/>
              <a:t>תשובה 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96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96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96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8" grpId="0"/>
      <p:bldP spid="8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5A828FC3-E5CB-406E-84A6-336E06F8DC38}" type="slidenum">
              <a:rPr lang="he-IL" sz="1400"/>
              <a:pPr eaLnBrk="1" hangingPunct="1"/>
              <a:t>81</a:t>
            </a:fld>
            <a:endParaRPr lang="en-US" sz="1400"/>
          </a:p>
        </p:txBody>
      </p:sp>
      <p:sp>
        <p:nvSpPr>
          <p:cNvPr id="71683" name="Rectangle 2"/>
          <p:cNvSpPr>
            <a:spLocks noGrp="1" noChangeArrowheads="1"/>
          </p:cNvSpPr>
          <p:nvPr>
            <p:ph type="title"/>
          </p:nvPr>
        </p:nvSpPr>
        <p:spPr>
          <a:xfrm>
            <a:off x="2038350" y="0"/>
            <a:ext cx="7772400" cy="1143000"/>
          </a:xfrm>
        </p:spPr>
        <p:txBody>
          <a:bodyPr/>
          <a:lstStyle/>
          <a:p>
            <a:pPr eaLnBrk="1" hangingPunct="1"/>
            <a:r>
              <a:rPr lang="en-US"/>
              <a:t>Thread Scheduling (1)</a:t>
            </a:r>
          </a:p>
        </p:txBody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95600" y="5210175"/>
            <a:ext cx="7772400" cy="51435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/>
              <a:t>Possible scheduling of user-level threads</a:t>
            </a:r>
            <a:endParaRPr lang="en-US" sz="2800"/>
          </a:p>
          <a:p>
            <a:pPr eaLnBrk="1" hangingPunct="1">
              <a:lnSpc>
                <a:spcPct val="90000"/>
              </a:lnSpc>
            </a:pPr>
            <a:r>
              <a:rPr lang="en-US" sz="2800"/>
              <a:t>50-msec process quantum</a:t>
            </a:r>
          </a:p>
          <a:p>
            <a:pPr eaLnBrk="1" hangingPunct="1">
              <a:lnSpc>
                <a:spcPct val="90000"/>
              </a:lnSpc>
            </a:pPr>
            <a:r>
              <a:rPr lang="en-US" sz="2800"/>
              <a:t>threads run 5 msec/CPU burst</a:t>
            </a:r>
          </a:p>
        </p:txBody>
      </p:sp>
      <p:pic>
        <p:nvPicPr>
          <p:cNvPr id="71685" name="Picture 5" descr="2-4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7288" y="1079500"/>
            <a:ext cx="4578350" cy="369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C1220E1-1B8A-45E7-89F0-DAE686CB0FC7}" type="datetime12">
              <a:rPr lang="he-IL" smtClean="0"/>
              <a:pPr>
                <a:defRPr/>
              </a:pPr>
              <a:t>28/01/2024 18:13</a:t>
            </a:fld>
            <a:endParaRPr lang="en-US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C38C88ED-06A6-4287-B836-24877D5FA3AE}" type="slidenum">
              <a:rPr lang="he-IL" sz="1400"/>
              <a:pPr eaLnBrk="1" hangingPunct="1"/>
              <a:t>82</a:t>
            </a:fld>
            <a:endParaRPr lang="en-US" sz="1400"/>
          </a:p>
        </p:txBody>
      </p:sp>
      <p:sp>
        <p:nvSpPr>
          <p:cNvPr id="72707" name="Rectangle 2"/>
          <p:cNvSpPr>
            <a:spLocks noGrp="1" noChangeArrowheads="1"/>
          </p:cNvSpPr>
          <p:nvPr>
            <p:ph type="title"/>
          </p:nvPr>
        </p:nvSpPr>
        <p:spPr>
          <a:xfrm>
            <a:off x="2152650" y="0"/>
            <a:ext cx="7772400" cy="1143000"/>
          </a:xfrm>
        </p:spPr>
        <p:txBody>
          <a:bodyPr/>
          <a:lstStyle/>
          <a:p>
            <a:pPr eaLnBrk="1" hangingPunct="1"/>
            <a:r>
              <a:rPr lang="en-US"/>
              <a:t>Thread Scheduling (2)</a:t>
            </a:r>
          </a:p>
        </p:txBody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95600" y="5124450"/>
            <a:ext cx="7772400" cy="97155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/>
              <a:t>Possible scheduling of kernel-level threads</a:t>
            </a:r>
            <a:endParaRPr lang="en-US" sz="2800"/>
          </a:p>
          <a:p>
            <a:pPr eaLnBrk="1" hangingPunct="1">
              <a:lnSpc>
                <a:spcPct val="90000"/>
              </a:lnSpc>
            </a:pPr>
            <a:r>
              <a:rPr lang="en-US" sz="2800"/>
              <a:t>50-msec process quantum</a:t>
            </a:r>
          </a:p>
          <a:p>
            <a:pPr eaLnBrk="1" hangingPunct="1">
              <a:lnSpc>
                <a:spcPct val="90000"/>
              </a:lnSpc>
            </a:pPr>
            <a:r>
              <a:rPr lang="en-US" sz="2800"/>
              <a:t>threads run 5 msec/CPU burst</a:t>
            </a:r>
          </a:p>
          <a:p>
            <a:pPr eaLnBrk="1" hangingPunct="1">
              <a:lnSpc>
                <a:spcPct val="90000"/>
              </a:lnSpc>
            </a:pPr>
            <a:endParaRPr lang="en-US" sz="2800"/>
          </a:p>
        </p:txBody>
      </p:sp>
      <p:pic>
        <p:nvPicPr>
          <p:cNvPr id="72709" name="Picture 5" descr="2-43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7650" y="992188"/>
            <a:ext cx="3784600" cy="400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A75F53F-A793-4D0A-9112-85C1A830F5B3}" type="datetime12">
              <a:rPr lang="he-IL" smtClean="0"/>
              <a:pPr>
                <a:defRPr/>
              </a:pPr>
              <a:t>28/01/2024 18:13</a:t>
            </a:fld>
            <a:endParaRPr lang="en-US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36A4543-16A4-E6BC-97F6-3DB93E5EC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67047CA5-3E50-1722-31B8-6EEFC72A04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A99BA47C-12FB-711C-13A0-2D6BF562F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09E1F49-D6F9-46CC-A5D7-7BE12C78E18B}" type="datetime12">
              <a:rPr lang="he-IL" smtClean="0"/>
              <a:pPr>
                <a:defRPr/>
              </a:pPr>
              <a:t>28/01/2024 18:13</a:t>
            </a:fld>
            <a:endParaRPr lang="en-US" dirty="0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AB6F0C09-C7C8-99F7-9CF8-3287308C3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EB00C1C-2CB2-4421-9878-782440F6D2F0}" type="slidenum">
              <a:rPr lang="he-IL" smtClean="0"/>
              <a:pPr>
                <a:defRPr/>
              </a:pPr>
              <a:t>83</a:t>
            </a:fld>
            <a:endParaRPr lang="en-US" dirty="0"/>
          </a:p>
        </p:txBody>
      </p:sp>
      <p:pic>
        <p:nvPicPr>
          <p:cNvPr id="1026" name="Picture 3">
            <a:extLst>
              <a:ext uri="{FF2B5EF4-FFF2-40B4-BE49-F238E27FC236}">
                <a16:creationId xmlns:a16="http://schemas.microsoft.com/office/drawing/2014/main" id="{3BDB91EB-E24F-D40E-7084-879FDA0C6C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5599" y="358014"/>
            <a:ext cx="7669284" cy="62771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14748520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  <a:txDef>
      <a:spPr>
        <a:noFill/>
      </a:spPr>
      <a:bodyPr wrap="square" rtlCol="1">
        <a:spAutoFit/>
      </a:bodyPr>
      <a:lstStyle>
        <a:defPPr>
          <a:defRPr sz="1400" dirty="0" smtClean="0"/>
        </a:defPPr>
      </a:lstStyle>
    </a:tx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ערכת נושא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12228</TotalTime>
  <Words>3328</Words>
  <Application>Microsoft Office PowerPoint</Application>
  <PresentationFormat>מסך רחב</PresentationFormat>
  <Paragraphs>1419</Paragraphs>
  <Slides>83</Slides>
  <Notes>82</Notes>
  <HiddenSlides>0</HiddenSlides>
  <MMClips>0</MMClips>
  <ScaleCrop>false</ScaleCrop>
  <HeadingPairs>
    <vt:vector size="8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שרתי OLE מוטבעים</vt:lpstr>
      </vt:variant>
      <vt:variant>
        <vt:i4>1</vt:i4>
      </vt:variant>
      <vt:variant>
        <vt:lpstr>כותרות שקופיות</vt:lpstr>
      </vt:variant>
      <vt:variant>
        <vt:i4>83</vt:i4>
      </vt:variant>
    </vt:vector>
  </HeadingPairs>
  <TitlesOfParts>
    <vt:vector size="89" baseType="lpstr">
      <vt:lpstr>Arial</vt:lpstr>
      <vt:lpstr>Helvetica</vt:lpstr>
      <vt:lpstr>Times New Roman</vt:lpstr>
      <vt:lpstr>Wingdings</vt:lpstr>
      <vt:lpstr>Default Design</vt:lpstr>
      <vt:lpstr>Equation</vt:lpstr>
      <vt:lpstr>Processes and Threads</vt:lpstr>
      <vt:lpstr>Processes The Process Model</vt:lpstr>
      <vt:lpstr>Processes The Process Model</vt:lpstr>
      <vt:lpstr>Process Creation</vt:lpstr>
      <vt:lpstr>Process Termination</vt:lpstr>
      <vt:lpstr>Process Hierarchies</vt:lpstr>
      <vt:lpstr>Process States (1)</vt:lpstr>
      <vt:lpstr>Process States (2)</vt:lpstr>
      <vt:lpstr>Implementation of Processes (1)</vt:lpstr>
      <vt:lpstr>Implementation of Processes (2)</vt:lpstr>
      <vt:lpstr>מצגת של PowerPoint‏</vt:lpstr>
      <vt:lpstr>Thread Usage (1)</vt:lpstr>
      <vt:lpstr>Thread Usage (2)</vt:lpstr>
      <vt:lpstr>Thread Usage (3)</vt:lpstr>
      <vt:lpstr>Thread Usage (4)</vt:lpstr>
      <vt:lpstr>Threads The Thread Model (1)</vt:lpstr>
      <vt:lpstr>The Thread Model (2)</vt:lpstr>
      <vt:lpstr>The Thread Model (3)</vt:lpstr>
      <vt:lpstr>מצגת של PowerPoint‏</vt:lpstr>
      <vt:lpstr>מצגת של PowerPoint‏</vt:lpstr>
      <vt:lpstr>Implementing Threads in User Space</vt:lpstr>
      <vt:lpstr>Implementing Threads in the Kernel</vt:lpstr>
      <vt:lpstr>Hybrid Implementations</vt:lpstr>
      <vt:lpstr>Scheduler Activations</vt:lpstr>
      <vt:lpstr>Pop-Up Threads</vt:lpstr>
      <vt:lpstr>Making Single-Threaded Code Multithreaded (1)</vt:lpstr>
      <vt:lpstr>Making Single-Threaded Code Multithreaded (2)</vt:lpstr>
      <vt:lpstr>Interprocess Communication Race Conditions</vt:lpstr>
      <vt:lpstr>מצגת של PowerPoint‏</vt:lpstr>
      <vt:lpstr>Critical Regions (1) </vt:lpstr>
      <vt:lpstr>Critical Regions (2)</vt:lpstr>
      <vt:lpstr>מצגת של PowerPoint‏</vt:lpstr>
      <vt:lpstr>Strict Alternation פתרון התור </vt:lpstr>
      <vt:lpstr>Peterson's Solution</vt:lpstr>
      <vt:lpstr>The TSL Instruction</vt:lpstr>
      <vt:lpstr>מצגת של PowerPoint‏</vt:lpstr>
      <vt:lpstr>Sleep and Wakeup</vt:lpstr>
      <vt:lpstr>מצגת של PowerPoint‏</vt:lpstr>
      <vt:lpstr>Semaphores</vt:lpstr>
      <vt:lpstr>Mutexes</vt:lpstr>
      <vt:lpstr>Monitors (1)</vt:lpstr>
      <vt:lpstr>Monitors (2)</vt:lpstr>
      <vt:lpstr>Monitors (3)</vt:lpstr>
      <vt:lpstr>Monitors (4)</vt:lpstr>
      <vt:lpstr>Message Passing</vt:lpstr>
      <vt:lpstr>Barriers</vt:lpstr>
      <vt:lpstr>Dining Philosophers (1)</vt:lpstr>
      <vt:lpstr>Dining Philosophers (2)</vt:lpstr>
      <vt:lpstr>Dining Philosophers (3)</vt:lpstr>
      <vt:lpstr>Dining Philosophers (4)</vt:lpstr>
      <vt:lpstr>The Readers and Writers Problem</vt:lpstr>
      <vt:lpstr>The Sleeping Barber Problem (1)</vt:lpstr>
      <vt:lpstr>The Sleeping Barber Problem (2)</vt:lpstr>
      <vt:lpstr>Scheduling Introduction to Scheduling (1)</vt:lpstr>
      <vt:lpstr>מצגת של PowerPoint‏</vt:lpstr>
      <vt:lpstr>Introduction to Scheduling (2)</vt:lpstr>
      <vt:lpstr>מצגת של PowerPoint‏</vt:lpstr>
      <vt:lpstr>Scheduling in Batch Systems (1)</vt:lpstr>
      <vt:lpstr>Scheduling in Batch Systems (1)</vt:lpstr>
      <vt:lpstr>Scheduling in Batch Systems (1)</vt:lpstr>
      <vt:lpstr>Scheduling in Batch Systems (1)</vt:lpstr>
      <vt:lpstr>Scheduling in Batch Systems (1)</vt:lpstr>
      <vt:lpstr>Scheduling in Batch Systems (1)</vt:lpstr>
      <vt:lpstr>Scheduling in Batch Systems (1)</vt:lpstr>
      <vt:lpstr>בה</vt:lpstr>
      <vt:lpstr>בה</vt:lpstr>
      <vt:lpstr>בה</vt:lpstr>
      <vt:lpstr>Shortest remaining Time next PREEMPTIVE</vt:lpstr>
      <vt:lpstr>Shortest remaining Time next PREEMPTIVE</vt:lpstr>
      <vt:lpstr>Shortest remaining Time next PREEMPTIVE</vt:lpstr>
      <vt:lpstr>Scheduling in Batch Systems (2)</vt:lpstr>
      <vt:lpstr>מצגת של PowerPoint‏</vt:lpstr>
      <vt:lpstr>Scheduling in Interactive Systems (1)</vt:lpstr>
      <vt:lpstr>Scheduling in Interactive Systems (2)</vt:lpstr>
      <vt:lpstr>מצגת של PowerPoint‏</vt:lpstr>
      <vt:lpstr>Lottery </vt:lpstr>
      <vt:lpstr>Policy versus Mechanism</vt:lpstr>
      <vt:lpstr>Guaranteed scheduling </vt:lpstr>
      <vt:lpstr>Fair share scheduling </vt:lpstr>
      <vt:lpstr>Scheduling in Real-Time Systems</vt:lpstr>
      <vt:lpstr>Thread Scheduling (1)</vt:lpstr>
      <vt:lpstr>Thread Scheduling (2)</vt:lpstr>
      <vt:lpstr>מצגת של PowerPoint‏</vt:lpstr>
    </vt:vector>
  </TitlesOfParts>
  <Company>East Texas Data Service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Processes and Threads</dc:title>
  <dc:creator>Steve  Armstrong</dc:creator>
  <cp:lastModifiedBy>Yakir Zadok</cp:lastModifiedBy>
  <cp:revision>234</cp:revision>
  <cp:lastPrinted>2001-01-13T17:10:04Z</cp:lastPrinted>
  <dcterms:created xsi:type="dcterms:W3CDTF">2000-11-23T13:54:09Z</dcterms:created>
  <dcterms:modified xsi:type="dcterms:W3CDTF">2024-01-28T18:03:13Z</dcterms:modified>
</cp:coreProperties>
</file>