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7" r:id="rId2"/>
    <p:sldId id="258" r:id="rId3"/>
    <p:sldId id="256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302" r:id="rId22"/>
    <p:sldId id="304" r:id="rId23"/>
    <p:sldId id="313" r:id="rId24"/>
    <p:sldId id="277" r:id="rId25"/>
    <p:sldId id="272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314" r:id="rId38"/>
    <p:sldId id="312" r:id="rId39"/>
    <p:sldId id="289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290" r:id="rId50"/>
    <p:sldId id="300" r:id="rId51"/>
    <p:sldId id="301" r:id="rId52"/>
    <p:sldId id="303" r:id="rId53"/>
    <p:sldId id="305" r:id="rId54"/>
    <p:sldId id="311" r:id="rId55"/>
    <p:sldId id="307" r:id="rId56"/>
    <p:sldId id="308" r:id="rId57"/>
    <p:sldId id="309" r:id="rId58"/>
    <p:sldId id="310" r:id="rId59"/>
    <p:sldId id="317" r:id="rId60"/>
    <p:sldId id="315" r:id="rId61"/>
  </p:sldIdLst>
  <p:sldSz cx="12192000" cy="6858000"/>
  <p:notesSz cx="9144000" cy="6858000"/>
  <p:custShowLst>
    <p:custShow name="Implementing Files" id="0">
      <p:sldLst>
        <p:sld r:id="rId17"/>
        <p:sld r:id="rId18"/>
        <p:sld r:id="rId19"/>
        <p:sld r:id="rId20"/>
        <p:sld r:id="rId21"/>
      </p:sldLst>
    </p:custShow>
    <p:custShow name="עקביות מערכת הקבצים" id="1">
      <p:sldLst>
        <p:sld r:id="rId36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1pPr>
    <a:lvl2pPr marL="457166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2pPr>
    <a:lvl3pPr marL="914331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3pPr>
    <a:lvl4pPr marL="1371497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4pPr>
    <a:lvl5pPr marL="1828662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5pPr>
    <a:lvl6pPr marL="2285828" algn="r" defTabSz="914331" rtl="1" eaLnBrk="1" latinLnBrk="0" hangingPunct="1"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6pPr>
    <a:lvl7pPr marL="2742994" algn="r" defTabSz="914331" rtl="1" eaLnBrk="1" latinLnBrk="0" hangingPunct="1"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7pPr>
    <a:lvl8pPr marL="3200159" algn="r" defTabSz="914331" rtl="1" eaLnBrk="1" latinLnBrk="0" hangingPunct="1"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8pPr>
    <a:lvl9pPr marL="3657325" algn="r" defTabSz="914331" rtl="1" eaLnBrk="1" latinLnBrk="0" hangingPunct="1"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9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20"/>
      </p:cViewPr>
      <p:guideLst>
        <p:guide orient="horz" pos="48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514350"/>
            <a:ext cx="4572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D8E3535-49F1-4B3F-8087-4BC144298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029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166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331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497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662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5828" algn="r" defTabSz="914331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4" algn="r" defTabSz="914331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59" algn="r" defTabSz="914331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5" algn="r" defTabSz="914331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46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60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4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18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33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06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2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38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46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1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34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25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314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81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69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80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378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197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359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621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92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929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908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498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142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59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932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156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667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514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374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767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316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225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870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870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982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4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376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835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561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750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130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526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935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181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964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0730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019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073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360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899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4396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746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5703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9222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E3535-49F1-4B3F-8087-4BC144298F92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0744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76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875" indent="0" algn="ctr">
              <a:buNone/>
              <a:defRPr/>
            </a:lvl2pPr>
            <a:lvl3pPr marL="685748" indent="0" algn="ctr">
              <a:buNone/>
              <a:defRPr/>
            </a:lvl3pPr>
            <a:lvl4pPr marL="1028623" indent="0" algn="ctr">
              <a:buNone/>
              <a:defRPr/>
            </a:lvl4pPr>
            <a:lvl5pPr marL="1371497" indent="0" algn="ctr">
              <a:buNone/>
              <a:defRPr/>
            </a:lvl5pPr>
            <a:lvl6pPr marL="1714371" indent="0" algn="ctr">
              <a:buNone/>
              <a:defRPr/>
            </a:lvl6pPr>
            <a:lvl7pPr marL="2057246" indent="0" algn="ctr">
              <a:buNone/>
              <a:defRPr/>
            </a:lvl7pPr>
            <a:lvl8pPr marL="2400119" indent="0" algn="ctr">
              <a:buNone/>
              <a:defRPr/>
            </a:lvl8pPr>
            <a:lvl9pPr marL="2742994" indent="0" algn="ctr">
              <a:buNone/>
              <a:defRPr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515EC6-ABBC-4AA6-A91A-36B8BBD94E99}" type="datetime10">
              <a:rPr lang="en-US" smtClean="0"/>
              <a:t>18:07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29815-3C47-4CAA-A60E-0089E71E04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AA790D-9EA9-4E9B-ACC4-5D58714A5431}" type="datetime10">
              <a:rPr lang="en-US" smtClean="0"/>
              <a:t>18:07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6D1BC9-445D-4D55-A9CC-4FB4DE56D6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r">
              <a:defRPr sz="3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63084" y="2906718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75" indent="0">
              <a:buNone/>
              <a:defRPr sz="1350"/>
            </a:lvl2pPr>
            <a:lvl3pPr marL="685748" indent="0">
              <a:buNone/>
              <a:defRPr sz="1200"/>
            </a:lvl3pPr>
            <a:lvl4pPr marL="1028623" indent="0">
              <a:buNone/>
              <a:defRPr sz="1050"/>
            </a:lvl4pPr>
            <a:lvl5pPr marL="1371497" indent="0">
              <a:buNone/>
              <a:defRPr sz="1050"/>
            </a:lvl5pPr>
            <a:lvl6pPr marL="1714371" indent="0">
              <a:buNone/>
              <a:defRPr sz="1050"/>
            </a:lvl6pPr>
            <a:lvl7pPr marL="2057246" indent="0">
              <a:buNone/>
              <a:defRPr sz="1050"/>
            </a:lvl7pPr>
            <a:lvl8pPr marL="2400119" indent="0">
              <a:buNone/>
              <a:defRPr sz="1050"/>
            </a:lvl8pPr>
            <a:lvl9pPr marL="2742994" indent="0">
              <a:buNone/>
              <a:defRPr sz="10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CA7BE4-2CEE-4751-9655-E814D9847CA3}" type="datetime10">
              <a:rPr lang="en-US" smtClean="0"/>
              <a:t>18:07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062012-8AE6-46FE-AE88-4A0F9B71CFD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914400" y="1981201"/>
            <a:ext cx="508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97600" y="1981201"/>
            <a:ext cx="508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0A81C9-AEF9-4103-B3A8-0FF624A11FD8}" type="datetime10">
              <a:rPr lang="en-US" smtClean="0"/>
              <a:t>18:07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81A09E-A413-465D-A0AE-A541DC3B76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04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5" indent="0">
              <a:buNone/>
              <a:defRPr sz="1500" b="1"/>
            </a:lvl2pPr>
            <a:lvl3pPr marL="685748" indent="0">
              <a:buNone/>
              <a:defRPr sz="1350" b="1"/>
            </a:lvl3pPr>
            <a:lvl4pPr marL="1028623" indent="0">
              <a:buNone/>
              <a:defRPr sz="1200" b="1"/>
            </a:lvl4pPr>
            <a:lvl5pPr marL="1371497" indent="0">
              <a:buNone/>
              <a:defRPr sz="1200" b="1"/>
            </a:lvl5pPr>
            <a:lvl6pPr marL="1714371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19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5" indent="0">
              <a:buNone/>
              <a:defRPr sz="1500" b="1"/>
            </a:lvl2pPr>
            <a:lvl3pPr marL="685748" indent="0">
              <a:buNone/>
              <a:defRPr sz="1350" b="1"/>
            </a:lvl3pPr>
            <a:lvl4pPr marL="1028623" indent="0">
              <a:buNone/>
              <a:defRPr sz="1200" b="1"/>
            </a:lvl4pPr>
            <a:lvl5pPr marL="1371497" indent="0">
              <a:buNone/>
              <a:defRPr sz="1200" b="1"/>
            </a:lvl5pPr>
            <a:lvl6pPr marL="1714371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19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93370" y="2174876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F57B11-63B0-420F-B45E-6DF1EAB308F4}" type="datetime10">
              <a:rPr lang="en-US" smtClean="0"/>
              <a:t>18:07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3F376F-792C-4473-8D52-E4239182AE4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43DD5A-73EC-431D-BA64-BDB7DC94D481}" type="datetime10">
              <a:rPr lang="en-US" smtClean="0"/>
              <a:t>18:07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C2E8B7-F84C-4839-8138-42847DFF94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A05FD2-A396-4701-802F-D784592E75AD}" type="datetime10">
              <a:rPr lang="en-US" smtClean="0"/>
              <a:t>18:07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BE6336-08AE-45B3-8312-6EA5FF5688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06" y="273051"/>
            <a:ext cx="4011084" cy="1162050"/>
          </a:xfrm>
        </p:spPr>
        <p:txBody>
          <a:bodyPr anchor="b"/>
          <a:lstStyle>
            <a:lvl1pPr algn="r">
              <a:defRPr sz="1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09606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75" indent="0">
              <a:buNone/>
              <a:defRPr sz="900"/>
            </a:lvl2pPr>
            <a:lvl3pPr marL="685748" indent="0">
              <a:buNone/>
              <a:defRPr sz="750"/>
            </a:lvl3pPr>
            <a:lvl4pPr marL="1028623" indent="0">
              <a:buNone/>
              <a:defRPr sz="675"/>
            </a:lvl4pPr>
            <a:lvl5pPr marL="1371497" indent="0">
              <a:buNone/>
              <a:defRPr sz="675"/>
            </a:lvl5pPr>
            <a:lvl6pPr marL="1714371" indent="0">
              <a:buNone/>
              <a:defRPr sz="675"/>
            </a:lvl6pPr>
            <a:lvl7pPr marL="2057246" indent="0">
              <a:buNone/>
              <a:defRPr sz="675"/>
            </a:lvl7pPr>
            <a:lvl8pPr marL="2400119" indent="0">
              <a:buNone/>
              <a:defRPr sz="675"/>
            </a:lvl8pPr>
            <a:lvl9pPr marL="2742994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58A31D-94B8-4363-BA33-BD5330BF39C2}" type="datetime10">
              <a:rPr lang="en-US" smtClean="0"/>
              <a:t>18:07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77CEE4-5DC4-4DFA-9728-934685FE4CE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389721" y="4800601"/>
            <a:ext cx="7315200" cy="566738"/>
          </a:xfrm>
        </p:spPr>
        <p:txBody>
          <a:bodyPr anchor="b"/>
          <a:lstStyle>
            <a:lvl1pPr algn="r">
              <a:defRPr sz="1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2389721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75" indent="0">
              <a:buNone/>
              <a:defRPr sz="2100"/>
            </a:lvl2pPr>
            <a:lvl3pPr marL="685748" indent="0">
              <a:buNone/>
              <a:defRPr sz="1800"/>
            </a:lvl3pPr>
            <a:lvl4pPr marL="1028623" indent="0">
              <a:buNone/>
              <a:defRPr sz="1500"/>
            </a:lvl4pPr>
            <a:lvl5pPr marL="1371497" indent="0">
              <a:buNone/>
              <a:defRPr sz="1500"/>
            </a:lvl5pPr>
            <a:lvl6pPr marL="1714371" indent="0">
              <a:buNone/>
              <a:defRPr sz="1500"/>
            </a:lvl6pPr>
            <a:lvl7pPr marL="2057246" indent="0">
              <a:buNone/>
              <a:defRPr sz="1500"/>
            </a:lvl7pPr>
            <a:lvl8pPr marL="2400119" indent="0">
              <a:buNone/>
              <a:defRPr sz="1500"/>
            </a:lvl8pPr>
            <a:lvl9pPr marL="2742994" indent="0">
              <a:buNone/>
              <a:defRPr sz="15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2389721" y="5367339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75" indent="0">
              <a:buNone/>
              <a:defRPr sz="900"/>
            </a:lvl2pPr>
            <a:lvl3pPr marL="685748" indent="0">
              <a:buNone/>
              <a:defRPr sz="750"/>
            </a:lvl3pPr>
            <a:lvl4pPr marL="1028623" indent="0">
              <a:buNone/>
              <a:defRPr sz="675"/>
            </a:lvl4pPr>
            <a:lvl5pPr marL="1371497" indent="0">
              <a:buNone/>
              <a:defRPr sz="675"/>
            </a:lvl5pPr>
            <a:lvl6pPr marL="1714371" indent="0">
              <a:buNone/>
              <a:defRPr sz="675"/>
            </a:lvl6pPr>
            <a:lvl7pPr marL="2057246" indent="0">
              <a:buNone/>
              <a:defRPr sz="675"/>
            </a:lvl7pPr>
            <a:lvl8pPr marL="2400119" indent="0">
              <a:buNone/>
              <a:defRPr sz="675"/>
            </a:lvl8pPr>
            <a:lvl9pPr marL="2742994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CF7A05-14DE-4F83-9197-5205BF2B4257}" type="datetime10">
              <a:rPr lang="en-US" smtClean="0"/>
              <a:t>18:07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8231B-398C-4786-9C8E-0F00E05A6A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29AB17-8712-40F7-9AD0-D694DFEC0EE3}" type="datetime10">
              <a:rPr lang="en-US" smtClean="0"/>
              <a:t>18:07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3548D2-0113-492B-A4BD-9508BA1DB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686804" y="0"/>
            <a:ext cx="2590800" cy="609600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914400" y="0"/>
            <a:ext cx="7569200" cy="609600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FC7A3F-FEDD-4A6B-A1C2-6AD5862F673D}" type="datetime10">
              <a:rPr lang="en-US" smtClean="0"/>
              <a:t>18:07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1B9FF3-AD4A-49D8-B5A4-BBDA98E3DA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1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2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050">
                <a:latin typeface="+mn-lt"/>
              </a:defRPr>
            </a:lvl1pPr>
          </a:lstStyle>
          <a:p>
            <a:fld id="{B49811CF-16DB-4004-B8B9-A9BDE7A00D85}" type="datetime10">
              <a:rPr lang="en-US" smtClean="0"/>
              <a:t>18:07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2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ctr">
              <a:defRPr sz="105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98017" y="6377489"/>
            <a:ext cx="643467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+mn-lt"/>
              </a:defRPr>
            </a:lvl1pPr>
          </a:lstStyle>
          <a:p>
            <a:fld id="{17098CFD-C490-4264-92BF-CD0DF313C6A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rgbClr val="FF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rgbClr val="FF0000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rgbClr val="FF0000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rgbClr val="FF0000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rgbClr val="FF0000"/>
          </a:solidFill>
          <a:latin typeface="Times New Roman" pitchFamily="18" charset="0"/>
        </a:defRPr>
      </a:lvl5pPr>
      <a:lvl6pPr marL="342875" algn="ctr" rtl="0" fontAlgn="base">
        <a:spcBef>
          <a:spcPct val="0"/>
        </a:spcBef>
        <a:spcAft>
          <a:spcPct val="0"/>
        </a:spcAft>
        <a:defRPr sz="3300">
          <a:solidFill>
            <a:srgbClr val="FF0000"/>
          </a:solidFill>
          <a:latin typeface="Times New Roman" pitchFamily="18" charset="0"/>
        </a:defRPr>
      </a:lvl6pPr>
      <a:lvl7pPr marL="685748" algn="ctr" rtl="0" fontAlgn="base">
        <a:spcBef>
          <a:spcPct val="0"/>
        </a:spcBef>
        <a:spcAft>
          <a:spcPct val="0"/>
        </a:spcAft>
        <a:defRPr sz="3300">
          <a:solidFill>
            <a:srgbClr val="FF0000"/>
          </a:solidFill>
          <a:latin typeface="Times New Roman" pitchFamily="18" charset="0"/>
        </a:defRPr>
      </a:lvl7pPr>
      <a:lvl8pPr marL="1028623" algn="ctr" rtl="0" fontAlgn="base">
        <a:spcBef>
          <a:spcPct val="0"/>
        </a:spcBef>
        <a:spcAft>
          <a:spcPct val="0"/>
        </a:spcAft>
        <a:defRPr sz="3300">
          <a:solidFill>
            <a:srgbClr val="FF0000"/>
          </a:solidFill>
          <a:latin typeface="Times New Roman" pitchFamily="18" charset="0"/>
        </a:defRPr>
      </a:lvl8pPr>
      <a:lvl9pPr marL="1371497" algn="ctr" rtl="0" fontAlgn="base">
        <a:spcBef>
          <a:spcPct val="0"/>
        </a:spcBef>
        <a:spcAft>
          <a:spcPct val="0"/>
        </a:spcAft>
        <a:defRPr sz="3300">
          <a:solidFill>
            <a:srgbClr val="FF0000"/>
          </a:solidFill>
          <a:latin typeface="Times New Roman" pitchFamily="18" charset="0"/>
        </a:defRPr>
      </a:lvl9pPr>
    </p:titleStyle>
    <p:bodyStyle>
      <a:lvl1pPr marL="257156" indent="-257156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rgbClr val="3333CC"/>
          </a:solidFill>
          <a:latin typeface="+mn-lt"/>
          <a:ea typeface="+mn-ea"/>
          <a:cs typeface="+mn-cs"/>
        </a:defRPr>
      </a:lvl1pPr>
      <a:lvl2pPr marL="557171" indent="-214296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100">
          <a:solidFill>
            <a:schemeClr val="tx1"/>
          </a:solidFill>
          <a:latin typeface="+mn-lt"/>
        </a:defRPr>
      </a:lvl2pPr>
      <a:lvl3pPr marL="857186" indent="-171437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800">
          <a:solidFill>
            <a:schemeClr val="tx1"/>
          </a:solidFill>
          <a:latin typeface="+mn-lt"/>
        </a:defRPr>
      </a:lvl3pPr>
      <a:lvl4pPr marL="1200060" indent="-171437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1500">
          <a:solidFill>
            <a:schemeClr val="tx1"/>
          </a:solidFill>
          <a:latin typeface="+mn-lt"/>
        </a:defRPr>
      </a:lvl4pPr>
      <a:lvl5pPr marL="1542935" indent="-171437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1500">
          <a:solidFill>
            <a:schemeClr val="tx1"/>
          </a:solidFill>
          <a:latin typeface="+mn-lt"/>
        </a:defRPr>
      </a:lvl5pPr>
      <a:lvl6pPr marL="1885808" indent="-171437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1500">
          <a:solidFill>
            <a:schemeClr val="tx1"/>
          </a:solidFill>
          <a:latin typeface="+mn-lt"/>
        </a:defRPr>
      </a:lvl6pPr>
      <a:lvl7pPr marL="2228683" indent="-171437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1500">
          <a:solidFill>
            <a:schemeClr val="tx1"/>
          </a:solidFill>
          <a:latin typeface="+mn-lt"/>
        </a:defRPr>
      </a:lvl7pPr>
      <a:lvl8pPr marL="2571557" indent="-171437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1500">
          <a:solidFill>
            <a:schemeClr val="tx1"/>
          </a:solidFill>
          <a:latin typeface="+mn-lt"/>
        </a:defRPr>
      </a:lvl8pPr>
      <a:lvl9pPr marL="2914431" indent="-171437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he-IL"/>
      </a:defPPr>
      <a:lvl1pPr marL="0" algn="r" defTabSz="68574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r" defTabSz="68574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8" algn="r" defTabSz="68574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3" algn="r" defTabSz="68574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7" algn="r" defTabSz="68574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1" algn="r" defTabSz="68574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r" defTabSz="68574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19" algn="r" defTabSz="68574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4" algn="r" defTabSz="68574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E2BE7-60B1-4432-9508-DB698191DB22}" type="slidenum">
              <a:rPr lang="en-US"/>
              <a:pPr/>
              <a:t>1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62300" y="2114550"/>
            <a:ext cx="5829300" cy="857250"/>
          </a:xfrm>
        </p:spPr>
        <p:txBody>
          <a:bodyPr/>
          <a:lstStyle/>
          <a:p>
            <a:r>
              <a:rPr lang="en-US"/>
              <a:t>File Systems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52825" y="1438277"/>
            <a:ext cx="4800600" cy="590550"/>
          </a:xfrm>
        </p:spPr>
        <p:txBody>
          <a:bodyPr/>
          <a:lstStyle/>
          <a:p>
            <a:r>
              <a:rPr lang="en-US" sz="3300" dirty="0">
                <a:solidFill>
                  <a:schemeClr val="accent2"/>
                </a:solidFill>
              </a:rPr>
              <a:t>Chapter 4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4845848" y="3374234"/>
            <a:ext cx="3107251" cy="1546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8575" tIns="34288" rIns="68575" bIns="34288">
            <a:spAutoFit/>
          </a:bodyPr>
          <a:lstStyle/>
          <a:p>
            <a:r>
              <a:rPr lang="en-US" sz="1800" dirty="0">
                <a:latin typeface="Times New Roman" pitchFamily="18" charset="0"/>
              </a:rPr>
              <a:t>4.1 Files </a:t>
            </a:r>
          </a:p>
          <a:p>
            <a:r>
              <a:rPr lang="en-US" sz="1800" dirty="0">
                <a:latin typeface="Times New Roman" pitchFamily="18" charset="0"/>
              </a:rPr>
              <a:t>4.2 Directories </a:t>
            </a:r>
          </a:p>
          <a:p>
            <a:r>
              <a:rPr lang="en-US" sz="1800" dirty="0">
                <a:latin typeface="Times New Roman" pitchFamily="18" charset="0"/>
              </a:rPr>
              <a:t>4.3 File system implementation </a:t>
            </a:r>
          </a:p>
          <a:p>
            <a:r>
              <a:rPr lang="en-US" sz="1800" dirty="0">
                <a:latin typeface="Times New Roman" pitchFamily="18" charset="0"/>
              </a:rPr>
              <a:t>4</a:t>
            </a:r>
            <a:r>
              <a:rPr lang="en-US" sz="1800">
                <a:latin typeface="Times New Roman" pitchFamily="18" charset="0"/>
              </a:rPr>
              <a:t>.4 </a:t>
            </a:r>
            <a:r>
              <a:rPr lang="en-US" sz="1800" dirty="0">
                <a:latin typeface="Times New Roman" pitchFamily="18" charset="0"/>
              </a:rPr>
              <a:t>Example file systems </a:t>
            </a:r>
          </a:p>
          <a:p>
            <a:endParaRPr lang="en-US" sz="2400" dirty="0">
              <a:latin typeface="Times New Roman" pitchFamily="18" charset="0"/>
            </a:endParaRPr>
          </a:p>
        </p:txBody>
      </p:sp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E3BC-951A-468E-8ED3-BBBF4F40BF80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0825-4E9C-4337-AF34-5B733786F08F}" type="slidenum">
              <a:rPr lang="en-US"/>
              <a:pPr/>
              <a:t>2</a:t>
            </a:fld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876552" y="1000125"/>
            <a:ext cx="6478191" cy="590550"/>
          </a:xfrm>
        </p:spPr>
        <p:txBody>
          <a:bodyPr/>
          <a:lstStyle/>
          <a:p>
            <a:r>
              <a:rPr lang="en-US" dirty="0"/>
              <a:t>Long-term Information Storage</a:t>
            </a:r>
            <a:endParaRPr lang="en-US" sz="24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24200" y="2343151"/>
            <a:ext cx="6057900" cy="3143250"/>
          </a:xfrm>
        </p:spPr>
        <p:txBody>
          <a:bodyPr/>
          <a:lstStyle/>
          <a:p>
            <a:pPr marL="457166" indent="-457166">
              <a:buFontTx/>
              <a:buAutoNum type="arabicPeriod"/>
            </a:pPr>
            <a:r>
              <a:rPr lang="en-US" dirty="0"/>
              <a:t>Must store large amounts of data</a:t>
            </a:r>
          </a:p>
          <a:p>
            <a:pPr marL="457166" indent="-457166">
              <a:buFontTx/>
              <a:buAutoNum type="arabicPeriod"/>
            </a:pPr>
            <a:endParaRPr lang="en-US" dirty="0"/>
          </a:p>
          <a:p>
            <a:pPr marL="457166" indent="-457166">
              <a:buFontTx/>
              <a:buAutoNum type="arabicPeriod"/>
            </a:pPr>
            <a:r>
              <a:rPr lang="en-US" dirty="0"/>
              <a:t>Information stored must survive the termination of the process using it</a:t>
            </a:r>
          </a:p>
          <a:p>
            <a:pPr marL="457166" indent="-457166">
              <a:buFontTx/>
              <a:buAutoNum type="arabicPeriod"/>
            </a:pPr>
            <a:endParaRPr lang="en-US" dirty="0"/>
          </a:p>
          <a:p>
            <a:pPr marL="457166" indent="-457166">
              <a:buFontTx/>
              <a:buAutoNum type="arabicPeriod"/>
            </a:pPr>
            <a:r>
              <a:rPr lang="en-US" dirty="0"/>
              <a:t>Multiple processes must be able to access the information concurrently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0B6B-D9CA-414E-8299-E8B67A760DF5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A5D92-6E7B-4A32-926B-81040FB509D9}" type="slidenum">
              <a:rPr lang="en-US"/>
              <a:pPr/>
              <a:t>3</a:t>
            </a:fld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171825" y="990600"/>
            <a:ext cx="5829300" cy="628650"/>
          </a:xfrm>
        </p:spPr>
        <p:txBody>
          <a:bodyPr/>
          <a:lstStyle/>
          <a:p>
            <a:r>
              <a:rPr lang="en-US"/>
              <a:t>File Naming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1350" y="5257801"/>
            <a:ext cx="5829300" cy="40005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/>
              <a:t>Typical file extensions.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7153" y="2286004"/>
            <a:ext cx="4550569" cy="2813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671794" y="1721408"/>
            <a:ext cx="590117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8.[3]</a:t>
            </a:r>
            <a:endParaRPr lang="he-IL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7499577" y="1483982"/>
            <a:ext cx="1874019" cy="415266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/>
              <a:t>האם מערכת הפעלה צריכה לאכוף את פורמט הקובץ?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7095" y="1958836"/>
            <a:ext cx="1640630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/>
              <a:t>מה היתרון בפורמט זה ? </a:t>
            </a:r>
          </a:p>
        </p:txBody>
      </p:sp>
      <p:sp>
        <p:nvSpPr>
          <p:cNvPr id="9" name="מציין מיקום של תאריך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DF3E-9CF8-4961-B7A5-71C62F1964CA}" type="datetime10">
              <a:rPr lang="en-US" smtClean="0"/>
              <a:t>18:07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466045" y="2241223"/>
            <a:ext cx="726141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/>
              <a:t> ניידות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83884" y="3293748"/>
            <a:ext cx="13334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endParaRPr lang="he-IL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4B49-6CFA-467B-82A2-8858A01C4FCF}" type="slidenum">
              <a:rPr lang="en-US"/>
              <a:pPr/>
              <a:t>4</a:t>
            </a:fld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Structure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81552" y="4353198"/>
            <a:ext cx="4229100" cy="971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Three kinds of files</a:t>
            </a:r>
            <a:endParaRPr lang="en-US" sz="2100" dirty="0"/>
          </a:p>
          <a:p>
            <a:pPr lvl="1">
              <a:lnSpc>
                <a:spcPct val="90000"/>
              </a:lnSpc>
            </a:pPr>
            <a:r>
              <a:rPr lang="en-US" dirty="0"/>
              <a:t>byte sequence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record sequence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tree</a:t>
            </a:r>
          </a:p>
        </p:txBody>
      </p:sp>
      <p:pic>
        <p:nvPicPr>
          <p:cNvPr id="6149" name="Picture 5" descr="C:\B\b4\JPG\foo\6-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4751" y="1900238"/>
            <a:ext cx="5114925" cy="2353866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B7764-B2D1-4BB1-8204-F10946AC2C65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B0E6-D46A-44D4-8049-60EDD2F75DAB}" type="slidenum">
              <a:rPr lang="en-US"/>
              <a:pPr/>
              <a:t>5</a:t>
            </a:fld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34879" y="456836"/>
            <a:ext cx="5829300" cy="857250"/>
          </a:xfrm>
        </p:spPr>
        <p:txBody>
          <a:bodyPr/>
          <a:lstStyle/>
          <a:p>
            <a:r>
              <a:rPr lang="en-US" dirty="0"/>
              <a:t>File Types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43327" y="5534027"/>
            <a:ext cx="4457700" cy="46672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100" dirty="0"/>
              <a:t>(a) An executable file   (b) An archive</a:t>
            </a:r>
          </a:p>
        </p:txBody>
      </p:sp>
      <p:pic>
        <p:nvPicPr>
          <p:cNvPr id="7174" name="Picture 6" descr="C:\B\b4\JPG\foo\6-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4738" y="1278549"/>
            <a:ext cx="4269583" cy="3941154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3F0F6-34C0-44F5-98DB-4FC038C4862D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A48-9E2D-4993-96CC-66EE3B12C7D8}" type="slidenum">
              <a:rPr lang="en-US"/>
              <a:pPr/>
              <a:t>6</a:t>
            </a:fld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Access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24202" y="1600201"/>
            <a:ext cx="6400800" cy="4057650"/>
          </a:xfrm>
        </p:spPr>
        <p:txBody>
          <a:bodyPr/>
          <a:lstStyle/>
          <a:p>
            <a:r>
              <a:rPr lang="en-US" dirty="0"/>
              <a:t>Sequential access</a:t>
            </a:r>
          </a:p>
          <a:p>
            <a:pPr lvl="1"/>
            <a:r>
              <a:rPr lang="en-US" dirty="0"/>
              <a:t>read all bytes/records from the beginning</a:t>
            </a:r>
          </a:p>
          <a:p>
            <a:pPr lvl="1"/>
            <a:r>
              <a:rPr lang="en-US" dirty="0"/>
              <a:t>cannot jump around, could rewind or back up</a:t>
            </a:r>
          </a:p>
          <a:p>
            <a:pPr lvl="1"/>
            <a:r>
              <a:rPr lang="en-US" dirty="0"/>
              <a:t>convenient when medium was </a:t>
            </a:r>
            <a:r>
              <a:rPr lang="en-US" dirty="0" err="1"/>
              <a:t>mag</a:t>
            </a:r>
            <a:r>
              <a:rPr lang="en-US" dirty="0"/>
              <a:t> tape</a:t>
            </a:r>
          </a:p>
          <a:p>
            <a:r>
              <a:rPr lang="en-US" dirty="0"/>
              <a:t>Random access</a:t>
            </a:r>
          </a:p>
          <a:p>
            <a:pPr lvl="1"/>
            <a:r>
              <a:rPr lang="en-US" dirty="0"/>
              <a:t>bytes/records read in any order</a:t>
            </a:r>
          </a:p>
          <a:p>
            <a:pPr lvl="1"/>
            <a:r>
              <a:rPr lang="en-US" dirty="0"/>
              <a:t>essential for data base systems</a:t>
            </a:r>
          </a:p>
          <a:p>
            <a:pPr lvl="1"/>
            <a:r>
              <a:rPr lang="en-US" dirty="0"/>
              <a:t>read can be …</a:t>
            </a:r>
          </a:p>
          <a:p>
            <a:pPr lvl="2"/>
            <a:r>
              <a:rPr lang="en-US" dirty="0"/>
              <a:t>move file marker (seek), then read or …</a:t>
            </a:r>
          </a:p>
          <a:p>
            <a:pPr lvl="2"/>
            <a:r>
              <a:rPr lang="en-US" dirty="0"/>
              <a:t>read and then move file marker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B625-E00F-4162-8985-6238118C5C7C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688-0395-48A5-8003-872F7F662B1E}" type="slidenum">
              <a:rPr lang="en-US"/>
              <a:pPr/>
              <a:t>7</a:t>
            </a:fld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Attributes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0" y="5543552"/>
            <a:ext cx="5829300" cy="3429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2100" dirty="0"/>
              <a:t>Possible file attributes</a:t>
            </a: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24291" y="1790702"/>
            <a:ext cx="4407694" cy="3464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8153489" y="1892230"/>
            <a:ext cx="1371512" cy="1338596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/>
              <a:t>איפה נשמור את תכונות הקובץ?</a:t>
            </a:r>
          </a:p>
          <a:p>
            <a:pPr algn="r" rtl="1"/>
            <a:r>
              <a:rPr lang="he-IL" sz="1200" dirty="0"/>
              <a:t>א. בתחילית הקובץ.</a:t>
            </a:r>
          </a:p>
          <a:p>
            <a:pPr algn="r" rtl="1"/>
            <a:r>
              <a:rPr lang="he-IL" sz="1200" dirty="0"/>
              <a:t>ב. בשם הקובץ </a:t>
            </a:r>
          </a:p>
          <a:p>
            <a:pPr algn="r" rtl="1"/>
            <a:r>
              <a:rPr lang="he-IL" sz="1200" dirty="0"/>
              <a:t>ג. במבנה נוסף </a:t>
            </a:r>
          </a:p>
          <a:p>
            <a:pPr algn="r" rtl="1"/>
            <a:r>
              <a:rPr lang="he-IL" sz="1200" dirty="0"/>
              <a:t>ד. בספרייה</a:t>
            </a:r>
          </a:p>
          <a:p>
            <a:pPr algn="r" rtl="1"/>
            <a:endParaRPr lang="he-IL" sz="1200" dirty="0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0267-E780-4A19-89B8-0F3CF1B8879C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A1CF9-8C00-4DD7-8728-7E0A3EC7E2FA}" type="slidenum">
              <a:rPr lang="en-US"/>
              <a:pPr/>
              <a:t>8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Operations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181350" y="1943101"/>
            <a:ext cx="2857500" cy="3486150"/>
          </a:xfrm>
        </p:spPr>
        <p:txBody>
          <a:bodyPr/>
          <a:lstStyle/>
          <a:p>
            <a:pPr marL="685748" lvl="1" indent="-342875">
              <a:buFontTx/>
              <a:buAutoNum type="arabicPeriod"/>
            </a:pPr>
            <a:r>
              <a:rPr lang="en-US" sz="2700" dirty="0"/>
              <a:t>Create</a:t>
            </a:r>
          </a:p>
          <a:p>
            <a:pPr marL="685748" lvl="1" indent="-342875">
              <a:buFontTx/>
              <a:buAutoNum type="arabicPeriod"/>
            </a:pPr>
            <a:r>
              <a:rPr lang="en-US" sz="2700" dirty="0"/>
              <a:t>Delete</a:t>
            </a:r>
          </a:p>
          <a:p>
            <a:pPr marL="685748" lvl="1" indent="-342875">
              <a:buFontTx/>
              <a:buAutoNum type="arabicPeriod"/>
            </a:pPr>
            <a:r>
              <a:rPr lang="en-US" sz="2700" dirty="0"/>
              <a:t>Open</a:t>
            </a:r>
          </a:p>
          <a:p>
            <a:pPr marL="685748" lvl="1" indent="-342875">
              <a:buFontTx/>
              <a:buAutoNum type="arabicPeriod"/>
            </a:pPr>
            <a:r>
              <a:rPr lang="en-US" sz="2700" dirty="0"/>
              <a:t>Close</a:t>
            </a:r>
          </a:p>
          <a:p>
            <a:pPr marL="685748" lvl="1" indent="-342875">
              <a:buFontTx/>
              <a:buAutoNum type="arabicPeriod"/>
            </a:pPr>
            <a:r>
              <a:rPr lang="en-US" sz="2700" dirty="0"/>
              <a:t>Read</a:t>
            </a:r>
          </a:p>
          <a:p>
            <a:pPr marL="685748" lvl="1" indent="-342875">
              <a:buFontTx/>
              <a:buAutoNum type="arabicPeriod"/>
            </a:pPr>
            <a:r>
              <a:rPr lang="en-US" sz="2700" dirty="0"/>
              <a:t>Write</a:t>
            </a:r>
          </a:p>
          <a:p>
            <a:pPr marL="685748" lvl="1" indent="-342875">
              <a:buFontTx/>
              <a:buAutoNum type="arabicPeriod"/>
            </a:pPr>
            <a:endParaRPr lang="en-US" sz="27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53150" y="2000252"/>
            <a:ext cx="2857500" cy="3429001"/>
          </a:xfrm>
        </p:spPr>
        <p:txBody>
          <a:bodyPr/>
          <a:lstStyle/>
          <a:p>
            <a:pPr marL="685748" lvl="1" indent="-342875">
              <a:buFontTx/>
              <a:buAutoNum type="arabicPeriod" startAt="7"/>
            </a:pPr>
            <a:r>
              <a:rPr lang="en-US" sz="2700" dirty="0"/>
              <a:t>Append</a:t>
            </a:r>
          </a:p>
          <a:p>
            <a:pPr marL="685748" lvl="1" indent="-342875">
              <a:buFontTx/>
              <a:buAutoNum type="arabicPeriod" startAt="7"/>
            </a:pPr>
            <a:r>
              <a:rPr lang="en-US" sz="2700" dirty="0"/>
              <a:t>Seek</a:t>
            </a:r>
          </a:p>
          <a:p>
            <a:pPr marL="685748" lvl="1" indent="-342875">
              <a:buFontTx/>
              <a:buAutoNum type="arabicPeriod" startAt="7"/>
            </a:pPr>
            <a:r>
              <a:rPr lang="en-US" sz="2700" dirty="0"/>
              <a:t>Get attributes</a:t>
            </a:r>
          </a:p>
          <a:p>
            <a:pPr marL="685748" lvl="1" indent="-342875">
              <a:buFontTx/>
              <a:buAutoNum type="arabicPeriod" startAt="7"/>
            </a:pPr>
            <a:r>
              <a:rPr lang="en-US" sz="2700" dirty="0"/>
              <a:t>Set Attributes</a:t>
            </a:r>
          </a:p>
          <a:p>
            <a:pPr marL="685748" lvl="1" indent="-342875">
              <a:buFontTx/>
              <a:buAutoNum type="arabicPeriod" startAt="7"/>
            </a:pPr>
            <a:r>
              <a:rPr lang="en-US" sz="2700" dirty="0"/>
              <a:t>Rename</a:t>
            </a:r>
          </a:p>
        </p:txBody>
      </p:sp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3CEAA-3CFE-4A0D-A60B-27D97EA93CC5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A2F3-F831-4132-887B-8EE837252C51}" type="slidenum">
              <a:rPr lang="en-US"/>
              <a:pPr/>
              <a:t>9</a:t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952750" y="857250"/>
            <a:ext cx="6572250" cy="857250"/>
          </a:xfrm>
        </p:spPr>
        <p:txBody>
          <a:bodyPr/>
          <a:lstStyle/>
          <a:p>
            <a:r>
              <a:rPr lang="en-US" sz="2400" dirty="0"/>
              <a:t>An Example Program Using File System Calls (1/2)</a:t>
            </a:r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3" cstate="print"/>
          <a:srcRect l="-542" t="-253" b="52657"/>
          <a:stretch>
            <a:fillRect/>
          </a:stretch>
        </p:blipFill>
        <p:spPr bwMode="auto">
          <a:xfrm>
            <a:off x="3581402" y="1885953"/>
            <a:ext cx="5200650" cy="3518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174A-ED4B-44C5-B9D5-51CBF6E078D4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6A7FD-3BC3-402B-8B1B-4151284E68DB}" type="slidenum">
              <a:rPr lang="en-US"/>
              <a:pPr/>
              <a:t>10</a:t>
            </a:fld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2" y="857250"/>
            <a:ext cx="6629400" cy="857250"/>
          </a:xfrm>
        </p:spPr>
        <p:txBody>
          <a:bodyPr/>
          <a:lstStyle/>
          <a:p>
            <a:r>
              <a:rPr lang="en-US" sz="2400" dirty="0"/>
              <a:t>An Example Program Using File System Calls (2/2)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0" y="5372102"/>
            <a:ext cx="5829300" cy="3429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endParaRPr lang="en-US" sz="2100" dirty="0"/>
          </a:p>
          <a:p>
            <a:pPr>
              <a:lnSpc>
                <a:spcPct val="90000"/>
              </a:lnSpc>
            </a:pPr>
            <a:endParaRPr lang="en-US" sz="2100" dirty="0"/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 cstate="print"/>
          <a:srcRect l="-542" t="46909" b="-1028"/>
          <a:stretch>
            <a:fillRect/>
          </a:stretch>
        </p:blipFill>
        <p:spPr bwMode="auto">
          <a:xfrm>
            <a:off x="3409952" y="1600204"/>
            <a:ext cx="5200650" cy="4000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43FF6-722E-40B4-BB44-1459D5B06928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B71F-5F39-48F1-8E88-316ABFA9FDAF}" type="slidenum">
              <a:rPr lang="en-US"/>
              <a:pPr/>
              <a:t>11</a:t>
            </a:fld>
            <a:endParaRPr 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Memory-Mapped Files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2800" y="3857626"/>
            <a:ext cx="5829300" cy="196215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(a) Segmented process before mapping files                    into its address space</a:t>
            </a:r>
          </a:p>
          <a:p>
            <a:pPr>
              <a:buFontTx/>
              <a:buNone/>
            </a:pPr>
            <a:r>
              <a:rPr lang="en-US" dirty="0"/>
              <a:t>(b) Process after mapping </a:t>
            </a:r>
          </a:p>
          <a:p>
            <a:pPr lvl="1">
              <a:buFontTx/>
              <a:buNone/>
            </a:pPr>
            <a:r>
              <a:rPr lang="en-US" dirty="0"/>
              <a:t> existing file </a:t>
            </a:r>
            <a:r>
              <a:rPr lang="en-US" i="1" dirty="0" err="1"/>
              <a:t>abc</a:t>
            </a:r>
            <a:r>
              <a:rPr lang="en-US" dirty="0"/>
              <a:t> into one segment </a:t>
            </a:r>
          </a:p>
          <a:p>
            <a:pPr lvl="1">
              <a:buFontTx/>
              <a:buNone/>
            </a:pPr>
            <a:r>
              <a:rPr lang="en-US" dirty="0"/>
              <a:t> creating new segment for </a:t>
            </a:r>
            <a:r>
              <a:rPr lang="en-US" i="1" dirty="0"/>
              <a:t>xyz</a:t>
            </a:r>
            <a:endParaRPr lang="en-US" dirty="0"/>
          </a:p>
        </p:txBody>
      </p:sp>
      <p:pic>
        <p:nvPicPr>
          <p:cNvPr id="15365" name="Picture 5" descr="C:\B\b4\JPG\foo\6-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5639" y="1995491"/>
            <a:ext cx="5866210" cy="159781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7148751" y="4295950"/>
            <a:ext cx="2312508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 err="1"/>
              <a:t>ייתרון</a:t>
            </a:r>
            <a:r>
              <a:rPr lang="he-IL" sz="1200" dirty="0"/>
              <a:t>: לא דורש </a:t>
            </a:r>
            <a:r>
              <a:rPr lang="en-US" sz="1200" dirty="0"/>
              <a:t>seek</a:t>
            </a:r>
            <a:endParaRPr lang="he-IL" sz="1200" dirty="0"/>
          </a:p>
        </p:txBody>
      </p:sp>
      <p:sp>
        <p:nvSpPr>
          <p:cNvPr id="7" name="מלבן 6"/>
          <p:cNvSpPr/>
          <p:nvPr/>
        </p:nvSpPr>
        <p:spPr bwMode="auto">
          <a:xfrm>
            <a:off x="8400701" y="2444891"/>
            <a:ext cx="757583" cy="85411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489" tIns="22745" rIns="45489" bIns="22745" numCol="1" rtlCol="1" anchor="t" anchorCtr="0" compatLnSpc="1">
            <a:prstTxWarp prst="textNoShape">
              <a:avLst/>
            </a:prstTxWarp>
          </a:bodyPr>
          <a:lstStyle/>
          <a:p>
            <a:pPr defTabSz="454892"/>
            <a:endParaRPr lang="he-IL" sz="825"/>
          </a:p>
        </p:txBody>
      </p:sp>
      <p:sp>
        <p:nvSpPr>
          <p:cNvPr id="8" name="מלבן 7"/>
          <p:cNvSpPr/>
          <p:nvPr/>
        </p:nvSpPr>
        <p:spPr bwMode="auto">
          <a:xfrm>
            <a:off x="8305007" y="2093200"/>
            <a:ext cx="709735" cy="123594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489" tIns="22745" rIns="45489" bIns="22745" numCol="1" rtlCol="1" anchor="t" anchorCtr="0" compatLnSpc="1">
            <a:prstTxWarp prst="textNoShape">
              <a:avLst/>
            </a:prstTxWarp>
          </a:bodyPr>
          <a:lstStyle/>
          <a:p>
            <a:pPr defTabSz="454892"/>
            <a:endParaRPr lang="he-IL" sz="825"/>
          </a:p>
        </p:txBody>
      </p:sp>
      <p:sp>
        <p:nvSpPr>
          <p:cNvPr id="2" name="TextBox 1"/>
          <p:cNvSpPr txBox="1"/>
          <p:nvPr/>
        </p:nvSpPr>
        <p:spPr>
          <a:xfrm>
            <a:off x="7657724" y="3471440"/>
            <a:ext cx="14041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 err="1"/>
              <a:t>abc</a:t>
            </a:r>
            <a:r>
              <a:rPr lang="en-US" sz="1200" dirty="0"/>
              <a:t>[0]=‘x’;</a:t>
            </a:r>
          </a:p>
          <a:p>
            <a:endParaRPr lang="he-IL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7148751" y="4620742"/>
            <a:ext cx="2312508" cy="115393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/>
              <a:t>חיסרון: 1. אי אפשר לדעת גודל קובץ אלא רק עד כדי דף.</a:t>
            </a:r>
          </a:p>
          <a:p>
            <a:pPr algn="r" rtl="1"/>
            <a:r>
              <a:rPr lang="he-IL" sz="1200" dirty="0"/>
              <a:t>2. סכנת חוסר עקביות בין תהליכים</a:t>
            </a:r>
          </a:p>
          <a:p>
            <a:pPr algn="r" rtl="1"/>
            <a:r>
              <a:rPr lang="he-IL" sz="1200" dirty="0"/>
              <a:t>3. קובץ יכול להיות גדול מ 4</a:t>
            </a:r>
            <a:r>
              <a:rPr lang="en-US" sz="1200" dirty="0"/>
              <a:t>GB</a:t>
            </a:r>
            <a:r>
              <a:rPr lang="he-IL" sz="1200" dirty="0"/>
              <a:t> הכוונה גדול ממרחב הזיכרון הווירטואלי</a:t>
            </a:r>
          </a:p>
        </p:txBody>
      </p:sp>
      <p:sp>
        <p:nvSpPr>
          <p:cNvPr id="11" name="מציין מיקום של תאריך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78357-6F97-4D42-9031-20F9B0BCA3FB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B157-A0B5-470F-BF81-617D138A0687}" type="slidenum">
              <a:rPr lang="en-US"/>
              <a:pPr/>
              <a:t>12</a:t>
            </a:fld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1066800"/>
            <a:ext cx="5829300" cy="857250"/>
          </a:xfrm>
        </p:spPr>
        <p:txBody>
          <a:bodyPr/>
          <a:lstStyle/>
          <a:p>
            <a:r>
              <a:rPr lang="en-US" dirty="0"/>
              <a:t>Directories</a:t>
            </a:r>
            <a:br>
              <a:rPr lang="en-US" dirty="0"/>
            </a:br>
            <a:r>
              <a:rPr lang="en-US" sz="2700" dirty="0"/>
              <a:t>Single-Level Directory Systems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95650" y="4286252"/>
            <a:ext cx="6229350" cy="114300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 single level directory system</a:t>
            </a:r>
          </a:p>
          <a:p>
            <a:pPr lvl="1">
              <a:lnSpc>
                <a:spcPct val="90000"/>
              </a:lnSpc>
            </a:pPr>
            <a:r>
              <a:rPr lang="en-US"/>
              <a:t>contains 4 files</a:t>
            </a:r>
          </a:p>
          <a:p>
            <a:pPr lvl="1">
              <a:lnSpc>
                <a:spcPct val="90000"/>
              </a:lnSpc>
            </a:pPr>
            <a:r>
              <a:rPr lang="en-US"/>
              <a:t>owned by 3 different people, A, B, and C</a:t>
            </a:r>
          </a:p>
        </p:txBody>
      </p:sp>
      <p:pic>
        <p:nvPicPr>
          <p:cNvPr id="16389" name="Picture 5" descr="C:\B\b4\JPG\foo\6-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12482" y="2357440"/>
            <a:ext cx="3157538" cy="1343024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E5B5-B7A7-4CE7-AA32-2FBD06A3A20C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F146-138A-49F7-9BF9-CE20EEEE1826}" type="slidenum">
              <a:rPr lang="en-US"/>
              <a:pPr/>
              <a:t>13</a:t>
            </a:fld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Two-level Directory Systems</a:t>
            </a:r>
            <a:endParaRPr lang="en-US" sz="3000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2" y="4514850"/>
            <a:ext cx="6858000" cy="9144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Letters indicate </a:t>
            </a:r>
            <a:r>
              <a:rPr lang="en-US" i="1"/>
              <a:t>owners</a:t>
            </a:r>
            <a:r>
              <a:rPr lang="en-US"/>
              <a:t> of the directories and files</a:t>
            </a:r>
          </a:p>
        </p:txBody>
      </p:sp>
      <p:pic>
        <p:nvPicPr>
          <p:cNvPr id="17413" name="Picture 5" descr="C:\B\b4\JPG\foo\6-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66024" y="1903812"/>
            <a:ext cx="3650456" cy="2397919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7874381" y="3017646"/>
            <a:ext cx="1547062" cy="415266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marL="227446" indent="-227446" algn="r" rtl="1">
              <a:buFont typeface="+mj-lt"/>
              <a:buAutoNum type="arabicPeriod"/>
            </a:pPr>
            <a:r>
              <a:rPr lang="he-IL" sz="1200" dirty="0"/>
              <a:t>פרטיות</a:t>
            </a:r>
          </a:p>
          <a:p>
            <a:pPr marL="227446" indent="-227446" algn="r" rtl="1">
              <a:buFont typeface="+mj-lt"/>
              <a:buAutoNum type="arabicPeriod"/>
            </a:pPr>
            <a:r>
              <a:rPr lang="he-IL" sz="1200" dirty="0"/>
              <a:t>ספריות משותפות</a:t>
            </a:r>
          </a:p>
        </p:txBody>
      </p: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89B2-1562-4A64-9B70-7B40AA43DA4C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4479-5D7A-4053-A21E-0F7DA0A65607}" type="slidenum">
              <a:rPr lang="en-US"/>
              <a:pPr/>
              <a:t>14</a:t>
            </a:fld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Directory Systems</a:t>
            </a:r>
            <a:endParaRPr lang="en-US" sz="3000" dirty="0"/>
          </a:p>
        </p:txBody>
      </p:sp>
      <p:sp>
        <p:nvSpPr>
          <p:cNvPr id="18435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3181350" y="5086352"/>
            <a:ext cx="5829300" cy="3429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2700" dirty="0"/>
              <a:t>A hierarchical directory system</a:t>
            </a:r>
          </a:p>
        </p:txBody>
      </p:sp>
      <p:pic>
        <p:nvPicPr>
          <p:cNvPr id="18437" name="Picture 5" descr="C:\B\b4\JPG\foo\6-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89723" y="1838327"/>
            <a:ext cx="5375672" cy="2964656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F44F1-1E48-45F4-8DF1-F81FDC760632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CA7C4-3440-4023-B3EA-B8B7B6824D70}" type="slidenum">
              <a:rPr lang="en-US"/>
              <a:pPr/>
              <a:t>15</a:t>
            </a:fld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7675" y="5419728"/>
            <a:ext cx="3752850" cy="371475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UNIX</a:t>
            </a:r>
            <a:r>
              <a:rPr lang="en-US" dirty="0"/>
              <a:t> directory tree</a:t>
            </a:r>
            <a:endParaRPr lang="en-US" sz="2100" dirty="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752975" y="857250"/>
            <a:ext cx="3429000" cy="857250"/>
          </a:xfrm>
        </p:spPr>
        <p:txBody>
          <a:bodyPr/>
          <a:lstStyle/>
          <a:p>
            <a:pPr algn="l"/>
            <a:r>
              <a:rPr lang="en-US"/>
              <a:t>Path Names</a:t>
            </a:r>
          </a:p>
        </p:txBody>
      </p:sp>
      <p:pic>
        <p:nvPicPr>
          <p:cNvPr id="19461" name="Picture 5" descr="C:\B\b4\JPG\foo\6-1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70773" y="1802609"/>
            <a:ext cx="3455194" cy="337661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749790" y="1841989"/>
            <a:ext cx="1520982" cy="599932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/>
              <a:t>הדוגמה לא </a:t>
            </a:r>
            <a:r>
              <a:rPr lang="he-IL" sz="1200" dirty="0" err="1"/>
              <a:t>מדוייקת</a:t>
            </a:r>
            <a:r>
              <a:rPr lang="he-IL" sz="1200" dirty="0"/>
              <a:t> משום שבפועל מצביע ל </a:t>
            </a:r>
            <a:r>
              <a:rPr lang="en-US" sz="1200" dirty="0" err="1"/>
              <a:t>i</a:t>
            </a:r>
            <a:r>
              <a:rPr lang="en-US" sz="1200" dirty="0"/>
              <a:t>-node</a:t>
            </a:r>
            <a:endParaRPr lang="he-IL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7395909" y="1651071"/>
            <a:ext cx="1475291" cy="415266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Relative path ../../</a:t>
            </a:r>
          </a:p>
          <a:p>
            <a:r>
              <a:rPr lang="en-US" sz="1200" dirty="0"/>
              <a:t>Absolute path </a:t>
            </a:r>
            <a:endParaRPr lang="he-IL" sz="1200" dirty="0"/>
          </a:p>
        </p:txBody>
      </p: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F5B6-E93A-4F6A-A595-A8F60E9CC4F4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E59-4721-48A5-A7E2-BDD08F59B4F4}" type="slidenum">
              <a:rPr lang="en-US"/>
              <a:pPr/>
              <a:t>16</a:t>
            </a:fld>
            <a:endParaRPr 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Directory Operations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181350" y="2114552"/>
            <a:ext cx="2857500" cy="3486150"/>
          </a:xfrm>
        </p:spPr>
        <p:txBody>
          <a:bodyPr/>
          <a:lstStyle/>
          <a:p>
            <a:pPr marL="457166" indent="-457166">
              <a:buFontTx/>
              <a:buAutoNum type="arabicPeriod"/>
            </a:pPr>
            <a:r>
              <a:rPr lang="en-US" sz="3000" dirty="0"/>
              <a:t>Create</a:t>
            </a:r>
          </a:p>
          <a:p>
            <a:pPr marL="457166" indent="-457166">
              <a:buFontTx/>
              <a:buAutoNum type="arabicPeriod"/>
            </a:pPr>
            <a:r>
              <a:rPr lang="en-US" sz="3000" dirty="0"/>
              <a:t>Delete</a:t>
            </a:r>
          </a:p>
          <a:p>
            <a:pPr marL="457166" indent="-457166">
              <a:buFontTx/>
              <a:buAutoNum type="arabicPeriod"/>
            </a:pPr>
            <a:r>
              <a:rPr lang="en-US" sz="3000" dirty="0" err="1"/>
              <a:t>Opendir</a:t>
            </a:r>
            <a:endParaRPr lang="en-US" sz="3000" dirty="0"/>
          </a:p>
          <a:p>
            <a:pPr marL="457166" indent="-457166">
              <a:buFontTx/>
              <a:buAutoNum type="arabicPeriod"/>
            </a:pPr>
            <a:r>
              <a:rPr lang="en-US" sz="3000" dirty="0" err="1"/>
              <a:t>Closedir</a:t>
            </a:r>
            <a:endParaRPr lang="en-US" sz="3000" dirty="0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53150" y="2057403"/>
            <a:ext cx="2857500" cy="3429001"/>
          </a:xfrm>
        </p:spPr>
        <p:txBody>
          <a:bodyPr/>
          <a:lstStyle/>
          <a:p>
            <a:pPr marL="400020" indent="-400020">
              <a:buFontTx/>
              <a:buAutoNum type="arabicPeriod" startAt="5"/>
            </a:pPr>
            <a:r>
              <a:rPr lang="en-US" sz="3000" dirty="0" err="1"/>
              <a:t>Readdir</a:t>
            </a:r>
            <a:endParaRPr lang="en-US" sz="3000" dirty="0"/>
          </a:p>
          <a:p>
            <a:pPr marL="400020" indent="-400020">
              <a:buFontTx/>
              <a:buAutoNum type="arabicPeriod" startAt="5"/>
            </a:pPr>
            <a:r>
              <a:rPr lang="en-US" sz="3000" dirty="0"/>
              <a:t>Rename</a:t>
            </a:r>
          </a:p>
          <a:p>
            <a:pPr marL="400020" indent="-400020">
              <a:buFontTx/>
              <a:buAutoNum type="arabicPeriod" startAt="5"/>
            </a:pPr>
            <a:r>
              <a:rPr lang="en-US" sz="3000" dirty="0"/>
              <a:t>Link –</a:t>
            </a:r>
          </a:p>
          <a:p>
            <a:pPr marL="754906" lvl="1" indent="-454892">
              <a:buFont typeface="+mj-lt"/>
              <a:buAutoNum type="alphaLcParenR"/>
            </a:pPr>
            <a:r>
              <a:rPr lang="en-US" sz="2700" dirty="0"/>
              <a:t>symbolic link</a:t>
            </a:r>
          </a:p>
          <a:p>
            <a:pPr marL="700035" lvl="1" indent="-400020">
              <a:buFontTx/>
              <a:buAutoNum type="alphaLcParenR"/>
            </a:pPr>
            <a:r>
              <a:rPr lang="en-US" sz="2700" dirty="0"/>
              <a:t>Hard link</a:t>
            </a:r>
          </a:p>
          <a:p>
            <a:pPr marL="400020" indent="-400020">
              <a:buFontTx/>
              <a:buAutoNum type="arabicPeriod" startAt="5"/>
            </a:pPr>
            <a:r>
              <a:rPr lang="en-US" sz="3000" dirty="0"/>
              <a:t>Unlink</a:t>
            </a:r>
          </a:p>
          <a:p>
            <a:pPr marL="400020" indent="-400020"/>
            <a:endParaRPr lang="en-US" sz="3000" dirty="0"/>
          </a:p>
        </p:txBody>
      </p:sp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24E29-D164-44BC-8FB0-F8E62A0915A8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7CF6-F29D-4AA6-B66F-5010E6A992E3}" type="slidenum">
              <a:rPr lang="en-US"/>
              <a:pPr/>
              <a:t>17</a:t>
            </a:fld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Files (1)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9426" y="4962527"/>
            <a:ext cx="6505575" cy="73342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100" dirty="0"/>
              <a:t>(a) Contiguous allocation of disk space for 7 files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100" dirty="0"/>
              <a:t>(b) State of the disk after files </a:t>
            </a:r>
            <a:r>
              <a:rPr lang="en-US" sz="2100" i="1" dirty="0"/>
              <a:t>D</a:t>
            </a:r>
            <a:r>
              <a:rPr lang="en-US" sz="2100" dirty="0"/>
              <a:t> and </a:t>
            </a:r>
            <a:r>
              <a:rPr lang="en-US" sz="2100" i="1" dirty="0"/>
              <a:t>E</a:t>
            </a:r>
            <a:r>
              <a:rPr lang="en-US" sz="2100" dirty="0"/>
              <a:t> have been removed</a:t>
            </a:r>
          </a:p>
        </p:txBody>
      </p:sp>
      <p:pic>
        <p:nvPicPr>
          <p:cNvPr id="23558" name="Picture 6" descr="C:\B\b4\JPG\foo\6-1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38540" y="1932387"/>
            <a:ext cx="5328047" cy="2752726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714845" y="947683"/>
            <a:ext cx="1244030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/>
              <a:t>שיטה 1: רציף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4760" y="1179314"/>
            <a:ext cx="1244030" cy="784598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 err="1"/>
              <a:t>ייתרון</a:t>
            </a:r>
            <a:r>
              <a:rPr lang="he-IL" sz="1200" dirty="0"/>
              <a:t>: הקובץ וגודלו</a:t>
            </a:r>
            <a:endParaRPr lang="en-US" sz="1200" dirty="0"/>
          </a:p>
          <a:p>
            <a:pPr algn="r" rtl="1"/>
            <a:r>
              <a:rPr lang="he-IL" sz="1200" dirty="0"/>
              <a:t>חסרון: ריסוק חיצוני ואין אפשרות גדילה</a:t>
            </a:r>
          </a:p>
          <a:p>
            <a:pPr algn="r" rtl="1"/>
            <a:r>
              <a:rPr lang="he-IL" sz="1200" dirty="0" err="1"/>
              <a:t>ייתרונות</a:t>
            </a:r>
            <a:r>
              <a:rPr lang="he-IL" sz="1200" dirty="0"/>
              <a:t>: </a:t>
            </a:r>
            <a:r>
              <a:rPr lang="en-US" sz="1200" dirty="0" err="1"/>
              <a:t>cdr,dvdr</a:t>
            </a:r>
            <a:endParaRPr lang="he-IL" sz="1200" dirty="0"/>
          </a:p>
        </p:txBody>
      </p: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3F90-3054-4A8B-8596-5BB5C3B98D7D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9A2CF-98E0-40C2-9F59-C3BADD644EB6}" type="slidenum">
              <a:rPr lang="en-US"/>
              <a:pPr/>
              <a:t>18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Files (2)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0" y="4972051"/>
            <a:ext cx="5829300" cy="685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dirty="0"/>
              <a:t>Storing a file as a linked list of disk blocks</a:t>
            </a:r>
          </a:p>
        </p:txBody>
      </p:sp>
      <p:pic>
        <p:nvPicPr>
          <p:cNvPr id="24581" name="Picture 5" descr="C:\B\b4\JPG\foo\6-1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1902" y="1759745"/>
            <a:ext cx="4305300" cy="3096816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781301" y="1480249"/>
            <a:ext cx="1618833" cy="415266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/>
              <a:t>שיטה 2: בתחילת בלוק יש מצביע לבלוק הבא</a:t>
            </a:r>
          </a:p>
        </p:txBody>
      </p:sp>
      <p:cxnSp>
        <p:nvCxnSpPr>
          <p:cNvPr id="9" name="מחבר חץ ישר 8"/>
          <p:cNvCxnSpPr/>
          <p:nvPr/>
        </p:nvCxnSpPr>
        <p:spPr bwMode="auto">
          <a:xfrm rot="16200000" flipH="1">
            <a:off x="4590289" y="2633894"/>
            <a:ext cx="643094" cy="2392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מחבר חץ ישר 10"/>
          <p:cNvCxnSpPr/>
          <p:nvPr/>
        </p:nvCxnSpPr>
        <p:spPr bwMode="auto">
          <a:xfrm rot="5400000">
            <a:off x="5651074" y="2352541"/>
            <a:ext cx="100484" cy="2392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מחבר ישר 12"/>
          <p:cNvCxnSpPr/>
          <p:nvPr/>
        </p:nvCxnSpPr>
        <p:spPr bwMode="auto">
          <a:xfrm>
            <a:off x="5178982" y="2495132"/>
            <a:ext cx="454550" cy="10049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מחבר חץ ישר 14"/>
          <p:cNvCxnSpPr/>
          <p:nvPr/>
        </p:nvCxnSpPr>
        <p:spPr bwMode="auto">
          <a:xfrm rot="16200000" flipH="1">
            <a:off x="5514225" y="2752401"/>
            <a:ext cx="422031" cy="797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מחבר חץ ישר 16"/>
          <p:cNvCxnSpPr/>
          <p:nvPr/>
        </p:nvCxnSpPr>
        <p:spPr bwMode="auto">
          <a:xfrm rot="5400000">
            <a:off x="6351873" y="2521291"/>
            <a:ext cx="341644" cy="797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מחבר ישר 18"/>
          <p:cNvCxnSpPr/>
          <p:nvPr/>
        </p:nvCxnSpPr>
        <p:spPr bwMode="auto">
          <a:xfrm>
            <a:off x="6008337" y="2635809"/>
            <a:ext cx="390753" cy="5024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4445324" y="2063053"/>
            <a:ext cx="350880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7</a:t>
            </a:r>
            <a:endParaRPr lang="he-IL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5234806" y="2053004"/>
            <a:ext cx="358855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2</a:t>
            </a:r>
            <a:endParaRPr lang="he-IL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2667001" y="1836453"/>
            <a:ext cx="1714845" cy="784598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 err="1"/>
              <a:t>ייתרון</a:t>
            </a:r>
            <a:r>
              <a:rPr lang="he-IL" sz="1200" dirty="0"/>
              <a:t>: לא דורש רציפות.</a:t>
            </a:r>
          </a:p>
          <a:p>
            <a:pPr algn="r" rtl="1"/>
            <a:r>
              <a:rPr lang="he-IL" sz="1200" dirty="0"/>
              <a:t>חסרונות: גישה אקראית לבלוק </a:t>
            </a:r>
            <a:r>
              <a:rPr lang="en-US" sz="1200" dirty="0"/>
              <a:t>n</a:t>
            </a:r>
          </a:p>
          <a:p>
            <a:pPr algn="r" rtl="1"/>
            <a:r>
              <a:rPr lang="he-IL" sz="1200" dirty="0"/>
              <a:t>2. גודל בלוק, לא בחזקת 2</a:t>
            </a:r>
          </a:p>
        </p:txBody>
      </p:sp>
      <p:sp>
        <p:nvSpPr>
          <p:cNvPr id="18" name="מציין מיקום של תאריך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7250-7910-46F8-B666-E7D404F6FBC4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06B7-A78D-472D-BD62-805EF637F911}" type="slidenum">
              <a:rPr lang="en-US"/>
              <a:pPr/>
              <a:t>19</a:t>
            </a:fld>
            <a:endParaRPr lang="en-US"/>
          </a:p>
        </p:txBody>
      </p:sp>
      <p:pic>
        <p:nvPicPr>
          <p:cNvPr id="25605" name="Picture 5" descr="C:\B\b4\JPG\foo\6-1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6088" y="1703789"/>
            <a:ext cx="2920603" cy="3573065"/>
          </a:xfrm>
          <a:prstGeom prst="rect">
            <a:avLst/>
          </a:prstGeom>
          <a:noFill/>
        </p:spPr>
      </p:pic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Implementing Files (3)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14650" y="5381628"/>
            <a:ext cx="6457950" cy="457201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2100" dirty="0"/>
              <a:t>Linked list allocation using a file allocation table in RAM</a:t>
            </a:r>
          </a:p>
        </p:txBody>
      </p:sp>
      <p:sp>
        <p:nvSpPr>
          <p:cNvPr id="6" name="מלבן 5"/>
          <p:cNvSpPr/>
          <p:nvPr/>
        </p:nvSpPr>
        <p:spPr bwMode="auto">
          <a:xfrm>
            <a:off x="6789844" y="2733677"/>
            <a:ext cx="1148335" cy="29611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489" tIns="22745" rIns="45489" bIns="22745" numCol="1" rtlCol="1" anchor="t" anchorCtr="0" compatLnSpc="1">
            <a:prstTxWarp prst="textNoShape">
              <a:avLst/>
            </a:prstTxWarp>
          </a:bodyPr>
          <a:lstStyle/>
          <a:p>
            <a:pPr defTabSz="454892"/>
            <a:endParaRPr lang="he-IL" sz="825"/>
          </a:p>
        </p:txBody>
      </p:sp>
      <p:sp>
        <p:nvSpPr>
          <p:cNvPr id="7" name="TextBox 6"/>
          <p:cNvSpPr txBox="1"/>
          <p:nvPr/>
        </p:nvSpPr>
        <p:spPr>
          <a:xfrm>
            <a:off x="2906238" y="2032907"/>
            <a:ext cx="1339724" cy="1523262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 err="1"/>
              <a:t>ייתרון</a:t>
            </a:r>
            <a:r>
              <a:rPr lang="he-IL" sz="1200" dirty="0"/>
              <a:t>: נשמר ב </a:t>
            </a:r>
            <a:r>
              <a:rPr lang="en-US" sz="1200" dirty="0"/>
              <a:t>    </a:t>
            </a:r>
            <a:r>
              <a:rPr lang="he-IL" sz="1200" dirty="0"/>
              <a:t> </a:t>
            </a:r>
            <a:r>
              <a:rPr lang="en-US" sz="1200" dirty="0"/>
              <a:t>RAM</a:t>
            </a:r>
          </a:p>
          <a:p>
            <a:pPr algn="r" rtl="1"/>
            <a:r>
              <a:rPr lang="he-IL" sz="1200" dirty="0"/>
              <a:t>ולכן גישה אקראית מהירה</a:t>
            </a:r>
          </a:p>
          <a:p>
            <a:pPr algn="r" rtl="1"/>
            <a:r>
              <a:rPr lang="he-IL" sz="1200" dirty="0"/>
              <a:t>חיסרון: נשמר ב </a:t>
            </a:r>
            <a:r>
              <a:rPr lang="en-US" sz="1200" dirty="0"/>
              <a:t>ram</a:t>
            </a:r>
            <a:r>
              <a:rPr lang="he-IL" sz="1200" dirty="0"/>
              <a:t> והגודל תלוי לינארית בדיסק ולא ב </a:t>
            </a:r>
            <a:r>
              <a:rPr lang="en-US" sz="1200" dirty="0"/>
              <a:t>ram</a:t>
            </a:r>
            <a:endParaRPr lang="he-IL" sz="1200" dirty="0"/>
          </a:p>
          <a:p>
            <a:pPr algn="r" rtl="1"/>
            <a:endParaRPr lang="he-IL" sz="1200" dirty="0"/>
          </a:p>
        </p:txBody>
      </p:sp>
      <p:sp>
        <p:nvSpPr>
          <p:cNvPr id="8" name="מלבן 7"/>
          <p:cNvSpPr/>
          <p:nvPr/>
        </p:nvSpPr>
        <p:spPr bwMode="auto">
          <a:xfrm>
            <a:off x="6646299" y="1922377"/>
            <a:ext cx="1746426" cy="258242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489" tIns="22745" rIns="45489" bIns="22745" numCol="1" rtlCol="1" anchor="t" anchorCtr="0" compatLnSpc="1">
            <a:prstTxWarp prst="textNoShape">
              <a:avLst/>
            </a:prstTxWarp>
          </a:bodyPr>
          <a:lstStyle/>
          <a:p>
            <a:pPr defTabSz="454892"/>
            <a:endParaRPr lang="he-IL" sz="825"/>
          </a:p>
        </p:txBody>
      </p:sp>
      <p:sp>
        <p:nvSpPr>
          <p:cNvPr id="9" name="מלבן 8"/>
          <p:cNvSpPr/>
          <p:nvPr/>
        </p:nvSpPr>
        <p:spPr bwMode="auto">
          <a:xfrm>
            <a:off x="6808894" y="3131633"/>
            <a:ext cx="1148335" cy="29736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489" tIns="22745" rIns="45489" bIns="22745" numCol="1" rtlCol="1" anchor="t" anchorCtr="0" compatLnSpc="1">
            <a:prstTxWarp prst="textNoShape">
              <a:avLst/>
            </a:prstTxWarp>
          </a:bodyPr>
          <a:lstStyle/>
          <a:p>
            <a:pPr defTabSz="454892"/>
            <a:endParaRPr lang="he-IL" sz="825"/>
          </a:p>
        </p:txBody>
      </p:sp>
      <p:sp>
        <p:nvSpPr>
          <p:cNvPr id="10" name="מציין מיקום של תאריך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DE4D-3EC7-43E6-957A-912E26F1B88E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rtl="1"/>
            <a:fld id="{1509E468-5B09-4C75-9633-D5D2DB27F3BF}" type="slidenum">
              <a:rPr lang="en-US"/>
              <a:pPr algn="l" rtl="1"/>
              <a:t>20</a:t>
            </a:fld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/>
              <a:t>Implementing Files (4)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2" y="5276850"/>
            <a:ext cx="4114800" cy="495300"/>
          </a:xfrm>
        </p:spPr>
        <p:txBody>
          <a:bodyPr/>
          <a:lstStyle/>
          <a:p>
            <a:pPr algn="ctr" rtl="1">
              <a:buFontTx/>
              <a:buNone/>
            </a:pPr>
            <a:r>
              <a:rPr lang="en-US"/>
              <a:t>An example i-node</a:t>
            </a:r>
          </a:p>
        </p:txBody>
      </p:sp>
      <p:pic>
        <p:nvPicPr>
          <p:cNvPr id="26629" name="Picture 5" descr="C:\B\b4\JPG\foo\6-1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26733" y="1679977"/>
            <a:ext cx="3865960" cy="357901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898263" y="1570683"/>
            <a:ext cx="1379597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en-US" sz="1200" dirty="0"/>
              <a:t>I-node</a:t>
            </a:r>
            <a:endParaRPr lang="he-IL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2898263" y="2374553"/>
            <a:ext cx="1860041" cy="680723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825" dirty="0"/>
              <a:t>חיסרון : </a:t>
            </a:r>
          </a:p>
          <a:p>
            <a:pPr marL="135731" indent="-135731" algn="r" rtl="1">
              <a:buAutoNum type="arabicPeriod"/>
            </a:pPr>
            <a:r>
              <a:rPr lang="he-IL" sz="825" dirty="0"/>
              <a:t>דורש קריאת מידע נוסף ולכן צריך קריאה נוספת בנפרד</a:t>
            </a:r>
          </a:p>
          <a:p>
            <a:pPr marL="135731" indent="-135731" algn="r" rtl="1">
              <a:buAutoNum type="arabicPeriod"/>
            </a:pPr>
            <a:r>
              <a:rPr lang="he-IL" sz="825" dirty="0"/>
              <a:t>דורש עוד בלוקים להחזקת המצביעים לבלוקים</a:t>
            </a:r>
          </a:p>
        </p:txBody>
      </p: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4DCA107C-13A5-4A87-ADA3-413E73B06592}" type="datetime10">
              <a:rPr lang="en-US" smtClean="0"/>
              <a:pPr algn="r" rtl="1"/>
              <a:t>18:07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Symbolic link==soft link ==</a:t>
            </a:r>
            <a:r>
              <a:rPr lang="he-IL" dirty="0"/>
              <a:t> קיצור דרך</a:t>
            </a:r>
          </a:p>
          <a:p>
            <a:pPr algn="r">
              <a:buNone/>
            </a:pPr>
            <a:r>
              <a:rPr lang="he-IL" dirty="0" err="1"/>
              <a:t>ייתרון</a:t>
            </a:r>
            <a:r>
              <a:rPr lang="he-IL" dirty="0"/>
              <a:t> : אפשר לעשות קיצור דרך למערכות מבוזרות ושונות -&gt;</a:t>
            </a:r>
          </a:p>
          <a:p>
            <a:pPr algn="r">
              <a:buNone/>
            </a:pPr>
            <a:r>
              <a:rPr lang="en-US" dirty="0"/>
              <a:t>URL</a:t>
            </a:r>
          </a:p>
          <a:p>
            <a:pPr algn="r">
              <a:buNone/>
            </a:pPr>
            <a:r>
              <a:rPr lang="he-IL" dirty="0"/>
              <a:t>חיסרון: מחיקת הקובץ תוביל לקישור שבור</a:t>
            </a:r>
            <a:endParaRPr lang="en-US" dirty="0"/>
          </a:p>
          <a:p>
            <a:r>
              <a:rPr lang="en-US" dirty="0"/>
              <a:t>Hard link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he-IL" dirty="0"/>
              <a:t>מחיקת המקור לא תמחק את אלה שמקושרים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1BC9-445D-4D55-A9CC-4FB4DE56D6B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4E8C6-067E-4AB4-96CC-A8994D704DBA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CD8F-2791-417F-8D9D-D70F25CF42C1}" type="slidenum">
              <a:rPr lang="en-US"/>
              <a:pPr/>
              <a:t>22</a:t>
            </a:fld>
            <a:endParaRPr 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Calls (3)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3256" y="4088608"/>
            <a:ext cx="6000750" cy="1007269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(a) Two directories before linking</a:t>
            </a:r>
            <a:br>
              <a:rPr lang="en-US" dirty="0"/>
            </a:br>
            <a:r>
              <a:rPr lang="en-US" i="1" dirty="0"/>
              <a:t>/</a:t>
            </a:r>
            <a:r>
              <a:rPr lang="en-US" i="1" dirty="0" err="1"/>
              <a:t>usr</a:t>
            </a:r>
            <a:r>
              <a:rPr lang="en-US" i="1" dirty="0"/>
              <a:t>/</a:t>
            </a:r>
            <a:r>
              <a:rPr lang="en-US" i="1" dirty="0" err="1"/>
              <a:t>jim</a:t>
            </a:r>
            <a:r>
              <a:rPr lang="en-US" i="1" dirty="0"/>
              <a:t>/memo</a:t>
            </a:r>
            <a:r>
              <a:rPr lang="en-US" dirty="0"/>
              <a:t> to </a:t>
            </a:r>
            <a:r>
              <a:rPr lang="en-US" dirty="0" err="1"/>
              <a:t>ast's</a:t>
            </a:r>
            <a:r>
              <a:rPr lang="en-US" dirty="0"/>
              <a:t> directory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(b) The same directories after linking</a:t>
            </a:r>
            <a:endParaRPr lang="en-US" sz="2100" dirty="0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3" t="48711" r="21428" b="38509"/>
          <a:stretch>
            <a:fillRect/>
          </a:stretch>
        </p:blipFill>
        <p:spPr bwMode="auto">
          <a:xfrm>
            <a:off x="3238501" y="1957390"/>
            <a:ext cx="6018610" cy="2093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F348-CC31-4A48-B365-010E4188A390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CD8F-2791-417F-8D9D-D70F25CF42C1}" type="slidenum">
              <a:rPr lang="en-US"/>
              <a:pPr/>
              <a:t>23</a:t>
            </a:fld>
            <a:endParaRPr 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Calls (3)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3256" y="4088608"/>
            <a:ext cx="6000750" cy="1007269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(a) Two directories before linking</a:t>
            </a:r>
            <a:br>
              <a:rPr lang="en-US" dirty="0"/>
            </a:br>
            <a:r>
              <a:rPr lang="en-US" i="1" dirty="0"/>
              <a:t>/</a:t>
            </a:r>
            <a:r>
              <a:rPr lang="en-US" i="1" dirty="0" err="1"/>
              <a:t>usr</a:t>
            </a:r>
            <a:r>
              <a:rPr lang="en-US" i="1" dirty="0"/>
              <a:t>/</a:t>
            </a:r>
            <a:r>
              <a:rPr lang="en-US" i="1" dirty="0" err="1"/>
              <a:t>jim</a:t>
            </a:r>
            <a:r>
              <a:rPr lang="en-US" i="1" dirty="0"/>
              <a:t>/memo</a:t>
            </a:r>
            <a:r>
              <a:rPr lang="en-US" dirty="0"/>
              <a:t> to </a:t>
            </a:r>
            <a:r>
              <a:rPr lang="en-US" dirty="0" err="1"/>
              <a:t>ast's</a:t>
            </a:r>
            <a:r>
              <a:rPr lang="en-US" dirty="0"/>
              <a:t> directory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(b) The same directories after linking</a:t>
            </a:r>
            <a:endParaRPr lang="en-US" sz="2100" dirty="0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3" t="48711" r="21428" b="38509"/>
          <a:stretch>
            <a:fillRect/>
          </a:stretch>
        </p:blipFill>
        <p:spPr bwMode="auto">
          <a:xfrm>
            <a:off x="3238501" y="1957390"/>
            <a:ext cx="6018610" cy="2093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EBFA8-5E59-4E04-B5FB-8E897731FE30}" type="datetime10">
              <a:rPr lang="en-US" smtClean="0"/>
              <a:t>18:07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570275" y="3946750"/>
            <a:ext cx="722734" cy="2075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45489" tIns="22745" rIns="45489" bIns="22745" rtlCol="1">
            <a:spAutoFit/>
          </a:bodyPr>
          <a:lstStyle/>
          <a:p>
            <a:pPr algn="l"/>
            <a:r>
              <a:rPr lang="en-US" sz="1050" dirty="0" err="1"/>
              <a:t>i</a:t>
            </a:r>
            <a:r>
              <a:rPr lang="en-US" sz="1050" dirty="0"/>
              <a:t>-node 70</a:t>
            </a:r>
            <a:endParaRPr lang="he-IL" sz="900" dirty="0"/>
          </a:p>
        </p:txBody>
      </p:sp>
      <p:cxnSp>
        <p:nvCxnSpPr>
          <p:cNvPr id="10" name="מחבר חץ ישר 9"/>
          <p:cNvCxnSpPr/>
          <p:nvPr/>
        </p:nvCxnSpPr>
        <p:spPr bwMode="auto">
          <a:xfrm>
            <a:off x="7188111" y="3235851"/>
            <a:ext cx="517143" cy="64978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מחבר חץ ישר 11"/>
          <p:cNvCxnSpPr/>
          <p:nvPr/>
        </p:nvCxnSpPr>
        <p:spPr bwMode="auto">
          <a:xfrm flipH="1">
            <a:off x="7779947" y="2857669"/>
            <a:ext cx="504509" cy="102796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382388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E72D0-B621-4563-A35C-A2EB900D8DB5}" type="slidenum">
              <a:rPr lang="en-US"/>
              <a:pPr/>
              <a:t>24</a:t>
            </a:fld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0" y="857250"/>
            <a:ext cx="5829300" cy="857250"/>
          </a:xfrm>
        </p:spPr>
        <p:txBody>
          <a:bodyPr/>
          <a:lstStyle/>
          <a:p>
            <a:r>
              <a:rPr lang="en-US"/>
              <a:t>Implementing Directories (1)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28928" y="4371976"/>
            <a:ext cx="6696075" cy="14859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250" dirty="0"/>
              <a:t>(a) A simple directory</a:t>
            </a:r>
            <a:endParaRPr lang="en-US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/>
              <a:t>fixed size entries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/>
              <a:t>disk addresses and attributes in directory entry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50" dirty="0"/>
              <a:t>(b) Directory in which each entry just refers to an </a:t>
            </a:r>
            <a:r>
              <a:rPr lang="en-US" sz="2250" dirty="0" err="1"/>
              <a:t>i</a:t>
            </a:r>
            <a:r>
              <a:rPr lang="en-US" sz="2250" dirty="0"/>
              <a:t>-node</a:t>
            </a:r>
          </a:p>
        </p:txBody>
      </p:sp>
      <p:pic>
        <p:nvPicPr>
          <p:cNvPr id="27653" name="Picture 5" descr="C:\B\b4\JPG\foo\6-1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38541" y="1910957"/>
            <a:ext cx="5597129" cy="2045493"/>
          </a:xfrm>
          <a:prstGeom prst="rect">
            <a:avLst/>
          </a:prstGeom>
          <a:noFill/>
        </p:spPr>
      </p:pic>
      <p:sp>
        <p:nvSpPr>
          <p:cNvPr id="27654" name="Line 6"/>
          <p:cNvSpPr>
            <a:spLocks noChangeShapeType="1"/>
          </p:cNvSpPr>
          <p:nvPr/>
        </p:nvSpPr>
        <p:spPr bwMode="auto">
          <a:xfrm flipV="1">
            <a:off x="7653341" y="1902622"/>
            <a:ext cx="431006" cy="238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endParaRPr lang="he-IL" sz="1200"/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>
            <a:off x="3543300" y="2181227"/>
            <a:ext cx="0" cy="1000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endParaRPr lang="he-IL" sz="1200"/>
          </a:p>
        </p:txBody>
      </p:sp>
      <p:cxnSp>
        <p:nvCxnSpPr>
          <p:cNvPr id="9" name="מחבר חץ ישר 8"/>
          <p:cNvCxnSpPr/>
          <p:nvPr/>
        </p:nvCxnSpPr>
        <p:spPr bwMode="auto">
          <a:xfrm>
            <a:off x="4860002" y="2284117"/>
            <a:ext cx="494422" cy="10049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מחבר חץ ישר 9"/>
          <p:cNvCxnSpPr/>
          <p:nvPr/>
        </p:nvCxnSpPr>
        <p:spPr bwMode="auto">
          <a:xfrm>
            <a:off x="4891899" y="2535326"/>
            <a:ext cx="494422" cy="10049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מחבר חץ ישר 10"/>
          <p:cNvCxnSpPr/>
          <p:nvPr/>
        </p:nvCxnSpPr>
        <p:spPr bwMode="auto">
          <a:xfrm>
            <a:off x="4812154" y="2796583"/>
            <a:ext cx="494422" cy="10049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מחבר חץ ישר 11"/>
          <p:cNvCxnSpPr/>
          <p:nvPr/>
        </p:nvCxnSpPr>
        <p:spPr bwMode="auto">
          <a:xfrm>
            <a:off x="4844052" y="3047792"/>
            <a:ext cx="494422" cy="10049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מחבר חץ ישר 13"/>
          <p:cNvCxnSpPr/>
          <p:nvPr/>
        </p:nvCxnSpPr>
        <p:spPr bwMode="auto">
          <a:xfrm>
            <a:off x="8145516" y="1952522"/>
            <a:ext cx="311007" cy="50242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מלבן 14"/>
          <p:cNvSpPr/>
          <p:nvPr/>
        </p:nvSpPr>
        <p:spPr bwMode="auto">
          <a:xfrm>
            <a:off x="8544242" y="1952522"/>
            <a:ext cx="414677" cy="31149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489" tIns="22745" rIns="45489" bIns="22745" numCol="1" rtlCol="1" anchor="t" anchorCtr="0" compatLnSpc="1">
            <a:prstTxWarp prst="textNoShape">
              <a:avLst/>
            </a:prstTxWarp>
          </a:bodyPr>
          <a:lstStyle/>
          <a:p>
            <a:pPr defTabSz="454892"/>
            <a:endParaRPr lang="he-IL" sz="825"/>
          </a:p>
        </p:txBody>
      </p:sp>
      <p:sp>
        <p:nvSpPr>
          <p:cNvPr id="16" name="TextBox 15"/>
          <p:cNvSpPr txBox="1"/>
          <p:nvPr/>
        </p:nvSpPr>
        <p:spPr>
          <a:xfrm>
            <a:off x="8544244" y="1910967"/>
            <a:ext cx="422651" cy="392183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/>
              <a:t>קובץ</a:t>
            </a:r>
          </a:p>
          <a:p>
            <a:pPr algn="r" rtl="1"/>
            <a:r>
              <a:rPr lang="he-IL" sz="1050" dirty="0"/>
              <a:t>(בלוק)</a:t>
            </a:r>
          </a:p>
        </p:txBody>
      </p:sp>
      <p:sp>
        <p:nvSpPr>
          <p:cNvPr id="17" name="מציין מיקום של תאריך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B19F-5258-487F-A880-18D5877EFFFA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F5B3-1D50-4F7C-9F16-C61650CA77E2}" type="slidenum">
              <a:rPr lang="en-US"/>
              <a:pPr/>
              <a:t>25</a:t>
            </a:fld>
            <a:endParaRPr 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352803" y="981077"/>
            <a:ext cx="5419725" cy="600076"/>
          </a:xfrm>
        </p:spPr>
        <p:txBody>
          <a:bodyPr/>
          <a:lstStyle/>
          <a:p>
            <a:r>
              <a:rPr lang="en-US" dirty="0"/>
              <a:t>File System Implementation</a:t>
            </a:r>
            <a:endParaRPr lang="en-US" sz="24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1350" y="4972051"/>
            <a:ext cx="5829300" cy="5715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A possible file system layout</a:t>
            </a:r>
          </a:p>
        </p:txBody>
      </p:sp>
      <p:pic>
        <p:nvPicPr>
          <p:cNvPr id="21510" name="Picture 6" descr="C:\B\b4\JPG\foo\6-1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51089" y="1649823"/>
            <a:ext cx="9223152" cy="3214209"/>
          </a:xfrm>
          <a:prstGeom prst="rect">
            <a:avLst/>
          </a:prstGeom>
          <a:noFill/>
        </p:spPr>
      </p:pic>
      <p:sp>
        <p:nvSpPr>
          <p:cNvPr id="6" name="מלבן 5"/>
          <p:cNvSpPr/>
          <p:nvPr/>
        </p:nvSpPr>
        <p:spPr bwMode="auto">
          <a:xfrm>
            <a:off x="5375987" y="2882135"/>
            <a:ext cx="135567" cy="37178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489" tIns="22745" rIns="45489" bIns="22745" numCol="1" rtlCol="1" anchor="t" anchorCtr="0" compatLnSpc="1">
            <a:prstTxWarp prst="textNoShape">
              <a:avLst/>
            </a:prstTxWarp>
          </a:bodyPr>
          <a:lstStyle/>
          <a:p>
            <a:pPr defTabSz="454892"/>
            <a:endParaRPr lang="he-IL" sz="825"/>
          </a:p>
        </p:txBody>
      </p:sp>
      <p:cxnSp>
        <p:nvCxnSpPr>
          <p:cNvPr id="8" name="מחבר חץ ישר 7"/>
          <p:cNvCxnSpPr/>
          <p:nvPr/>
        </p:nvCxnSpPr>
        <p:spPr bwMode="auto">
          <a:xfrm rot="16200000" flipV="1">
            <a:off x="2504378" y="5208128"/>
            <a:ext cx="622998" cy="4784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מציין מיקום של תאריך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B73D-EDC0-4D43-893F-D3B7F850C8EA}" type="datetime10">
              <a:rPr lang="en-US" smtClean="0"/>
              <a:t>18:07</a:t>
            </a:fld>
            <a:endParaRPr lang="en-US"/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ABAA4545-0BB2-BB96-B72D-7289A04E4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469176"/>
              </p:ext>
            </p:extLst>
          </p:nvPr>
        </p:nvGraphicFramePr>
        <p:xfrm>
          <a:off x="8549875" y="4466370"/>
          <a:ext cx="3124200" cy="369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8550307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881580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256763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358668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4238873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068739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71013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271617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8637057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376329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61230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586658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088319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58547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92046229"/>
                    </a:ext>
                  </a:extLst>
                </a:gridCol>
              </a:tblGrid>
              <a:tr h="369951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768308"/>
                  </a:ext>
                </a:extLst>
              </a:tr>
            </a:tbl>
          </a:graphicData>
        </a:graphic>
      </p:graphicFrame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0FADEA40-3C07-183F-5E0C-451139170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992800"/>
              </p:ext>
            </p:extLst>
          </p:nvPr>
        </p:nvGraphicFramePr>
        <p:xfrm>
          <a:off x="5940724" y="4466370"/>
          <a:ext cx="1305468" cy="369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78">
                  <a:extLst>
                    <a:ext uri="{9D8B030D-6E8A-4147-A177-3AD203B41FA5}">
                      <a16:colId xmlns:a16="http://schemas.microsoft.com/office/drawing/2014/main" val="855030771"/>
                    </a:ext>
                  </a:extLst>
                </a:gridCol>
                <a:gridCol w="217578">
                  <a:extLst>
                    <a:ext uri="{9D8B030D-6E8A-4147-A177-3AD203B41FA5}">
                      <a16:colId xmlns:a16="http://schemas.microsoft.com/office/drawing/2014/main" val="3388158081"/>
                    </a:ext>
                  </a:extLst>
                </a:gridCol>
                <a:gridCol w="217578">
                  <a:extLst>
                    <a:ext uri="{9D8B030D-6E8A-4147-A177-3AD203B41FA5}">
                      <a16:colId xmlns:a16="http://schemas.microsoft.com/office/drawing/2014/main" val="1425676308"/>
                    </a:ext>
                  </a:extLst>
                </a:gridCol>
                <a:gridCol w="217578">
                  <a:extLst>
                    <a:ext uri="{9D8B030D-6E8A-4147-A177-3AD203B41FA5}">
                      <a16:colId xmlns:a16="http://schemas.microsoft.com/office/drawing/2014/main" val="1208831964"/>
                    </a:ext>
                  </a:extLst>
                </a:gridCol>
                <a:gridCol w="217578">
                  <a:extLst>
                    <a:ext uri="{9D8B030D-6E8A-4147-A177-3AD203B41FA5}">
                      <a16:colId xmlns:a16="http://schemas.microsoft.com/office/drawing/2014/main" val="4155854717"/>
                    </a:ext>
                  </a:extLst>
                </a:gridCol>
                <a:gridCol w="217578">
                  <a:extLst>
                    <a:ext uri="{9D8B030D-6E8A-4147-A177-3AD203B41FA5}">
                      <a16:colId xmlns:a16="http://schemas.microsoft.com/office/drawing/2014/main" val="1892046229"/>
                    </a:ext>
                  </a:extLst>
                </a:gridCol>
              </a:tblGrid>
              <a:tr h="369951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7683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D62D-88DC-4F1E-BEC3-B7561177871A}" type="slidenum">
              <a:rPr lang="en-US"/>
              <a:pPr/>
              <a:t>26</a:t>
            </a:fld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Implementing Directories (2)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0876" y="5000627"/>
            <a:ext cx="6334125" cy="10001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100" dirty="0"/>
              <a:t>Two ways of handling long file names in directory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(a) In-line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(b) In a heap</a:t>
            </a:r>
          </a:p>
        </p:txBody>
      </p:sp>
      <p:pic>
        <p:nvPicPr>
          <p:cNvPr id="28677" name="Picture 5" descr="C:\B\b4\JPG\foo\6-1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56424" y="1669257"/>
            <a:ext cx="4535090" cy="3157538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2F48-C109-413C-B8A8-1EEFE0F96648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4AFE-E457-4681-8DA7-95189117CB36}" type="slidenum">
              <a:rPr lang="en-US"/>
              <a:pPr/>
              <a:t>27</a:t>
            </a:fld>
            <a:endParaRPr 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Shared Files (1)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19450" y="5276852"/>
            <a:ext cx="5829300" cy="51435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File system containing a shared file</a:t>
            </a:r>
          </a:p>
        </p:txBody>
      </p:sp>
      <p:pic>
        <p:nvPicPr>
          <p:cNvPr id="29701" name="Picture 5" descr="C:\B\b4\JPG\foo\6-1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26732" y="1726409"/>
            <a:ext cx="3539729" cy="3351610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60FD-688D-4F44-B007-FA3D611CC03A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D9B-4C72-4613-A49C-AB54D5011823}" type="slidenum">
              <a:rPr lang="en-US"/>
              <a:pPr/>
              <a:t>28</a:t>
            </a:fld>
            <a:endParaRPr lang="en-US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Shared Files (2)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05175" y="4514851"/>
            <a:ext cx="6096000" cy="120015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(a) Situation prior to linking</a:t>
            </a:r>
          </a:p>
          <a:p>
            <a:pPr>
              <a:buFontTx/>
              <a:buNone/>
            </a:pPr>
            <a:r>
              <a:rPr lang="en-US" dirty="0"/>
              <a:t>(b) After the link is created</a:t>
            </a:r>
          </a:p>
          <a:p>
            <a:pPr>
              <a:buFontTx/>
              <a:buNone/>
            </a:pPr>
            <a:r>
              <a:rPr lang="en-US" dirty="0"/>
              <a:t>(c)After the original owner removes the file</a:t>
            </a:r>
          </a:p>
        </p:txBody>
      </p:sp>
      <p:pic>
        <p:nvPicPr>
          <p:cNvPr id="30725" name="Picture 5" descr="C:\B\b4\JPG\foo\6-1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8287" y="1678783"/>
            <a:ext cx="5342334" cy="274796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049780" y="1269233"/>
            <a:ext cx="1602884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Hard link</a:t>
            </a:r>
            <a:endParaRPr lang="he-IL" sz="1200" dirty="0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103C-DB01-4112-9202-F0CF7F01F008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629C-4AD4-4C4A-887D-1AD671AB9224}" type="slidenum">
              <a:rPr lang="en-US"/>
              <a:pPr/>
              <a:t>29</a:t>
            </a:fld>
            <a:endParaRPr lang="en-US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Space Management (1)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81300" y="4857751"/>
            <a:ext cx="6743700" cy="5143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100" dirty="0"/>
              <a:t>Dark line (left hand scale) gives data rate of a disk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Dotted line (right hand scale) gives disk space efficiency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All files 2KB</a:t>
            </a:r>
          </a:p>
        </p:txBody>
      </p:sp>
      <p:pic>
        <p:nvPicPr>
          <p:cNvPr id="31756" name="Picture 12" descr="C:\B\b4\JPG\foo\6-2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05141" y="1909763"/>
            <a:ext cx="6348413" cy="2414588"/>
          </a:xfrm>
          <a:prstGeom prst="rect">
            <a:avLst/>
          </a:prstGeom>
          <a:noFill/>
        </p:spPr>
      </p:pic>
      <p:sp>
        <p:nvSpPr>
          <p:cNvPr id="31757" name="Rectangle 13"/>
          <p:cNvSpPr>
            <a:spLocks noChangeArrowheads="1"/>
          </p:cNvSpPr>
          <p:nvPr/>
        </p:nvSpPr>
        <p:spPr bwMode="auto">
          <a:xfrm>
            <a:off x="5449496" y="4266012"/>
            <a:ext cx="1240631" cy="2190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endParaRPr lang="he-IL" sz="1200"/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5645945" y="4294585"/>
            <a:ext cx="829384" cy="25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8575" tIns="34288" rIns="68575" bIns="34288">
            <a:spAutoFit/>
          </a:bodyPr>
          <a:lstStyle/>
          <a:p>
            <a:r>
              <a:rPr lang="en-US" sz="1200" dirty="0"/>
              <a:t>Block size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8835-81C2-4AAC-8EDA-40E2F645470C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C66F-C6B0-4C98-B7C6-4E27A437C94A}" type="slidenum">
              <a:rPr lang="en-US"/>
              <a:pPr/>
              <a:t>30</a:t>
            </a:fld>
            <a:endParaRPr lang="en-US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 cstate="print"/>
          <a:srcRect l="20258" t="42467" r="17830" b="26407"/>
          <a:stretch>
            <a:fillRect/>
          </a:stretch>
        </p:blipFill>
        <p:spPr bwMode="auto">
          <a:xfrm>
            <a:off x="2555356" y="1693356"/>
            <a:ext cx="6347630" cy="348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Space Management (2)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67202" y="5143501"/>
            <a:ext cx="4686300" cy="62865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100" dirty="0"/>
              <a:t>(a) Storing the free list on a linked list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100" dirty="0"/>
              <a:t>(b) A bit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32897" y="3761224"/>
            <a:ext cx="550244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r>
              <a:rPr lang="he-IL" sz="1200" dirty="0"/>
              <a:t>48</a:t>
            </a:r>
          </a:p>
        </p:txBody>
      </p: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5E4-5D4C-4013-A160-057F1F220D1A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738C-0A11-4396-9E48-5E2FD7C69466}" type="slidenum">
              <a:rPr lang="en-US"/>
              <a:pPr/>
              <a:t>31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Space Management (3)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6550" y="4314826"/>
            <a:ext cx="6648450" cy="14859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100" dirty="0"/>
              <a:t>(a) Almost-full block of pointers to free disk blocks in RAM</a:t>
            </a:r>
            <a:endParaRPr lang="en-US" sz="18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500" dirty="0"/>
              <a:t>- three blocks of pointers on disk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100" dirty="0"/>
              <a:t>(b) Result of freeing a 3-block file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100" dirty="0"/>
              <a:t>(c) Alternative strategy for handling 3 free blocks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500" dirty="0"/>
              <a:t>- shaded entries are pointers to free disk blocks</a:t>
            </a:r>
          </a:p>
        </p:txBody>
      </p:sp>
      <p:pic>
        <p:nvPicPr>
          <p:cNvPr id="33797" name="Picture 5" descr="C:\B\b4\JPG\foo\6-2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9967" y="1853805"/>
            <a:ext cx="5374481" cy="1994296"/>
          </a:xfrm>
          <a:prstGeom prst="rect">
            <a:avLst/>
          </a:prstGeom>
          <a:noFill/>
        </p:spPr>
      </p:pic>
      <p:cxnSp>
        <p:nvCxnSpPr>
          <p:cNvPr id="7" name="מחבר חץ ישר 6"/>
          <p:cNvCxnSpPr/>
          <p:nvPr/>
        </p:nvCxnSpPr>
        <p:spPr bwMode="auto">
          <a:xfrm flipV="1">
            <a:off x="7172621" y="3098034"/>
            <a:ext cx="398728" cy="2009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C56E8-4D15-482E-B144-76F865475894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67AE-35B6-4DB4-90C5-990B54FDBB8C}" type="slidenum">
              <a:rPr lang="en-US"/>
              <a:pPr/>
              <a:t>32</a:t>
            </a:fld>
            <a:endParaRPr 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857250"/>
            <a:ext cx="5829300" cy="857250"/>
          </a:xfrm>
        </p:spPr>
        <p:txBody>
          <a:bodyPr/>
          <a:lstStyle/>
          <a:p>
            <a:r>
              <a:rPr lang="en-US"/>
              <a:t>Disk Space Management (4)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2275" y="5143503"/>
            <a:ext cx="6267450" cy="457201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dirty="0"/>
              <a:t>Quotas for keeping track of each user’s disk use</a:t>
            </a:r>
            <a:endParaRPr lang="en-US" sz="1800" dirty="0"/>
          </a:p>
        </p:txBody>
      </p:sp>
      <p:pic>
        <p:nvPicPr>
          <p:cNvPr id="34821" name="Picture 5" descr="C:\B\b4\JPG\foo\6-2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25457" y="1659731"/>
            <a:ext cx="5363765" cy="3244454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61D4-3D27-4372-BEAC-B9914511995D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2FCA7-0917-4184-82AF-CED8F8213D87}" type="slidenum">
              <a:rPr lang="en-US"/>
              <a:pPr/>
              <a:t>33</a:t>
            </a:fld>
            <a:endParaRPr 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System Reliability (1)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6576" y="4648202"/>
            <a:ext cx="6105525" cy="15525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/>
              <a:t>A file system to be dumped</a:t>
            </a:r>
          </a:p>
          <a:p>
            <a:pPr lvl="1">
              <a:lnSpc>
                <a:spcPct val="80000"/>
              </a:lnSpc>
            </a:pPr>
            <a:r>
              <a:rPr lang="en-US"/>
              <a:t>squares are directories, circles are files</a:t>
            </a:r>
          </a:p>
          <a:p>
            <a:pPr lvl="1">
              <a:lnSpc>
                <a:spcPct val="80000"/>
              </a:lnSpc>
            </a:pPr>
            <a:r>
              <a:rPr lang="en-US"/>
              <a:t>shaded items, modified since last dump</a:t>
            </a:r>
          </a:p>
          <a:p>
            <a:pPr lvl="1">
              <a:lnSpc>
                <a:spcPct val="80000"/>
              </a:lnSpc>
            </a:pPr>
            <a:r>
              <a:rPr lang="en-US"/>
              <a:t>each directory &amp; file labeled by i-node number</a:t>
            </a:r>
          </a:p>
        </p:txBody>
      </p:sp>
      <p:pic>
        <p:nvPicPr>
          <p:cNvPr id="35846" name="Picture 6" descr="C:\B\b4\JPG\foo\6-2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62341" y="1762126"/>
            <a:ext cx="4841081" cy="262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9" name="Oval 9"/>
          <p:cNvSpPr>
            <a:spLocks noChangeArrowheads="1"/>
          </p:cNvSpPr>
          <p:nvPr/>
        </p:nvSpPr>
        <p:spPr bwMode="auto">
          <a:xfrm>
            <a:off x="4673206" y="4256486"/>
            <a:ext cx="163115" cy="151209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endParaRPr lang="he-IL" sz="1200"/>
          </a:p>
        </p:txBody>
      </p:sp>
      <p:sp>
        <p:nvSpPr>
          <p:cNvPr id="35850" name="Oval 10"/>
          <p:cNvSpPr>
            <a:spLocks noChangeArrowheads="1"/>
          </p:cNvSpPr>
          <p:nvPr/>
        </p:nvSpPr>
        <p:spPr bwMode="auto">
          <a:xfrm>
            <a:off x="4975622" y="4258868"/>
            <a:ext cx="155972" cy="14644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endParaRPr lang="he-IL" sz="1200"/>
          </a:p>
        </p:txBody>
      </p:sp>
      <p:sp>
        <p:nvSpPr>
          <p:cNvPr id="35851" name="Oval 11"/>
          <p:cNvSpPr>
            <a:spLocks noChangeArrowheads="1"/>
          </p:cNvSpPr>
          <p:nvPr/>
        </p:nvSpPr>
        <p:spPr bwMode="auto">
          <a:xfrm>
            <a:off x="5289952" y="4261249"/>
            <a:ext cx="144065" cy="14644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endParaRPr lang="he-IL" sz="1200"/>
          </a:p>
        </p:txBody>
      </p:sp>
      <p:sp>
        <p:nvSpPr>
          <p:cNvPr id="35852" name="Oval 12"/>
          <p:cNvSpPr>
            <a:spLocks noChangeArrowheads="1"/>
          </p:cNvSpPr>
          <p:nvPr/>
        </p:nvSpPr>
        <p:spPr bwMode="auto">
          <a:xfrm>
            <a:off x="6794900" y="4254103"/>
            <a:ext cx="158353" cy="155972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endParaRPr lang="he-IL" sz="1200"/>
          </a:p>
        </p:txBody>
      </p:sp>
      <p:sp>
        <p:nvSpPr>
          <p:cNvPr id="35853" name="Oval 13"/>
          <p:cNvSpPr>
            <a:spLocks noChangeArrowheads="1"/>
          </p:cNvSpPr>
          <p:nvPr/>
        </p:nvSpPr>
        <p:spPr bwMode="auto">
          <a:xfrm>
            <a:off x="7042549" y="4254105"/>
            <a:ext cx="167878" cy="151209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endParaRPr lang="he-IL" sz="1200"/>
          </a:p>
        </p:txBody>
      </p:sp>
      <p:sp>
        <p:nvSpPr>
          <p:cNvPr id="35854" name="Oval 14"/>
          <p:cNvSpPr>
            <a:spLocks noChangeArrowheads="1"/>
          </p:cNvSpPr>
          <p:nvPr/>
        </p:nvSpPr>
        <p:spPr bwMode="auto">
          <a:xfrm>
            <a:off x="7316391" y="4251725"/>
            <a:ext cx="155972" cy="163115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endParaRPr lang="he-IL" sz="1200"/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7591427" y="4191001"/>
            <a:ext cx="685800" cy="252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endParaRPr lang="he-IL" sz="1200"/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7617621" y="4193385"/>
            <a:ext cx="664274" cy="300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8575" tIns="34288" rIns="68575" bIns="34288">
            <a:spAutoFit/>
          </a:bodyPr>
          <a:lstStyle/>
          <a:p>
            <a:r>
              <a:rPr lang="en-US" sz="750" dirty="0">
                <a:latin typeface="Tahoma" pitchFamily="34" charset="0"/>
              </a:rPr>
              <a:t>File that has</a:t>
            </a:r>
          </a:p>
          <a:p>
            <a:r>
              <a:rPr lang="en-US" sz="750" dirty="0">
                <a:latin typeface="Tahoma" pitchFamily="34" charset="0"/>
              </a:rPr>
              <a:t>not changed</a:t>
            </a:r>
            <a:endParaRPr lang="en-US" sz="1200" dirty="0"/>
          </a:p>
        </p:txBody>
      </p:sp>
      <p:sp>
        <p:nvSpPr>
          <p:cNvPr id="14" name="מציין מיקום של תאריך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0FF81-4AD1-4CDC-9AA1-0B489D8DF1BB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F80D-DB7D-45FA-9AEC-549454166D1B}" type="slidenum">
              <a:rPr lang="en-US"/>
              <a:pPr/>
              <a:t>34</a:t>
            </a:fld>
            <a:endParaRPr 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System Reliability (2)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09863" y="4914902"/>
            <a:ext cx="6858000" cy="51435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2700" dirty="0"/>
              <a:t>Bit maps used by the logical dumping algorithm</a:t>
            </a:r>
          </a:p>
        </p:txBody>
      </p:sp>
      <p:pic>
        <p:nvPicPr>
          <p:cNvPr id="36869" name="Picture 5" descr="C:\B\b4\JPG\foo\6-2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77743" y="1958580"/>
            <a:ext cx="6500813" cy="2255045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7742-10A7-4B2B-B36E-3436964CE417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775A-78AA-4BC0-A7A3-3B023AEB3193}" type="slidenum">
              <a:rPr lang="en-US"/>
              <a:pPr/>
              <a:t>35</a:t>
            </a:fld>
            <a:endParaRPr lang="en-US" dirty="0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System Reliability (3)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81500" y="4286252"/>
            <a:ext cx="4629150" cy="114300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File system states</a:t>
            </a:r>
            <a:endParaRPr lang="en-US" sz="21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/>
              <a:t>(a) consistent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/>
              <a:t>(b) missing block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/>
              <a:t>(c) duplicate block in free list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/>
              <a:t>(d) duplicate data block</a:t>
            </a:r>
          </a:p>
        </p:txBody>
      </p:sp>
      <p:pic>
        <p:nvPicPr>
          <p:cNvPr id="37893" name="Picture 5" descr="C:\B\b4\JPG\foo\6-2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50396" y="1832372"/>
            <a:ext cx="5931694" cy="2156222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7076925" y="4565092"/>
            <a:ext cx="454550" cy="230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A</a:t>
            </a:r>
            <a:endParaRPr lang="he-IL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7722863" y="4555043"/>
            <a:ext cx="454550" cy="230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A</a:t>
            </a:r>
            <a:endParaRPr lang="he-IL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8440572" y="4886638"/>
            <a:ext cx="454550" cy="230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X</a:t>
            </a:r>
            <a:endParaRPr lang="he-IL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7060975" y="5087606"/>
            <a:ext cx="454550" cy="230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B</a:t>
            </a:r>
            <a:endParaRPr lang="he-IL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7714888" y="5087606"/>
            <a:ext cx="454550" cy="230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B</a:t>
            </a:r>
            <a:endParaRPr lang="he-IL" sz="1200" dirty="0"/>
          </a:p>
        </p:txBody>
      </p:sp>
      <p:cxnSp>
        <p:nvCxnSpPr>
          <p:cNvPr id="12" name="מחבר חץ ישר 11"/>
          <p:cNvCxnSpPr>
            <a:stCxn id="6" idx="3"/>
          </p:cNvCxnSpPr>
          <p:nvPr/>
        </p:nvCxnSpPr>
        <p:spPr bwMode="auto">
          <a:xfrm>
            <a:off x="7531476" y="4680392"/>
            <a:ext cx="199363" cy="95716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מחבר חץ ישר 15"/>
          <p:cNvCxnSpPr/>
          <p:nvPr/>
        </p:nvCxnSpPr>
        <p:spPr bwMode="auto">
          <a:xfrm>
            <a:off x="8201336" y="4745962"/>
            <a:ext cx="191390" cy="22106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מחבר חץ ישר 17"/>
          <p:cNvCxnSpPr/>
          <p:nvPr/>
        </p:nvCxnSpPr>
        <p:spPr bwMode="auto">
          <a:xfrm>
            <a:off x="7539448" y="5258430"/>
            <a:ext cx="111644" cy="1004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מחבר חץ ישר 19"/>
          <p:cNvCxnSpPr/>
          <p:nvPr/>
        </p:nvCxnSpPr>
        <p:spPr bwMode="auto">
          <a:xfrm flipV="1">
            <a:off x="8241211" y="5077559"/>
            <a:ext cx="247211" cy="20096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8504371" y="4575140"/>
            <a:ext cx="350881" cy="230600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5</a:t>
            </a:r>
            <a:endParaRPr lang="he-IL" sz="1200" dirty="0"/>
          </a:p>
        </p:txBody>
      </p:sp>
      <p:sp>
        <p:nvSpPr>
          <p:cNvPr id="17" name="מציין מיקום של תאריך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22D8-4551-442B-BE6E-C72B8D8D21C0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78820-A0F8-480D-9AB8-F9FD62C28248}" type="slidenum">
              <a:rPr lang="en-US"/>
              <a:pPr/>
              <a:t>36</a:t>
            </a:fld>
            <a:endParaRPr lang="en-US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System Performance (1)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1350" y="4857751"/>
            <a:ext cx="5829300" cy="5715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dirty="0"/>
              <a:t>The block cache data structures</a:t>
            </a:r>
          </a:p>
        </p:txBody>
      </p:sp>
      <p:pic>
        <p:nvPicPr>
          <p:cNvPr id="38917" name="Picture 5" descr="C:\B\b4\JPG\foo\6-2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5594" y="1974058"/>
            <a:ext cx="6544866" cy="2262188"/>
          </a:xfrm>
          <a:prstGeom prst="rect">
            <a:avLst/>
          </a:prstGeom>
          <a:noFill/>
        </p:spPr>
      </p:pic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C493-B498-48A6-A178-72E2CFD818F2}" type="datetime10">
              <a:rPr lang="en-US" smtClean="0"/>
              <a:t>18:07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796552" y="4437531"/>
            <a:ext cx="255158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write- through vs. non-write-through</a:t>
            </a:r>
            <a:endParaRPr lang="he-IL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78820-A0F8-480D-9AB8-F9FD62C28248}" type="slidenum">
              <a:rPr lang="en-US"/>
              <a:pPr/>
              <a:t>37</a:t>
            </a:fld>
            <a:endParaRPr lang="en-US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System Performance (1)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1350" y="4857751"/>
            <a:ext cx="5829300" cy="5715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dirty="0"/>
              <a:t>The block cache data structures</a:t>
            </a:r>
          </a:p>
        </p:txBody>
      </p:sp>
      <p:pic>
        <p:nvPicPr>
          <p:cNvPr id="38917" name="Picture 5" descr="C:\B\b4\JPG\foo\6-2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5594" y="1974058"/>
            <a:ext cx="6544866" cy="2262188"/>
          </a:xfrm>
          <a:prstGeom prst="rect">
            <a:avLst/>
          </a:prstGeom>
          <a:noFill/>
        </p:spPr>
      </p:pic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4F47-8B5E-4830-BAF1-2A966F3037A7}" type="datetime10">
              <a:rPr lang="en-US" smtClean="0"/>
              <a:t>18:07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454400" y="4437531"/>
            <a:ext cx="289373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write- through vs. non-write-through</a:t>
            </a:r>
            <a:endParaRPr lang="he-IL" sz="1200" dirty="0"/>
          </a:p>
        </p:txBody>
      </p:sp>
      <p:cxnSp>
        <p:nvCxnSpPr>
          <p:cNvPr id="9" name="מחבר חץ ישר 8"/>
          <p:cNvCxnSpPr/>
          <p:nvPr/>
        </p:nvCxnSpPr>
        <p:spPr bwMode="auto">
          <a:xfrm>
            <a:off x="5926599" y="1701289"/>
            <a:ext cx="843068" cy="85348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מחבר חץ ישר 10"/>
          <p:cNvCxnSpPr/>
          <p:nvPr/>
        </p:nvCxnSpPr>
        <p:spPr bwMode="auto">
          <a:xfrm>
            <a:off x="6930985" y="2797684"/>
            <a:ext cx="1317478" cy="148856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626AE51B-E20B-4E0E-983A-3F13C72547C3}"/>
              </a:ext>
            </a:extLst>
          </p:cNvPr>
          <p:cNvGrpSpPr/>
          <p:nvPr/>
        </p:nvGrpSpPr>
        <p:grpSpPr>
          <a:xfrm>
            <a:off x="8200932" y="4372553"/>
            <a:ext cx="1224056" cy="1488567"/>
            <a:chOff x="8200932" y="4372554"/>
            <a:chExt cx="385139" cy="589786"/>
          </a:xfrm>
        </p:grpSpPr>
        <p:pic>
          <p:nvPicPr>
            <p:cNvPr id="17" name="Picture 5" descr="C:\B\b4\JPG\foo\1-8.jpg"/>
            <p:cNvPicPr>
              <a:picLocks noChangeAspect="1" noChangeArrowheads="1"/>
            </p:cNvPicPr>
            <p:nvPr/>
          </p:nvPicPr>
          <p:blipFill rotWithShape="1">
            <a:blip r:embed="rId4" cstate="print"/>
            <a:srcRect l="20526" r="36142"/>
            <a:stretch/>
          </p:blipFill>
          <p:spPr bwMode="auto">
            <a:xfrm>
              <a:off x="8235071" y="4372554"/>
              <a:ext cx="351000" cy="589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תרשים זרימה: דיסק מגנטי 9"/>
            <p:cNvSpPr/>
            <p:nvPr/>
          </p:nvSpPr>
          <p:spPr bwMode="auto">
            <a:xfrm>
              <a:off x="8200932" y="4386132"/>
              <a:ext cx="373456" cy="565548"/>
            </a:xfrm>
            <a:prstGeom prst="flowChartMagneticDisk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1" anchor="t" anchorCtr="0" compatLnSpc="1">
              <a:prstTxWarp prst="textNoShape">
                <a:avLst/>
              </a:prstTxWarp>
            </a:bodyPr>
            <a:lstStyle/>
            <a:p>
              <a:endParaRPr lang="he-IL" sz="1200"/>
            </a:p>
          </p:txBody>
        </p:sp>
      </p:grpSp>
    </p:spTree>
    <p:extLst>
      <p:ext uri="{BB962C8B-B14F-4D97-AF65-F5344CB8AC3E}">
        <p14:creationId xmlns:p14="http://schemas.microsoft.com/office/powerpoint/2010/main" val="19929614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buffer cache – </a:t>
            </a:r>
            <a:r>
              <a:rPr lang="he-IL" b="1" dirty="0"/>
              <a:t>זיכרון מטמון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181351" y="2343151"/>
            <a:ext cx="6158593" cy="3086100"/>
          </a:xfrm>
        </p:spPr>
        <p:txBody>
          <a:bodyPr/>
          <a:lstStyle/>
          <a:p>
            <a:pPr>
              <a:buNone/>
            </a:pPr>
            <a:r>
              <a:rPr lang="en-US" sz="1800" dirty="0"/>
              <a:t>H * T1 + (1-H) * (T1 + T2) = H*T1 + T1 – H*T1 + (1-H) * T2 =</a:t>
            </a:r>
          </a:p>
          <a:p>
            <a:pPr>
              <a:buNone/>
            </a:pPr>
            <a:r>
              <a:rPr lang="en-US" sz="1800" dirty="0"/>
              <a:t>= T1 + (1-H)*T2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H=hit rate ratio</a:t>
            </a:r>
          </a:p>
          <a:p>
            <a:pPr>
              <a:buNone/>
            </a:pPr>
            <a:r>
              <a:rPr lang="en-US" sz="1800" dirty="0"/>
              <a:t>1-H=miss rate ratio</a:t>
            </a:r>
          </a:p>
          <a:p>
            <a:pPr>
              <a:buNone/>
            </a:pPr>
            <a:r>
              <a:rPr lang="en-US" sz="1800" dirty="0"/>
              <a:t>T1=high level memory access time</a:t>
            </a:r>
          </a:p>
          <a:p>
            <a:pPr>
              <a:buNone/>
            </a:pPr>
            <a:r>
              <a:rPr lang="en-US" sz="1800" dirty="0"/>
              <a:t>T2=low level memory access time</a:t>
            </a:r>
            <a:endParaRPr lang="he-IL" sz="1800" dirty="0"/>
          </a:p>
          <a:p>
            <a:pPr>
              <a:buNone/>
            </a:pPr>
            <a:endParaRPr lang="he-IL" sz="1800" dirty="0"/>
          </a:p>
          <a:p>
            <a:pPr>
              <a:buNone/>
            </a:pPr>
            <a:endParaRPr lang="he-IL" sz="1800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1BC9-445D-4D55-A9CC-4FB4DE56D6B5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A110-90B1-4A53-B6B0-08189A5AADF2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D1AAB-7DE8-4F0E-93C8-17873E81D54B}" type="slidenum">
              <a:rPr lang="en-US"/>
              <a:pPr/>
              <a:t>39</a:t>
            </a:fld>
            <a:endParaRPr lang="en-US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System Performance (2)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1450" y="4743450"/>
            <a:ext cx="5029200" cy="68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100" dirty="0"/>
              <a:t>I-nodes placed at the start of the disk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Disk divided into cylinder groups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each with its own blocks and </a:t>
            </a:r>
            <a:r>
              <a:rPr lang="en-US" sz="1800" dirty="0" err="1"/>
              <a:t>i</a:t>
            </a:r>
            <a:r>
              <a:rPr lang="en-US" sz="1800" dirty="0"/>
              <a:t>-nodes</a:t>
            </a:r>
          </a:p>
        </p:txBody>
      </p:sp>
      <p:pic>
        <p:nvPicPr>
          <p:cNvPr id="39942" name="Picture 6" descr="C:\B\b4\JPG\foo\6-2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25405" y="1793084"/>
            <a:ext cx="5844778" cy="2728913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49F-093E-41B3-9184-11062B53ABF3}" type="datetime10">
              <a:rPr lang="en-US" smtClean="0"/>
              <a:t>18:07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181976" y="5217322"/>
            <a:ext cx="11906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200" dirty="0">
                <a:hlinkClick r:id="rId4" action="ppaction://hlinksldjump"/>
              </a:rPr>
              <a:t>לעבור לשאלות על הפרק</a:t>
            </a:r>
            <a:endParaRPr lang="he-IL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AC31-CB6D-4998-BABE-1A1A9F226B60}" type="slidenum">
              <a:rPr lang="en-US"/>
              <a:pPr/>
              <a:t>40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171825" y="972743"/>
            <a:ext cx="5829300" cy="636985"/>
          </a:xfrm>
        </p:spPr>
        <p:txBody>
          <a:bodyPr/>
          <a:lstStyle/>
          <a:p>
            <a:r>
              <a:rPr lang="en-US" dirty="0"/>
              <a:t>Log-Structured File Systems</a:t>
            </a:r>
            <a:endParaRPr lang="en-US" sz="3000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2" y="1807373"/>
            <a:ext cx="6858000" cy="362188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With CPUs faster, memory larger</a:t>
            </a:r>
          </a:p>
          <a:p>
            <a:pPr lvl="1">
              <a:lnSpc>
                <a:spcPct val="90000"/>
              </a:lnSpc>
            </a:pPr>
            <a:r>
              <a:rPr lang="en-US"/>
              <a:t>disk caches can also be larger</a:t>
            </a:r>
          </a:p>
          <a:p>
            <a:pPr lvl="1">
              <a:lnSpc>
                <a:spcPct val="90000"/>
              </a:lnSpc>
            </a:pPr>
            <a:r>
              <a:rPr lang="en-US"/>
              <a:t>increasing number of read requests can come from cache</a:t>
            </a:r>
          </a:p>
          <a:p>
            <a:pPr lvl="1">
              <a:lnSpc>
                <a:spcPct val="90000"/>
              </a:lnSpc>
            </a:pPr>
            <a:r>
              <a:rPr lang="en-US"/>
              <a:t>thus, most disk accesses will be writes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LFS Strategy structures entire disk as a log</a:t>
            </a:r>
          </a:p>
          <a:p>
            <a:pPr lvl="1">
              <a:lnSpc>
                <a:spcPct val="90000"/>
              </a:lnSpc>
            </a:pPr>
            <a:r>
              <a:rPr lang="en-US"/>
              <a:t>have all writes initially buffered in memory</a:t>
            </a:r>
          </a:p>
          <a:p>
            <a:pPr lvl="1">
              <a:lnSpc>
                <a:spcPct val="90000"/>
              </a:lnSpc>
            </a:pPr>
            <a:r>
              <a:rPr lang="en-US"/>
              <a:t>periodically write these to the end of the disk log</a:t>
            </a:r>
          </a:p>
          <a:p>
            <a:pPr lvl="1">
              <a:lnSpc>
                <a:spcPct val="90000"/>
              </a:lnSpc>
            </a:pPr>
            <a:r>
              <a:rPr lang="en-US"/>
              <a:t>when file opened, locate i-node, then find blocks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96C7-647C-4E00-85ED-7F3F70F50FDE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87B6-7935-4958-98D5-39A81EB41DF3}" type="slidenum">
              <a:rPr lang="en-US"/>
              <a:pPr/>
              <a:t>41</a:t>
            </a:fld>
            <a:endParaRPr 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3932" y="982268"/>
            <a:ext cx="6478190" cy="983456"/>
          </a:xfrm>
        </p:spPr>
        <p:txBody>
          <a:bodyPr/>
          <a:lstStyle/>
          <a:p>
            <a:r>
              <a:rPr lang="en-US" dirty="0"/>
              <a:t>Example File Systems</a:t>
            </a:r>
            <a:br>
              <a:rPr lang="en-US" dirty="0"/>
            </a:br>
            <a:r>
              <a:rPr lang="en-US" sz="2700" dirty="0"/>
              <a:t>     CD-ROM File Systems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7056" y="4393409"/>
            <a:ext cx="5829300" cy="457201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2700" dirty="0"/>
              <a:t>The ISO 9660 directory entry</a:t>
            </a:r>
          </a:p>
        </p:txBody>
      </p:sp>
      <p:pic>
        <p:nvPicPr>
          <p:cNvPr id="43013" name="Picture 5" descr="C:\B\b4\JPG\foo\6-2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65860" y="2357440"/>
            <a:ext cx="6137672" cy="1383506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09C-D402-4D75-8F34-BDE9707979EE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29CE-985A-44CC-A27D-5831747DAC19}" type="slidenum">
              <a:rPr lang="en-US"/>
              <a:pPr/>
              <a:t>42</a:t>
            </a:fld>
            <a:endParaRPr 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CP/M File System (1)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05277" y="5391151"/>
            <a:ext cx="4105275" cy="6096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Memory layout of CP/M</a:t>
            </a:r>
          </a:p>
        </p:txBody>
      </p:sp>
      <p:pic>
        <p:nvPicPr>
          <p:cNvPr id="44037" name="Picture 5" descr="C:\B\b4\JPG\foo\6-3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7750" y="1737124"/>
            <a:ext cx="6121003" cy="2818210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45E0-9C2E-48EC-B931-36030BCACFEA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13F19-6151-4021-8436-9481DA218FEF}" type="slidenum">
              <a:rPr lang="en-US"/>
              <a:pPr/>
              <a:t>43</a:t>
            </a:fld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CP/M File System (2)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1350" y="4629152"/>
            <a:ext cx="5829300" cy="8001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The CP/M directory entry format</a:t>
            </a:r>
          </a:p>
        </p:txBody>
      </p:sp>
      <p:pic>
        <p:nvPicPr>
          <p:cNvPr id="45061" name="Picture 5" descr="C:\B\b4\JPG\foo\6-3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05151" y="2260999"/>
            <a:ext cx="6241256" cy="1558528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A8012-89F5-4E4A-B131-1AEF5D464E7B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DDE0-4A6E-4EB2-B40B-002B563D7A64}" type="slidenum">
              <a:rPr lang="en-US"/>
              <a:pPr/>
              <a:t>44</a:t>
            </a:fld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MS-DOS File System (1)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1350" y="4743450"/>
            <a:ext cx="5829300" cy="685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The MS-DOS directory entry</a:t>
            </a:r>
          </a:p>
        </p:txBody>
      </p:sp>
      <p:pic>
        <p:nvPicPr>
          <p:cNvPr id="46085" name="Picture 5" descr="C:\B\b4\JPG\foo\6-3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03935" y="2097883"/>
            <a:ext cx="6381750" cy="1766888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8CDC-94BE-4CF0-BDFC-86D132BBB391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61978-B2F9-4E42-A5A2-D45DDDEC695F}" type="slidenum">
              <a:rPr lang="en-US"/>
              <a:pPr/>
              <a:t>45</a:t>
            </a:fld>
            <a:endParaRPr lang="en-US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942976"/>
            <a:ext cx="5829300" cy="704850"/>
          </a:xfrm>
        </p:spPr>
        <p:txBody>
          <a:bodyPr/>
          <a:lstStyle/>
          <a:p>
            <a:r>
              <a:rPr lang="en-US"/>
              <a:t>The MS-DOS File System (2)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67050" y="5124452"/>
            <a:ext cx="6305550" cy="747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100" dirty="0"/>
              <a:t>Maximum partition for different block sizes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The empty boxes represent forbidden combinations</a:t>
            </a: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4469" y="1799039"/>
            <a:ext cx="5651897" cy="2944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F3A8C-7F3F-46C2-974C-E146D70D2A1B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6461-42B5-4FDD-9E38-0D0253D449D9}" type="slidenum">
              <a:rPr lang="en-US"/>
              <a:pPr/>
              <a:t>46</a:t>
            </a:fld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Windows 98 File System (1)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2" y="4786315"/>
            <a:ext cx="6858000" cy="450056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2100" dirty="0"/>
              <a:t>The extended MOS-DOS	 directory entry used in Windows 98</a:t>
            </a:r>
          </a:p>
        </p:txBody>
      </p:sp>
      <p:pic>
        <p:nvPicPr>
          <p:cNvPr id="48134" name="Picture 6" descr="C:\B\b4\JPG\foo\6-3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4411" y="2366965"/>
            <a:ext cx="6424613" cy="1440656"/>
          </a:xfrm>
          <a:prstGeom prst="rect">
            <a:avLst/>
          </a:prstGeom>
          <a:noFill/>
        </p:spPr>
      </p:pic>
      <p:sp>
        <p:nvSpPr>
          <p:cNvPr id="48135" name="Rectangle 7"/>
          <p:cNvSpPr>
            <a:spLocks noChangeArrowheads="1"/>
          </p:cNvSpPr>
          <p:nvPr/>
        </p:nvSpPr>
        <p:spPr bwMode="auto">
          <a:xfrm>
            <a:off x="2838450" y="2543178"/>
            <a:ext cx="304800" cy="123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8575" tIns="34288" rIns="68575" bIns="34288" anchor="ctr"/>
          <a:lstStyle/>
          <a:p>
            <a:pPr algn="ctr"/>
            <a:r>
              <a:rPr lang="en-US" sz="1050" dirty="0">
                <a:latin typeface="Tahoma" pitchFamily="34" charset="0"/>
              </a:rPr>
              <a:t>Bytes</a:t>
            </a:r>
            <a:endParaRPr lang="en-US" sz="1200" dirty="0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18B1D-044E-4D86-81B9-584C48CBEA0B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2D165-D360-4AB6-BFA1-BB8A650F42CF}" type="slidenum">
              <a:rPr lang="en-US"/>
              <a:pPr/>
              <a:t>47</a:t>
            </a:fld>
            <a:endParaRPr lang="en-US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Windows 98 File System (2)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2" y="4750597"/>
            <a:ext cx="6858000" cy="442913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An entry for (part of) a long file name in Windows 98</a:t>
            </a:r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1" y="2914653"/>
            <a:ext cx="6000750" cy="1284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2667000" y="2982518"/>
            <a:ext cx="742950" cy="27699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68575" tIns="34288" rIns="68575" bIns="34288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350" dirty="0">
                <a:latin typeface="Arial" pitchFamily="34" charset="0"/>
              </a:rPr>
              <a:t>Bytes</a:t>
            </a: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5010152" y="4057650"/>
            <a:ext cx="1371600" cy="2539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68575" tIns="34288" rIns="68575" bIns="3428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>
                <a:latin typeface="Arial" pitchFamily="34" charset="0"/>
              </a:rPr>
              <a:t>Checksum</a:t>
            </a:r>
          </a:p>
        </p:txBody>
      </p: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1D6C-92FD-4341-AF47-9955528626E7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85B8D-1594-4E11-9B2C-857CC51ADCA3}" type="slidenum">
              <a:rPr lang="en-US"/>
              <a:pPr/>
              <a:t>48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Windows 98 File System (3)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2" y="4600577"/>
            <a:ext cx="6858000" cy="5715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2100" dirty="0"/>
              <a:t>An example of how a long name is stored in Windows 98</a:t>
            </a:r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38479" y="2128839"/>
            <a:ext cx="6136481" cy="1925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433-6388-4A7B-9C9C-BB4758F2974D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36F0-CC99-464B-BE02-169B8D016542}" type="slidenum">
              <a:rPr lang="en-US"/>
              <a:pPr/>
              <a:t>49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UNIX V7 File System (1)</a:t>
            </a:r>
            <a:endParaRPr lang="en-US" sz="3000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1350" y="5086352"/>
            <a:ext cx="5829300" cy="3429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2100" dirty="0"/>
              <a:t>A UNIX V7 directory entry</a:t>
            </a:r>
          </a:p>
        </p:txBody>
      </p:sp>
      <p:pic>
        <p:nvPicPr>
          <p:cNvPr id="40967" name="Picture 7" descr="C:\B\b4\JPG\foo\6-3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3562" y="2328865"/>
            <a:ext cx="4764881" cy="2200275"/>
          </a:xfrm>
          <a:prstGeom prst="rect">
            <a:avLst/>
          </a:prstGeom>
          <a:noFill/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EA77-9790-4ED5-ADA1-0D9CAC5BC54C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AE0C-05CF-40C6-AD90-11307A8094A9}" type="slidenum">
              <a:rPr lang="en-US"/>
              <a:pPr/>
              <a:t>50</a:t>
            </a:fld>
            <a:endParaRPr lang="en-US"/>
          </a:p>
        </p:txBody>
      </p:sp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1714502"/>
            <a:ext cx="6057900" cy="3773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UNIX V7 File System (2)</a:t>
            </a:r>
            <a:endParaRPr lang="en-US" sz="3000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0075" y="5200650"/>
            <a:ext cx="3086100" cy="62865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A UNIX i-node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2018" y="4578723"/>
            <a:ext cx="3636395" cy="599932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endParaRPr lang="en-US" sz="1200" dirty="0"/>
          </a:p>
          <a:p>
            <a:r>
              <a:rPr lang="en-US" sz="1200" dirty="0"/>
              <a:t>(10+256+256^2+256^3)*</a:t>
            </a:r>
            <a:r>
              <a:rPr lang="en-US" sz="1200" dirty="0" err="1"/>
              <a:t>blockSize</a:t>
            </a:r>
            <a:endParaRPr lang="en-US" sz="1200" dirty="0"/>
          </a:p>
          <a:p>
            <a:r>
              <a:rPr lang="he-IL" sz="1200" dirty="0"/>
              <a:t>המקום הפיזי שיתפוס הקובץ יכלול מטה </a:t>
            </a:r>
            <a:r>
              <a:rPr lang="he-IL" sz="1200" dirty="0" err="1"/>
              <a:t>דאטה</a:t>
            </a:r>
            <a:r>
              <a:rPr lang="he-IL" sz="1200" dirty="0"/>
              <a:t> של המצביעים</a:t>
            </a:r>
          </a:p>
        </p:txBody>
      </p:sp>
      <p:sp>
        <p:nvSpPr>
          <p:cNvPr id="9" name="מציין מיקום של תאריך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A763-34C6-459A-BCC2-612DB4F3CADB}" type="datetime10">
              <a:rPr lang="en-US" smtClean="0"/>
              <a:t>18:07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004355" y="4266817"/>
            <a:ext cx="3636395" cy="599932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pPr algn="r" rtl="1"/>
            <a:r>
              <a:rPr lang="he-IL" sz="1200" dirty="0"/>
              <a:t>נתון: גודל בלוק </a:t>
            </a:r>
            <a:r>
              <a:rPr lang="en-US" sz="1200" dirty="0"/>
              <a:t>KB</a:t>
            </a:r>
            <a:r>
              <a:rPr lang="he-IL" sz="1200" dirty="0"/>
              <a:t>2 , גודל </a:t>
            </a:r>
            <a:r>
              <a:rPr lang="he-IL" sz="1200"/>
              <a:t>מצביע 8 בתים</a:t>
            </a:r>
            <a:endParaRPr lang="he-IL" sz="1200" dirty="0"/>
          </a:p>
          <a:p>
            <a:pPr algn="r" rtl="1"/>
            <a:r>
              <a:rPr lang="he-IL" sz="1200" dirty="0"/>
              <a:t>מה גודל הקובץ המקסימאלי, 1. בבלוקים?  2. בבתים?</a:t>
            </a:r>
          </a:p>
          <a:p>
            <a:pPr algn="r" rtl="1"/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B9030-180D-4973-9D5B-FE9A1CC097DC}" type="slidenum">
              <a:rPr lang="en-US"/>
              <a:pPr/>
              <a:t>51</a:t>
            </a:fld>
            <a:endParaRPr lang="en-US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857250"/>
            <a:ext cx="5829300" cy="857250"/>
          </a:xfrm>
        </p:spPr>
        <p:txBody>
          <a:bodyPr/>
          <a:lstStyle/>
          <a:p>
            <a:r>
              <a:rPr lang="en-US" dirty="0"/>
              <a:t>The UNIX V7 File System (3)</a:t>
            </a:r>
            <a:endParaRPr lang="en-US" sz="3000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1350" y="5429252"/>
            <a:ext cx="5829300" cy="28575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dirty="0"/>
              <a:t>The steps in looking up </a:t>
            </a:r>
            <a:r>
              <a:rPr lang="en-US" i="1" dirty="0"/>
              <a:t>/</a:t>
            </a:r>
            <a:r>
              <a:rPr lang="en-US" i="1" dirty="0" err="1"/>
              <a:t>usr</a:t>
            </a:r>
            <a:r>
              <a:rPr lang="en-US" i="1" dirty="0"/>
              <a:t>/</a:t>
            </a:r>
            <a:r>
              <a:rPr lang="en-US" i="1" dirty="0" err="1"/>
              <a:t>ast</a:t>
            </a:r>
            <a:r>
              <a:rPr lang="en-US" i="1" dirty="0"/>
              <a:t>/</a:t>
            </a:r>
            <a:r>
              <a:rPr lang="en-US" i="1" dirty="0" err="1"/>
              <a:t>mbox</a:t>
            </a:r>
            <a:endParaRPr lang="en-US" sz="2100" i="1" dirty="0"/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2" y="1657353"/>
            <a:ext cx="6000750" cy="3465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מחבר חץ ישר 6"/>
          <p:cNvCxnSpPr/>
          <p:nvPr/>
        </p:nvCxnSpPr>
        <p:spPr bwMode="auto">
          <a:xfrm rot="5400000" flipH="1" flipV="1">
            <a:off x="4006075" y="3603648"/>
            <a:ext cx="663191" cy="29505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מחבר חץ ישר 8"/>
          <p:cNvCxnSpPr/>
          <p:nvPr/>
        </p:nvCxnSpPr>
        <p:spPr bwMode="auto">
          <a:xfrm>
            <a:off x="5450117" y="3339195"/>
            <a:ext cx="263160" cy="20096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מחבר חץ ישר 10"/>
          <p:cNvCxnSpPr/>
          <p:nvPr/>
        </p:nvCxnSpPr>
        <p:spPr bwMode="auto">
          <a:xfrm rot="5400000" flipH="1" flipV="1">
            <a:off x="6385835" y="3172049"/>
            <a:ext cx="823965" cy="41467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מחבר חץ ישר 13"/>
          <p:cNvCxnSpPr/>
          <p:nvPr/>
        </p:nvCxnSpPr>
        <p:spPr bwMode="auto">
          <a:xfrm rot="5400000" flipH="1" flipV="1">
            <a:off x="7602028" y="2614046"/>
            <a:ext cx="1055077" cy="334931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מחבר חץ ישר 15"/>
          <p:cNvCxnSpPr/>
          <p:nvPr/>
        </p:nvCxnSpPr>
        <p:spPr bwMode="auto">
          <a:xfrm rot="5400000" flipH="1" flipV="1">
            <a:off x="8546285" y="2724973"/>
            <a:ext cx="1487156" cy="18341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מציין מיקום של תאריך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72EF-58A4-49B0-B796-B32DECF7B854}" type="datetime10">
              <a:rPr lang="en-US" smtClean="0"/>
              <a:t>18:07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3" cstate="print"/>
          <a:srcRect l="12572" t="14014" r="14212" b="1649"/>
          <a:stretch>
            <a:fillRect/>
          </a:stretch>
        </p:blipFill>
        <p:spPr bwMode="auto">
          <a:xfrm>
            <a:off x="2471414" y="1093928"/>
            <a:ext cx="7078986" cy="5154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022438" y="4655847"/>
            <a:ext cx="2297176" cy="415266"/>
          </a:xfrm>
          <a:prstGeom prst="rect">
            <a:avLst/>
          </a:prstGeom>
          <a:noFill/>
        </p:spPr>
        <p:txBody>
          <a:bodyPr wrap="square" lIns="45489" tIns="22745" rIns="45489" bIns="22745" rtlCol="1">
            <a:spAutoFit/>
          </a:bodyPr>
          <a:lstStyle/>
          <a:p>
            <a:r>
              <a:rPr lang="en-US" sz="1200" dirty="0"/>
              <a:t>632KB=316 blocks</a:t>
            </a:r>
          </a:p>
          <a:p>
            <a:r>
              <a:rPr lang="en-US" sz="1200" dirty="0"/>
              <a:t>10+(1)+256+(1+1)+50</a:t>
            </a:r>
          </a:p>
        </p:txBody>
      </p:sp>
      <p:grpSp>
        <p:nvGrpSpPr>
          <p:cNvPr id="10" name="קבוצה 9"/>
          <p:cNvGrpSpPr/>
          <p:nvPr/>
        </p:nvGrpSpPr>
        <p:grpSpPr>
          <a:xfrm>
            <a:off x="3824497" y="1932604"/>
            <a:ext cx="1717945" cy="406400"/>
            <a:chOff x="1543327" y="1433804"/>
            <a:chExt cx="2290593" cy="541867"/>
          </a:xfrm>
        </p:grpSpPr>
        <p:sp>
          <p:nvSpPr>
            <p:cNvPr id="7" name="סוגר מסולסל שמאלי 6"/>
            <p:cNvSpPr/>
            <p:nvPr/>
          </p:nvSpPr>
          <p:spPr bwMode="auto">
            <a:xfrm>
              <a:off x="3605738" y="1433804"/>
              <a:ext cx="228182" cy="541867"/>
            </a:xfrm>
            <a:prstGeom prst="leftBrac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  <p:txBody>
            <a:bodyPr lIns="45489" tIns="22745" rIns="45489" bIns="22745" rtlCol="1" anchor="ctr"/>
            <a:lstStyle/>
            <a:p>
              <a:pPr algn="ctr"/>
              <a:endParaRPr lang="he-IL" sz="1200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43327" y="1500156"/>
              <a:ext cx="1790349" cy="307467"/>
            </a:xfrm>
            <a:prstGeom prst="rect">
              <a:avLst/>
            </a:prstGeom>
            <a:noFill/>
          </p:spPr>
          <p:txBody>
            <a:bodyPr wrap="square" lIns="45489" tIns="22745" rIns="45489" bIns="22745" rtlCol="1">
              <a:spAutoFit/>
            </a:bodyPr>
            <a:lstStyle/>
            <a:p>
              <a:r>
                <a:rPr lang="en-US" sz="1200" dirty="0"/>
                <a:t>Block=256 pointer</a:t>
              </a:r>
              <a:endParaRPr lang="he-IL" sz="1200" dirty="0"/>
            </a:p>
          </p:txBody>
        </p:sp>
      </p:grpSp>
      <p:sp>
        <p:nvSpPr>
          <p:cNvPr id="9" name="מציין מיקום של תאריך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7A0A-636A-495A-AA6C-BBC42A0D349D}" type="datetime10">
              <a:rPr lang="en-US" smtClean="0"/>
              <a:t>18:07</a:t>
            </a:fld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1BC9-445D-4D55-A9CC-4FB4DE56D6B5}" type="slidenum">
              <a:rPr lang="en-US" smtClean="0"/>
              <a:pPr/>
              <a:t>52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1BC9-445D-4D55-A9CC-4FB4DE56D6B5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BC63-651B-437E-A42F-2C2979D9D8E4}" type="datetime10">
              <a:rPr lang="en-US" smtClean="0"/>
              <a:t>18:07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981325" y="1628776"/>
            <a:ext cx="6357938" cy="3416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800" dirty="0"/>
              <a:t>שאלה 1 </a:t>
            </a:r>
          </a:p>
          <a:p>
            <a:pPr algn="r" rtl="1"/>
            <a:endParaRPr lang="he-IL" sz="1800" dirty="0"/>
          </a:p>
          <a:p>
            <a:pPr algn="r" rtl="1"/>
            <a:r>
              <a:rPr lang="he-IL" sz="1800" dirty="0"/>
              <a:t>מהו מספר פעולות הקריאה של בלוקים מהדיסק שצריך לבצע בהרצת השורה הזאת:</a:t>
            </a:r>
          </a:p>
          <a:p>
            <a:pPr algn="l"/>
            <a:r>
              <a:rPr lang="en-US" sz="1800" dirty="0" err="1"/>
              <a:t>fd</a:t>
            </a:r>
            <a:r>
              <a:rPr lang="en-US" sz="1800" dirty="0"/>
              <a:t>=open(“/a/b/c”);</a:t>
            </a:r>
          </a:p>
          <a:p>
            <a:pPr algn="r" rtl="1"/>
            <a:r>
              <a:rPr lang="he-IL" sz="1800" dirty="0"/>
              <a:t>במערכת הפעלה </a:t>
            </a:r>
            <a:r>
              <a:rPr lang="en-US" sz="1800" dirty="0"/>
              <a:t>UNIX</a:t>
            </a:r>
            <a:r>
              <a:rPr lang="he-IL" sz="1800" dirty="0"/>
              <a:t>, כאשר:</a:t>
            </a:r>
          </a:p>
          <a:p>
            <a:pPr lvl="1" algn="r" rtl="1">
              <a:buFont typeface="Arial" pitchFamily="34" charset="0"/>
              <a:buChar char="•"/>
            </a:pPr>
            <a:r>
              <a:rPr lang="he-IL" sz="1800" dirty="0"/>
              <a:t> ניתן להניח כי קובץ  </a:t>
            </a:r>
            <a:r>
              <a:rPr lang="en-US" sz="1800" dirty="0"/>
              <a:t>c</a:t>
            </a:r>
            <a:r>
              <a:rPr lang="he-IL" sz="1800" dirty="0"/>
              <a:t> כבר קיים על הדיסק.</a:t>
            </a:r>
          </a:p>
          <a:p>
            <a:pPr lvl="1" algn="r" rtl="1">
              <a:buFont typeface="Arial" pitchFamily="34" charset="0"/>
              <a:buChar char="•"/>
            </a:pPr>
            <a:r>
              <a:rPr lang="he-IL" sz="1800" dirty="0"/>
              <a:t> גודלו של כל קובץ ספרייה הוא בלוק אחד.</a:t>
            </a:r>
          </a:p>
          <a:p>
            <a:pPr lvl="1" algn="r" rtl="1">
              <a:buFont typeface="Arial" pitchFamily="34" charset="0"/>
              <a:buChar char="•"/>
            </a:pPr>
            <a:r>
              <a:rPr lang="he-IL" sz="1800" dirty="0"/>
              <a:t> הבלוקים (למעט ה- </a:t>
            </a:r>
            <a:r>
              <a:rPr lang="en-US" sz="1800" dirty="0"/>
              <a:t>super block </a:t>
            </a:r>
            <a:r>
              <a:rPr lang="he-IL" sz="1800" dirty="0"/>
              <a:t> והבלוק המכיל את ה- </a:t>
            </a:r>
            <a:r>
              <a:rPr lang="en-US" sz="1800" dirty="0" err="1"/>
              <a:t>i</a:t>
            </a:r>
            <a:r>
              <a:rPr lang="en-US" sz="1800" dirty="0"/>
              <a:t>-node</a:t>
            </a:r>
            <a:r>
              <a:rPr lang="he-IL" sz="1800" dirty="0"/>
              <a:t> של ספריית השורש) אינם נמצאים בזיכרון מראש.</a:t>
            </a:r>
          </a:p>
          <a:p>
            <a:pPr lvl="1" algn="r" rtl="1">
              <a:buFont typeface="Arial" pitchFamily="34" charset="0"/>
              <a:buChar char="•"/>
            </a:pPr>
            <a:r>
              <a:rPr lang="he-IL" sz="1800" dirty="0"/>
              <a:t> קריאות המערכת אינן נכשלות</a:t>
            </a:r>
          </a:p>
          <a:p>
            <a:pPr lvl="1" algn="r" rtl="1">
              <a:buFont typeface="Arial" pitchFamily="34" charset="0"/>
              <a:buChar char="•"/>
            </a:pPr>
            <a:r>
              <a:rPr lang="he-IL" sz="1800" dirty="0"/>
              <a:t> ה-  </a:t>
            </a:r>
            <a:r>
              <a:rPr lang="en-US" sz="1800" dirty="0" err="1"/>
              <a:t>i</a:t>
            </a:r>
            <a:r>
              <a:rPr lang="en-US" sz="1800" dirty="0"/>
              <a:t>-node</a:t>
            </a:r>
            <a:r>
              <a:rPr lang="he-IL" sz="1800" dirty="0"/>
              <a:t> נמצאים בבלוקים שונים</a:t>
            </a:r>
          </a:p>
        </p:txBody>
      </p:sp>
    </p:spTree>
    <p:extLst>
      <p:ext uri="{BB962C8B-B14F-4D97-AF65-F5344CB8AC3E}">
        <p14:creationId xmlns:p14="http://schemas.microsoft.com/office/powerpoint/2010/main" val="34167368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1BC9-445D-4D55-A9CC-4FB4DE56D6B5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336" y="2015312"/>
            <a:ext cx="5980176" cy="361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1F7-7632-46A7-B07B-6854A7A8487E}" type="datetime10">
              <a:rPr lang="en-US" smtClean="0"/>
              <a:t>18:07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701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1BC9-445D-4D55-A9CC-4FB4DE56D6B5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489" y="1754419"/>
            <a:ext cx="6004457" cy="3373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532E-454B-4228-A444-23B718CDA8DF}" type="datetime10">
              <a:rPr lang="en-US" smtClean="0"/>
              <a:t>18:07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974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1BC9-445D-4D55-A9CC-4FB4DE56D6B5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113" y="1489973"/>
            <a:ext cx="5623560" cy="4274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E736-BA75-4CC8-80C8-AA861E6FD626}" type="datetime10">
              <a:rPr lang="en-US" smtClean="0"/>
              <a:t>18:07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945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1BC9-445D-4D55-A9CC-4FB4DE56D6B5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521" y="1899668"/>
            <a:ext cx="6528135" cy="279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B34C-3589-487F-9E3C-CE43F0C1B666}" type="datetime10">
              <a:rPr lang="en-US" smtClean="0"/>
              <a:t>18:07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542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1BC9-445D-4D55-A9CC-4FB4DE56D6B5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785" y="2311148"/>
            <a:ext cx="6011781" cy="1917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914C-5476-4DD1-87D7-A10FCA22310C}" type="datetime10">
              <a:rPr lang="en-US" smtClean="0"/>
              <a:t>18:07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483929" y="2571752"/>
            <a:ext cx="465365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200" dirty="0"/>
              <a:t>ו - 8</a:t>
            </a:r>
          </a:p>
        </p:txBody>
      </p:sp>
    </p:spTree>
    <p:extLst>
      <p:ext uri="{BB962C8B-B14F-4D97-AF65-F5344CB8AC3E}">
        <p14:creationId xmlns:p14="http://schemas.microsoft.com/office/powerpoint/2010/main" val="11948388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A790D-9EA9-4E9B-ACC4-5D58714A5431}" type="datetime10">
              <a:rPr lang="en-US" smtClean="0"/>
              <a:t>18:07</a:t>
            </a:fld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1BC9-445D-4D55-A9CC-4FB4DE56D6B5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" name="מציין מיקום תוכן 5"/>
          <p:cNvSpPr>
            <a:spLocks noGrp="1"/>
          </p:cNvSpPr>
          <p:nvPr>
            <p:ph idx="1"/>
          </p:nvPr>
        </p:nvSpPr>
        <p:spPr>
          <a:xfrm>
            <a:off x="3181350" y="1209676"/>
            <a:ext cx="5829300" cy="4219576"/>
          </a:xfrm>
        </p:spPr>
        <p:txBody>
          <a:bodyPr/>
          <a:lstStyle/>
          <a:p>
            <a:pPr marL="0" indent="0" algn="r" rtl="1">
              <a:buNone/>
            </a:pPr>
            <a:r>
              <a:rPr lang="he-IL" sz="1800" kern="1200" dirty="0">
                <a:solidFill>
                  <a:schemeClr val="tx1"/>
                </a:solidFill>
                <a:latin typeface="Helvetica" pitchFamily="2" charset="0"/>
              </a:rPr>
              <a:t>שאלה 1</a:t>
            </a:r>
            <a:endParaRPr lang="en-US" sz="1800" kern="1200" dirty="0">
              <a:solidFill>
                <a:schemeClr val="tx1"/>
              </a:solidFill>
              <a:latin typeface="Helvetica" pitchFamily="2" charset="0"/>
            </a:endParaRPr>
          </a:p>
          <a:p>
            <a:pPr marL="0" indent="0" algn="r" rtl="1">
              <a:buNone/>
            </a:pPr>
            <a:r>
              <a:rPr lang="he-IL" sz="1800" kern="1200" dirty="0">
                <a:solidFill>
                  <a:schemeClr val="tx1"/>
                </a:solidFill>
                <a:latin typeface="Helvetica" pitchFamily="2" charset="0"/>
              </a:rPr>
              <a:t>נתונות שלוש ספריות שהמידע שלהן נתון בטבלאות הבאות. מהו נתיב </a:t>
            </a:r>
            <a:r>
              <a:rPr lang="en-US" sz="1800" kern="1200" dirty="0">
                <a:solidFill>
                  <a:schemeClr val="tx1"/>
                </a:solidFill>
                <a:latin typeface="Helvetica" pitchFamily="2" charset="0"/>
              </a:rPr>
              <a:t>path</a:t>
            </a:r>
            <a:r>
              <a:rPr lang="he-IL" sz="1800" kern="1200" dirty="0">
                <a:solidFill>
                  <a:schemeClr val="tx1"/>
                </a:solidFill>
                <a:latin typeface="Helvetica" pitchFamily="2" charset="0"/>
              </a:rPr>
              <a:t> תקני במערכת זו?</a:t>
            </a:r>
            <a:endParaRPr lang="en-US" sz="1800" kern="1200" dirty="0">
              <a:solidFill>
                <a:schemeClr val="tx1"/>
              </a:solidFill>
              <a:latin typeface="Helvetica" pitchFamily="2" charset="0"/>
            </a:endParaRPr>
          </a:p>
          <a:p>
            <a:pPr marL="0" indent="0" algn="r" rtl="1">
              <a:buNone/>
            </a:pPr>
            <a:r>
              <a:rPr lang="he-IL" sz="1800" kern="1200" dirty="0">
                <a:solidFill>
                  <a:schemeClr val="tx1"/>
                </a:solidFill>
                <a:latin typeface="Helvetica" pitchFamily="2" charset="0"/>
              </a:rPr>
              <a:t>שים לב להבדל בין נתיב מוחלט מהשורש לנתיב יחסי.</a:t>
            </a:r>
          </a:p>
          <a:p>
            <a:pPr marL="0" indent="0" algn="r" rtl="1">
              <a:buNone/>
            </a:pPr>
            <a:r>
              <a:rPr lang="he-IL" sz="1800" kern="1200" dirty="0">
                <a:solidFill>
                  <a:schemeClr val="tx1"/>
                </a:solidFill>
                <a:latin typeface="Helvetica" pitchFamily="2" charset="0"/>
              </a:rPr>
              <a:t>תזכורת: /. מציין נתיב יחסי מהספרייה הנוכחית. </a:t>
            </a:r>
          </a:p>
          <a:p>
            <a:pPr marL="0" indent="0" algn="r" rtl="1">
              <a:buNone/>
            </a:pPr>
            <a:br>
              <a:rPr lang="en-US" sz="1800" kern="1200" dirty="0">
                <a:solidFill>
                  <a:schemeClr val="tx1"/>
                </a:solidFill>
                <a:latin typeface="Helvetica" pitchFamily="2" charset="0"/>
              </a:rPr>
            </a:br>
            <a:endParaRPr lang="he-IL" sz="1800" kern="1200" dirty="0">
              <a:solidFill>
                <a:schemeClr val="tx1"/>
              </a:solidFill>
              <a:latin typeface="Helvetica" pitchFamily="2" charset="0"/>
            </a:endParaRPr>
          </a:p>
          <a:p>
            <a:pPr marL="0" indent="0" algn="r" rtl="1">
              <a:buNone/>
            </a:pPr>
            <a:endParaRPr lang="he-IL" sz="1800" kern="1200" dirty="0">
              <a:solidFill>
                <a:schemeClr val="tx1"/>
              </a:solidFill>
              <a:latin typeface="Helvetica" pitchFamily="2" charset="0"/>
            </a:endParaRPr>
          </a:p>
          <a:p>
            <a:pPr marL="0" indent="0" algn="r" rtl="1">
              <a:buNone/>
            </a:pPr>
            <a:endParaRPr lang="en-US" sz="1500" kern="1200" dirty="0">
              <a:solidFill>
                <a:schemeClr val="tx1"/>
              </a:solidFill>
              <a:latin typeface="Helvetica" pitchFamily="2" charset="0"/>
            </a:endParaRPr>
          </a:p>
        </p:txBody>
      </p:sp>
      <p:pic>
        <p:nvPicPr>
          <p:cNvPr id="8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33" t="13608" r="39382" b="23792"/>
          <a:stretch/>
        </p:blipFill>
        <p:spPr bwMode="auto">
          <a:xfrm>
            <a:off x="5846714" y="2958649"/>
            <a:ext cx="1464885" cy="2115268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83" t="12729" r="-13239" b="19548"/>
          <a:stretch/>
        </p:blipFill>
        <p:spPr bwMode="auto">
          <a:xfrm>
            <a:off x="3019426" y="2930074"/>
            <a:ext cx="2123010" cy="2322332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636306" y="3739699"/>
            <a:ext cx="2466975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57175" indent="-257175" algn="r" rtl="1">
              <a:buFont typeface="+mj-cs"/>
              <a:buAutoNum type="hebrew2Minus"/>
            </a:pPr>
            <a:r>
              <a:rPr lang="en-US" sz="1800" dirty="0">
                <a:latin typeface="+mn-lt"/>
              </a:rPr>
              <a:t>/</a:t>
            </a:r>
            <a:r>
              <a:rPr lang="en-US" sz="1800" dirty="0" err="1">
                <a:latin typeface="+mn-lt"/>
              </a:rPr>
              <a:t>usr</a:t>
            </a:r>
            <a:r>
              <a:rPr lang="en-US" sz="1800" dirty="0">
                <a:latin typeface="+mn-lt"/>
              </a:rPr>
              <a:t>/</a:t>
            </a:r>
            <a:r>
              <a:rPr lang="en-US" sz="1800" dirty="0" err="1">
                <a:latin typeface="+mn-lt"/>
              </a:rPr>
              <a:t>ast</a:t>
            </a:r>
            <a:r>
              <a:rPr lang="en-US" sz="1800" dirty="0">
                <a:latin typeface="+mn-lt"/>
              </a:rPr>
              <a:t>/</a:t>
            </a:r>
            <a:r>
              <a:rPr lang="en-US" sz="1800" dirty="0" err="1">
                <a:latin typeface="+mn-lt"/>
              </a:rPr>
              <a:t>src</a:t>
            </a:r>
            <a:endParaRPr lang="en-US" sz="1800" dirty="0">
              <a:latin typeface="+mn-lt"/>
            </a:endParaRPr>
          </a:p>
          <a:p>
            <a:pPr marL="257175" indent="-257175" algn="r" rtl="1">
              <a:buFont typeface="+mj-cs"/>
              <a:buAutoNum type="hebrew2Minus"/>
            </a:pPr>
            <a:r>
              <a:rPr lang="en-US" sz="1800" dirty="0">
                <a:latin typeface="+mn-lt"/>
              </a:rPr>
              <a:t>./</a:t>
            </a:r>
            <a:r>
              <a:rPr lang="en-US" sz="1800" dirty="0" err="1">
                <a:latin typeface="+mn-lt"/>
              </a:rPr>
              <a:t>usr</a:t>
            </a:r>
            <a:r>
              <a:rPr lang="en-US" sz="1800" dirty="0">
                <a:latin typeface="+mn-lt"/>
              </a:rPr>
              <a:t>/</a:t>
            </a:r>
            <a:r>
              <a:rPr lang="en-US" sz="1800" dirty="0" err="1">
                <a:latin typeface="+mn-lt"/>
              </a:rPr>
              <a:t>ast</a:t>
            </a:r>
            <a:r>
              <a:rPr lang="en-US" sz="1800" dirty="0">
                <a:latin typeface="+mn-lt"/>
              </a:rPr>
              <a:t>/</a:t>
            </a:r>
            <a:r>
              <a:rPr lang="en-US" sz="1800" dirty="0" err="1">
                <a:latin typeface="+mn-lt"/>
              </a:rPr>
              <a:t>src</a:t>
            </a:r>
            <a:endParaRPr lang="en-US" sz="1800" dirty="0">
              <a:latin typeface="+mn-lt"/>
            </a:endParaRPr>
          </a:p>
          <a:p>
            <a:pPr marL="257175" indent="-257175" algn="r" rtl="1">
              <a:buFont typeface="+mj-cs"/>
              <a:buAutoNum type="hebrew2Minus"/>
            </a:pPr>
            <a:r>
              <a:rPr lang="en-US" sz="1800" dirty="0">
                <a:latin typeface="+mn-lt"/>
              </a:rPr>
              <a:t>/grants/bin/dev</a:t>
            </a:r>
          </a:p>
          <a:p>
            <a:pPr marL="257175" indent="-257175" algn="r" rtl="1">
              <a:buFont typeface="+mj-cs"/>
              <a:buAutoNum type="hebrew2Minus"/>
            </a:pPr>
            <a:r>
              <a:rPr lang="en-US" sz="1800">
                <a:latin typeface="+mn-lt"/>
              </a:rPr>
              <a:t>./grants/bin/dev</a:t>
            </a:r>
            <a:endParaRPr lang="en-US" sz="1800" dirty="0">
              <a:latin typeface="+mn-lt"/>
            </a:endParaRPr>
          </a:p>
          <a:p>
            <a:pPr marL="257175" indent="-257175" algn="r" rtl="1">
              <a:buFont typeface="+mj-cs"/>
              <a:buAutoNum type="hebrew2Minus"/>
            </a:pPr>
            <a:r>
              <a:rPr lang="en-US" sz="1800" dirty="0">
                <a:latin typeface="+mn-lt"/>
              </a:rPr>
              <a:t>/</a:t>
            </a:r>
            <a:r>
              <a:rPr lang="en-US" sz="1800" dirty="0" err="1">
                <a:latin typeface="+mn-lt"/>
              </a:rPr>
              <a:t>src</a:t>
            </a:r>
            <a:r>
              <a:rPr lang="en-US" sz="1800" dirty="0">
                <a:latin typeface="+mn-lt"/>
              </a:rPr>
              <a:t>/</a:t>
            </a:r>
            <a:r>
              <a:rPr lang="en-US" sz="1800" dirty="0" err="1">
                <a:latin typeface="+mn-lt"/>
              </a:rPr>
              <a:t>ast</a:t>
            </a:r>
            <a:r>
              <a:rPr lang="en-US" sz="1800" dirty="0">
                <a:latin typeface="+mn-lt"/>
              </a:rPr>
              <a:t>/</a:t>
            </a:r>
            <a:r>
              <a:rPr lang="en-US" sz="1800" dirty="0" err="1">
                <a:latin typeface="+mn-lt"/>
              </a:rPr>
              <a:t>usr</a:t>
            </a:r>
            <a:endParaRPr lang="he-IL" sz="1800" dirty="0">
              <a:latin typeface="+mn-lt"/>
            </a:endParaRPr>
          </a:p>
          <a:p>
            <a:pPr marL="257175" indent="-257175" algn="r" rtl="1">
              <a:buFont typeface="+mj-cs"/>
              <a:buAutoNum type="hebrew2Minus"/>
            </a:pPr>
            <a:r>
              <a:rPr lang="en-US" sz="1800" dirty="0">
                <a:latin typeface="+mn-lt"/>
              </a:rPr>
              <a:t>./</a:t>
            </a:r>
            <a:r>
              <a:rPr lang="en-US" sz="1800" dirty="0" err="1">
                <a:latin typeface="+mn-lt"/>
              </a:rPr>
              <a:t>src</a:t>
            </a:r>
            <a:r>
              <a:rPr lang="en-US" sz="1800" dirty="0">
                <a:latin typeface="+mn-lt"/>
              </a:rPr>
              <a:t>/</a:t>
            </a:r>
            <a:r>
              <a:rPr lang="en-US" sz="1800" dirty="0" err="1">
                <a:latin typeface="+mn-lt"/>
              </a:rPr>
              <a:t>ast</a:t>
            </a:r>
            <a:r>
              <a:rPr lang="en-US" sz="1800" dirty="0">
                <a:latin typeface="+mn-lt"/>
              </a:rPr>
              <a:t>/</a:t>
            </a:r>
            <a:r>
              <a:rPr lang="en-US" sz="1800" dirty="0" err="1">
                <a:latin typeface="+mn-lt"/>
              </a:rPr>
              <a:t>usr</a:t>
            </a:r>
            <a:endParaRPr lang="he-IL" sz="1800" dirty="0">
              <a:latin typeface="+mn-lt"/>
            </a:endParaRPr>
          </a:p>
        </p:txBody>
      </p:sp>
      <p:grpSp>
        <p:nvGrpSpPr>
          <p:cNvPr id="15" name="קבוצה 14"/>
          <p:cNvGrpSpPr/>
          <p:nvPr/>
        </p:nvGrpSpPr>
        <p:grpSpPr>
          <a:xfrm>
            <a:off x="4610506" y="2841785"/>
            <a:ext cx="1217159" cy="2491277"/>
            <a:chOff x="2591338" y="2646045"/>
            <a:chExt cx="1622879" cy="3321702"/>
          </a:xfrm>
        </p:grpSpPr>
        <p:pic>
          <p:nvPicPr>
            <p:cNvPr id="10" name="Picture 4"/>
            <p:cNvPicPr/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23" t="11749" r="81933" b="16244"/>
            <a:stretch/>
          </p:blipFill>
          <p:spPr bwMode="auto">
            <a:xfrm>
              <a:off x="2591338" y="2710336"/>
              <a:ext cx="1622879" cy="3257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3" name="תיבת טקסט 4"/>
            <p:cNvSpPr txBox="1"/>
            <p:nvPr/>
          </p:nvSpPr>
          <p:spPr>
            <a:xfrm>
              <a:off x="2699702" y="2646045"/>
              <a:ext cx="467995" cy="32131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68580" tIns="34290" rIns="68580" bIns="3429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spcAft>
                  <a:spcPts val="0"/>
                </a:spcAft>
              </a:pPr>
              <a:r>
                <a:rPr lang="en-US" sz="900">
                  <a:latin typeface="Times New Roman"/>
                  <a:ea typeface="Batang"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49439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181049" y="1605109"/>
            <a:ext cx="5829905" cy="3823704"/>
          </a:xfrm>
        </p:spPr>
        <p:txBody>
          <a:bodyPr/>
          <a:lstStyle/>
          <a:p>
            <a:pPr algn="r" rtl="1">
              <a:buNone/>
            </a:pPr>
            <a:r>
              <a:rPr lang="he-IL" sz="1500" b="1" dirty="0"/>
              <a:t>שאלה 10</a:t>
            </a:r>
            <a:endParaRPr lang="en-US" sz="1500" dirty="0"/>
          </a:p>
          <a:p>
            <a:pPr algn="r" rtl="1">
              <a:buNone/>
            </a:pPr>
            <a:r>
              <a:rPr lang="he-IL" sz="1500" dirty="0"/>
              <a:t>האם השימוש בזיכרון מטמון </a:t>
            </a:r>
            <a:r>
              <a:rPr lang="en-US" sz="1500" dirty="0"/>
              <a:t>(Buffer Cash) </a:t>
            </a:r>
            <a:r>
              <a:rPr lang="he-IL" sz="1500" dirty="0"/>
              <a:t>מסוג</a:t>
            </a:r>
            <a:r>
              <a:rPr lang="en-US" sz="1500" dirty="0"/>
              <a:t>write-trough </a:t>
            </a:r>
            <a:r>
              <a:rPr lang="he-IL" sz="1500" dirty="0"/>
              <a:t> מגדיל את חסינותה של מערכת הקבצים בהשוואה לשימוש בזיכרון מטמון מסוג </a:t>
            </a:r>
            <a:r>
              <a:rPr lang="en-US" sz="1500" dirty="0"/>
              <a:t>non</a:t>
            </a:r>
            <a:r>
              <a:rPr lang="ru-RU" sz="1500" dirty="0"/>
              <a:t>-</a:t>
            </a:r>
            <a:r>
              <a:rPr lang="en-US" sz="1500" dirty="0"/>
              <a:t>write-trough</a:t>
            </a:r>
            <a:r>
              <a:rPr lang="ar-SA" sz="1500" dirty="0"/>
              <a:t>? </a:t>
            </a:r>
            <a:endParaRPr lang="en-US" sz="1500" dirty="0"/>
          </a:p>
          <a:p>
            <a:pPr algn="r" rtl="1">
              <a:buNone/>
            </a:pPr>
            <a:r>
              <a:rPr lang="ar-SA" sz="1500" dirty="0"/>
              <a:t> </a:t>
            </a:r>
            <a:endParaRPr lang="en-US" sz="1500" dirty="0"/>
          </a:p>
          <a:p>
            <a:pPr algn="r" rtl="1">
              <a:buNone/>
            </a:pPr>
            <a:r>
              <a:rPr lang="he-IL" sz="1500" dirty="0"/>
              <a:t>א) כן</a:t>
            </a:r>
            <a:r>
              <a:rPr lang="ar-SA" sz="1500" dirty="0"/>
              <a:t>. </a:t>
            </a:r>
            <a:r>
              <a:rPr lang="he-IL" sz="1500" dirty="0"/>
              <a:t>וזאת עקב ביצוע מהיר יותר של כתיבות בלוקים לדיסק</a:t>
            </a:r>
            <a:r>
              <a:rPr lang="ar-SA" sz="1500" dirty="0"/>
              <a:t>. </a:t>
            </a:r>
            <a:endParaRPr lang="en-US" sz="1500" dirty="0"/>
          </a:p>
          <a:p>
            <a:pPr algn="r" rtl="1">
              <a:buNone/>
            </a:pPr>
            <a:r>
              <a:rPr lang="he-IL" sz="1500" dirty="0"/>
              <a:t>ב) לא</a:t>
            </a:r>
            <a:r>
              <a:rPr lang="ar-SA" sz="1500" dirty="0"/>
              <a:t>. </a:t>
            </a:r>
            <a:r>
              <a:rPr lang="he-IL" sz="1500" dirty="0"/>
              <a:t>וזאת עקב העיכוב בעדכון בלוקים בדיסק</a:t>
            </a:r>
            <a:r>
              <a:rPr lang="ar-SA" sz="1500" dirty="0"/>
              <a:t>. </a:t>
            </a:r>
            <a:endParaRPr lang="en-US" sz="1500" dirty="0"/>
          </a:p>
          <a:p>
            <a:pPr algn="r" rtl="1">
              <a:buNone/>
            </a:pPr>
            <a:r>
              <a:rPr lang="he-IL" sz="1500" dirty="0"/>
              <a:t>ג) לא</a:t>
            </a:r>
            <a:r>
              <a:rPr lang="ar-SA" sz="1500" dirty="0"/>
              <a:t>. </a:t>
            </a:r>
            <a:r>
              <a:rPr lang="he-IL" sz="1500" dirty="0"/>
              <a:t>כוון שחסינותה של מערכת הקבצים איננה מושפעת כלל וכלל מזיכרון מטמון</a:t>
            </a:r>
            <a:r>
              <a:rPr lang="ar-SA" sz="1500" dirty="0"/>
              <a:t>.</a:t>
            </a:r>
            <a:endParaRPr lang="en-US" sz="1500" dirty="0"/>
          </a:p>
          <a:p>
            <a:pPr algn="r" rtl="1">
              <a:buNone/>
            </a:pPr>
            <a:r>
              <a:rPr lang="he-IL" sz="1500" dirty="0"/>
              <a:t>ד) אף תשובה קודמת איננה נכונה</a:t>
            </a:r>
            <a:r>
              <a:rPr lang="ar-SA" sz="1500" dirty="0"/>
              <a:t>.</a:t>
            </a:r>
            <a:endParaRPr lang="en-US" sz="1500" dirty="0"/>
          </a:p>
          <a:p>
            <a:pPr algn="r" rtl="1">
              <a:buNone/>
            </a:pPr>
            <a:r>
              <a:rPr lang="ar-SA" sz="1500" dirty="0"/>
              <a:t> </a:t>
            </a:r>
            <a:endParaRPr lang="en-US" sz="1500" dirty="0"/>
          </a:p>
          <a:p>
            <a:pPr algn="r" rtl="1">
              <a:buNone/>
            </a:pPr>
            <a:r>
              <a:rPr lang="he-IL" sz="1500" dirty="0"/>
              <a:t>הערה</a:t>
            </a:r>
            <a:r>
              <a:rPr lang="ar-SA" sz="1500" dirty="0"/>
              <a:t>:</a:t>
            </a:r>
            <a:r>
              <a:rPr lang="he-IL" sz="1500" dirty="0"/>
              <a:t>מערכת קבצים חסינה היא מערכת קבצים שלגביה קיים סיכוי קטן להישאר במצב של חוסר עקביות</a:t>
            </a:r>
            <a:r>
              <a:rPr lang="ar-SA" sz="1500" dirty="0"/>
              <a:t>. </a:t>
            </a:r>
            <a:endParaRPr lang="en-US" sz="1500" dirty="0"/>
          </a:p>
          <a:p>
            <a:pPr algn="r" rtl="1">
              <a:buNone/>
            </a:pPr>
            <a:r>
              <a:rPr lang="ar-SA" sz="1500" dirty="0"/>
              <a:t> </a:t>
            </a:r>
            <a:endParaRPr lang="en-US" sz="1500" dirty="0"/>
          </a:p>
          <a:p>
            <a:pPr algn="r">
              <a:buNone/>
            </a:pPr>
            <a:endParaRPr lang="he-IL" sz="1500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4D048F-5AB7-4214-A96A-997519D28CF1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852425-A13C-45E0-9664-A1321AF789C8}" type="datetime12">
              <a:rPr lang="he-IL" smtClean="0"/>
              <a:pPr>
                <a:defRPr/>
              </a:pPr>
              <a:t>11/02/2024 18:07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4683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2" charset="0"/>
          </a:defRPr>
        </a:defPPr>
      </a:lstStyle>
    </a:spDef>
    <a:ln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3903</TotalTime>
  <Words>1837</Words>
  <Application>Microsoft Office PowerPoint</Application>
  <PresentationFormat>מסך רחב</PresentationFormat>
  <Paragraphs>468</Paragraphs>
  <Slides>60</Slides>
  <Notes>59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60</vt:i4>
      </vt:variant>
      <vt:variant>
        <vt:lpstr>הצגות מותאמות אישית</vt:lpstr>
      </vt:variant>
      <vt:variant>
        <vt:i4>2</vt:i4>
      </vt:variant>
    </vt:vector>
  </HeadingPairs>
  <TitlesOfParts>
    <vt:vector size="67" baseType="lpstr">
      <vt:lpstr>Arial</vt:lpstr>
      <vt:lpstr>Helvetica</vt:lpstr>
      <vt:lpstr>Tahoma</vt:lpstr>
      <vt:lpstr>Times New Roman</vt:lpstr>
      <vt:lpstr>Default Design</vt:lpstr>
      <vt:lpstr>File Systems</vt:lpstr>
      <vt:lpstr>Long-term Information Storage</vt:lpstr>
      <vt:lpstr>File Naming</vt:lpstr>
      <vt:lpstr>File Structure</vt:lpstr>
      <vt:lpstr>File Types</vt:lpstr>
      <vt:lpstr>File Access</vt:lpstr>
      <vt:lpstr>File Attributes</vt:lpstr>
      <vt:lpstr>File Operations</vt:lpstr>
      <vt:lpstr>An Example Program Using File System Calls (1/2)</vt:lpstr>
      <vt:lpstr>An Example Program Using File System Calls (2/2)</vt:lpstr>
      <vt:lpstr>Memory-Mapped Files</vt:lpstr>
      <vt:lpstr>Directories Single-Level Directory Systems</vt:lpstr>
      <vt:lpstr>Two-level Directory Systems</vt:lpstr>
      <vt:lpstr>Hierarchical Directory Systems</vt:lpstr>
      <vt:lpstr>Path Names</vt:lpstr>
      <vt:lpstr>Directory Operations</vt:lpstr>
      <vt:lpstr>Implementing Files (1)</vt:lpstr>
      <vt:lpstr>Implementing Files (2)</vt:lpstr>
      <vt:lpstr>Implementing Files (3)</vt:lpstr>
      <vt:lpstr>Implementing Files (4)</vt:lpstr>
      <vt:lpstr>מצגת של PowerPoint‏</vt:lpstr>
      <vt:lpstr>System Calls (3)</vt:lpstr>
      <vt:lpstr>System Calls (3)</vt:lpstr>
      <vt:lpstr>Implementing Directories (1)</vt:lpstr>
      <vt:lpstr>File System Implementation</vt:lpstr>
      <vt:lpstr>Implementing Directories (2)</vt:lpstr>
      <vt:lpstr>Shared Files (1)</vt:lpstr>
      <vt:lpstr>Shared Files (2)</vt:lpstr>
      <vt:lpstr>Disk Space Management (1)</vt:lpstr>
      <vt:lpstr>Disk Space Management (2)</vt:lpstr>
      <vt:lpstr>Disk Space Management (3)</vt:lpstr>
      <vt:lpstr>Disk Space Management (4)</vt:lpstr>
      <vt:lpstr>File System Reliability (1)</vt:lpstr>
      <vt:lpstr>File System Reliability (2)</vt:lpstr>
      <vt:lpstr>File System Reliability (3)</vt:lpstr>
      <vt:lpstr>File System Performance (1)</vt:lpstr>
      <vt:lpstr>File System Performance (1)</vt:lpstr>
      <vt:lpstr>buffer cache – זיכרון מטמון</vt:lpstr>
      <vt:lpstr>File System Performance (2)</vt:lpstr>
      <vt:lpstr>Log-Structured File Systems</vt:lpstr>
      <vt:lpstr>Example File Systems      CD-ROM File Systems</vt:lpstr>
      <vt:lpstr>The CP/M File System (1)</vt:lpstr>
      <vt:lpstr>The CP/M File System (2)</vt:lpstr>
      <vt:lpstr>The MS-DOS File System (1)</vt:lpstr>
      <vt:lpstr>The MS-DOS File System (2)</vt:lpstr>
      <vt:lpstr>The Windows 98 File System (1)</vt:lpstr>
      <vt:lpstr>The Windows 98 File System (2)</vt:lpstr>
      <vt:lpstr>The Windows 98 File System (3)</vt:lpstr>
      <vt:lpstr>The UNIX V7 File System (1)</vt:lpstr>
      <vt:lpstr>The UNIX V7 File System (2)</vt:lpstr>
      <vt:lpstr>The UNIX V7 File System (3)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 </vt:lpstr>
      <vt:lpstr>מצגת של PowerPoint‏</vt:lpstr>
      <vt:lpstr>Implementing Files</vt:lpstr>
      <vt:lpstr>עקביות מערכת הקבצים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Systems</dc:title>
  <dc:creator>Steve  Armstrong</dc:creator>
  <cp:lastModifiedBy>Yakir Zadok</cp:lastModifiedBy>
  <cp:revision>97</cp:revision>
  <cp:lastPrinted>2001-01-13T23:51:38Z</cp:lastPrinted>
  <dcterms:created xsi:type="dcterms:W3CDTF">2000-12-03T20:28:40Z</dcterms:created>
  <dcterms:modified xsi:type="dcterms:W3CDTF">2024-02-11T16:59:00Z</dcterms:modified>
</cp:coreProperties>
</file>