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90" r:id="rId7"/>
    <p:sldId id="293" r:id="rId8"/>
    <p:sldId id="261" r:id="rId9"/>
    <p:sldId id="262" r:id="rId10"/>
    <p:sldId id="263" r:id="rId11"/>
    <p:sldId id="284" r:id="rId12"/>
    <p:sldId id="291" r:id="rId13"/>
    <p:sldId id="285" r:id="rId14"/>
    <p:sldId id="264" r:id="rId15"/>
    <p:sldId id="265" r:id="rId16"/>
    <p:sldId id="266" r:id="rId17"/>
    <p:sldId id="286" r:id="rId18"/>
    <p:sldId id="269" r:id="rId19"/>
    <p:sldId id="270" r:id="rId20"/>
    <p:sldId id="271" r:id="rId21"/>
    <p:sldId id="273" r:id="rId22"/>
    <p:sldId id="287" r:id="rId23"/>
    <p:sldId id="292" r:id="rId24"/>
    <p:sldId id="288" r:id="rId25"/>
    <p:sldId id="275" r:id="rId26"/>
    <p:sldId id="277" r:id="rId27"/>
    <p:sldId id="278" r:id="rId28"/>
    <p:sldId id="279" r:id="rId29"/>
    <p:sldId id="280" r:id="rId30"/>
    <p:sldId id="289" r:id="rId31"/>
    <p:sldId id="281" r:id="rId32"/>
    <p:sldId id="282" r:id="rId33"/>
    <p:sldId id="283" r:id="rId34"/>
    <p:sldId id="294" r:id="rId35"/>
    <p:sldId id="295" r:id="rId36"/>
    <p:sldId id="296" r:id="rId37"/>
    <p:sldId id="297" r:id="rId38"/>
    <p:sldId id="298" r:id="rId39"/>
    <p:sldId id="299" r:id="rId4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6831" indent="-153679" algn="l" rtl="0" fontAlgn="base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3662" indent="-307361" algn="l" rtl="0" fontAlgn="base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0493" indent="-461043" algn="l" rtl="0" fontAlgn="base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7323" indent="-614722" algn="l" rtl="0" fontAlgn="base">
      <a:spcBef>
        <a:spcPct val="0"/>
      </a:spcBef>
      <a:spcAft>
        <a:spcPct val="0"/>
      </a:spcAft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515751" algn="r" defTabSz="606301" rtl="1" eaLnBrk="1" latinLnBrk="0" hangingPunct="1"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1818902" algn="r" defTabSz="606301" rtl="1" eaLnBrk="1" latinLnBrk="0" hangingPunct="1"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2122052" algn="r" defTabSz="606301" rtl="1" eaLnBrk="1" latinLnBrk="0" hangingPunct="1"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2425203" algn="r" defTabSz="606301" rtl="1" eaLnBrk="1" latinLnBrk="0" hangingPunct="1">
      <a:defRPr sz="23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0000FF"/>
    <a:srgbClr val="6600FF"/>
    <a:srgbClr val="B2B2B2"/>
    <a:srgbClr val="FFCCCC"/>
    <a:srgbClr val="993300"/>
    <a:srgbClr val="FF66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0" autoAdjust="0"/>
    <p:restoredTop sz="94660"/>
  </p:normalViewPr>
  <p:slideViewPr>
    <p:cSldViewPr snapToGrid="0">
      <p:cViewPr>
        <p:scale>
          <a:sx n="100" d="100"/>
          <a:sy n="100" d="100"/>
        </p:scale>
        <p:origin x="1278" y="408"/>
      </p:cViewPr>
      <p:guideLst>
        <p:guide orient="horz" pos="48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4C9CCA0-A506-4359-8FB2-6F4D1A436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6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6831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3662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0493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7323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4996" algn="r" defTabSz="913999" rtl="1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1995" algn="r" defTabSz="913999" rtl="1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8993" algn="r" defTabSz="913999" rtl="1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5993" algn="r" defTabSz="913999" rtl="1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6FDDDC1-FFFC-45C0-83E3-FC0C4C33AAA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D7E78C4-3B63-44D8-A658-35D7264BB774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05ECD81-52FD-4EED-BE37-839797622CE6}" type="slidenum">
              <a:rPr lang="en-US" sz="1200"/>
              <a:pPr eaLnBrk="1" hangingPunct="1"/>
              <a:t>3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AF8759B-8607-4688-A9FD-D6B516F68AD9}" type="slidenum">
              <a:rPr lang="en-US" sz="1200"/>
              <a:pPr eaLnBrk="1" hangingPunct="1"/>
              <a:t>4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85B7149-A17D-4BE8-966B-912EB03E27EE}" type="slidenum">
              <a:rPr lang="en-US" sz="1200"/>
              <a:pPr eaLnBrk="1" hangingPunct="1"/>
              <a:t>5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49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49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0240E8D-DAF5-4D10-9C86-E6005E8D6BB5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A6386EE-5F43-433C-B2AF-7F72DA228DE8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B5F282F-B521-4EE3-9C0E-A02324CE037D}" type="slidenum">
              <a:rPr lang="en-US" sz="1200"/>
              <a:pPr eaLnBrk="1" hangingPunct="1"/>
              <a:t>10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30A050D-1E94-42F6-ADE1-F23BE36EAAC6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C77DA8E-9EB3-437A-B6F9-CE67BEE8023F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AB81EC5-49FF-4E16-9361-B406A5F03C5D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96D7453-A767-43E1-A6D8-FBD1A19B5F1A}" type="slidenum">
              <a:rPr lang="en-US" sz="1200"/>
              <a:pPr eaLnBrk="1" hangingPunct="1"/>
              <a:t>14</a:t>
            </a:fld>
            <a:endParaRPr 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2F5C6CA-0038-403E-93CF-65C9ACA4B085}" type="slidenum">
              <a:rPr lang="en-US" sz="1200"/>
              <a:pPr eaLnBrk="1" hangingPunct="1"/>
              <a:t>15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06642AE-B6EF-435B-BFBD-3D61238D4AED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3E124EA-BE34-4A62-AC78-3F33ACFC303C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0ED84D5-DCD2-4BD5-B3B5-D67484F08182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4C79C6B-5AE3-44F7-B646-271134229876}" type="slidenum">
              <a:rPr lang="en-US" sz="1200"/>
              <a:pPr eaLnBrk="1" hangingPunct="1"/>
              <a:t>19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AA0AF07-FED9-4932-A749-953EB6F07DFC}" type="slidenum">
              <a:rPr lang="en-US" sz="1200"/>
              <a:pPr eaLnBrk="1" hangingPunct="1"/>
              <a:t>20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F349C8-8D67-4628-820C-C1A1C384CBBA}" type="slidenum">
              <a:rPr lang="en-US" sz="1200"/>
              <a:pPr eaLnBrk="1" hangingPunct="1"/>
              <a:t>21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AD8C4D9-5431-4081-9D74-30D5EEC31E51}" type="slidenum">
              <a:rPr lang="en-US" sz="1200"/>
              <a:pPr eaLnBrk="1" hangingPunct="1"/>
              <a:t>22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49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2919D43-D27A-43B2-B78E-9191E935B530}" type="slidenum">
              <a:rPr lang="en-US" sz="1200"/>
              <a:pPr eaLnBrk="1" hangingPunct="1"/>
              <a:t>24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7F8C04D-47C9-41A4-A7F9-17D2478D2AC6}" type="slidenum">
              <a:rPr lang="en-US" sz="1200"/>
              <a:pPr eaLnBrk="1" hangingPunct="1"/>
              <a:t>25</a:t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1D430B9-1F60-40B7-8795-9DA8B58DA4BE}" type="slidenum">
              <a:rPr lang="en-US" sz="1200"/>
              <a:pPr eaLnBrk="1" hangingPunct="1"/>
              <a:t>26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838C050-30BD-4908-B50F-DD0C50D109B5}" type="slidenum">
              <a:rPr lang="en-US" sz="1200"/>
              <a:pPr eaLnBrk="1" hangingPunct="1"/>
              <a:t>27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BDACA16-924D-4287-8FAD-3DF019989840}" type="slidenum">
              <a:rPr lang="en-US" sz="1200"/>
              <a:pPr eaLnBrk="1" hangingPunct="1"/>
              <a:t>28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07DDE74-9F1B-4274-AA7B-BBEC772824CA}" type="slidenum">
              <a:rPr lang="en-US" sz="1200"/>
              <a:pPr eaLnBrk="1" hangingPunct="1"/>
              <a:t>29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FFD1186-8144-4059-A122-B05B1F7E1311}" type="slidenum">
              <a:rPr lang="en-US" sz="1200"/>
              <a:pPr eaLnBrk="1" hangingPunct="1"/>
              <a:t>30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5A69059-9B98-467B-8925-73B243C552E9}" type="slidenum">
              <a:rPr lang="en-US" sz="1200"/>
              <a:pPr eaLnBrk="1" hangingPunct="1"/>
              <a:t>31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E2FEA61-FEE7-4069-AC7F-837EA2ABC22E}" type="slidenum">
              <a:rPr lang="en-US" sz="1200"/>
              <a:pPr eaLnBrk="1" hangingPunct="1"/>
              <a:t>32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AD42C3A-97CB-4AA6-AC00-F8DA7E9AEFF7}" type="slidenum">
              <a:rPr lang="en-US" sz="1200"/>
              <a:pPr eaLnBrk="1" hangingPunct="1"/>
              <a:t>33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525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679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415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266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570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C9CCA0-A506-4359-8FB2-6F4D1A43630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96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1" y="3886201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6998" indent="0" algn="ctr">
              <a:buNone/>
              <a:defRPr/>
            </a:lvl2pPr>
            <a:lvl3pPr marL="913999" indent="0" algn="ctr">
              <a:buNone/>
              <a:defRPr/>
            </a:lvl3pPr>
            <a:lvl4pPr marL="1370997" indent="0" algn="ctr">
              <a:buNone/>
              <a:defRPr/>
            </a:lvl4pPr>
            <a:lvl5pPr marL="1827996" indent="0" algn="ctr">
              <a:buNone/>
              <a:defRPr/>
            </a:lvl5pPr>
            <a:lvl6pPr marL="2284996" indent="0" algn="ctr">
              <a:buNone/>
              <a:defRPr/>
            </a:lvl6pPr>
            <a:lvl7pPr marL="2741995" indent="0" algn="ctr">
              <a:buNone/>
              <a:defRPr/>
            </a:lvl7pPr>
            <a:lvl8pPr marL="3198993" indent="0" algn="ctr">
              <a:buNone/>
              <a:defRPr/>
            </a:lvl8pPr>
            <a:lvl9pPr marL="3655993" indent="0" algn="ctr"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F79D1-0AC4-4EA6-9447-7E350F72038E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6085F-D998-4845-8E81-86D0811DD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1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0926E3-086F-4115-A9BF-D65CD215E52C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2050A-1D72-4641-9B35-379592AD6F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3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63084" y="2906719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998" indent="0">
              <a:buNone/>
              <a:defRPr sz="1800"/>
            </a:lvl2pPr>
            <a:lvl3pPr marL="913999" indent="0">
              <a:buNone/>
              <a:defRPr sz="1600"/>
            </a:lvl3pPr>
            <a:lvl4pPr marL="1370997" indent="0">
              <a:buNone/>
              <a:defRPr sz="1300"/>
            </a:lvl4pPr>
            <a:lvl5pPr marL="1827996" indent="0">
              <a:buNone/>
              <a:defRPr sz="1300"/>
            </a:lvl5pPr>
            <a:lvl6pPr marL="2284996" indent="0">
              <a:buNone/>
              <a:defRPr sz="1300"/>
            </a:lvl6pPr>
            <a:lvl7pPr marL="2741995" indent="0">
              <a:buNone/>
              <a:defRPr sz="1300"/>
            </a:lvl7pPr>
            <a:lvl8pPr marL="3198993" indent="0">
              <a:buNone/>
              <a:defRPr sz="1300"/>
            </a:lvl8pPr>
            <a:lvl9pPr marL="3655993" indent="0">
              <a:buNone/>
              <a:defRPr sz="1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DA675-6138-4A7A-9736-34465B093D04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472F5-A438-41A6-864E-4E184C78D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5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914400" y="1981202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0" y="1981202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20F0A-2A04-48B5-897A-74474F3F0B91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20CB2-B096-432D-A685-D3CC161989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2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3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6998" indent="0">
              <a:buNone/>
              <a:defRPr sz="2000" b="1"/>
            </a:lvl2pPr>
            <a:lvl3pPr marL="913999" indent="0">
              <a:buNone/>
              <a:defRPr sz="1800" b="1"/>
            </a:lvl3pPr>
            <a:lvl4pPr marL="1370997" indent="0">
              <a:buNone/>
              <a:defRPr sz="1600" b="1"/>
            </a:lvl4pPr>
            <a:lvl5pPr marL="1827996" indent="0">
              <a:buNone/>
              <a:defRPr sz="1600" b="1"/>
            </a:lvl5pPr>
            <a:lvl6pPr marL="2284996" indent="0">
              <a:buNone/>
              <a:defRPr sz="1600" b="1"/>
            </a:lvl6pPr>
            <a:lvl7pPr marL="2741995" indent="0">
              <a:buNone/>
              <a:defRPr sz="1600" b="1"/>
            </a:lvl7pPr>
            <a:lvl8pPr marL="3198993" indent="0">
              <a:buNone/>
              <a:defRPr sz="1600" b="1"/>
            </a:lvl8pPr>
            <a:lvl9pPr marL="3655993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93373" y="1535116"/>
            <a:ext cx="5389033" cy="63976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6998" indent="0">
              <a:buNone/>
              <a:defRPr sz="2000" b="1"/>
            </a:lvl2pPr>
            <a:lvl3pPr marL="913999" indent="0">
              <a:buNone/>
              <a:defRPr sz="1800" b="1"/>
            </a:lvl3pPr>
            <a:lvl4pPr marL="1370997" indent="0">
              <a:buNone/>
              <a:defRPr sz="1600" b="1"/>
            </a:lvl4pPr>
            <a:lvl5pPr marL="1827996" indent="0">
              <a:buNone/>
              <a:defRPr sz="1600" b="1"/>
            </a:lvl5pPr>
            <a:lvl6pPr marL="2284996" indent="0">
              <a:buNone/>
              <a:defRPr sz="1600" b="1"/>
            </a:lvl6pPr>
            <a:lvl7pPr marL="2741995" indent="0">
              <a:buNone/>
              <a:defRPr sz="1600" b="1"/>
            </a:lvl7pPr>
            <a:lvl8pPr marL="3198993" indent="0">
              <a:buNone/>
              <a:defRPr sz="1600" b="1"/>
            </a:lvl8pPr>
            <a:lvl9pPr marL="3655993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93373" y="2174876"/>
            <a:ext cx="5389033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055D3-3267-4EA9-B8A0-5FB8A6A11DFB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23DA5-1134-4CC7-BB95-336C8CE9D3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6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FF7C2-175A-4B00-A530-730A2FA07BC2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15280E-64A1-478F-A9FE-BFEF4F140A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3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12B56-C9BD-482E-8EC0-1B200D652287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3D54D-1EA0-4D08-88AF-159DFC49DE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44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10" y="273054"/>
            <a:ext cx="4011084" cy="1162051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66733" y="273058"/>
            <a:ext cx="6815667" cy="5853113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09610" y="1435106"/>
            <a:ext cx="4011084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6998" indent="0">
              <a:buNone/>
              <a:defRPr sz="1300"/>
            </a:lvl2pPr>
            <a:lvl3pPr marL="913999" indent="0">
              <a:buNone/>
              <a:defRPr sz="1000"/>
            </a:lvl3pPr>
            <a:lvl4pPr marL="1370997" indent="0">
              <a:buNone/>
              <a:defRPr sz="900"/>
            </a:lvl4pPr>
            <a:lvl5pPr marL="1827996" indent="0">
              <a:buNone/>
              <a:defRPr sz="900"/>
            </a:lvl5pPr>
            <a:lvl6pPr marL="2284996" indent="0">
              <a:buNone/>
              <a:defRPr sz="900"/>
            </a:lvl6pPr>
            <a:lvl7pPr marL="2741995" indent="0">
              <a:buNone/>
              <a:defRPr sz="900"/>
            </a:lvl7pPr>
            <a:lvl8pPr marL="3198993" indent="0">
              <a:buNone/>
              <a:defRPr sz="900"/>
            </a:lvl8pPr>
            <a:lvl9pPr marL="3655993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7C5FA-F25E-4B21-994A-58A1BDAB50BA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2A000-BE80-41CC-AEB1-BAC5CB0F68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8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89721" y="4800603"/>
            <a:ext cx="7315200" cy="566739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389721" y="612776"/>
            <a:ext cx="7315200" cy="4114800"/>
          </a:xfrm>
        </p:spPr>
        <p:txBody>
          <a:bodyPr/>
          <a:lstStyle>
            <a:lvl1pPr marL="0" indent="0">
              <a:buNone/>
              <a:defRPr sz="3100"/>
            </a:lvl1pPr>
            <a:lvl2pPr marL="456998" indent="0">
              <a:buNone/>
              <a:defRPr sz="2800"/>
            </a:lvl2pPr>
            <a:lvl3pPr marL="913999" indent="0">
              <a:buNone/>
              <a:defRPr sz="2300"/>
            </a:lvl3pPr>
            <a:lvl4pPr marL="1370997" indent="0">
              <a:buNone/>
              <a:defRPr sz="2000"/>
            </a:lvl4pPr>
            <a:lvl5pPr marL="1827996" indent="0">
              <a:buNone/>
              <a:defRPr sz="2000"/>
            </a:lvl5pPr>
            <a:lvl6pPr marL="2284996" indent="0">
              <a:buNone/>
              <a:defRPr sz="2000"/>
            </a:lvl6pPr>
            <a:lvl7pPr marL="2741995" indent="0">
              <a:buNone/>
              <a:defRPr sz="2000"/>
            </a:lvl7pPr>
            <a:lvl8pPr marL="3198993" indent="0">
              <a:buNone/>
              <a:defRPr sz="2000"/>
            </a:lvl8pPr>
            <a:lvl9pPr marL="3655993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389721" y="5367341"/>
            <a:ext cx="7315200" cy="804862"/>
          </a:xfrm>
        </p:spPr>
        <p:txBody>
          <a:bodyPr/>
          <a:lstStyle>
            <a:lvl1pPr marL="0" indent="0">
              <a:buNone/>
              <a:defRPr sz="1300"/>
            </a:lvl1pPr>
            <a:lvl2pPr marL="456998" indent="0">
              <a:buNone/>
              <a:defRPr sz="1300"/>
            </a:lvl2pPr>
            <a:lvl3pPr marL="913999" indent="0">
              <a:buNone/>
              <a:defRPr sz="1000"/>
            </a:lvl3pPr>
            <a:lvl4pPr marL="1370997" indent="0">
              <a:buNone/>
              <a:defRPr sz="900"/>
            </a:lvl4pPr>
            <a:lvl5pPr marL="1827996" indent="0">
              <a:buNone/>
              <a:defRPr sz="900"/>
            </a:lvl5pPr>
            <a:lvl6pPr marL="2284996" indent="0">
              <a:buNone/>
              <a:defRPr sz="900"/>
            </a:lvl6pPr>
            <a:lvl7pPr marL="2741995" indent="0">
              <a:buNone/>
              <a:defRPr sz="900"/>
            </a:lvl7pPr>
            <a:lvl8pPr marL="3198993" indent="0">
              <a:buNone/>
              <a:defRPr sz="900"/>
            </a:lvl8pPr>
            <a:lvl9pPr marL="3655993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D228A-77F9-4AC4-9129-AC5FF3EDC748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80B29-370B-4C57-80C0-0D73BF0BD6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6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99EE9-5560-4455-B14B-459A0FFCBADC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6B0D8-CA53-4F5C-8766-FD23A7BF79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0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667765" y="0"/>
            <a:ext cx="2609849" cy="6096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9" y="0"/>
            <a:ext cx="7626351" cy="609600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C71EE-88C1-46B4-A589-5011B3C65400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EE5A9-2411-4379-B93D-D01FC4FD6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2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315" y="1"/>
            <a:ext cx="1036307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9" tIns="45699" rIns="91399" bIns="4569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827" y="1981202"/>
            <a:ext cx="1036435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9" tIns="45699" rIns="91399" bIns="456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3826" y="6248401"/>
            <a:ext cx="254053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9" tIns="45699" rIns="91399" bIns="45699" numCol="1" anchor="t" anchorCtr="0" compatLnSpc="1">
            <a:prstTxWarp prst="textNoShape">
              <a:avLst/>
            </a:prstTxWarp>
          </a:bodyPr>
          <a:lstStyle>
            <a:lvl1pPr>
              <a:defRPr sz="1300" smtClean="0"/>
            </a:lvl1pPr>
          </a:lstStyle>
          <a:p>
            <a:pPr>
              <a:defRPr/>
            </a:pPr>
            <a:fld id="{A68D5847-524A-43EE-9614-432A4AE9C0B8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964" y="6248401"/>
            <a:ext cx="3860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9" tIns="45699" rIns="91399" bIns="45699" numCol="1" anchor="t" anchorCtr="0" compatLnSpc="1">
            <a:prstTxWarp prst="textNoShape">
              <a:avLst/>
            </a:prstTxWarp>
          </a:bodyPr>
          <a:lstStyle>
            <a:lvl1pPr algn="ctr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16066" y="6400801"/>
            <a:ext cx="57594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9" tIns="45699" rIns="91399" bIns="45699" numCol="1" anchor="t" anchorCtr="0" compatLnSpc="1">
            <a:prstTxWarp prst="textNoShape">
              <a:avLst/>
            </a:prstTxWarp>
          </a:bodyPr>
          <a:lstStyle>
            <a:lvl1pPr algn="r">
              <a:defRPr sz="1600" smtClean="0"/>
            </a:lvl1pPr>
          </a:lstStyle>
          <a:p>
            <a:pPr>
              <a:defRPr/>
            </a:pPr>
            <a:fld id="{D1861AFE-C9B1-4E6F-872A-C54B8445FA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6998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3999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0997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7996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342096" indent="-342096" algn="l" rtl="0" eaLnBrk="0" fontAlgn="base" hangingPunct="0">
        <a:spcBef>
          <a:spcPct val="20000"/>
        </a:spcBef>
        <a:spcAft>
          <a:spcPct val="0"/>
        </a:spcAft>
        <a:buClr>
          <a:srgbClr val="6600FF"/>
        </a:buClr>
        <a:buChar char="•"/>
        <a:defRPr sz="3100">
          <a:solidFill>
            <a:srgbClr val="3333CC"/>
          </a:solidFill>
          <a:latin typeface="+mn-lt"/>
          <a:ea typeface="+mn-ea"/>
          <a:cs typeface="+mn-cs"/>
        </a:defRPr>
      </a:lvl1pPr>
      <a:lvl2pPr marL="742086" indent="-285256" algn="l" rtl="0" eaLnBrk="0" fontAlgn="base" hangingPunct="0">
        <a:spcBef>
          <a:spcPct val="20000"/>
        </a:spcBef>
        <a:spcAft>
          <a:spcPct val="0"/>
        </a:spcAft>
        <a:buClr>
          <a:srgbClr val="6600FF"/>
        </a:buClr>
        <a:buChar char="–"/>
        <a:defRPr sz="2800">
          <a:solidFill>
            <a:schemeClr val="tx1"/>
          </a:solidFill>
          <a:latin typeface="+mn-lt"/>
        </a:defRPr>
      </a:lvl2pPr>
      <a:lvl3pPr marL="1142077" indent="-228417" algn="l" rtl="0" eaLnBrk="0" fontAlgn="base" hangingPunct="0">
        <a:spcBef>
          <a:spcPct val="20000"/>
        </a:spcBef>
        <a:spcAft>
          <a:spcPct val="0"/>
        </a:spcAft>
        <a:buClr>
          <a:srgbClr val="6600FF"/>
        </a:buClr>
        <a:buChar char="•"/>
        <a:defRPr sz="2300">
          <a:solidFill>
            <a:schemeClr val="tx1"/>
          </a:solidFill>
          <a:latin typeface="+mn-lt"/>
        </a:defRPr>
      </a:lvl3pPr>
      <a:lvl4pPr marL="1598908" indent="-228417" algn="l" rtl="0" eaLnBrk="0" fontAlgn="base" hangingPunct="0">
        <a:spcBef>
          <a:spcPct val="20000"/>
        </a:spcBef>
        <a:spcAft>
          <a:spcPct val="0"/>
        </a:spcAft>
        <a:buClr>
          <a:srgbClr val="6600FF"/>
        </a:buClr>
        <a:buChar char="–"/>
        <a:defRPr sz="2000">
          <a:solidFill>
            <a:schemeClr val="tx1"/>
          </a:solidFill>
          <a:latin typeface="+mn-lt"/>
        </a:defRPr>
      </a:lvl4pPr>
      <a:lvl5pPr marL="2055738" indent="-228417" algn="l" rtl="0" eaLnBrk="0" fontAlgn="base" hangingPunct="0">
        <a:spcBef>
          <a:spcPct val="20000"/>
        </a:spcBef>
        <a:spcAft>
          <a:spcPct val="0"/>
        </a:spcAft>
        <a:buClr>
          <a:srgbClr val="6600FF"/>
        </a:buClr>
        <a:buChar char="»"/>
        <a:defRPr sz="2000">
          <a:solidFill>
            <a:schemeClr val="tx1"/>
          </a:solidFill>
          <a:latin typeface="+mn-lt"/>
        </a:defRPr>
      </a:lvl5pPr>
      <a:lvl6pPr marL="2513497" indent="-228500" algn="l" rtl="0" fontAlgn="base">
        <a:spcBef>
          <a:spcPct val="20000"/>
        </a:spcBef>
        <a:spcAft>
          <a:spcPct val="0"/>
        </a:spcAft>
        <a:buClr>
          <a:srgbClr val="6600FF"/>
        </a:buClr>
        <a:buChar char="»"/>
        <a:defRPr sz="2000">
          <a:solidFill>
            <a:schemeClr val="tx1"/>
          </a:solidFill>
          <a:latin typeface="+mn-lt"/>
        </a:defRPr>
      </a:lvl6pPr>
      <a:lvl7pPr marL="2970495" indent="-228500" algn="l" rtl="0" fontAlgn="base">
        <a:spcBef>
          <a:spcPct val="20000"/>
        </a:spcBef>
        <a:spcAft>
          <a:spcPct val="0"/>
        </a:spcAft>
        <a:buClr>
          <a:srgbClr val="6600FF"/>
        </a:buClr>
        <a:buChar char="»"/>
        <a:defRPr sz="2000">
          <a:solidFill>
            <a:schemeClr val="tx1"/>
          </a:solidFill>
          <a:latin typeface="+mn-lt"/>
        </a:defRPr>
      </a:lvl7pPr>
      <a:lvl8pPr marL="3427494" indent="-228500" algn="l" rtl="0" fontAlgn="base">
        <a:spcBef>
          <a:spcPct val="20000"/>
        </a:spcBef>
        <a:spcAft>
          <a:spcPct val="0"/>
        </a:spcAft>
        <a:buClr>
          <a:srgbClr val="6600FF"/>
        </a:buClr>
        <a:buChar char="»"/>
        <a:defRPr sz="2000">
          <a:solidFill>
            <a:schemeClr val="tx1"/>
          </a:solidFill>
          <a:latin typeface="+mn-lt"/>
        </a:defRPr>
      </a:lvl8pPr>
      <a:lvl9pPr marL="3884494" indent="-228500" algn="l" rtl="0" fontAlgn="base">
        <a:spcBef>
          <a:spcPct val="20000"/>
        </a:spcBef>
        <a:spcAft>
          <a:spcPct val="0"/>
        </a:spcAft>
        <a:buClr>
          <a:srgbClr val="6600FF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98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99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97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96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96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95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93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93" algn="r" defTabSz="91399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5D993E8-B077-4B88-8EBC-C7AB98AC84B3}" type="slidenum">
              <a:rPr lang="en-US" sz="1600"/>
              <a:pPr eaLnBrk="1" hangingPunct="1"/>
              <a:t>1</a:t>
            </a:fld>
            <a:endParaRPr lang="en-US" sz="160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46015" y="1003906"/>
            <a:ext cx="7772304" cy="1143000"/>
          </a:xfrm>
        </p:spPr>
        <p:txBody>
          <a:bodyPr/>
          <a:lstStyle/>
          <a:p>
            <a:pPr eaLnBrk="1" hangingPunct="1"/>
            <a:r>
              <a:rPr lang="en-US" dirty="0"/>
              <a:t>Deadlocks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97" y="-12093"/>
            <a:ext cx="6400608" cy="1092200"/>
          </a:xfrm>
        </p:spPr>
        <p:txBody>
          <a:bodyPr/>
          <a:lstStyle/>
          <a:p>
            <a:pPr eaLnBrk="1" hangingPunct="1"/>
            <a:r>
              <a:rPr lang="en-US" sz="4400" dirty="0"/>
              <a:t>Chapter 6</a:t>
            </a:r>
            <a:endParaRPr lang="en-US" dirty="0"/>
          </a:p>
        </p:txBody>
      </p:sp>
      <p:sp>
        <p:nvSpPr>
          <p:cNvPr id="2053" name="Text Box 4"/>
          <p:cNvSpPr txBox="1">
            <a:spLocks noChangeArrowheads="1"/>
          </p:cNvSpPr>
          <p:nvPr/>
        </p:nvSpPr>
        <p:spPr bwMode="auto">
          <a:xfrm>
            <a:off x="2810267" y="2467434"/>
            <a:ext cx="8122654" cy="4524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        6.1. Resource</a:t>
            </a:r>
          </a:p>
          <a:p>
            <a:pPr eaLnBrk="1" hangingPunct="1"/>
            <a:r>
              <a:rPr lang="en-US" dirty="0"/>
              <a:t>        6.2. Introduction to deadlocks </a:t>
            </a:r>
          </a:p>
          <a:p>
            <a:pPr eaLnBrk="1" hangingPunct="1"/>
            <a:r>
              <a:rPr lang="en-US" dirty="0"/>
              <a:t>        6.3. The ostrich algorithm </a:t>
            </a:r>
          </a:p>
          <a:p>
            <a:pPr eaLnBrk="1" hangingPunct="1"/>
            <a:r>
              <a:rPr lang="en-US" dirty="0"/>
              <a:t>        6.4. Deadlock detection and recovery </a:t>
            </a:r>
          </a:p>
          <a:p>
            <a:pPr eaLnBrk="1" hangingPunct="1"/>
            <a:r>
              <a:rPr lang="en-US" dirty="0"/>
              <a:t>        6.5. Deadlock avoidance </a:t>
            </a:r>
          </a:p>
          <a:p>
            <a:pPr eaLnBrk="1" hangingPunct="1"/>
            <a:r>
              <a:rPr lang="en-US" dirty="0"/>
              <a:t>        6.6. Deadlock prevention </a:t>
            </a:r>
          </a:p>
          <a:p>
            <a:pPr eaLnBrk="1" hangingPunct="1"/>
            <a:r>
              <a:rPr lang="en-US" dirty="0"/>
              <a:t>        6.7. Other issues </a:t>
            </a:r>
          </a:p>
          <a:p>
            <a:pPr eaLnBrk="1" hangingPunct="1"/>
            <a:endParaRPr lang="en-US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BC1455-D3B0-451F-8880-B127C78B7329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032F5B2-1F40-4202-BE5E-A5B6F993F914}" type="slidenum">
              <a:rPr lang="en-US" sz="1600"/>
              <a:pPr eaLnBrk="1" hangingPunct="1"/>
              <a:t>2</a:t>
            </a:fld>
            <a:endParaRPr lang="en-US" sz="16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Resources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0536" y="1600206"/>
            <a:ext cx="8612216" cy="5007429"/>
          </a:xfrm>
        </p:spPr>
        <p:txBody>
          <a:bodyPr/>
          <a:lstStyle/>
          <a:p>
            <a:pPr eaLnBrk="1" hangingPunct="1"/>
            <a:r>
              <a:rPr lang="en-US" sz="2800"/>
              <a:t>Examples of computer resources</a:t>
            </a:r>
          </a:p>
          <a:p>
            <a:pPr lvl="1" eaLnBrk="1" hangingPunct="1"/>
            <a:r>
              <a:rPr lang="en-US" sz="2300"/>
              <a:t>printers</a:t>
            </a:r>
          </a:p>
          <a:p>
            <a:pPr lvl="1" eaLnBrk="1" hangingPunct="1"/>
            <a:r>
              <a:rPr lang="en-US" sz="2300"/>
              <a:t>tape drives</a:t>
            </a:r>
          </a:p>
          <a:p>
            <a:pPr lvl="1" eaLnBrk="1" hangingPunct="1"/>
            <a:r>
              <a:rPr lang="en-US" sz="2300"/>
              <a:t>tables</a:t>
            </a:r>
          </a:p>
          <a:p>
            <a:pPr eaLnBrk="1" hangingPunct="1"/>
            <a:r>
              <a:rPr lang="en-US" sz="2800"/>
              <a:t>Processes need access to resources in reasonable order</a:t>
            </a:r>
          </a:p>
          <a:p>
            <a:pPr eaLnBrk="1" hangingPunct="1"/>
            <a:r>
              <a:rPr lang="en-US" sz="2800"/>
              <a:t>Suppose a process holds resource A and requests resource B</a:t>
            </a:r>
          </a:p>
          <a:p>
            <a:pPr lvl="1" eaLnBrk="1" hangingPunct="1"/>
            <a:r>
              <a:rPr lang="en-US" sz="2300"/>
              <a:t>at same time another process holds B and requests A</a:t>
            </a:r>
          </a:p>
          <a:p>
            <a:pPr lvl="1" eaLnBrk="1" hangingPunct="1"/>
            <a:r>
              <a:rPr lang="en-US" sz="2300"/>
              <a:t>both are blocked and remain so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461D6B-6F4A-4003-AC12-143CEBAB2C08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7C424AC-8519-4A66-AFEB-18A0BEB07E40}" type="slidenum">
              <a:rPr lang="en-US" sz="1600"/>
              <a:pPr eaLnBrk="1" hangingPunct="1"/>
              <a:t>3</a:t>
            </a:fld>
            <a:endParaRPr lang="en-US" sz="16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Resources (1)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5816" y="1981202"/>
            <a:ext cx="8560381" cy="4114800"/>
          </a:xfrm>
        </p:spPr>
        <p:txBody>
          <a:bodyPr/>
          <a:lstStyle/>
          <a:p>
            <a:pPr eaLnBrk="1" hangingPunct="1"/>
            <a:r>
              <a:rPr lang="en-US" dirty="0"/>
              <a:t>Deadlocks occur when</a:t>
            </a:r>
            <a:r>
              <a:rPr lang="en-US" sz="2800" dirty="0"/>
              <a:t> …</a:t>
            </a:r>
          </a:p>
          <a:p>
            <a:pPr lvl="1" eaLnBrk="1" hangingPunct="1"/>
            <a:r>
              <a:rPr lang="en-US" dirty="0"/>
              <a:t>processes are granted </a:t>
            </a:r>
            <a:r>
              <a:rPr lang="en-US" dirty="0">
                <a:solidFill>
                  <a:srgbClr val="FF0000"/>
                </a:solidFill>
              </a:rPr>
              <a:t>exclusive</a:t>
            </a:r>
            <a:r>
              <a:rPr lang="en-US" dirty="0"/>
              <a:t> access to devices</a:t>
            </a:r>
          </a:p>
          <a:p>
            <a:pPr lvl="1" eaLnBrk="1" hangingPunct="1"/>
            <a:r>
              <a:rPr lang="en-US" dirty="0"/>
              <a:t>we refer to these devices generally as </a:t>
            </a:r>
            <a:r>
              <a:rPr lang="en-US" u="sng" dirty="0"/>
              <a:t>resources</a:t>
            </a:r>
            <a:endParaRPr lang="en-US" sz="2300" dirty="0"/>
          </a:p>
          <a:p>
            <a:pPr eaLnBrk="1" hangingPunct="1"/>
            <a:r>
              <a:rPr lang="en-US" dirty="0" err="1"/>
              <a:t>Preemptable</a:t>
            </a:r>
            <a:r>
              <a:rPr lang="en-US" dirty="0"/>
              <a:t> resources</a:t>
            </a:r>
            <a:endParaRPr lang="en-US" sz="2800" dirty="0"/>
          </a:p>
          <a:p>
            <a:pPr lvl="1" eaLnBrk="1" hangingPunct="1"/>
            <a:r>
              <a:rPr lang="en-US" dirty="0"/>
              <a:t>can be taken away from a process with no ill effects</a:t>
            </a:r>
            <a:endParaRPr lang="en-US" sz="2300" dirty="0"/>
          </a:p>
          <a:p>
            <a:pPr eaLnBrk="1" hangingPunct="1"/>
            <a:r>
              <a:rPr lang="en-US" dirty="0" err="1">
                <a:solidFill>
                  <a:srgbClr val="FF0000"/>
                </a:solidFill>
              </a:rPr>
              <a:t>Nonpreemptable</a:t>
            </a:r>
            <a:r>
              <a:rPr lang="en-US" dirty="0"/>
              <a:t> resources</a:t>
            </a:r>
            <a:endParaRPr lang="en-US" sz="2800" dirty="0"/>
          </a:p>
          <a:p>
            <a:pPr lvl="1" eaLnBrk="1" hangingPunct="1"/>
            <a:r>
              <a:rPr lang="en-US" dirty="0"/>
              <a:t>will cause the process to fail if taken away</a:t>
            </a:r>
            <a:endParaRPr lang="en-US" sz="2300" dirty="0"/>
          </a:p>
          <a:p>
            <a:pPr lvl="1" eaLnBrk="1" hangingPunct="1"/>
            <a:endParaRPr lang="en-US" sz="2300" dirty="0"/>
          </a:p>
          <a:p>
            <a:pPr lvl="1" eaLnBrk="1" hangingPunct="1"/>
            <a:endParaRPr lang="en-US" sz="2300" dirty="0"/>
          </a:p>
        </p:txBody>
      </p:sp>
      <p:sp>
        <p:nvSpPr>
          <p:cNvPr id="4101" name="TextBox 4"/>
          <p:cNvSpPr txBox="1">
            <a:spLocks noChangeArrowheads="1"/>
          </p:cNvSpPr>
          <p:nvPr/>
        </p:nvSpPr>
        <p:spPr bwMode="auto">
          <a:xfrm>
            <a:off x="6358046" y="5653553"/>
            <a:ext cx="2162653" cy="49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2800" dirty="0"/>
              <a:t>לא ניתן לחילוץ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8F948D-F31A-4EB6-B205-9E5531B586D1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F26058D-16A6-4729-AC26-47860C545CF7}" type="slidenum">
              <a:rPr lang="en-US" sz="1600"/>
              <a:pPr eaLnBrk="1" hangingPunct="1"/>
              <a:t>4</a:t>
            </a:fld>
            <a:endParaRPr lang="en-US" sz="16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Resources (2)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8361" y="1892909"/>
            <a:ext cx="8325206" cy="4114800"/>
          </a:xfrm>
        </p:spPr>
        <p:txBody>
          <a:bodyPr/>
          <a:lstStyle/>
          <a:p>
            <a:pPr marL="608407" indent="-608407" eaLnBrk="1" hangingPunct="1"/>
            <a:r>
              <a:rPr lang="en-US"/>
              <a:t>Sequence of events required to use a resource</a:t>
            </a:r>
          </a:p>
          <a:p>
            <a:pPr marL="989449" lvl="1" indent="-532619" eaLnBrk="1" hangingPunct="1">
              <a:buFontTx/>
              <a:buAutoNum type="arabicPeriod"/>
            </a:pPr>
            <a:r>
              <a:rPr lang="en-US"/>
              <a:t>request the resource</a:t>
            </a:r>
          </a:p>
          <a:p>
            <a:pPr marL="989449" lvl="1" indent="-532619" eaLnBrk="1" hangingPunct="1">
              <a:buFontTx/>
              <a:buAutoNum type="arabicPeriod"/>
            </a:pPr>
            <a:r>
              <a:rPr lang="en-US"/>
              <a:t>use the resource</a:t>
            </a:r>
          </a:p>
          <a:p>
            <a:pPr marL="989449" lvl="1" indent="-532619" eaLnBrk="1" hangingPunct="1">
              <a:buFontTx/>
              <a:buAutoNum type="arabicPeriod"/>
            </a:pPr>
            <a:r>
              <a:rPr lang="en-US"/>
              <a:t>release the resource</a:t>
            </a:r>
          </a:p>
          <a:p>
            <a:pPr marL="608407" indent="-608407" eaLnBrk="1" hangingPunct="1">
              <a:buFontTx/>
              <a:buAutoNum type="arabicPeriod"/>
            </a:pPr>
            <a:endParaRPr lang="en-US" sz="2800">
              <a:solidFill>
                <a:schemeClr val="tx1"/>
              </a:solidFill>
            </a:endParaRPr>
          </a:p>
          <a:p>
            <a:pPr marL="608407" indent="-608407" eaLnBrk="1" hangingPunct="1"/>
            <a:r>
              <a:rPr lang="en-US"/>
              <a:t> Must wait if request is denied</a:t>
            </a:r>
          </a:p>
          <a:p>
            <a:pPr marL="989449" lvl="1" indent="-532619" eaLnBrk="1" hangingPunct="1"/>
            <a:r>
              <a:rPr lang="en-US"/>
              <a:t>requesting process may be blocked</a:t>
            </a:r>
          </a:p>
          <a:p>
            <a:pPr marL="989449" lvl="1" indent="-532619" eaLnBrk="1" hangingPunct="1"/>
            <a:r>
              <a:rPr lang="en-US"/>
              <a:t>may fail with error code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A0A808-A59F-41F2-AFF7-84352D4BFED8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7B39458-8FF5-45A2-90EB-41E60C080641}" type="slidenum">
              <a:rPr lang="en-US" sz="1600"/>
              <a:pPr eaLnBrk="1" hangingPunct="1"/>
              <a:t>5</a:t>
            </a:fld>
            <a:endParaRPr lang="en-US" sz="16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 to Deadlocks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10" y="1981202"/>
            <a:ext cx="8861790" cy="4114800"/>
          </a:xfrm>
        </p:spPr>
        <p:txBody>
          <a:bodyPr/>
          <a:lstStyle/>
          <a:p>
            <a:pPr eaLnBrk="1" hangingPunct="1"/>
            <a:r>
              <a:rPr lang="en-US" sz="2800"/>
              <a:t>Formal definition :</a:t>
            </a:r>
            <a:br>
              <a:rPr lang="en-US" sz="2800"/>
            </a:br>
            <a:r>
              <a:rPr lang="en-US" sz="2300" i="1">
                <a:solidFill>
                  <a:srgbClr val="FF6600"/>
                </a:solidFill>
              </a:rPr>
              <a:t>A set of processes is deadlocked if each process in the set is waiting for an event that only another process in the set can cause</a:t>
            </a:r>
          </a:p>
          <a:p>
            <a:pPr eaLnBrk="1" hangingPunct="1"/>
            <a:r>
              <a:rPr lang="en-US" sz="2800"/>
              <a:t>Usually the event is release of a currently held resource</a:t>
            </a:r>
          </a:p>
          <a:p>
            <a:pPr eaLnBrk="1" hangingPunct="1"/>
            <a:r>
              <a:rPr lang="en-US" sz="2800"/>
              <a:t>None of the processes can …</a:t>
            </a:r>
          </a:p>
          <a:p>
            <a:pPr lvl="1" eaLnBrk="1" hangingPunct="1"/>
            <a:r>
              <a:rPr lang="en-US" sz="2300"/>
              <a:t>Run   </a:t>
            </a:r>
            <a:r>
              <a:rPr lang="he-IL" sz="2300"/>
              <a:t>הוא חסום בבלוק (ישן) לא מתקדם</a:t>
            </a:r>
            <a:endParaRPr lang="en-US" sz="2300"/>
          </a:p>
          <a:p>
            <a:pPr lvl="1" eaLnBrk="1" hangingPunct="1"/>
            <a:r>
              <a:rPr lang="en-US" sz="2300"/>
              <a:t>release resources</a:t>
            </a:r>
          </a:p>
          <a:p>
            <a:pPr lvl="1" eaLnBrk="1" hangingPunct="1"/>
            <a:r>
              <a:rPr lang="en-US" sz="2300"/>
              <a:t>be awakened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D26439-7EBD-4DE9-B5D5-4D7DD31E8B4C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u="sng"/>
              <a:t>מסקנות</a:t>
            </a:r>
          </a:p>
        </p:txBody>
      </p:sp>
      <p:sp>
        <p:nvSpPr>
          <p:cNvPr id="7171" name="מציין מיקום תוכן 2"/>
          <p:cNvSpPr>
            <a:spLocks noGrp="1"/>
          </p:cNvSpPr>
          <p:nvPr>
            <p:ph idx="1"/>
          </p:nvPr>
        </p:nvSpPr>
        <p:spPr>
          <a:xfrm>
            <a:off x="1814850" y="1981202"/>
            <a:ext cx="8439434" cy="4114800"/>
          </a:xfrm>
        </p:spPr>
        <p:txBody>
          <a:bodyPr/>
          <a:lstStyle/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האם תהליך יחיד יכול להיות בקיפאון? 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האם בהמתנה פעילה נגדיר קיפאון? 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אם תהליך מבקש משאב וכעבור זמן (</a:t>
            </a:r>
            <a:r>
              <a:rPr lang="en-US" dirty="0"/>
              <a:t>time out</a:t>
            </a:r>
            <a:r>
              <a:rPr lang="he-IL" dirty="0"/>
              <a:t>) מקבל כישלון האם זה נחשב קיפאון?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האם כל אחד מהתהליכים במעגל חייב להחזיק ולהמתין?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מדוע </a:t>
            </a:r>
            <a:r>
              <a:rPr lang="en-US" dirty="0"/>
              <a:t>fork</a:t>
            </a:r>
            <a:r>
              <a:rPr lang="he-IL" dirty="0"/>
              <a:t> מחזירה  כישלון ולא המתנה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מה ההסתברות לצאת מקיפאון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מכירת בית עם משכנתא</a:t>
            </a:r>
          </a:p>
        </p:txBody>
      </p:sp>
      <p:sp>
        <p:nvSpPr>
          <p:cNvPr id="717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0CBCE12-DECC-4B7C-AE67-B7EBB7A84B8C}" type="slidenum">
              <a:rPr lang="en-US" sz="1600"/>
              <a:pPr eaLnBrk="1" hangingPunct="1"/>
              <a:t>6</a:t>
            </a:fld>
            <a:endParaRPr lang="en-US" sz="1600"/>
          </a:p>
        </p:txBody>
      </p:sp>
      <p:cxnSp>
        <p:nvCxnSpPr>
          <p:cNvPr id="7173" name="מחבר ישר 4"/>
          <p:cNvCxnSpPr>
            <a:cxnSpLocks noChangeShapeType="1"/>
          </p:cNvCxnSpPr>
          <p:nvPr/>
        </p:nvCxnSpPr>
        <p:spPr bwMode="auto">
          <a:xfrm>
            <a:off x="2570301" y="106532"/>
            <a:ext cx="14396" cy="66144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4" name="מחבר ישר 5"/>
          <p:cNvCxnSpPr>
            <a:cxnSpLocks noChangeShapeType="1"/>
          </p:cNvCxnSpPr>
          <p:nvPr/>
        </p:nvCxnSpPr>
        <p:spPr bwMode="auto">
          <a:xfrm>
            <a:off x="2972494" y="106533"/>
            <a:ext cx="4800" cy="69167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5" name="מחבר ישר 6"/>
          <p:cNvCxnSpPr>
            <a:cxnSpLocks noChangeShapeType="1"/>
          </p:cNvCxnSpPr>
          <p:nvPr/>
        </p:nvCxnSpPr>
        <p:spPr bwMode="auto">
          <a:xfrm flipV="1">
            <a:off x="2962901" y="841752"/>
            <a:ext cx="756401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6" name="מחבר ישר 7"/>
          <p:cNvCxnSpPr>
            <a:cxnSpLocks noChangeShapeType="1"/>
          </p:cNvCxnSpPr>
          <p:nvPr/>
        </p:nvCxnSpPr>
        <p:spPr bwMode="auto">
          <a:xfrm flipV="1">
            <a:off x="2982091" y="1280809"/>
            <a:ext cx="746802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7" name="מחבר ישר 8"/>
          <p:cNvCxnSpPr>
            <a:cxnSpLocks noChangeShapeType="1"/>
          </p:cNvCxnSpPr>
          <p:nvPr/>
        </p:nvCxnSpPr>
        <p:spPr bwMode="auto">
          <a:xfrm flipV="1">
            <a:off x="1813901" y="896181"/>
            <a:ext cx="756401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8" name="מחבר ישר 9"/>
          <p:cNvCxnSpPr>
            <a:cxnSpLocks noChangeShapeType="1"/>
          </p:cNvCxnSpPr>
          <p:nvPr/>
        </p:nvCxnSpPr>
        <p:spPr bwMode="auto">
          <a:xfrm flipV="1">
            <a:off x="1833093" y="1336449"/>
            <a:ext cx="746802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9" name="מחבר ישר 10"/>
          <p:cNvCxnSpPr>
            <a:cxnSpLocks noChangeShapeType="1"/>
          </p:cNvCxnSpPr>
          <p:nvPr/>
        </p:nvCxnSpPr>
        <p:spPr bwMode="auto">
          <a:xfrm>
            <a:off x="2599098" y="1384831"/>
            <a:ext cx="9599" cy="103898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80" name="מחבר ישר 11"/>
          <p:cNvCxnSpPr>
            <a:cxnSpLocks noChangeShapeType="1"/>
          </p:cNvCxnSpPr>
          <p:nvPr/>
        </p:nvCxnSpPr>
        <p:spPr bwMode="auto">
          <a:xfrm>
            <a:off x="2962899" y="1330402"/>
            <a:ext cx="9599" cy="103898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81" name="מחבר חץ ישר 12"/>
          <p:cNvCxnSpPr>
            <a:cxnSpLocks noChangeShapeType="1"/>
          </p:cNvCxnSpPr>
          <p:nvPr/>
        </p:nvCxnSpPr>
        <p:spPr bwMode="auto">
          <a:xfrm flipH="1" flipV="1">
            <a:off x="2774122" y="988105"/>
            <a:ext cx="417556" cy="120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182" name="מחבר חץ ישר 13"/>
          <p:cNvCxnSpPr>
            <a:cxnSpLocks noChangeShapeType="1"/>
          </p:cNvCxnSpPr>
          <p:nvPr/>
        </p:nvCxnSpPr>
        <p:spPr bwMode="auto">
          <a:xfrm>
            <a:off x="2700846" y="669569"/>
            <a:ext cx="0" cy="45204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183" name="מחבר חץ ישר 14"/>
          <p:cNvCxnSpPr>
            <a:cxnSpLocks noChangeShapeType="1"/>
          </p:cNvCxnSpPr>
          <p:nvPr/>
        </p:nvCxnSpPr>
        <p:spPr bwMode="auto">
          <a:xfrm flipV="1">
            <a:off x="2894746" y="1094536"/>
            <a:ext cx="0" cy="47841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184" name="מחבר חץ ישר 15"/>
          <p:cNvCxnSpPr>
            <a:cxnSpLocks noChangeShapeType="1"/>
          </p:cNvCxnSpPr>
          <p:nvPr/>
        </p:nvCxnSpPr>
        <p:spPr bwMode="auto">
          <a:xfrm>
            <a:off x="2414539" y="1208239"/>
            <a:ext cx="397398" cy="120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3AC94C-D6E7-4DD1-9931-598A58D34524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435" y="1890988"/>
            <a:ext cx="1660525" cy="111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05 0.00093 L -0.00976 -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5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09584 L 0.00078 0.009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37 -0.00185 L 0.00651 -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9 -0.097 L 0.0004 -0.0134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u="sng"/>
              <a:t>מסקנות</a:t>
            </a:r>
          </a:p>
        </p:txBody>
      </p:sp>
      <p:sp>
        <p:nvSpPr>
          <p:cNvPr id="7171" name="מציין מיקום תוכן 2"/>
          <p:cNvSpPr>
            <a:spLocks noGrp="1"/>
          </p:cNvSpPr>
          <p:nvPr>
            <p:ph idx="1"/>
          </p:nvPr>
        </p:nvSpPr>
        <p:spPr>
          <a:xfrm>
            <a:off x="1814850" y="1981202"/>
            <a:ext cx="8439434" cy="4114800"/>
          </a:xfrm>
        </p:spPr>
        <p:txBody>
          <a:bodyPr/>
          <a:lstStyle/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האם תהליך יחיד יכול להיות בקיפאון? לא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האם בהמתנה פעילה נגדיר קיפאון? לא 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אם אחרי </a:t>
            </a:r>
            <a:r>
              <a:rPr lang="en-US" dirty="0"/>
              <a:t>X</a:t>
            </a:r>
            <a:r>
              <a:rPr lang="he-IL" dirty="0"/>
              <a:t> זמן יש </a:t>
            </a:r>
            <a:r>
              <a:rPr lang="en-US" dirty="0"/>
              <a:t>time out</a:t>
            </a:r>
            <a:r>
              <a:rPr lang="he-IL" dirty="0"/>
              <a:t> ? אין </a:t>
            </a:r>
            <a:r>
              <a:rPr lang="he-IL" dirty="0" err="1"/>
              <a:t>קפאון</a:t>
            </a:r>
            <a:endParaRPr lang="he-IL" dirty="0"/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האם כל אחד מהתהליכים במעגל חייב להחזיק ולהמתין? כן.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מדוע </a:t>
            </a:r>
            <a:r>
              <a:rPr lang="en-US" dirty="0"/>
              <a:t>fork</a:t>
            </a:r>
            <a:r>
              <a:rPr lang="he-IL" dirty="0"/>
              <a:t> מחזירה  כישלון ולא המתנה? למנוע קיפאון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מה ההסתברות לצאת מקיפאון? 0%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מכירת בית עם משכנתא . איך נפתר? </a:t>
            </a:r>
            <a:r>
              <a:rPr lang="he-IL" dirty="0" err="1"/>
              <a:t>ספולר</a:t>
            </a:r>
            <a:r>
              <a:rPr lang="he-IL" sz="2400" dirty="0"/>
              <a:t> (מנהל)</a:t>
            </a:r>
            <a:endParaRPr lang="he-IL" dirty="0"/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endParaRPr lang="he-IL" dirty="0"/>
          </a:p>
        </p:txBody>
      </p:sp>
      <p:sp>
        <p:nvSpPr>
          <p:cNvPr id="7172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0CBCE12-DECC-4B7C-AE67-B7EBB7A84B8C}" type="slidenum">
              <a:rPr lang="en-US" sz="1600"/>
              <a:pPr eaLnBrk="1" hangingPunct="1"/>
              <a:t>7</a:t>
            </a:fld>
            <a:endParaRPr lang="en-US" sz="1600"/>
          </a:p>
        </p:txBody>
      </p:sp>
      <p:cxnSp>
        <p:nvCxnSpPr>
          <p:cNvPr id="7173" name="מחבר ישר 4"/>
          <p:cNvCxnSpPr>
            <a:cxnSpLocks noChangeShapeType="1"/>
          </p:cNvCxnSpPr>
          <p:nvPr/>
        </p:nvCxnSpPr>
        <p:spPr bwMode="auto">
          <a:xfrm rot="16200000" flipH="1">
            <a:off x="2033774" y="865143"/>
            <a:ext cx="1038981" cy="959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4" name="מחבר ישר 5"/>
          <p:cNvCxnSpPr>
            <a:cxnSpLocks noChangeShapeType="1"/>
          </p:cNvCxnSpPr>
          <p:nvPr/>
        </p:nvCxnSpPr>
        <p:spPr bwMode="auto">
          <a:xfrm rot="16200000" flipH="1">
            <a:off x="2426371" y="895382"/>
            <a:ext cx="1038981" cy="959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5" name="מחבר ישר 6"/>
          <p:cNvCxnSpPr>
            <a:cxnSpLocks noChangeShapeType="1"/>
          </p:cNvCxnSpPr>
          <p:nvPr/>
        </p:nvCxnSpPr>
        <p:spPr bwMode="auto">
          <a:xfrm flipV="1">
            <a:off x="2936267" y="1463212"/>
            <a:ext cx="756401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6" name="מחבר ישר 7"/>
          <p:cNvCxnSpPr>
            <a:cxnSpLocks noChangeShapeType="1"/>
          </p:cNvCxnSpPr>
          <p:nvPr/>
        </p:nvCxnSpPr>
        <p:spPr bwMode="auto">
          <a:xfrm flipV="1">
            <a:off x="2955457" y="1902269"/>
            <a:ext cx="746802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7" name="מחבר ישר 8"/>
          <p:cNvCxnSpPr>
            <a:cxnSpLocks noChangeShapeType="1"/>
          </p:cNvCxnSpPr>
          <p:nvPr/>
        </p:nvCxnSpPr>
        <p:spPr bwMode="auto">
          <a:xfrm flipV="1">
            <a:off x="1787267" y="1517641"/>
            <a:ext cx="756401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8" name="מחבר ישר 9"/>
          <p:cNvCxnSpPr>
            <a:cxnSpLocks noChangeShapeType="1"/>
          </p:cNvCxnSpPr>
          <p:nvPr/>
        </p:nvCxnSpPr>
        <p:spPr bwMode="auto">
          <a:xfrm flipV="1">
            <a:off x="1806459" y="1957909"/>
            <a:ext cx="746802" cy="1209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79" name="מחבר ישר 10"/>
          <p:cNvCxnSpPr>
            <a:cxnSpLocks noChangeShapeType="1"/>
          </p:cNvCxnSpPr>
          <p:nvPr/>
        </p:nvCxnSpPr>
        <p:spPr bwMode="auto">
          <a:xfrm rot="16200000" flipH="1">
            <a:off x="2057773" y="2520982"/>
            <a:ext cx="1038981" cy="959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80" name="מחבר ישר 11"/>
          <p:cNvCxnSpPr>
            <a:cxnSpLocks noChangeShapeType="1"/>
          </p:cNvCxnSpPr>
          <p:nvPr/>
        </p:nvCxnSpPr>
        <p:spPr bwMode="auto">
          <a:xfrm rot="16200000" flipH="1">
            <a:off x="2421574" y="2466553"/>
            <a:ext cx="1038981" cy="959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81" name="מחבר חץ ישר 12"/>
          <p:cNvCxnSpPr>
            <a:cxnSpLocks noChangeShapeType="1"/>
          </p:cNvCxnSpPr>
          <p:nvPr/>
        </p:nvCxnSpPr>
        <p:spPr bwMode="auto">
          <a:xfrm rot="10800000">
            <a:off x="2790355" y="1609565"/>
            <a:ext cx="417556" cy="120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182" name="מחבר חץ ישר 13"/>
          <p:cNvCxnSpPr>
            <a:cxnSpLocks noChangeShapeType="1"/>
          </p:cNvCxnSpPr>
          <p:nvPr/>
        </p:nvCxnSpPr>
        <p:spPr bwMode="auto">
          <a:xfrm rot="16200000" flipH="1">
            <a:off x="2259990" y="1281219"/>
            <a:ext cx="818846" cy="959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183" name="מחבר חץ ישר 14"/>
          <p:cNvCxnSpPr>
            <a:cxnSpLocks noChangeShapeType="1"/>
          </p:cNvCxnSpPr>
          <p:nvPr/>
        </p:nvCxnSpPr>
        <p:spPr bwMode="auto">
          <a:xfrm rot="16200000" flipV="1">
            <a:off x="2591695" y="2068619"/>
            <a:ext cx="562430" cy="959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184" name="מחבר חץ ישר 15"/>
          <p:cNvCxnSpPr>
            <a:cxnSpLocks noChangeShapeType="1"/>
          </p:cNvCxnSpPr>
          <p:nvPr/>
        </p:nvCxnSpPr>
        <p:spPr bwMode="auto">
          <a:xfrm>
            <a:off x="2354564" y="1829699"/>
            <a:ext cx="397398" cy="120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6EAEF2-98FB-4785-9BBE-5FA3AA827B83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4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AA86513-CD5E-4F3C-9FF3-F45773EB6EA4}" type="slidenum">
              <a:rPr lang="en-US" sz="1600"/>
              <a:pPr eaLnBrk="1" hangingPunct="1"/>
              <a:t>8</a:t>
            </a:fld>
            <a:endParaRPr lang="en-US" sz="16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Four Conditions for Deadlock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0216" y="1981202"/>
            <a:ext cx="8463431" cy="4114800"/>
          </a:xfrm>
        </p:spPr>
        <p:txBody>
          <a:bodyPr/>
          <a:lstStyle/>
          <a:p>
            <a:pPr marL="608407" indent="-608407" eaLnBrk="1" hangingPunct="1">
              <a:lnSpc>
                <a:spcPct val="90000"/>
              </a:lnSpc>
              <a:buSzPct val="50000"/>
              <a:buFont typeface="Wingdings" pitchFamily="2" charset="2"/>
              <a:buAutoNum type="arabicPeriod"/>
            </a:pPr>
            <a:r>
              <a:rPr lang="en-US" sz="2800" dirty="0"/>
              <a:t>Mutual exclusion condition </a:t>
            </a:r>
            <a:r>
              <a:rPr lang="he-IL" sz="2800" dirty="0"/>
              <a:t>משאב </a:t>
            </a:r>
            <a:r>
              <a:rPr lang="he-IL" sz="2800" dirty="0" err="1"/>
              <a:t>אקסלובי</a:t>
            </a:r>
            <a:r>
              <a:rPr lang="he-IL" sz="2800" dirty="0"/>
              <a:t> - </a:t>
            </a:r>
            <a:endParaRPr lang="en-US" sz="2800" dirty="0"/>
          </a:p>
          <a:p>
            <a:pPr marL="989449" lvl="1" indent="-532619" eaLnBrk="1" hangingPunct="1">
              <a:lnSpc>
                <a:spcPct val="90000"/>
              </a:lnSpc>
              <a:buClr>
                <a:schemeClr val="tx1"/>
              </a:buClr>
              <a:buSzPct val="50000"/>
              <a:buFontTx/>
              <a:buChar char="•"/>
            </a:pPr>
            <a:r>
              <a:rPr lang="en-US" sz="2300" dirty="0"/>
              <a:t>each resource assigned to 1 process or is available</a:t>
            </a:r>
          </a:p>
          <a:p>
            <a:pPr marL="608407" indent="-608407" eaLnBrk="1" hangingPunct="1">
              <a:lnSpc>
                <a:spcPct val="90000"/>
              </a:lnSpc>
              <a:buSzPct val="50000"/>
              <a:buFont typeface="Wingdings" pitchFamily="2" charset="2"/>
              <a:buAutoNum type="arabicPeriod"/>
            </a:pPr>
            <a:r>
              <a:rPr lang="en-US" sz="2800" dirty="0"/>
              <a:t>Hold and wait condition</a:t>
            </a:r>
          </a:p>
          <a:p>
            <a:pPr marL="989449" lvl="1" indent="-532619" eaLnBrk="1" hangingPunct="1">
              <a:lnSpc>
                <a:spcPct val="90000"/>
              </a:lnSpc>
              <a:buClr>
                <a:schemeClr val="tx1"/>
              </a:buClr>
              <a:buSzPct val="50000"/>
              <a:buFontTx/>
              <a:buChar char="•"/>
            </a:pPr>
            <a:r>
              <a:rPr lang="en-US" sz="2300" dirty="0"/>
              <a:t>process holding resources can request additional</a:t>
            </a:r>
          </a:p>
          <a:p>
            <a:pPr marL="608407" indent="-608407" eaLnBrk="1" hangingPunct="1">
              <a:lnSpc>
                <a:spcPct val="90000"/>
              </a:lnSpc>
              <a:buSzPct val="50000"/>
              <a:buFont typeface="Wingdings" pitchFamily="2" charset="2"/>
              <a:buAutoNum type="arabicPeriod"/>
            </a:pPr>
            <a:r>
              <a:rPr lang="en-US" sz="2800" dirty="0"/>
              <a:t>No preemption condition</a:t>
            </a:r>
          </a:p>
          <a:p>
            <a:pPr marL="989449" lvl="1" indent="-532619" eaLnBrk="1" hangingPunct="1">
              <a:lnSpc>
                <a:spcPct val="90000"/>
              </a:lnSpc>
              <a:buClr>
                <a:schemeClr val="tx1"/>
              </a:buClr>
              <a:buSzPct val="50000"/>
              <a:buFontTx/>
              <a:buChar char="•"/>
            </a:pPr>
            <a:r>
              <a:rPr lang="en-US" sz="2300" dirty="0"/>
              <a:t>previously granted resources cannot forcibly taken away</a:t>
            </a:r>
          </a:p>
          <a:p>
            <a:pPr marL="608407" indent="-608407" eaLnBrk="1" hangingPunct="1">
              <a:lnSpc>
                <a:spcPct val="90000"/>
              </a:lnSpc>
              <a:buSzPct val="50000"/>
              <a:buFont typeface="Wingdings" pitchFamily="2" charset="2"/>
              <a:buAutoNum type="arabicPeriod"/>
            </a:pPr>
            <a:r>
              <a:rPr lang="en-US" sz="2800" dirty="0"/>
              <a:t>Circular wait condition</a:t>
            </a:r>
          </a:p>
          <a:p>
            <a:pPr marL="989449" lvl="1" indent="-532619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sz="2300" dirty="0"/>
              <a:t>must be a circular chain of 2 or more processes</a:t>
            </a:r>
          </a:p>
          <a:p>
            <a:pPr marL="989449" lvl="1" indent="-532619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sz="2300" dirty="0"/>
              <a:t>each is waiting for resource held by next member of the chain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032AAB-90D8-45D6-B21F-B416C5087EE7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D675C25-80D4-4EFF-84D1-4FAE9A70BB5F}" type="slidenum">
              <a:rPr lang="en-US" sz="1600"/>
              <a:pPr eaLnBrk="1" hangingPunct="1"/>
              <a:t>9</a:t>
            </a:fld>
            <a:endParaRPr lang="en-US" sz="16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2089381" y="1"/>
            <a:ext cx="7772304" cy="1143000"/>
          </a:xfrm>
        </p:spPr>
        <p:txBody>
          <a:bodyPr/>
          <a:lstStyle/>
          <a:p>
            <a:pPr eaLnBrk="1" hangingPunct="1"/>
            <a:r>
              <a:rPr lang="en-US"/>
              <a:t>Deadlock Modeling (2)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68" y="1377648"/>
            <a:ext cx="7963324" cy="4718352"/>
          </a:xfrm>
        </p:spPr>
        <p:txBody>
          <a:bodyPr/>
          <a:lstStyle/>
          <a:p>
            <a:pPr eaLnBrk="1" hangingPunct="1"/>
            <a:r>
              <a:rPr lang="en-US" sz="2800"/>
              <a:t>Modeled with directed graphs</a:t>
            </a:r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lvl="1" eaLnBrk="1" hangingPunct="1"/>
            <a:r>
              <a:rPr lang="en-US" sz="2300"/>
              <a:t>resource R assigned to process A</a:t>
            </a:r>
          </a:p>
          <a:p>
            <a:pPr lvl="1" eaLnBrk="1" hangingPunct="1"/>
            <a:r>
              <a:rPr lang="en-US" sz="2300"/>
              <a:t>process B is requesting/waiting for resource S</a:t>
            </a:r>
          </a:p>
          <a:p>
            <a:pPr lvl="1" eaLnBrk="1" hangingPunct="1"/>
            <a:r>
              <a:rPr lang="en-US" sz="2300"/>
              <a:t>process C and D are in deadlock over resources T and U</a:t>
            </a:r>
          </a:p>
        </p:txBody>
      </p:sp>
      <p:pic>
        <p:nvPicPr>
          <p:cNvPr id="9221" name="Picture 7" descr="3-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351" y="2300518"/>
            <a:ext cx="5806431" cy="2282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2814114" y="3043165"/>
            <a:ext cx="640253" cy="368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/>
              <a:t>hold</a:t>
            </a:r>
            <a:endParaRPr lang="he-IL" sz="2000" dirty="0"/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4608621" y="3195564"/>
            <a:ext cx="640253" cy="368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/>
              <a:t>wait</a:t>
            </a:r>
            <a:endParaRPr lang="he-IL" sz="20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B79B4B-33D3-4DF3-98CF-0C1AB1C57AAE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A25258F-7BC2-4D44-85BD-0C002DF6A8F0}" type="slidenum">
              <a:rPr lang="en-US" sz="1600"/>
              <a:pPr eaLnBrk="1" hangingPunct="1"/>
              <a:t>10</a:t>
            </a:fld>
            <a:endParaRPr lang="en-US" sz="16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Deadlock Modeling (3)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0" y="1561497"/>
            <a:ext cx="7773264" cy="4534504"/>
          </a:xfrm>
        </p:spPr>
        <p:txBody>
          <a:bodyPr/>
          <a:lstStyle/>
          <a:p>
            <a:pPr marL="608407" indent="-608407" eaLnBrk="1" hangingPunct="1">
              <a:buNone/>
            </a:pPr>
            <a:r>
              <a:rPr lang="en-US"/>
              <a:t>Strategies for dealing with Deadlocks</a:t>
            </a:r>
          </a:p>
          <a:p>
            <a:pPr marL="989449" lvl="1" indent="-532619" eaLnBrk="1" hangingPunct="1">
              <a:buSzPct val="50000"/>
              <a:buFont typeface="Wingdings" pitchFamily="2" charset="2"/>
              <a:buAutoNum type="arabicPeriod"/>
            </a:pPr>
            <a:r>
              <a:rPr lang="en-US"/>
              <a:t>just ignore the problem altogether</a:t>
            </a:r>
          </a:p>
          <a:p>
            <a:pPr marL="989449" lvl="1" indent="-532619" eaLnBrk="1" hangingPunct="1">
              <a:buSzPct val="50000"/>
              <a:buFont typeface="Wingdings" pitchFamily="2" charset="2"/>
              <a:buAutoNum type="arabicPeriod"/>
            </a:pPr>
            <a:r>
              <a:rPr lang="en-US"/>
              <a:t>detection and recovery</a:t>
            </a:r>
          </a:p>
          <a:p>
            <a:pPr marL="989449" lvl="1" indent="-532619" eaLnBrk="1" hangingPunct="1">
              <a:buSzPct val="50000"/>
              <a:buFont typeface="Wingdings" pitchFamily="2" charset="2"/>
              <a:buAutoNum type="arabicPeriod"/>
            </a:pPr>
            <a:r>
              <a:rPr lang="en-US"/>
              <a:t>dynamic avoidance </a:t>
            </a:r>
          </a:p>
          <a:p>
            <a:pPr marL="1370493" lvl="2" indent="-456831" eaLnBrk="1" hangingPunct="1">
              <a:buClr>
                <a:schemeClr val="tx1"/>
              </a:buClr>
              <a:buSzPct val="50000"/>
            </a:pPr>
            <a:r>
              <a:rPr lang="en-US"/>
              <a:t>careful resource allocation</a:t>
            </a:r>
          </a:p>
          <a:p>
            <a:pPr marL="989449" lvl="1" indent="-532619" eaLnBrk="1" hangingPunct="1">
              <a:buSzPct val="50000"/>
              <a:buFont typeface="Wingdings" pitchFamily="2" charset="2"/>
              <a:buAutoNum type="arabicPeriod"/>
            </a:pPr>
            <a:r>
              <a:rPr lang="en-US"/>
              <a:t>prevention </a:t>
            </a:r>
          </a:p>
          <a:p>
            <a:pPr marL="1370493" lvl="2" indent="-456831" eaLnBrk="1" hangingPunct="1">
              <a:buClr>
                <a:schemeClr val="tx1"/>
              </a:buClr>
            </a:pPr>
            <a:r>
              <a:rPr lang="en-US"/>
              <a:t>negating one of the four necessary conditions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0B4A22-C614-401B-9D52-CD5A98DA0BD3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C14B081-8B8C-4239-8C25-BD4CED452EC3}" type="slidenum">
              <a:rPr lang="en-US" sz="1600"/>
              <a:pPr eaLnBrk="1" hangingPunct="1"/>
              <a:t>11</a:t>
            </a:fld>
            <a:endParaRPr lang="en-US" sz="16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8166" y="6201235"/>
            <a:ext cx="7772304" cy="656771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How deadlock occurs</a:t>
            </a:r>
          </a:p>
        </p:txBody>
      </p:sp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96"/>
          <a:stretch>
            <a:fillRect/>
          </a:stretch>
        </p:blipFill>
        <p:spPr bwMode="auto">
          <a:xfrm>
            <a:off x="3133757" y="1070437"/>
            <a:ext cx="6009929" cy="5169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4896135" y="828526"/>
            <a:ext cx="4943481" cy="3385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A                         B                        C</a:t>
            </a:r>
          </a:p>
        </p:txBody>
      </p:sp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533" y="1"/>
            <a:ext cx="7772304" cy="1143000"/>
          </a:xfrm>
        </p:spPr>
        <p:txBody>
          <a:bodyPr/>
          <a:lstStyle/>
          <a:p>
            <a:pPr eaLnBrk="1" hangingPunct="1"/>
            <a:r>
              <a:rPr lang="en-US" dirty="0"/>
              <a:t>Deadlock Modeling (4)</a:t>
            </a:r>
          </a:p>
        </p:txBody>
      </p:sp>
      <p:sp>
        <p:nvSpPr>
          <p:cNvPr id="11271" name="מלבן 6"/>
          <p:cNvSpPr>
            <a:spLocks noChangeArrowheads="1"/>
          </p:cNvSpPr>
          <p:nvPr/>
        </p:nvSpPr>
        <p:spPr bwMode="auto">
          <a:xfrm>
            <a:off x="2552059" y="2273909"/>
            <a:ext cx="7400823" cy="3862009"/>
          </a:xfrm>
          <a:prstGeom prst="rect">
            <a:avLst/>
          </a:prstGeom>
          <a:solidFill>
            <a:schemeClr val="accent3"/>
          </a:solidFill>
          <a:ln w="9525" algn="ctr">
            <a:noFill/>
            <a:round/>
            <a:headEnd/>
            <a:tailEnd/>
          </a:ln>
        </p:spPr>
        <p:txBody>
          <a:bodyPr wrap="none" lIns="60630" tIns="30315" rIns="60630" bIns="30315"/>
          <a:lstStyle/>
          <a:p>
            <a:endParaRPr lang="he-IL" sz="1600"/>
          </a:p>
        </p:txBody>
      </p:sp>
      <p:sp>
        <p:nvSpPr>
          <p:cNvPr id="11272" name="TextBox 7"/>
          <p:cNvSpPr txBox="1">
            <a:spLocks noChangeArrowheads="1"/>
          </p:cNvSpPr>
          <p:nvPr/>
        </p:nvSpPr>
        <p:spPr bwMode="auto">
          <a:xfrm>
            <a:off x="1717901" y="648309"/>
            <a:ext cx="1979312" cy="2107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900" dirty="0"/>
              <a:t>האם התוכניות יובילו לקיפאון?</a:t>
            </a:r>
          </a:p>
          <a:p>
            <a:pPr algn="r" rtl="1" eaLnBrk="1" hangingPunct="1"/>
            <a:r>
              <a:rPr lang="he-IL" sz="1900" dirty="0"/>
              <a:t>תשובה: תלוי בתזמון.</a:t>
            </a:r>
          </a:p>
          <a:p>
            <a:pPr algn="r" rtl="1" eaLnBrk="1" hangingPunct="1"/>
            <a:r>
              <a:rPr lang="he-IL" sz="1900" dirty="0"/>
              <a:t>מסקנה: מקבליות -&gt; גוררת סכנת קיפאון 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5B916-5C15-4BDD-984A-0AA36358B5E0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4452A70-9D80-481E-B4C3-F1AC181F2655}" type="slidenum">
              <a:rPr lang="en-US" sz="1600"/>
              <a:pPr eaLnBrk="1" hangingPunct="1"/>
              <a:t>12</a:t>
            </a:fld>
            <a:endParaRPr lang="en-US" sz="16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8166" y="6201235"/>
            <a:ext cx="7772304" cy="656771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How deadlock occurs</a:t>
            </a:r>
          </a:p>
        </p:txBody>
      </p:sp>
      <p:pic>
        <p:nvPicPr>
          <p:cNvPr id="12292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96"/>
          <a:stretch>
            <a:fillRect/>
          </a:stretch>
        </p:blipFill>
        <p:spPr bwMode="auto">
          <a:xfrm>
            <a:off x="3133757" y="1070437"/>
            <a:ext cx="6009929" cy="5169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4896135" y="828526"/>
            <a:ext cx="4943481" cy="3385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>
                <a:latin typeface="Tahoma" pitchFamily="34" charset="0"/>
              </a:rPr>
              <a:t>A                         B                        C</a:t>
            </a:r>
          </a:p>
        </p:txBody>
      </p:sp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533" y="1"/>
            <a:ext cx="7772304" cy="1143000"/>
          </a:xfrm>
        </p:spPr>
        <p:txBody>
          <a:bodyPr/>
          <a:lstStyle/>
          <a:p>
            <a:pPr eaLnBrk="1" hangingPunct="1"/>
            <a:r>
              <a:rPr lang="en-US" dirty="0"/>
              <a:t>Deadlock Modeling (4)</a:t>
            </a:r>
          </a:p>
        </p:txBody>
      </p:sp>
      <p:cxnSp>
        <p:nvCxnSpPr>
          <p:cNvPr id="12295" name="מחבר חץ ישר 8"/>
          <p:cNvCxnSpPr>
            <a:cxnSpLocks noChangeShapeType="1"/>
          </p:cNvCxnSpPr>
          <p:nvPr/>
        </p:nvCxnSpPr>
        <p:spPr bwMode="auto">
          <a:xfrm>
            <a:off x="5850266" y="1369187"/>
            <a:ext cx="514506" cy="120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1E25F-530B-4685-95ED-B74E74CA41F1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9E08194-44D6-4EE9-AF36-1E0983802288}" type="slidenum">
              <a:rPr lang="en-US" sz="1600"/>
              <a:pPr eaLnBrk="1" hangingPunct="1"/>
              <a:t>13</a:t>
            </a:fld>
            <a:endParaRPr lang="en-US" sz="16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123938" y="1"/>
            <a:ext cx="7772304" cy="1143000"/>
          </a:xfrm>
        </p:spPr>
        <p:txBody>
          <a:bodyPr/>
          <a:lstStyle/>
          <a:p>
            <a:pPr eaLnBrk="1" hangingPunct="1"/>
            <a:r>
              <a:rPr lang="en-US"/>
              <a:t>Deadlock Modeling (5)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4557" y="6201235"/>
            <a:ext cx="7772304" cy="656771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How deadlock can be avoided</a:t>
            </a:r>
          </a:p>
        </p:txBody>
      </p:sp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18"/>
          <a:stretch>
            <a:fillRect/>
          </a:stretch>
        </p:blipFill>
        <p:spPr bwMode="auto">
          <a:xfrm>
            <a:off x="2247764" y="966415"/>
            <a:ext cx="7982522" cy="485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4581281" y="5685975"/>
            <a:ext cx="5772834" cy="36928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>
                <a:latin typeface="Tahoma" pitchFamily="34" charset="0"/>
              </a:rPr>
              <a:t>(o)                              (p)                         (q)</a:t>
            </a:r>
          </a:p>
        </p:txBody>
      </p:sp>
      <p:cxnSp>
        <p:nvCxnSpPr>
          <p:cNvPr id="13319" name="מחבר חץ ישר 7"/>
          <p:cNvCxnSpPr>
            <a:cxnSpLocks noChangeShapeType="1"/>
          </p:cNvCxnSpPr>
          <p:nvPr/>
        </p:nvCxnSpPr>
        <p:spPr bwMode="auto">
          <a:xfrm flipV="1">
            <a:off x="1883006" y="1711482"/>
            <a:ext cx="368601" cy="20803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A0A084-821A-4E59-8047-3094D30100CF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cxnSp>
        <p:nvCxnSpPr>
          <p:cNvPr id="10" name="מחבר חץ ישר 9"/>
          <p:cNvCxnSpPr/>
          <p:nvPr/>
        </p:nvCxnSpPr>
        <p:spPr bwMode="auto">
          <a:xfrm flipV="1">
            <a:off x="9767266" y="1786056"/>
            <a:ext cx="10052" cy="41801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C03A14C-D2D9-4EE4-8D27-3C08E454FA82}" type="slidenum">
              <a:rPr lang="en-US" sz="1600"/>
              <a:pPr eaLnBrk="1" hangingPunct="1"/>
              <a:t>14</a:t>
            </a:fld>
            <a:endParaRPr lang="en-US" sz="16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Ostrich Algorithm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0" y="1447801"/>
            <a:ext cx="7773264" cy="4648200"/>
          </a:xfrm>
        </p:spPr>
        <p:txBody>
          <a:bodyPr/>
          <a:lstStyle/>
          <a:p>
            <a:pPr eaLnBrk="1" hangingPunct="1"/>
            <a:r>
              <a:rPr lang="en-US"/>
              <a:t>Pretend there is no problem</a:t>
            </a:r>
          </a:p>
          <a:p>
            <a:pPr eaLnBrk="1" hangingPunct="1"/>
            <a:r>
              <a:rPr lang="en-US"/>
              <a:t>Reasonable if </a:t>
            </a:r>
          </a:p>
          <a:p>
            <a:pPr lvl="1" eaLnBrk="1" hangingPunct="1"/>
            <a:r>
              <a:rPr lang="en-US"/>
              <a:t>deadlocks occur very rarely </a:t>
            </a:r>
          </a:p>
          <a:p>
            <a:pPr lvl="1" eaLnBrk="1" hangingPunct="1"/>
            <a:r>
              <a:rPr lang="en-US"/>
              <a:t>cost of prevention is high</a:t>
            </a:r>
          </a:p>
          <a:p>
            <a:pPr eaLnBrk="1" hangingPunct="1"/>
            <a:r>
              <a:rPr lang="en-US"/>
              <a:t>UNIX and Windows takes this approach</a:t>
            </a:r>
          </a:p>
          <a:p>
            <a:pPr eaLnBrk="1" hangingPunct="1"/>
            <a:r>
              <a:rPr lang="en-US"/>
              <a:t>It is a trade off between </a:t>
            </a:r>
          </a:p>
          <a:p>
            <a:pPr lvl="1" eaLnBrk="1" hangingPunct="1"/>
            <a:r>
              <a:rPr lang="en-US"/>
              <a:t>convenience</a:t>
            </a:r>
          </a:p>
          <a:p>
            <a:pPr lvl="1" eaLnBrk="1" hangingPunct="1"/>
            <a:r>
              <a:rPr lang="en-US"/>
              <a:t>correctness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44AFA3-C262-46A7-A6B6-CC3CC0D5BA82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0E245D7-F9E3-482C-9AE2-0CFD53FFB722}" type="slidenum">
              <a:rPr lang="en-US" sz="1600"/>
              <a:pPr eaLnBrk="1" hangingPunct="1"/>
              <a:t>15</a:t>
            </a:fld>
            <a:endParaRPr lang="en-US" sz="16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/>
              <a:t>Detection with One Resource of Each Type (1)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6684" y="4867126"/>
            <a:ext cx="8801316" cy="137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Note the resource ownership and requests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A cycle can be found within the graph, denoting deadlock</a:t>
            </a: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20" y="1464739"/>
            <a:ext cx="7000545" cy="3178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מלבן 5"/>
          <p:cNvSpPr>
            <a:spLocks noChangeArrowheads="1"/>
          </p:cNvSpPr>
          <p:nvPr/>
        </p:nvSpPr>
        <p:spPr bwMode="auto">
          <a:xfrm>
            <a:off x="8323931" y="2302092"/>
            <a:ext cx="262053" cy="32569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60630" tIns="30315" rIns="60630" bIns="30315"/>
          <a:lstStyle/>
          <a:p>
            <a:r>
              <a:rPr lang="en-US" sz="1600" dirty="0"/>
              <a:t>T</a:t>
            </a:r>
            <a:endParaRPr lang="he-IL" sz="16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58B2DF-1AF8-4883-BAFA-D7471D0B729F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699B178-418C-45EA-BADA-F9DADF1E278A}" type="slidenum">
              <a:rPr lang="en-US" sz="1600"/>
              <a:pPr eaLnBrk="1" hangingPunct="1"/>
              <a:t>16</a:t>
            </a:fld>
            <a:endParaRPr lang="en-US" sz="16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/>
              <a:t>Detection with One Resource of Each Type (2)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9107" y="5324327"/>
            <a:ext cx="8813795" cy="771676"/>
          </a:xfrm>
        </p:spPr>
        <p:txBody>
          <a:bodyPr/>
          <a:lstStyle/>
          <a:p>
            <a:pPr marL="608407" indent="-608407" algn="ctr" eaLnBrk="1" hangingPunct="1">
              <a:buNone/>
            </a:pPr>
            <a:r>
              <a:rPr lang="en-US" sz="2800"/>
              <a:t>Data structures needed by deadlock detection algorithm</a:t>
            </a:r>
            <a:endParaRPr lang="en-US" sz="2300"/>
          </a:p>
        </p:txBody>
      </p: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254" y="1152684"/>
            <a:ext cx="8326166" cy="39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F9A38B-D3F0-4642-AB65-7596953AE0F2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E6F7027-6351-47DF-A051-F8C02B4BE549}" type="slidenum">
              <a:rPr lang="en-US" sz="1600"/>
              <a:pPr eaLnBrk="1" hangingPunct="1"/>
              <a:t>17</a:t>
            </a:fld>
            <a:endParaRPr lang="en-US" sz="16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/>
              <a:t>Detection with One Resource of Each Type (3)</a:t>
            </a:r>
          </a:p>
        </p:txBody>
      </p:sp>
      <p:sp>
        <p:nvSpPr>
          <p:cNvPr id="17412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1676624" y="5381176"/>
            <a:ext cx="8838752" cy="71482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 example for the deadlock detection algorithm</a:t>
            </a:r>
            <a:endParaRPr lang="en-US" sz="2800"/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1" t="42857" r="28337" b="35199"/>
          <a:stretch>
            <a:fillRect/>
          </a:stretch>
        </p:blipFill>
        <p:spPr bwMode="auto">
          <a:xfrm>
            <a:off x="2815065" y="1049869"/>
            <a:ext cx="6305578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Box 6"/>
          <p:cNvSpPr txBox="1">
            <a:spLocks noChangeArrowheads="1"/>
          </p:cNvSpPr>
          <p:nvPr/>
        </p:nvSpPr>
        <p:spPr bwMode="auto">
          <a:xfrm>
            <a:off x="1960754" y="4278090"/>
            <a:ext cx="1697102" cy="30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he-IL" sz="1600"/>
              <a:t>לכל תהליך שורה</a:t>
            </a:r>
          </a:p>
        </p:txBody>
      </p:sp>
      <p:sp>
        <p:nvSpPr>
          <p:cNvPr id="17415" name="TextBox 7"/>
          <p:cNvSpPr txBox="1">
            <a:spLocks noChangeArrowheads="1"/>
          </p:cNvSpPr>
          <p:nvPr/>
        </p:nvSpPr>
        <p:spPr bwMode="auto">
          <a:xfrm>
            <a:off x="9120643" y="2620931"/>
            <a:ext cx="727604" cy="30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 dirty="0" err="1"/>
              <a:t>Ri</a:t>
            </a:r>
            <a:r>
              <a:rPr lang="en-US" sz="1600" dirty="0"/>
              <a:t>&lt;=A</a:t>
            </a:r>
            <a:endParaRPr lang="he-IL" sz="1600" dirty="0"/>
          </a:p>
        </p:txBody>
      </p:sp>
      <p:sp>
        <p:nvSpPr>
          <p:cNvPr id="17419" name="TextBox 13"/>
          <p:cNvSpPr txBox="1">
            <a:spLocks noChangeArrowheads="1"/>
          </p:cNvSpPr>
          <p:nvPr/>
        </p:nvSpPr>
        <p:spPr bwMode="auto">
          <a:xfrm>
            <a:off x="6360945" y="2335160"/>
            <a:ext cx="2114658" cy="134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000"/>
              </a:lnSpc>
            </a:pPr>
            <a:r>
              <a:rPr lang="en-US" sz="1800" u="sng" dirty="0"/>
              <a:t> + C</a:t>
            </a:r>
            <a:r>
              <a:rPr lang="en-US" sz="1200" u="sng" dirty="0"/>
              <a:t>3</a:t>
            </a:r>
            <a:r>
              <a:rPr lang="en-US" sz="1800" u="sng" dirty="0"/>
              <a:t>=0     1     2    0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  A=   2    2      2     0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+C</a:t>
            </a:r>
            <a:r>
              <a:rPr lang="en-US" sz="1200" dirty="0"/>
              <a:t>2</a:t>
            </a:r>
            <a:r>
              <a:rPr lang="en-US" sz="1800" dirty="0"/>
              <a:t>= </a:t>
            </a:r>
            <a:r>
              <a:rPr lang="en-US" sz="1800" u="sng" dirty="0"/>
              <a:t>2     0     0     1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   A = 4     2     2      1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+C1= 0    0    1      0</a:t>
            </a:r>
            <a:endParaRPr lang="he-IL" sz="3200" dirty="0"/>
          </a:p>
        </p:txBody>
      </p:sp>
      <p:sp>
        <p:nvSpPr>
          <p:cNvPr id="17420" name="TextBox 14"/>
          <p:cNvSpPr txBox="1">
            <a:spLocks noChangeArrowheads="1"/>
          </p:cNvSpPr>
          <p:nvPr/>
        </p:nvSpPr>
        <p:spPr bwMode="auto">
          <a:xfrm>
            <a:off x="6190074" y="1161147"/>
            <a:ext cx="862949" cy="35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900" dirty="0"/>
              <a:t>A=E-C</a:t>
            </a:r>
            <a:endParaRPr lang="he-IL" dirty="0"/>
          </a:p>
        </p:txBody>
      </p:sp>
      <p:sp>
        <p:nvSpPr>
          <p:cNvPr id="17423" name="TextBox 20"/>
          <p:cNvSpPr txBox="1">
            <a:spLocks noChangeArrowheads="1"/>
          </p:cNvSpPr>
          <p:nvPr/>
        </p:nvSpPr>
        <p:spPr bwMode="auto">
          <a:xfrm>
            <a:off x="2242010" y="5207005"/>
            <a:ext cx="6391969" cy="35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rtl="1" eaLnBrk="1" hangingPunct="1"/>
            <a:r>
              <a:rPr lang="he-IL" sz="1900" dirty="0"/>
              <a:t>לוודא שמקבלים בסוף בחזרה את </a:t>
            </a:r>
            <a:r>
              <a:rPr lang="en-US" sz="1900" dirty="0"/>
              <a:t> E</a:t>
            </a:r>
            <a:r>
              <a:rPr lang="he-IL" sz="1900" dirty="0"/>
              <a:t>, בכל שלב מתקיים </a:t>
            </a:r>
            <a:r>
              <a:rPr lang="en-US" sz="1900" dirty="0"/>
              <a:t>A+C=E</a:t>
            </a:r>
            <a:endParaRPr lang="he-IL" sz="19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D0FB4-160B-4E60-BDAC-E18FA65BE6FF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 build="p"/>
      <p:bldP spid="17420" grpId="0"/>
      <p:bldP spid="174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B3D9C5D-E49B-4C4A-B4FC-DDBD00D9EEFF}" type="slidenum">
              <a:rPr lang="en-US" sz="1600"/>
              <a:pPr eaLnBrk="1" hangingPunct="1"/>
              <a:t>18</a:t>
            </a:fld>
            <a:endParaRPr lang="en-US" sz="16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Recovery from Deadlock (1)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81533" y="1752600"/>
            <a:ext cx="7772304" cy="4057952"/>
          </a:xfrm>
        </p:spPr>
        <p:txBody>
          <a:bodyPr/>
          <a:lstStyle/>
          <a:p>
            <a:pPr eaLnBrk="1" hangingPunct="1"/>
            <a:r>
              <a:rPr lang="en-US"/>
              <a:t>Recovery through preemption</a:t>
            </a:r>
          </a:p>
          <a:p>
            <a:pPr lvl="1" eaLnBrk="1" hangingPunct="1"/>
            <a:r>
              <a:rPr lang="en-US"/>
              <a:t>take a resource from some other process</a:t>
            </a:r>
          </a:p>
          <a:p>
            <a:pPr lvl="1" eaLnBrk="1" hangingPunct="1"/>
            <a:r>
              <a:rPr lang="en-US"/>
              <a:t>depends on nature of the resource</a:t>
            </a:r>
          </a:p>
          <a:p>
            <a:pPr eaLnBrk="1" hangingPunct="1"/>
            <a:r>
              <a:rPr lang="en-US"/>
              <a:t>Recovery through rollback</a:t>
            </a:r>
          </a:p>
          <a:p>
            <a:pPr lvl="1" eaLnBrk="1" hangingPunct="1"/>
            <a:r>
              <a:rPr lang="en-US"/>
              <a:t>checkpoint a process periodically</a:t>
            </a:r>
          </a:p>
          <a:p>
            <a:pPr lvl="1" eaLnBrk="1" hangingPunct="1"/>
            <a:r>
              <a:rPr lang="en-US"/>
              <a:t>use this saved state </a:t>
            </a:r>
          </a:p>
          <a:p>
            <a:pPr lvl="1" eaLnBrk="1" hangingPunct="1"/>
            <a:r>
              <a:rPr lang="en-US"/>
              <a:t>restart the process if it is found deadlocked</a:t>
            </a:r>
          </a:p>
          <a:p>
            <a:pPr eaLnBrk="1" hangingPunct="1"/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779107-D263-4817-8AF2-47E4BE700EC8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0844207-25AA-46FF-9C56-A7F427ED24D0}" type="slidenum">
              <a:rPr lang="en-US" sz="1600"/>
              <a:pPr eaLnBrk="1" hangingPunct="1"/>
              <a:t>19</a:t>
            </a:fld>
            <a:endParaRPr lang="en-US" sz="16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Recovery from Deadlock (2)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3082" y="2067081"/>
            <a:ext cx="8428875" cy="4114800"/>
          </a:xfrm>
        </p:spPr>
        <p:txBody>
          <a:bodyPr/>
          <a:lstStyle/>
          <a:p>
            <a:pPr eaLnBrk="1" hangingPunct="1"/>
            <a:r>
              <a:rPr lang="en-US"/>
              <a:t>Recovery through killing processes</a:t>
            </a:r>
          </a:p>
          <a:p>
            <a:pPr lvl="1" eaLnBrk="1" hangingPunct="1"/>
            <a:r>
              <a:rPr lang="en-US"/>
              <a:t>crudest but simplest way to break a deadlock</a:t>
            </a:r>
          </a:p>
          <a:p>
            <a:pPr lvl="1" eaLnBrk="1" hangingPunct="1"/>
            <a:r>
              <a:rPr lang="en-US"/>
              <a:t>kill one of the processes in the deadlock cycle</a:t>
            </a:r>
          </a:p>
          <a:p>
            <a:pPr lvl="1" eaLnBrk="1" hangingPunct="1"/>
            <a:r>
              <a:rPr lang="en-US"/>
              <a:t>the other processes get its resources </a:t>
            </a:r>
          </a:p>
          <a:p>
            <a:pPr lvl="1" eaLnBrk="1" hangingPunct="1"/>
            <a:r>
              <a:rPr lang="en-US"/>
              <a:t>choose process that can be rerun from the beginning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BE8E22-FE97-4853-AA71-F755611E004A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1AC70AF-5D02-4622-A0B3-28E1BA45882B}" type="slidenum">
              <a:rPr lang="en-US" sz="1600"/>
              <a:pPr eaLnBrk="1" hangingPunct="1"/>
              <a:t>20</a:t>
            </a:fld>
            <a:endParaRPr lang="en-US" sz="16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Deadlock Avoidance</a:t>
            </a:r>
            <a:br>
              <a:rPr lang="en-US"/>
            </a:br>
            <a:r>
              <a:rPr lang="en-US" sz="3100"/>
              <a:t>Resource Trajectories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6964" y="5781529"/>
            <a:ext cx="7772304" cy="857554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Two process resource trajectories</a:t>
            </a:r>
          </a:p>
        </p:txBody>
      </p:sp>
      <p:pic>
        <p:nvPicPr>
          <p:cNvPr id="2048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680" y="1311129"/>
            <a:ext cx="7001505" cy="420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מלבן 5"/>
          <p:cNvSpPr>
            <a:spLocks noChangeArrowheads="1"/>
          </p:cNvSpPr>
          <p:nvPr/>
        </p:nvSpPr>
        <p:spPr bwMode="auto">
          <a:xfrm>
            <a:off x="5472066" y="2041679"/>
            <a:ext cx="2192410" cy="1307496"/>
          </a:xfrm>
          <a:prstGeom prst="rect">
            <a:avLst/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0630" tIns="30315" rIns="60630" bIns="30315"/>
          <a:lstStyle/>
          <a:p>
            <a:endParaRPr lang="he-IL" sz="1600"/>
          </a:p>
        </p:txBody>
      </p:sp>
      <p:sp>
        <p:nvSpPr>
          <p:cNvPr id="20487" name="אליפסה 6"/>
          <p:cNvSpPr>
            <a:spLocks noChangeArrowheads="1"/>
          </p:cNvSpPr>
          <p:nvPr/>
        </p:nvSpPr>
        <p:spPr bwMode="auto">
          <a:xfrm>
            <a:off x="6141122" y="2860529"/>
            <a:ext cx="87351" cy="158446"/>
          </a:xfrm>
          <a:prstGeom prst="ellipse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60630" tIns="30315" rIns="60630" bIns="30315"/>
          <a:lstStyle/>
          <a:p>
            <a:endParaRPr lang="he-IL" sz="1600"/>
          </a:p>
        </p:txBody>
      </p:sp>
      <p:cxnSp>
        <p:nvCxnSpPr>
          <p:cNvPr id="20488" name="מחבר חץ ישר 8"/>
          <p:cNvCxnSpPr>
            <a:cxnSpLocks noChangeShapeType="1"/>
          </p:cNvCxnSpPr>
          <p:nvPr/>
        </p:nvCxnSpPr>
        <p:spPr bwMode="auto">
          <a:xfrm>
            <a:off x="5850271" y="3385461"/>
            <a:ext cx="1871803" cy="7378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0489" name="מחבר חץ ישר 10"/>
          <p:cNvCxnSpPr>
            <a:cxnSpLocks noChangeShapeType="1"/>
          </p:cNvCxnSpPr>
          <p:nvPr/>
        </p:nvCxnSpPr>
        <p:spPr bwMode="auto">
          <a:xfrm rot="16200000" flipV="1">
            <a:off x="7133119" y="2708777"/>
            <a:ext cx="1247019" cy="959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0490" name="מחבר חץ ישר 14"/>
          <p:cNvCxnSpPr>
            <a:cxnSpLocks noChangeShapeType="1"/>
          </p:cNvCxnSpPr>
          <p:nvPr/>
        </p:nvCxnSpPr>
        <p:spPr bwMode="auto">
          <a:xfrm rot="5400000" flipH="1" flipV="1">
            <a:off x="5665234" y="3152950"/>
            <a:ext cx="244324" cy="4895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0491" name="מחבר חץ ישר 16"/>
          <p:cNvCxnSpPr>
            <a:cxnSpLocks noChangeShapeType="1"/>
          </p:cNvCxnSpPr>
          <p:nvPr/>
        </p:nvCxnSpPr>
        <p:spPr bwMode="auto">
          <a:xfrm>
            <a:off x="5869465" y="3092759"/>
            <a:ext cx="320606" cy="120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0492" name="מחבר חץ ישר 18"/>
          <p:cNvCxnSpPr>
            <a:cxnSpLocks noChangeShapeType="1"/>
            <a:endCxn id="20487" idx="2"/>
          </p:cNvCxnSpPr>
          <p:nvPr/>
        </p:nvCxnSpPr>
        <p:spPr bwMode="auto">
          <a:xfrm rot="5400000" flipH="1" flipV="1">
            <a:off x="6053469" y="3017205"/>
            <a:ext cx="165705" cy="959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63C577-A49A-497B-B039-81880CF00B30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nimBg="1"/>
      <p:bldP spid="2048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0B1673A-89EF-4DE5-94BF-F8CB3DF50802}" type="slidenum">
              <a:rPr lang="en-US" sz="1600"/>
              <a:pPr eaLnBrk="1" hangingPunct="1"/>
              <a:t>21</a:t>
            </a:fld>
            <a:endParaRPr lang="en-US" sz="16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2148895" y="1"/>
            <a:ext cx="7772304" cy="1143000"/>
          </a:xfrm>
        </p:spPr>
        <p:txBody>
          <a:bodyPr/>
          <a:lstStyle/>
          <a:p>
            <a:pPr eaLnBrk="1" hangingPunct="1"/>
            <a:r>
              <a:rPr lang="en-US"/>
              <a:t>Safe and Unsafe States (1)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0" y="5009849"/>
            <a:ext cx="7773264" cy="514048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Demonstration that the state in (a) is safe</a:t>
            </a: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542" y="2255769"/>
            <a:ext cx="7956604" cy="1782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570296" y="3846287"/>
            <a:ext cx="7270277" cy="33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he-IL" sz="1600">
              <a:latin typeface="Tahoma" pitchFamily="34" charset="0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509817" y="3877738"/>
            <a:ext cx="7243400" cy="29234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300">
                <a:latin typeface="Tahoma" pitchFamily="34" charset="0"/>
              </a:rPr>
              <a:t>(a)                          (b)                         (c)                          (d)                          (e)</a:t>
            </a:r>
          </a:p>
        </p:txBody>
      </p:sp>
      <p:cxnSp>
        <p:nvCxnSpPr>
          <p:cNvPr id="21512" name="מחבר חץ ישר 8"/>
          <p:cNvCxnSpPr>
            <a:cxnSpLocks noChangeShapeType="1"/>
          </p:cNvCxnSpPr>
          <p:nvPr/>
        </p:nvCxnSpPr>
        <p:spPr bwMode="auto">
          <a:xfrm rot="16200000" flipH="1">
            <a:off x="1983742" y="1655620"/>
            <a:ext cx="856343" cy="18430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1513" name="TextBox 9"/>
          <p:cNvSpPr txBox="1">
            <a:spLocks noChangeArrowheads="1"/>
          </p:cNvSpPr>
          <p:nvPr/>
        </p:nvSpPr>
        <p:spPr bwMode="auto">
          <a:xfrm>
            <a:off x="1951155" y="3519714"/>
            <a:ext cx="552902" cy="430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400" dirty="0"/>
              <a:t>A=</a:t>
            </a:r>
            <a:endParaRPr lang="he-IL" sz="2400" dirty="0"/>
          </a:p>
        </p:txBody>
      </p:sp>
      <p:sp>
        <p:nvSpPr>
          <p:cNvPr id="21514" name="TextBox 10"/>
          <p:cNvSpPr txBox="1">
            <a:spLocks noChangeArrowheads="1"/>
          </p:cNvSpPr>
          <p:nvPr/>
        </p:nvSpPr>
        <p:spPr bwMode="auto">
          <a:xfrm>
            <a:off x="10098789" y="2102154"/>
            <a:ext cx="184301" cy="161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R</a:t>
            </a:r>
          </a:p>
          <a:p>
            <a:pPr eaLnBrk="1" hangingPunct="1"/>
            <a:r>
              <a:rPr lang="en-US" sz="2100" dirty="0"/>
              <a:t>6</a:t>
            </a:r>
          </a:p>
          <a:p>
            <a:pPr eaLnBrk="1" hangingPunct="1"/>
            <a:r>
              <a:rPr lang="en-US" sz="2100" dirty="0"/>
              <a:t>0</a:t>
            </a:r>
          </a:p>
          <a:p>
            <a:pPr eaLnBrk="1" hangingPunct="1"/>
            <a:r>
              <a:rPr lang="en-US" sz="2100" dirty="0"/>
              <a:t>0</a:t>
            </a:r>
            <a:endParaRPr lang="he-IL" sz="2100" dirty="0"/>
          </a:p>
        </p:txBody>
      </p:sp>
      <p:sp>
        <p:nvSpPr>
          <p:cNvPr id="21515" name="TextBox 11"/>
          <p:cNvSpPr txBox="1">
            <a:spLocks noChangeArrowheads="1"/>
          </p:cNvSpPr>
          <p:nvPr/>
        </p:nvSpPr>
        <p:spPr bwMode="auto">
          <a:xfrm>
            <a:off x="2571250" y="1986430"/>
            <a:ext cx="417556" cy="55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200" dirty="0"/>
              <a:t>C</a:t>
            </a:r>
            <a:endParaRPr lang="he-IL" sz="3200" dirty="0"/>
          </a:p>
        </p:txBody>
      </p:sp>
      <p:sp>
        <p:nvSpPr>
          <p:cNvPr id="21516" name="TextBox 12"/>
          <p:cNvSpPr txBox="1">
            <a:spLocks noChangeArrowheads="1"/>
          </p:cNvSpPr>
          <p:nvPr/>
        </p:nvSpPr>
        <p:spPr bwMode="auto">
          <a:xfrm>
            <a:off x="2571255" y="1014792"/>
            <a:ext cx="911904" cy="49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 dirty="0"/>
              <a:t>E=10</a:t>
            </a:r>
            <a:endParaRPr lang="he-IL" sz="2800" dirty="0"/>
          </a:p>
        </p:txBody>
      </p:sp>
      <p:cxnSp>
        <p:nvCxnSpPr>
          <p:cNvPr id="21517" name="מחבר ישר 14"/>
          <p:cNvCxnSpPr>
            <a:cxnSpLocks noChangeShapeType="1"/>
          </p:cNvCxnSpPr>
          <p:nvPr/>
        </p:nvCxnSpPr>
        <p:spPr bwMode="auto">
          <a:xfrm>
            <a:off x="2008756" y="3129043"/>
            <a:ext cx="1591513" cy="2419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18" name="TextBox 15"/>
          <p:cNvSpPr txBox="1">
            <a:spLocks noChangeArrowheads="1"/>
          </p:cNvSpPr>
          <p:nvPr/>
        </p:nvSpPr>
        <p:spPr bwMode="auto">
          <a:xfrm>
            <a:off x="5865182" y="3801533"/>
            <a:ext cx="727968" cy="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/>
              <a:t>   </a:t>
            </a:r>
            <a:r>
              <a:rPr lang="en-US" sz="2000" u="sng" dirty="0"/>
              <a:t>+2</a:t>
            </a:r>
          </a:p>
          <a:p>
            <a:pPr eaLnBrk="1" hangingPunct="1"/>
            <a:r>
              <a:rPr lang="en-US" sz="2000" dirty="0"/>
              <a:t>A=7</a:t>
            </a:r>
            <a:endParaRPr lang="he-IL" sz="2000" dirty="0"/>
          </a:p>
        </p:txBody>
      </p:sp>
      <p:cxnSp>
        <p:nvCxnSpPr>
          <p:cNvPr id="21519" name="מחבר חץ ישר 19"/>
          <p:cNvCxnSpPr>
            <a:cxnSpLocks noChangeShapeType="1"/>
          </p:cNvCxnSpPr>
          <p:nvPr/>
        </p:nvCxnSpPr>
        <p:spPr bwMode="auto">
          <a:xfrm>
            <a:off x="3338214" y="3691474"/>
            <a:ext cx="1484004" cy="127120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20" name="מחבר חץ ישר 23"/>
          <p:cNvCxnSpPr>
            <a:cxnSpLocks noChangeShapeType="1"/>
          </p:cNvCxnSpPr>
          <p:nvPr/>
        </p:nvCxnSpPr>
        <p:spPr bwMode="auto">
          <a:xfrm flipV="1">
            <a:off x="4909569" y="3899508"/>
            <a:ext cx="1183555" cy="101358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21" name="מחבר חץ ישר 25"/>
          <p:cNvCxnSpPr>
            <a:cxnSpLocks noChangeShapeType="1"/>
          </p:cNvCxnSpPr>
          <p:nvPr/>
        </p:nvCxnSpPr>
        <p:spPr bwMode="auto">
          <a:xfrm flipV="1">
            <a:off x="5375123" y="3483432"/>
            <a:ext cx="1571355" cy="4838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22" name="מחבר חץ ישר 28"/>
          <p:cNvCxnSpPr>
            <a:cxnSpLocks noChangeShapeType="1"/>
          </p:cNvCxnSpPr>
          <p:nvPr/>
        </p:nvCxnSpPr>
        <p:spPr bwMode="auto">
          <a:xfrm>
            <a:off x="6528918" y="3653974"/>
            <a:ext cx="1348659" cy="123492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23" name="מחבר חץ ישר 30"/>
          <p:cNvCxnSpPr>
            <a:cxnSpLocks noChangeShapeType="1"/>
          </p:cNvCxnSpPr>
          <p:nvPr/>
        </p:nvCxnSpPr>
        <p:spPr bwMode="auto">
          <a:xfrm flipV="1">
            <a:off x="7993729" y="3947889"/>
            <a:ext cx="1232511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1524" name="TextBox 31"/>
          <p:cNvSpPr txBox="1">
            <a:spLocks noChangeArrowheads="1"/>
          </p:cNvSpPr>
          <p:nvPr/>
        </p:nvSpPr>
        <p:spPr bwMode="auto">
          <a:xfrm>
            <a:off x="9096653" y="3874109"/>
            <a:ext cx="827425" cy="707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100" dirty="0"/>
              <a:t>    </a:t>
            </a:r>
            <a:r>
              <a:rPr lang="en-US" sz="2100" u="sng" dirty="0"/>
              <a:t>+3</a:t>
            </a:r>
          </a:p>
          <a:p>
            <a:pPr eaLnBrk="1" hangingPunct="1"/>
            <a:r>
              <a:rPr lang="en-US" sz="2100" dirty="0"/>
              <a:t>A=10</a:t>
            </a:r>
            <a:endParaRPr lang="he-IL" sz="2100" dirty="0"/>
          </a:p>
        </p:txBody>
      </p:sp>
      <p:sp>
        <p:nvSpPr>
          <p:cNvPr id="21525" name="TextBox 32"/>
          <p:cNvSpPr txBox="1">
            <a:spLocks noChangeArrowheads="1"/>
          </p:cNvSpPr>
          <p:nvPr/>
        </p:nvSpPr>
        <p:spPr bwMode="auto">
          <a:xfrm>
            <a:off x="2571256" y="3923699"/>
            <a:ext cx="873510" cy="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 dirty="0"/>
              <a:t>    </a:t>
            </a:r>
            <a:r>
              <a:rPr lang="en-US" sz="2000" u="sng" dirty="0"/>
              <a:t>+2</a:t>
            </a:r>
          </a:p>
          <a:p>
            <a:pPr eaLnBrk="1" hangingPunct="1"/>
            <a:r>
              <a:rPr lang="en-US" sz="2000" dirty="0"/>
              <a:t>A=5</a:t>
            </a:r>
            <a:endParaRPr lang="he-IL" sz="2000" dirty="0"/>
          </a:p>
        </p:txBody>
      </p:sp>
      <p:sp>
        <p:nvSpPr>
          <p:cNvPr id="21526" name="TextBox 33"/>
          <p:cNvSpPr txBox="1">
            <a:spLocks noChangeArrowheads="1"/>
          </p:cNvSpPr>
          <p:nvPr/>
        </p:nvSpPr>
        <p:spPr bwMode="auto">
          <a:xfrm>
            <a:off x="6752580" y="2126346"/>
            <a:ext cx="184301" cy="161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R</a:t>
            </a:r>
          </a:p>
          <a:p>
            <a:pPr eaLnBrk="1" hangingPunct="1"/>
            <a:r>
              <a:rPr lang="en-US" sz="2100" dirty="0"/>
              <a:t>6</a:t>
            </a:r>
          </a:p>
          <a:p>
            <a:pPr eaLnBrk="1" hangingPunct="1"/>
            <a:r>
              <a:rPr lang="en-US" sz="2100" dirty="0"/>
              <a:t>0</a:t>
            </a:r>
          </a:p>
          <a:p>
            <a:pPr eaLnBrk="1" hangingPunct="1"/>
            <a:r>
              <a:rPr lang="en-US" sz="2100" dirty="0"/>
              <a:t>5</a:t>
            </a:r>
            <a:endParaRPr lang="he-IL" sz="2100" dirty="0"/>
          </a:p>
        </p:txBody>
      </p:sp>
      <p:sp>
        <p:nvSpPr>
          <p:cNvPr id="21527" name="TextBox 34"/>
          <p:cNvSpPr txBox="1">
            <a:spLocks noChangeArrowheads="1"/>
          </p:cNvSpPr>
          <p:nvPr/>
        </p:nvSpPr>
        <p:spPr bwMode="auto">
          <a:xfrm>
            <a:off x="3444767" y="2130852"/>
            <a:ext cx="184301" cy="161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R</a:t>
            </a:r>
          </a:p>
          <a:p>
            <a:pPr eaLnBrk="1" hangingPunct="1"/>
            <a:r>
              <a:rPr lang="en-US" sz="2100" dirty="0"/>
              <a:t>6</a:t>
            </a:r>
          </a:p>
          <a:p>
            <a:pPr eaLnBrk="1" hangingPunct="1"/>
            <a:r>
              <a:rPr lang="en-US" sz="2100" dirty="0"/>
              <a:t>2</a:t>
            </a:r>
          </a:p>
          <a:p>
            <a:pPr eaLnBrk="1" hangingPunct="1"/>
            <a:r>
              <a:rPr lang="en-US" sz="2100" dirty="0"/>
              <a:t>5</a:t>
            </a:r>
            <a:endParaRPr lang="he-IL" sz="21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4D6798-C12C-4C47-BF3D-0B03266F3340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/>
      <p:bldP spid="21514" grpId="0"/>
      <p:bldP spid="21515" grpId="0"/>
      <p:bldP spid="21516" grpId="0"/>
      <p:bldP spid="21518" grpId="0"/>
      <p:bldP spid="21524" grpId="0"/>
      <p:bldP spid="21525" grpId="0"/>
      <p:bldP spid="21526" grpId="0"/>
      <p:bldP spid="215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65A07CE-B0A8-44BC-B651-238F2D8F9785}" type="slidenum">
              <a:rPr lang="en-US" sz="1600"/>
              <a:pPr eaLnBrk="1" hangingPunct="1"/>
              <a:t>22</a:t>
            </a:fld>
            <a:endParaRPr lang="en-US" sz="16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Safe and Unsafe States (2)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0" y="5152575"/>
            <a:ext cx="7773264" cy="943429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Demonstration that the sate in b is not safe</a:t>
            </a:r>
          </a:p>
        </p:txBody>
      </p:sp>
      <p:pic>
        <p:nvPicPr>
          <p:cNvPr id="22533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182" y="2333179"/>
            <a:ext cx="8737003" cy="178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 Box 8"/>
          <p:cNvSpPr txBox="1">
            <a:spLocks noChangeArrowheads="1"/>
          </p:cNvSpPr>
          <p:nvPr/>
        </p:nvSpPr>
        <p:spPr bwMode="auto">
          <a:xfrm>
            <a:off x="2295765" y="4028929"/>
            <a:ext cx="8372241" cy="646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/>
              <a:t>(a)                                (b)                                       (c)                             (d)</a:t>
            </a:r>
            <a:r>
              <a:rPr lang="en-US"/>
              <a:t> </a:t>
            </a:r>
          </a:p>
        </p:txBody>
      </p:sp>
      <p:sp>
        <p:nvSpPr>
          <p:cNvPr id="22535" name="TextBox 6"/>
          <p:cNvSpPr txBox="1">
            <a:spLocks noChangeArrowheads="1"/>
          </p:cNvSpPr>
          <p:nvPr/>
        </p:nvSpPr>
        <p:spPr bwMode="auto">
          <a:xfrm>
            <a:off x="3318061" y="2151746"/>
            <a:ext cx="184301" cy="152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200" dirty="0"/>
              <a:t>R</a:t>
            </a:r>
          </a:p>
          <a:p>
            <a:pPr eaLnBrk="1" hangingPunct="1"/>
            <a:r>
              <a:rPr lang="en-US" sz="2000" dirty="0"/>
              <a:t>6</a:t>
            </a:r>
          </a:p>
          <a:p>
            <a:pPr eaLnBrk="1" hangingPunct="1"/>
            <a:r>
              <a:rPr lang="en-US" sz="2000" dirty="0"/>
              <a:t>2</a:t>
            </a:r>
          </a:p>
          <a:p>
            <a:pPr eaLnBrk="1" hangingPunct="1"/>
            <a:r>
              <a:rPr lang="en-US" sz="2000" dirty="0"/>
              <a:t>5</a:t>
            </a:r>
            <a:endParaRPr lang="he-IL" sz="2000" dirty="0"/>
          </a:p>
        </p:txBody>
      </p:sp>
      <p:cxnSp>
        <p:nvCxnSpPr>
          <p:cNvPr id="22536" name="מחבר חץ ישר 8"/>
          <p:cNvCxnSpPr>
            <a:cxnSpLocks noChangeShapeType="1"/>
          </p:cNvCxnSpPr>
          <p:nvPr/>
        </p:nvCxnSpPr>
        <p:spPr bwMode="auto">
          <a:xfrm>
            <a:off x="3522511" y="2542423"/>
            <a:ext cx="591298" cy="13425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2537" name="מחבר חץ ישר 10"/>
          <p:cNvCxnSpPr>
            <a:cxnSpLocks noChangeShapeType="1"/>
          </p:cNvCxnSpPr>
          <p:nvPr/>
        </p:nvCxnSpPr>
        <p:spPr bwMode="auto">
          <a:xfrm>
            <a:off x="4423864" y="1563918"/>
            <a:ext cx="504907" cy="59992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2538" name="TextBox 11"/>
          <p:cNvSpPr txBox="1">
            <a:spLocks noChangeArrowheads="1"/>
          </p:cNvSpPr>
          <p:nvPr/>
        </p:nvSpPr>
        <p:spPr bwMode="auto">
          <a:xfrm>
            <a:off x="3764405" y="1857834"/>
            <a:ext cx="573060" cy="35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900"/>
              <a:t>A++</a:t>
            </a:r>
            <a:endParaRPr lang="he-IL" sz="1900"/>
          </a:p>
        </p:txBody>
      </p:sp>
      <p:sp>
        <p:nvSpPr>
          <p:cNvPr id="22539" name="TextBox 13"/>
          <p:cNvSpPr txBox="1">
            <a:spLocks noChangeArrowheads="1"/>
          </p:cNvSpPr>
          <p:nvPr/>
        </p:nvSpPr>
        <p:spPr bwMode="auto">
          <a:xfrm>
            <a:off x="5646776" y="2065871"/>
            <a:ext cx="184301" cy="161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R</a:t>
            </a:r>
          </a:p>
          <a:p>
            <a:pPr eaLnBrk="1" hangingPunct="1"/>
            <a:r>
              <a:rPr lang="en-US" sz="2100" dirty="0"/>
              <a:t>5</a:t>
            </a:r>
          </a:p>
          <a:p>
            <a:pPr eaLnBrk="1" hangingPunct="1"/>
            <a:r>
              <a:rPr lang="en-US" sz="2100" dirty="0"/>
              <a:t>2</a:t>
            </a:r>
          </a:p>
          <a:p>
            <a:pPr eaLnBrk="1" hangingPunct="1"/>
            <a:r>
              <a:rPr lang="en-US" sz="2100" dirty="0"/>
              <a:t>5</a:t>
            </a:r>
            <a:endParaRPr lang="he-IL" sz="2100" dirty="0"/>
          </a:p>
        </p:txBody>
      </p:sp>
      <p:cxnSp>
        <p:nvCxnSpPr>
          <p:cNvPr id="22540" name="מחבר חץ ישר 15"/>
          <p:cNvCxnSpPr>
            <a:cxnSpLocks noChangeShapeType="1"/>
          </p:cNvCxnSpPr>
          <p:nvPr/>
        </p:nvCxnSpPr>
        <p:spPr bwMode="auto">
          <a:xfrm>
            <a:off x="5500866" y="3911607"/>
            <a:ext cx="1988911" cy="97729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2541" name="מחבר חץ ישר 17"/>
          <p:cNvCxnSpPr>
            <a:cxnSpLocks noChangeShapeType="1"/>
          </p:cNvCxnSpPr>
          <p:nvPr/>
        </p:nvCxnSpPr>
        <p:spPr bwMode="auto">
          <a:xfrm flipV="1">
            <a:off x="7596323" y="3837820"/>
            <a:ext cx="1580954" cy="1087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2542" name="מחבר ישר 19"/>
          <p:cNvCxnSpPr>
            <a:cxnSpLocks noChangeShapeType="1"/>
          </p:cNvCxnSpPr>
          <p:nvPr/>
        </p:nvCxnSpPr>
        <p:spPr bwMode="auto">
          <a:xfrm flipV="1">
            <a:off x="8886431" y="3116950"/>
            <a:ext cx="1609751" cy="9797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3" name="TextBox 20"/>
          <p:cNvSpPr txBox="1">
            <a:spLocks noChangeArrowheads="1"/>
          </p:cNvSpPr>
          <p:nvPr/>
        </p:nvSpPr>
        <p:spPr bwMode="auto">
          <a:xfrm>
            <a:off x="10412940" y="2163839"/>
            <a:ext cx="184301" cy="152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200" dirty="0"/>
              <a:t>R</a:t>
            </a:r>
          </a:p>
          <a:p>
            <a:pPr eaLnBrk="1" hangingPunct="1"/>
            <a:r>
              <a:rPr lang="en-US" sz="2000" dirty="0"/>
              <a:t>5</a:t>
            </a:r>
          </a:p>
          <a:p>
            <a:pPr eaLnBrk="1" hangingPunct="1"/>
            <a:r>
              <a:rPr lang="en-US" sz="2000" dirty="0"/>
              <a:t>-</a:t>
            </a:r>
          </a:p>
          <a:p>
            <a:pPr eaLnBrk="1" hangingPunct="1"/>
            <a:r>
              <a:rPr lang="en-US" sz="2000" dirty="0"/>
              <a:t>5</a:t>
            </a:r>
            <a:endParaRPr lang="he-IL" sz="20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ED46F9-DACD-4457-9AFE-5823E2862236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/>
      <p:bldP spid="22538" grpId="0"/>
      <p:bldP spid="22539" grpId="0"/>
      <p:bldP spid="2254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 </a:t>
            </a:r>
            <a:r>
              <a:rPr lang="he-IL" dirty="0"/>
              <a:t>מצב </a:t>
            </a:r>
            <a:r>
              <a:rPr lang="he-IL"/>
              <a:t>לא בטוח =! קיפאון</a:t>
            </a:r>
            <a:r>
              <a:rPr lang="he-IL" dirty="0"/>
              <a:t>?</a:t>
            </a:r>
          </a:p>
        </p:txBody>
      </p:sp>
      <p:sp>
        <p:nvSpPr>
          <p:cNvPr id="23555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ייתכן ועברנו את נקודת המקסימום (ואין שוב)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התהליך הרבה לפני המקסימום.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לא נגיע מקסימום משום שזה תלוי קלט (המתכנת הצהיר בזמן קומפילציה)</a:t>
            </a:r>
          </a:p>
          <a:p>
            <a:pPr marL="606301" indent="-606301" algn="r" rtl="1" eaLnBrk="1" hangingPunct="1">
              <a:buFont typeface="Times New Roman" pitchFamily="18" charset="0"/>
              <a:buAutoNum type="arabicPeriod"/>
            </a:pPr>
            <a:r>
              <a:rPr lang="he-IL" dirty="0"/>
              <a:t>ייתכן ונשחרר את המשאבים , דהיינו לא עלייה מונוטונית של כל התהליכים</a:t>
            </a:r>
          </a:p>
        </p:txBody>
      </p:sp>
      <p:sp>
        <p:nvSpPr>
          <p:cNvPr id="23556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2F2B940-EF1A-474F-8819-7D9D79B48AEA}" type="slidenum">
              <a:rPr lang="en-US" sz="1600"/>
              <a:pPr eaLnBrk="1" hangingPunct="1"/>
              <a:t>23</a:t>
            </a:fld>
            <a:endParaRPr lang="en-US" sz="160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E1B56C-537C-46BB-AD1C-4E4C7492F78B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E6FDB24-2A23-48ED-998D-25DB11318AB8}" type="slidenum">
              <a:rPr lang="en-US" sz="1600"/>
              <a:pPr eaLnBrk="1" hangingPunct="1"/>
              <a:t>24</a:t>
            </a:fld>
            <a:endParaRPr lang="en-US" sz="16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837894" y="203201"/>
            <a:ext cx="8830113" cy="838200"/>
          </a:xfrm>
        </p:spPr>
        <p:txBody>
          <a:bodyPr/>
          <a:lstStyle/>
          <a:p>
            <a:pPr eaLnBrk="1" hangingPunct="1"/>
            <a:r>
              <a:rPr lang="en-US" sz="3100"/>
              <a:t>The Banker's Algorithm for a Single Resource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95294" y="4781249"/>
            <a:ext cx="6287340" cy="131475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Three resource allocation states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safe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safe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unsafe</a:t>
            </a:r>
          </a:p>
        </p:txBody>
      </p:sp>
      <p:pic>
        <p:nvPicPr>
          <p:cNvPr id="24581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079" y="1329274"/>
            <a:ext cx="8250334" cy="273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7"/>
          <p:cNvSpPr txBox="1">
            <a:spLocks noChangeArrowheads="1"/>
          </p:cNvSpPr>
          <p:nvPr/>
        </p:nvSpPr>
        <p:spPr bwMode="auto">
          <a:xfrm>
            <a:off x="2553020" y="3886204"/>
            <a:ext cx="7801101" cy="40006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/>
              <a:t>(a)                                                (b)                                               (c)</a:t>
            </a:r>
            <a:endParaRPr lang="en-US" dirty="0"/>
          </a:p>
        </p:txBody>
      </p:sp>
      <p:sp>
        <p:nvSpPr>
          <p:cNvPr id="24583" name="TextBox 6"/>
          <p:cNvSpPr txBox="1">
            <a:spLocks noChangeArrowheads="1"/>
          </p:cNvSpPr>
          <p:nvPr/>
        </p:nvSpPr>
        <p:spPr bwMode="auto">
          <a:xfrm>
            <a:off x="6946477" y="1283307"/>
            <a:ext cx="649851" cy="221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 dirty="0"/>
              <a:t>R</a:t>
            </a:r>
          </a:p>
          <a:p>
            <a:pPr eaLnBrk="1" hangingPunct="1"/>
            <a:r>
              <a:rPr lang="en-US" sz="2800" dirty="0"/>
              <a:t>5</a:t>
            </a:r>
          </a:p>
          <a:p>
            <a:pPr eaLnBrk="1" hangingPunct="1"/>
            <a:r>
              <a:rPr lang="en-US" sz="2800" dirty="0"/>
              <a:t>4</a:t>
            </a:r>
          </a:p>
          <a:p>
            <a:pPr eaLnBrk="1" hangingPunct="1"/>
            <a:r>
              <a:rPr lang="en-US" sz="2800" dirty="0"/>
              <a:t>2</a:t>
            </a:r>
          </a:p>
          <a:p>
            <a:pPr eaLnBrk="1" hangingPunct="1"/>
            <a:r>
              <a:rPr lang="en-US" sz="2800" dirty="0"/>
              <a:t>3</a:t>
            </a:r>
          </a:p>
        </p:txBody>
      </p:sp>
      <p:cxnSp>
        <p:nvCxnSpPr>
          <p:cNvPr id="24584" name="מחבר ישר 8"/>
          <p:cNvCxnSpPr>
            <a:cxnSpLocks noChangeShapeType="1"/>
          </p:cNvCxnSpPr>
          <p:nvPr/>
        </p:nvCxnSpPr>
        <p:spPr bwMode="auto">
          <a:xfrm flipV="1">
            <a:off x="4987325" y="2738366"/>
            <a:ext cx="2512057" cy="11006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5" name="TextBox 9"/>
          <p:cNvSpPr txBox="1">
            <a:spLocks noChangeArrowheads="1"/>
          </p:cNvSpPr>
          <p:nvPr/>
        </p:nvSpPr>
        <p:spPr bwMode="auto">
          <a:xfrm>
            <a:off x="6739355" y="4041196"/>
            <a:ext cx="1025655" cy="61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 u="sng" dirty="0"/>
              <a:t> +1+4</a:t>
            </a:r>
          </a:p>
          <a:p>
            <a:pPr eaLnBrk="1" hangingPunct="1"/>
            <a:r>
              <a:rPr lang="en-US" sz="1800" dirty="0"/>
              <a:t>A=9</a:t>
            </a:r>
          </a:p>
        </p:txBody>
      </p:sp>
      <p:cxnSp>
        <p:nvCxnSpPr>
          <p:cNvPr id="24586" name="מחבר ישר 11"/>
          <p:cNvCxnSpPr>
            <a:cxnSpLocks noChangeShapeType="1"/>
          </p:cNvCxnSpPr>
          <p:nvPr/>
        </p:nvCxnSpPr>
        <p:spPr bwMode="auto">
          <a:xfrm flipV="1">
            <a:off x="5084266" y="2358573"/>
            <a:ext cx="2191450" cy="374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587" name="מחבר ישר 13"/>
          <p:cNvCxnSpPr>
            <a:cxnSpLocks noChangeShapeType="1"/>
          </p:cNvCxnSpPr>
          <p:nvPr/>
        </p:nvCxnSpPr>
        <p:spPr bwMode="auto">
          <a:xfrm flipV="1">
            <a:off x="5025712" y="3263298"/>
            <a:ext cx="2327756" cy="8587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588" name="מחבר ישר 15"/>
          <p:cNvCxnSpPr>
            <a:cxnSpLocks noChangeShapeType="1"/>
          </p:cNvCxnSpPr>
          <p:nvPr/>
        </p:nvCxnSpPr>
        <p:spPr bwMode="auto">
          <a:xfrm>
            <a:off x="5103467" y="1821548"/>
            <a:ext cx="2133856" cy="11006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9" name="TextBox 16"/>
          <p:cNvSpPr txBox="1">
            <a:spLocks noChangeArrowheads="1"/>
          </p:cNvSpPr>
          <p:nvPr/>
        </p:nvSpPr>
        <p:spPr bwMode="auto">
          <a:xfrm>
            <a:off x="10134296" y="1307497"/>
            <a:ext cx="649852" cy="221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 dirty="0"/>
              <a:t>R</a:t>
            </a:r>
          </a:p>
          <a:p>
            <a:pPr eaLnBrk="1" hangingPunct="1"/>
            <a:r>
              <a:rPr lang="en-US" sz="2800" dirty="0"/>
              <a:t>5</a:t>
            </a:r>
          </a:p>
          <a:p>
            <a:pPr eaLnBrk="1" hangingPunct="1"/>
            <a:r>
              <a:rPr lang="en-US" sz="2800"/>
              <a:t>3</a:t>
            </a:r>
            <a:endParaRPr lang="en-US" sz="2800" dirty="0"/>
          </a:p>
          <a:p>
            <a:pPr eaLnBrk="1" hangingPunct="1"/>
            <a:r>
              <a:rPr lang="en-US" sz="2800" dirty="0"/>
              <a:t>2</a:t>
            </a:r>
          </a:p>
          <a:p>
            <a:pPr eaLnBrk="1" hangingPunct="1"/>
            <a:r>
              <a:rPr lang="en-US" sz="2800" dirty="0"/>
              <a:t>3</a:t>
            </a:r>
          </a:p>
        </p:txBody>
      </p:sp>
      <p:sp>
        <p:nvSpPr>
          <p:cNvPr id="14" name="TextBox 9"/>
          <p:cNvSpPr txBox="1">
            <a:spLocks noChangeArrowheads="1"/>
          </p:cNvSpPr>
          <p:nvPr/>
        </p:nvSpPr>
        <p:spPr bwMode="auto">
          <a:xfrm>
            <a:off x="6570672" y="3377948"/>
            <a:ext cx="2051310" cy="83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000"/>
              </a:lnSpc>
            </a:pPr>
            <a:r>
              <a:rPr lang="en-US" sz="1800" dirty="0"/>
              <a:t>A=2 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   </a:t>
            </a:r>
            <a:r>
              <a:rPr lang="en-US" sz="1800" u="sng" dirty="0"/>
              <a:t>+2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 A=4</a:t>
            </a:r>
            <a:endParaRPr lang="he-IL" sz="18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0D381E-1232-48EC-9295-0CEFF1B015DD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15" name="TextBox 9"/>
          <p:cNvSpPr txBox="1">
            <a:spLocks noChangeArrowheads="1"/>
          </p:cNvSpPr>
          <p:nvPr/>
        </p:nvSpPr>
        <p:spPr bwMode="auto">
          <a:xfrm>
            <a:off x="6570672" y="4489696"/>
            <a:ext cx="1167698" cy="57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000"/>
              </a:lnSpc>
            </a:pPr>
            <a:r>
              <a:rPr lang="en-US" sz="1800" dirty="0"/>
              <a:t>      </a:t>
            </a:r>
            <a:r>
              <a:rPr lang="en-US" sz="1800" u="sng" dirty="0"/>
              <a:t>+1</a:t>
            </a:r>
          </a:p>
          <a:p>
            <a:pPr eaLnBrk="1" hangingPunct="1">
              <a:lnSpc>
                <a:spcPts val="2000"/>
              </a:lnSpc>
            </a:pPr>
            <a:r>
              <a:rPr lang="en-US" sz="1800" dirty="0"/>
              <a:t> A=10</a:t>
            </a:r>
            <a:endParaRPr lang="he-IL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/>
      <p:bldP spid="24585" grpId="0"/>
      <p:bldP spid="24589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598C8A7-BB98-4AB5-8E58-67E4229ED392}" type="slidenum">
              <a:rPr lang="en-US" sz="1600"/>
              <a:pPr eaLnBrk="1" hangingPunct="1"/>
              <a:t>25</a:t>
            </a:fld>
            <a:endParaRPr lang="en-US" sz="16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2204" y="228604"/>
            <a:ext cx="8200419" cy="863600"/>
          </a:xfrm>
        </p:spPr>
        <p:txBody>
          <a:bodyPr/>
          <a:lstStyle/>
          <a:p>
            <a:pPr eaLnBrk="1" hangingPunct="1"/>
            <a:r>
              <a:rPr lang="en-US" sz="3100"/>
              <a:t>Banker's Algorithm for Multiple Resources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68" y="5644851"/>
            <a:ext cx="8458632" cy="5793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800" dirty="0"/>
              <a:t>Example of banker's algorithm with multiple resources</a:t>
            </a:r>
          </a:p>
        </p:txBody>
      </p:sp>
      <p:pic>
        <p:nvPicPr>
          <p:cNvPr id="25605" name="Picture 7" descr="3-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51" y="1615928"/>
            <a:ext cx="6946791" cy="3640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Box 5"/>
          <p:cNvSpPr txBox="1">
            <a:spLocks noChangeArrowheads="1"/>
          </p:cNvSpPr>
          <p:nvPr/>
        </p:nvSpPr>
        <p:spPr bwMode="auto">
          <a:xfrm>
            <a:off x="2038515" y="3349172"/>
            <a:ext cx="523145" cy="1169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C=</a:t>
            </a:r>
          </a:p>
        </p:txBody>
      </p:sp>
      <p:sp>
        <p:nvSpPr>
          <p:cNvPr id="25607" name="TextBox 7"/>
          <p:cNvSpPr txBox="1">
            <a:spLocks noChangeArrowheads="1"/>
          </p:cNvSpPr>
          <p:nvPr/>
        </p:nvSpPr>
        <p:spPr bwMode="auto">
          <a:xfrm>
            <a:off x="5637178" y="3459240"/>
            <a:ext cx="523145" cy="1169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R=</a:t>
            </a:r>
            <a:endParaRPr lang="he-IL"/>
          </a:p>
        </p:txBody>
      </p:sp>
      <p:cxnSp>
        <p:nvCxnSpPr>
          <p:cNvPr id="25608" name="מחבר ישר 9"/>
          <p:cNvCxnSpPr>
            <a:cxnSpLocks noChangeShapeType="1"/>
          </p:cNvCxnSpPr>
          <p:nvPr/>
        </p:nvCxnSpPr>
        <p:spPr bwMode="auto">
          <a:xfrm>
            <a:off x="2765155" y="5279574"/>
            <a:ext cx="2522615" cy="25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5609" name="TextBox 10"/>
          <p:cNvSpPr txBox="1">
            <a:spLocks noChangeArrowheads="1"/>
          </p:cNvSpPr>
          <p:nvPr/>
        </p:nvSpPr>
        <p:spPr bwMode="auto">
          <a:xfrm>
            <a:off x="2212253" y="5377543"/>
            <a:ext cx="2978567" cy="430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400" dirty="0"/>
              <a:t>   P=     5     3    2    2</a:t>
            </a:r>
            <a:endParaRPr lang="he-IL" sz="2400" dirty="0"/>
          </a:p>
        </p:txBody>
      </p:sp>
      <p:cxnSp>
        <p:nvCxnSpPr>
          <p:cNvPr id="25610" name="מחבר ישר 12"/>
          <p:cNvCxnSpPr>
            <a:cxnSpLocks noChangeShapeType="1"/>
          </p:cNvCxnSpPr>
          <p:nvPr/>
        </p:nvCxnSpPr>
        <p:spPr bwMode="auto">
          <a:xfrm>
            <a:off x="8527433" y="3409651"/>
            <a:ext cx="1425451" cy="4959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5611" name="TextBox 13"/>
          <p:cNvSpPr txBox="1">
            <a:spLocks noChangeArrowheads="1"/>
          </p:cNvSpPr>
          <p:nvPr/>
        </p:nvSpPr>
        <p:spPr bwMode="auto">
          <a:xfrm>
            <a:off x="8779882" y="1747763"/>
            <a:ext cx="1193154" cy="49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630" tIns="30315" rIns="60630" bIns="30315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 dirty="0" err="1"/>
              <a:t>Ri</a:t>
            </a:r>
            <a:r>
              <a:rPr lang="en-US" sz="2800" dirty="0"/>
              <a:t>&lt;=A</a:t>
            </a:r>
            <a:endParaRPr lang="he-IL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8740523" y="3660019"/>
            <a:ext cx="1454248" cy="676775"/>
          </a:xfrm>
          <a:prstGeom prst="rect">
            <a:avLst/>
          </a:prstGeom>
          <a:solidFill>
            <a:schemeClr val="accent3"/>
          </a:solidFill>
        </p:spPr>
        <p:txBody>
          <a:bodyPr wrap="square" lIns="60630" tIns="30315" rIns="60630" bIns="30315" rtlCol="1">
            <a:spAutoFit/>
          </a:bodyPr>
          <a:lstStyle/>
          <a:p>
            <a:pPr>
              <a:defRPr/>
            </a:pPr>
            <a:r>
              <a:rPr lang="en-US" sz="2000" dirty="0"/>
              <a:t>  </a:t>
            </a:r>
            <a:r>
              <a:rPr lang="en-US" sz="2000" u="sng" dirty="0"/>
              <a:t>+ 1101</a:t>
            </a:r>
            <a:r>
              <a:rPr lang="en-US" sz="2000" dirty="0"/>
              <a:t>    D</a:t>
            </a:r>
          </a:p>
          <a:p>
            <a:pPr>
              <a:defRPr/>
            </a:pPr>
            <a:r>
              <a:rPr lang="en-US" sz="2000" dirty="0"/>
              <a:t> =  2121</a:t>
            </a:r>
            <a:endParaRPr lang="he-IL" sz="2000" dirty="0"/>
          </a:p>
        </p:txBody>
      </p:sp>
      <p:cxnSp>
        <p:nvCxnSpPr>
          <p:cNvPr id="25613" name="מחבר ישר 16"/>
          <p:cNvCxnSpPr>
            <a:cxnSpLocks noChangeShapeType="1"/>
          </p:cNvCxnSpPr>
          <p:nvPr/>
        </p:nvCxnSpPr>
        <p:spPr bwMode="auto">
          <a:xfrm>
            <a:off x="6209272" y="4278089"/>
            <a:ext cx="1968753" cy="2419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14" name="מחבר ישר 18"/>
          <p:cNvCxnSpPr>
            <a:cxnSpLocks noChangeShapeType="1"/>
          </p:cNvCxnSpPr>
          <p:nvPr/>
        </p:nvCxnSpPr>
        <p:spPr bwMode="auto">
          <a:xfrm flipV="1">
            <a:off x="2939860" y="4314373"/>
            <a:ext cx="2182811" cy="3628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15" name="מחבר ישר 20"/>
          <p:cNvCxnSpPr>
            <a:cxnSpLocks noChangeShapeType="1"/>
          </p:cNvCxnSpPr>
          <p:nvPr/>
        </p:nvCxnSpPr>
        <p:spPr bwMode="auto">
          <a:xfrm flipV="1">
            <a:off x="6577874" y="2957287"/>
            <a:ext cx="1531999" cy="1330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16" name="מחבר ישר 22"/>
          <p:cNvCxnSpPr>
            <a:cxnSpLocks noChangeShapeType="1"/>
          </p:cNvCxnSpPr>
          <p:nvPr/>
        </p:nvCxnSpPr>
        <p:spPr bwMode="auto">
          <a:xfrm>
            <a:off x="6635464" y="4692954"/>
            <a:ext cx="1620310" cy="374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17" name="מחבר ישר 24"/>
          <p:cNvCxnSpPr>
            <a:cxnSpLocks noChangeShapeType="1"/>
          </p:cNvCxnSpPr>
          <p:nvPr/>
        </p:nvCxnSpPr>
        <p:spPr bwMode="auto">
          <a:xfrm>
            <a:off x="3221102" y="2945191"/>
            <a:ext cx="1658706" cy="25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18" name="מחבר ישר 26"/>
          <p:cNvCxnSpPr>
            <a:cxnSpLocks noChangeShapeType="1"/>
          </p:cNvCxnSpPr>
          <p:nvPr/>
        </p:nvCxnSpPr>
        <p:spPr bwMode="auto">
          <a:xfrm>
            <a:off x="3211509" y="4742547"/>
            <a:ext cx="1765255" cy="2419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19" name="מחבר ישר 28"/>
          <p:cNvCxnSpPr>
            <a:cxnSpLocks noChangeShapeType="1"/>
          </p:cNvCxnSpPr>
          <p:nvPr/>
        </p:nvCxnSpPr>
        <p:spPr bwMode="auto">
          <a:xfrm>
            <a:off x="6684422" y="3874111"/>
            <a:ext cx="1493603" cy="4959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20" name="מחבר ישר 30"/>
          <p:cNvCxnSpPr>
            <a:cxnSpLocks noChangeShapeType="1"/>
          </p:cNvCxnSpPr>
          <p:nvPr/>
        </p:nvCxnSpPr>
        <p:spPr bwMode="auto">
          <a:xfrm flipV="1">
            <a:off x="6722814" y="3421747"/>
            <a:ext cx="1678864" cy="3749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21" name="מחבר ישר 32"/>
          <p:cNvCxnSpPr>
            <a:cxnSpLocks noChangeShapeType="1"/>
          </p:cNvCxnSpPr>
          <p:nvPr/>
        </p:nvCxnSpPr>
        <p:spPr bwMode="auto">
          <a:xfrm flipV="1">
            <a:off x="3318054" y="3373366"/>
            <a:ext cx="1960114" cy="2419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622" name="מחבר ישר 34"/>
          <p:cNvCxnSpPr>
            <a:cxnSpLocks noChangeShapeType="1"/>
          </p:cNvCxnSpPr>
          <p:nvPr/>
        </p:nvCxnSpPr>
        <p:spPr bwMode="auto">
          <a:xfrm>
            <a:off x="3347814" y="3801540"/>
            <a:ext cx="1939957" cy="7257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" name="TextBox 22"/>
          <p:cNvSpPr txBox="1"/>
          <p:nvPr/>
        </p:nvSpPr>
        <p:spPr>
          <a:xfrm>
            <a:off x="8895067" y="5073034"/>
            <a:ext cx="1299704" cy="1030718"/>
          </a:xfrm>
          <a:prstGeom prst="rect">
            <a:avLst/>
          </a:prstGeom>
          <a:solidFill>
            <a:schemeClr val="accent3"/>
          </a:solidFill>
        </p:spPr>
        <p:txBody>
          <a:bodyPr lIns="60630" tIns="30315" rIns="60630" bIns="30315" rtlCol="1">
            <a:spAutoFit/>
          </a:bodyPr>
          <a:lstStyle/>
          <a:p>
            <a:pPr>
              <a:defRPr/>
            </a:pPr>
            <a:r>
              <a:rPr lang="en-US" sz="2100" dirty="0"/>
              <a:t>+ 0100   B</a:t>
            </a:r>
          </a:p>
          <a:p>
            <a:pPr>
              <a:defRPr/>
            </a:pPr>
            <a:r>
              <a:rPr lang="en-US" sz="2100" dirty="0"/>
              <a:t> +</a:t>
            </a:r>
            <a:r>
              <a:rPr lang="en-US" sz="2100" u="sng" dirty="0"/>
              <a:t>1110</a:t>
            </a:r>
            <a:r>
              <a:rPr lang="en-US" sz="2100" dirty="0"/>
              <a:t>   C</a:t>
            </a:r>
          </a:p>
          <a:p>
            <a:pPr>
              <a:defRPr/>
            </a:pPr>
            <a:r>
              <a:rPr lang="en-US" sz="2100" dirty="0"/>
              <a:t>= 6342</a:t>
            </a:r>
            <a:endParaRPr lang="he-IL" sz="2100" dirty="0"/>
          </a:p>
        </p:txBody>
      </p:sp>
      <p:sp>
        <p:nvSpPr>
          <p:cNvPr id="24" name="TextBox 23"/>
          <p:cNvSpPr txBox="1"/>
          <p:nvPr/>
        </p:nvSpPr>
        <p:spPr>
          <a:xfrm>
            <a:off x="8791407" y="4384526"/>
            <a:ext cx="1509921" cy="676775"/>
          </a:xfrm>
          <a:prstGeom prst="rect">
            <a:avLst/>
          </a:prstGeom>
          <a:solidFill>
            <a:schemeClr val="accent3"/>
          </a:solidFill>
        </p:spPr>
        <p:txBody>
          <a:bodyPr wrap="square" lIns="60630" tIns="30315" rIns="60630" bIns="30315" rtlCol="1">
            <a:spAutoFit/>
          </a:bodyPr>
          <a:lstStyle/>
          <a:p>
            <a:pPr>
              <a:defRPr/>
            </a:pPr>
            <a:r>
              <a:rPr lang="en-US" sz="2000" dirty="0"/>
              <a:t> + </a:t>
            </a:r>
            <a:r>
              <a:rPr lang="en-US" sz="2000" u="sng" dirty="0"/>
              <a:t>3011</a:t>
            </a:r>
            <a:r>
              <a:rPr lang="en-US" sz="2000" dirty="0"/>
              <a:t>   A,E</a:t>
            </a:r>
          </a:p>
          <a:p>
            <a:pPr>
              <a:defRPr/>
            </a:pPr>
            <a:r>
              <a:rPr lang="en-US" sz="2000" dirty="0"/>
              <a:t> = 5132</a:t>
            </a:r>
            <a:endParaRPr lang="he-IL" sz="20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07AD10-EBC5-4A03-BE45-77373A4E641B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/>
      <p:bldP spid="15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4FA7279-522E-4F35-B54B-B96E76978106}" type="slidenum">
              <a:rPr lang="en-US" sz="1600"/>
              <a:pPr eaLnBrk="1" hangingPunct="1"/>
              <a:t>26</a:t>
            </a:fld>
            <a:endParaRPr lang="en-US" sz="16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Deadlock Prevention</a:t>
            </a:r>
            <a:br>
              <a:rPr lang="en-US"/>
            </a:br>
            <a:r>
              <a:rPr lang="en-US" sz="2800"/>
              <a:t>Attacking the Mutual Exclusion Condition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3" y="1550612"/>
            <a:ext cx="8201379" cy="454539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Some devices (such as printer) can be spooled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only the printer daemon uses printer resource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thus deadlock for printer eliminated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Not all devices can be spooled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Principle: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avoid assigning resource when not absolutely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as few processes as possible actually claim the resource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88E565-A8F6-48A2-BF82-C11CAFCB2356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4B2F365-B7D5-4C0A-92D6-E58848A1E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4" y="2425147"/>
            <a:ext cx="2391055" cy="150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0597753-BC55-408D-8ED7-145F503B20E0}" type="slidenum">
              <a:rPr lang="en-US" sz="1600"/>
              <a:pPr eaLnBrk="1" hangingPunct="1"/>
              <a:t>27</a:t>
            </a:fld>
            <a:endParaRPr lang="en-US" sz="16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2140255" y="165705"/>
            <a:ext cx="7772304" cy="939800"/>
          </a:xfrm>
        </p:spPr>
        <p:txBody>
          <a:bodyPr/>
          <a:lstStyle/>
          <a:p>
            <a:pPr eaLnBrk="1" hangingPunct="1"/>
            <a:r>
              <a:rPr lang="en-US" sz="3600"/>
              <a:t>Attacking the Hold and Wait Condition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4207" y="1549408"/>
            <a:ext cx="8534464" cy="400836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Require processes to request resources before starting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/>
              <a:t>a process never has to wait for what it needs</a:t>
            </a:r>
          </a:p>
          <a:p>
            <a:pPr eaLnBrk="1" hangingPunct="1">
              <a:lnSpc>
                <a:spcPct val="90000"/>
              </a:lnSpc>
            </a:pPr>
            <a:endParaRPr lang="en-US" sz="230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/>
              <a:t>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/>
              <a:t>may not know required resources at start of run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/>
              <a:t>also ties up resources other processes could be using</a:t>
            </a:r>
          </a:p>
          <a:p>
            <a:pPr lvl="1" eaLnBrk="1" hangingPunct="1">
              <a:lnSpc>
                <a:spcPct val="90000"/>
              </a:lnSpc>
            </a:pPr>
            <a:endParaRPr lang="en-US" sz="23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Variation: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/>
              <a:t>process must give up all resources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/>
              <a:t>then request all immediately needed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CBC72C-2FE0-444C-9297-9263B11F5316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66B6676-F9AB-48F0-BA11-F1F7484003D9}" type="slidenum">
              <a:rPr lang="en-US" sz="1600"/>
              <a:pPr eaLnBrk="1" hangingPunct="1"/>
              <a:t>28</a:t>
            </a:fld>
            <a:endParaRPr lang="en-US" sz="16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0255" y="216510"/>
            <a:ext cx="7772304" cy="787400"/>
          </a:xfrm>
        </p:spPr>
        <p:txBody>
          <a:bodyPr/>
          <a:lstStyle/>
          <a:p>
            <a:pPr eaLnBrk="1" hangingPunct="1"/>
            <a:r>
              <a:rPr lang="en-US" sz="3100"/>
              <a:t>Attacking the No Preemption Condition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9734" y="1911050"/>
            <a:ext cx="8458632" cy="3708400"/>
          </a:xfrm>
        </p:spPr>
        <p:txBody>
          <a:bodyPr/>
          <a:lstStyle/>
          <a:p>
            <a:pPr eaLnBrk="1" hangingPunct="1"/>
            <a:r>
              <a:rPr lang="en-US" dirty="0"/>
              <a:t>This is not a viable option</a:t>
            </a:r>
          </a:p>
          <a:p>
            <a:pPr eaLnBrk="1" hangingPunct="1"/>
            <a:r>
              <a:rPr lang="en-US" dirty="0"/>
              <a:t>Consider a process given the printer</a:t>
            </a:r>
          </a:p>
          <a:p>
            <a:pPr lvl="1" eaLnBrk="1" hangingPunct="1"/>
            <a:r>
              <a:rPr lang="en-US" dirty="0"/>
              <a:t>halfway through its job</a:t>
            </a:r>
          </a:p>
          <a:p>
            <a:pPr lvl="1" eaLnBrk="1" hangingPunct="1"/>
            <a:r>
              <a:rPr lang="en-US" dirty="0"/>
              <a:t>now forcibly take away printer</a:t>
            </a:r>
          </a:p>
          <a:p>
            <a:pPr lvl="1" eaLnBrk="1" hangingPunct="1"/>
            <a:r>
              <a:rPr lang="en-US" dirty="0"/>
              <a:t>!!??</a:t>
            </a: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672" y="4298653"/>
            <a:ext cx="3269417" cy="206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076160" y="5210635"/>
            <a:ext cx="1432170" cy="64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 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218690-1F7E-4552-8B09-FDF021987135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601075A-39C7-4718-868E-83A7D3D57DD2}" type="slidenum">
              <a:rPr lang="en-US" sz="1600"/>
              <a:pPr eaLnBrk="1" hangingPunct="1"/>
              <a:t>29</a:t>
            </a:fld>
            <a:endParaRPr lang="en-US" sz="16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/>
              <a:t>Attacking the Circular Wait Condition (1)</a:t>
            </a:r>
          </a:p>
        </p:txBody>
      </p:sp>
      <p:sp>
        <p:nvSpPr>
          <p:cNvPr id="29700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553233" y="4581679"/>
            <a:ext cx="6143355" cy="1057124"/>
          </a:xfrm>
        </p:spPr>
        <p:txBody>
          <a:bodyPr/>
          <a:lstStyle/>
          <a:p>
            <a:pPr eaLnBrk="1" hangingPunct="1"/>
            <a:r>
              <a:rPr lang="en-US"/>
              <a:t>Normally ordered resources</a:t>
            </a:r>
          </a:p>
          <a:p>
            <a:pPr eaLnBrk="1" hangingPunct="1"/>
            <a:r>
              <a:rPr lang="en-US"/>
              <a:t>A resource graph</a:t>
            </a:r>
            <a:endParaRPr lang="en-US" sz="2800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94" y="1509489"/>
            <a:ext cx="7506412" cy="2696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209583" y="3886204"/>
            <a:ext cx="7144530" cy="40006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9" tIns="45699" rIns="91399" bIns="45699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/>
              <a:t>(a)                                                                      (b)</a:t>
            </a:r>
            <a:endParaRPr lang="en-US"/>
          </a:p>
        </p:txBody>
      </p:sp>
      <p:cxnSp>
        <p:nvCxnSpPr>
          <p:cNvPr id="29703" name="מחבר חץ ישר 7"/>
          <p:cNvCxnSpPr>
            <a:cxnSpLocks noChangeShapeType="1"/>
          </p:cNvCxnSpPr>
          <p:nvPr/>
        </p:nvCxnSpPr>
        <p:spPr bwMode="auto">
          <a:xfrm>
            <a:off x="2008757" y="2028377"/>
            <a:ext cx="330205" cy="4959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9704" name="מחבר חץ ישר 8"/>
          <p:cNvCxnSpPr>
            <a:cxnSpLocks noChangeShapeType="1"/>
          </p:cNvCxnSpPr>
          <p:nvPr/>
        </p:nvCxnSpPr>
        <p:spPr bwMode="auto">
          <a:xfrm>
            <a:off x="1951161" y="2810937"/>
            <a:ext cx="329245" cy="4959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9" name="מחבר חץ ישר 8"/>
          <p:cNvCxnSpPr>
            <a:cxnSpLocks noChangeShapeType="1"/>
          </p:cNvCxnSpPr>
          <p:nvPr/>
        </p:nvCxnSpPr>
        <p:spPr bwMode="auto">
          <a:xfrm>
            <a:off x="1943959" y="3369740"/>
            <a:ext cx="329245" cy="4959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0" name="מחבר חץ ישר 9"/>
          <p:cNvCxnSpPr>
            <a:cxnSpLocks noChangeShapeType="1"/>
          </p:cNvCxnSpPr>
          <p:nvPr/>
        </p:nvCxnSpPr>
        <p:spPr bwMode="auto">
          <a:xfrm>
            <a:off x="1621914" y="3064355"/>
            <a:ext cx="329245" cy="49591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sysDot"/>
            <a:round/>
            <a:headEnd/>
            <a:tailEnd type="arrow" w="med" len="med"/>
          </a:ln>
        </p:spPr>
      </p:cxnSp>
      <p:cxnSp>
        <p:nvCxnSpPr>
          <p:cNvPr id="12" name="מחבר חץ ישר 11"/>
          <p:cNvCxnSpPr>
            <a:cxnSpLocks noChangeShapeType="1"/>
          </p:cNvCxnSpPr>
          <p:nvPr/>
        </p:nvCxnSpPr>
        <p:spPr bwMode="auto">
          <a:xfrm>
            <a:off x="1943959" y="3089148"/>
            <a:ext cx="329245" cy="49591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776BEE-7AD5-4613-8845-D65CDD143B39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2556C53-333F-43A7-9A5B-F7090E90F9C9}" type="slidenum">
              <a:rPr lang="en-US" sz="1600"/>
              <a:pPr eaLnBrk="1" hangingPunct="1"/>
              <a:t>30</a:t>
            </a:fld>
            <a:endParaRPr lang="en-US" sz="1600"/>
          </a:p>
        </p:txBody>
      </p:sp>
      <p:sp>
        <p:nvSpPr>
          <p:cNvPr id="307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/>
              <a:t>Attacking the Circular Wait Condition (1)</a:t>
            </a:r>
          </a:p>
        </p:txBody>
      </p:sp>
      <p:sp>
        <p:nvSpPr>
          <p:cNvPr id="3072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81595" y="5152574"/>
            <a:ext cx="9086406" cy="4572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Summary of approaches to deadlock prevention</a:t>
            </a:r>
            <a:endParaRPr lang="en-US" sz="2800"/>
          </a:p>
        </p:txBody>
      </p:sp>
      <p:pic>
        <p:nvPicPr>
          <p:cNvPr id="30725" name="Picture 105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415" y="1982415"/>
            <a:ext cx="7108053" cy="2172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DC582F-F14E-4DD3-BD76-1AA200E7018C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F9C2010-0C59-4410-95F2-B8A9AC362B6D}" type="slidenum">
              <a:rPr lang="en-US" sz="1600"/>
              <a:pPr eaLnBrk="1" hangingPunct="1"/>
              <a:t>31</a:t>
            </a:fld>
            <a:endParaRPr lang="en-US" sz="16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Issues</a:t>
            </a:r>
            <a:br>
              <a:rPr lang="en-US"/>
            </a:br>
            <a:r>
              <a:rPr lang="en-US" sz="3100"/>
              <a:t>Two-Phase Locking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0" y="1524000"/>
            <a:ext cx="7773264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Phase 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process tries to lock all records it needs, one at a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if needed record found locked, start over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(no real work done in phase one)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If phase one succeeds, it starts second phase,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performing updates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releasing locks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Note similarity to requesting all resources at once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Algorithm works where programmer can arrange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300" dirty="0"/>
              <a:t> program can be stopped, restarted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89952" y="2627682"/>
            <a:ext cx="3084157" cy="661386"/>
          </a:xfrm>
          <a:prstGeom prst="rect">
            <a:avLst/>
          </a:prstGeom>
          <a:noFill/>
        </p:spPr>
        <p:txBody>
          <a:bodyPr wrap="square" lIns="60630" tIns="30315" rIns="60630" bIns="30315" rtlCol="1">
            <a:spAutoFit/>
          </a:bodyPr>
          <a:lstStyle/>
          <a:p>
            <a:pPr algn="r" rtl="1"/>
            <a:r>
              <a:rPr lang="he-IL" sz="1300" dirty="0"/>
              <a:t>פרוטוקול זה שקול לדרישה להחזקת כל המשאבים הניתנים לשינוי, מראש. לכן לא יכול לשמש כפתרון כללי לבעיית הקיפאון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DD22F6-79D7-4748-9444-4D4CE2568E81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8EB940D-6871-4EE4-AADB-CA7853524A7A}" type="slidenum">
              <a:rPr lang="en-US" sz="1600"/>
              <a:pPr eaLnBrk="1" hangingPunct="1"/>
              <a:t>32</a:t>
            </a:fld>
            <a:endParaRPr lang="en-US" sz="16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Nonresource Deadlocks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70" y="1580848"/>
            <a:ext cx="7773264" cy="4515152"/>
          </a:xfrm>
        </p:spPr>
        <p:txBody>
          <a:bodyPr/>
          <a:lstStyle/>
          <a:p>
            <a:pPr eaLnBrk="1" hangingPunct="1"/>
            <a:r>
              <a:rPr lang="en-US"/>
              <a:t>Possible for two processes to deadlock</a:t>
            </a:r>
          </a:p>
          <a:p>
            <a:pPr lvl="1" eaLnBrk="1" hangingPunct="1"/>
            <a:r>
              <a:rPr lang="en-US"/>
              <a:t>each is waiting for the other to do some task</a:t>
            </a:r>
          </a:p>
          <a:p>
            <a:pPr eaLnBrk="1" hangingPunct="1"/>
            <a:r>
              <a:rPr lang="en-US"/>
              <a:t>Can happen with semaphores</a:t>
            </a:r>
          </a:p>
          <a:p>
            <a:pPr lvl="1" eaLnBrk="1" hangingPunct="1"/>
            <a:r>
              <a:rPr lang="en-US"/>
              <a:t>each process required to do a </a:t>
            </a:r>
            <a:r>
              <a:rPr lang="en-US" i="1"/>
              <a:t>down()</a:t>
            </a:r>
            <a:r>
              <a:rPr lang="en-US"/>
              <a:t> on two semaphores (</a:t>
            </a:r>
            <a:r>
              <a:rPr lang="en-US" i="1"/>
              <a:t>mutex</a:t>
            </a:r>
            <a:r>
              <a:rPr lang="en-US"/>
              <a:t> and another)</a:t>
            </a:r>
          </a:p>
          <a:p>
            <a:pPr lvl="1" eaLnBrk="1" hangingPunct="1"/>
            <a:r>
              <a:rPr lang="en-US"/>
              <a:t>if done in wrong order, deadlock results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2FD1B5-B1FB-4BEF-96C3-F5CD77B5418E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492620" indent="-189468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7578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06102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364177" indent="-151574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166732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1970477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227362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2576779" indent="-151574" algn="l" rtl="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26E12B5-A4A1-43E4-86E9-349FF7B04258}" type="slidenum">
              <a:rPr lang="en-US" sz="1600"/>
              <a:pPr eaLnBrk="1" hangingPunct="1"/>
              <a:t>33</a:t>
            </a:fld>
            <a:endParaRPr lang="en-US" sz="16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Starvation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727" y="1063177"/>
            <a:ext cx="8585339" cy="477157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Algorithm to allocate a resource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may be to give to shortest job first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Works great for multiple short jobs in a system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May cause long job to be postponed indefinitely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even though not blocked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Solution: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First-come, first-serve policy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9ED2DA-ECD7-4B3A-9870-FFEC255A608A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050A-1D72-4641-9B35-379592AD6F2E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881" y="149134"/>
            <a:ext cx="7947966" cy="6288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7FC772-9447-4E03-B958-22A1CFC0726E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51407D8-6E90-4867-B78A-2F39BADD09B1}"/>
              </a:ext>
            </a:extLst>
          </p:cNvPr>
          <p:cNvSpPr txBox="1"/>
          <p:nvPr/>
        </p:nvSpPr>
        <p:spPr>
          <a:xfrm>
            <a:off x="9810988" y="2784148"/>
            <a:ext cx="276596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א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F07DF5E6-A991-467E-BEF5-E62BADF58490}"/>
              </a:ext>
            </a:extLst>
          </p:cNvPr>
          <p:cNvSpPr txBox="1"/>
          <p:nvPr/>
        </p:nvSpPr>
        <p:spPr>
          <a:xfrm>
            <a:off x="9829859" y="3897550"/>
            <a:ext cx="606753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ב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40BD257-4631-4025-B0DC-2B70CA80B69B}"/>
              </a:ext>
            </a:extLst>
          </p:cNvPr>
          <p:cNvSpPr txBox="1"/>
          <p:nvPr/>
        </p:nvSpPr>
        <p:spPr>
          <a:xfrm>
            <a:off x="9829859" y="4964351"/>
            <a:ext cx="606753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ג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4489DB5-4769-4217-A587-993B2FAEB1CE}"/>
              </a:ext>
            </a:extLst>
          </p:cNvPr>
          <p:cNvSpPr txBox="1"/>
          <p:nvPr/>
        </p:nvSpPr>
        <p:spPr>
          <a:xfrm>
            <a:off x="9810986" y="5530176"/>
            <a:ext cx="606753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ד</a:t>
            </a:r>
          </a:p>
        </p:txBody>
      </p:sp>
    </p:spTree>
    <p:extLst>
      <p:ext uri="{BB962C8B-B14F-4D97-AF65-F5344CB8AC3E}">
        <p14:creationId xmlns:p14="http://schemas.microsoft.com/office/powerpoint/2010/main" val="522862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050A-1D72-4641-9B35-379592AD6F2E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451" y="218189"/>
            <a:ext cx="8440394" cy="6639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7AAF8A-1D8B-4437-A373-5E4421086BE8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74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050A-1D72-4641-9B35-379592AD6F2E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738" y="396483"/>
            <a:ext cx="7844296" cy="613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686DEC-9E9A-4C92-924A-5BD8ADC2E3FC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38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050A-1D72-4641-9B35-379592AD6F2E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3" y="1164771"/>
            <a:ext cx="869085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36105B-3077-4DD5-B332-A7895C5045B5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41325" y="5515433"/>
            <a:ext cx="227457" cy="553665"/>
          </a:xfrm>
          <a:prstGeom prst="rect">
            <a:avLst/>
          </a:prstGeom>
          <a:noFill/>
        </p:spPr>
        <p:txBody>
          <a:bodyPr wrap="square" lIns="60630" tIns="30315" rIns="60630" bIns="30315" rtlCol="1">
            <a:spAutoFit/>
          </a:bodyPr>
          <a:lstStyle/>
          <a:p>
            <a:r>
              <a:rPr lang="en-US" sz="1600" b="1" dirty="0"/>
              <a:t>3</a:t>
            </a:r>
          </a:p>
          <a:p>
            <a:r>
              <a:rPr lang="en-US" sz="1600" b="1" dirty="0"/>
              <a:t>4</a:t>
            </a:r>
            <a:endParaRPr lang="he-IL" sz="1600" b="1" dirty="0"/>
          </a:p>
        </p:txBody>
      </p:sp>
      <p:graphicFrame>
        <p:nvGraphicFramePr>
          <p:cNvPr id="7" name="מציין מיקום תוכן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528791"/>
              </p:ext>
            </p:extLst>
          </p:nvPr>
        </p:nvGraphicFramePr>
        <p:xfrm>
          <a:off x="3102075" y="4455890"/>
          <a:ext cx="5068268" cy="124775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67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661">
                <a:tc>
                  <a:txBody>
                    <a:bodyPr/>
                    <a:lstStyle/>
                    <a:p>
                      <a:pPr algn="l" rtl="0"/>
                      <a:r>
                        <a:rPr lang="en-US" sz="2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he-IL" sz="2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  <a:endParaRPr lang="he-IL" sz="2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</a:t>
                      </a:r>
                      <a:endParaRPr lang="he-IL" sz="2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28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3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2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A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28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3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2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B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28">
                <a:tc>
                  <a:txBody>
                    <a:bodyPr/>
                    <a:lstStyle/>
                    <a:p>
                      <a:pPr algn="ctr" rtl="1"/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40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C</a:t>
                      </a:r>
                      <a:endParaRPr lang="he-IL" sz="1400" dirty="0"/>
                    </a:p>
                  </a:txBody>
                  <a:tcPr marL="55290" marR="55290" marT="34835" marB="348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378489" y="3622768"/>
            <a:ext cx="743904" cy="415165"/>
          </a:xfrm>
          <a:prstGeom prst="rect">
            <a:avLst/>
          </a:prstGeom>
          <a:noFill/>
        </p:spPr>
        <p:txBody>
          <a:bodyPr wrap="square" lIns="60630" tIns="30315" rIns="60630" bIns="30315" rtlCol="1">
            <a:spAutoFit/>
          </a:bodyPr>
          <a:lstStyle/>
          <a:p>
            <a:r>
              <a:rPr lang="en-US" dirty="0"/>
              <a:t>E=5</a:t>
            </a:r>
            <a:endParaRPr lang="he-IL" dirty="0"/>
          </a:p>
        </p:txBody>
      </p:sp>
      <p:sp>
        <p:nvSpPr>
          <p:cNvPr id="9" name="TextBox 8"/>
          <p:cNvSpPr txBox="1"/>
          <p:nvPr/>
        </p:nvSpPr>
        <p:spPr>
          <a:xfrm>
            <a:off x="8490570" y="4420790"/>
            <a:ext cx="713746" cy="415165"/>
          </a:xfrm>
          <a:prstGeom prst="rect">
            <a:avLst/>
          </a:prstGeom>
          <a:noFill/>
        </p:spPr>
        <p:txBody>
          <a:bodyPr wrap="square" lIns="60630" tIns="30315" rIns="60630" bIns="30315" rtlCol="1">
            <a:spAutoFit/>
          </a:bodyPr>
          <a:lstStyle/>
          <a:p>
            <a:r>
              <a:rPr lang="en-US" dirty="0"/>
              <a:t>A=1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763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050A-1D72-4641-9B35-379592AD6F2E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892" y="174746"/>
            <a:ext cx="7308673" cy="6438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6C250D-0C0D-4DC4-86E5-60FE6AD3BCD9}" type="datetime12">
              <a:rPr lang="he-IL" smtClean="0"/>
              <a:pPr>
                <a:defRPr/>
              </a:pPr>
              <a:t>12/01/2021 20:31</a:t>
            </a:fld>
            <a:endParaRPr lang="en-US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5EC1651A-F523-43DE-9DFB-B131C15E28F4}"/>
              </a:ext>
            </a:extLst>
          </p:cNvPr>
          <p:cNvSpPr txBox="1"/>
          <p:nvPr/>
        </p:nvSpPr>
        <p:spPr>
          <a:xfrm>
            <a:off x="9449810" y="5245245"/>
            <a:ext cx="276596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א</a:t>
            </a:r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6E990388-2C3F-48D8-B9AB-93FC58CB2536}"/>
              </a:ext>
            </a:extLst>
          </p:cNvPr>
          <p:cNvSpPr txBox="1"/>
          <p:nvPr/>
        </p:nvSpPr>
        <p:spPr>
          <a:xfrm>
            <a:off x="9468012" y="5583799"/>
            <a:ext cx="276596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ב</a:t>
            </a:r>
            <a:endParaRPr lang="he-IL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C58F0F19-B77A-4832-83D6-FBA7CE0F4648}"/>
              </a:ext>
            </a:extLst>
          </p:cNvPr>
          <p:cNvSpPr txBox="1"/>
          <p:nvPr/>
        </p:nvSpPr>
        <p:spPr>
          <a:xfrm>
            <a:off x="9468012" y="5877484"/>
            <a:ext cx="276596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ג</a:t>
            </a:r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C1E142F4-7D71-41F3-A0F2-E10013E7F8D0}"/>
              </a:ext>
            </a:extLst>
          </p:cNvPr>
          <p:cNvSpPr txBox="1"/>
          <p:nvPr/>
        </p:nvSpPr>
        <p:spPr>
          <a:xfrm>
            <a:off x="9468012" y="6196765"/>
            <a:ext cx="276596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ד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34665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2050A-1D72-4641-9B35-379592AD6F2E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" b="17838"/>
          <a:stretch/>
        </p:blipFill>
        <p:spPr bwMode="auto">
          <a:xfrm>
            <a:off x="5156489" y="288000"/>
            <a:ext cx="5105703" cy="63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891" y="3696808"/>
            <a:ext cx="2902894" cy="163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E6EBE5-0AC8-418F-B21E-E40CE99C3539}" type="datetime12">
              <a:rPr lang="he-IL" smtClean="0"/>
              <a:pPr>
                <a:defRPr/>
              </a:pPr>
              <a:t>12/01/2021 18:09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291961" y="3696807"/>
            <a:ext cx="1090289" cy="1538550"/>
          </a:xfrm>
          <a:prstGeom prst="rect">
            <a:avLst/>
          </a:prstGeom>
          <a:solidFill>
            <a:schemeClr val="bg1"/>
          </a:solidFill>
        </p:spPr>
        <p:txBody>
          <a:bodyPr wrap="square" lIns="60630" tIns="30315" rIns="60630" bIns="30315" rtlCol="1">
            <a:spAutoFit/>
          </a:bodyPr>
          <a:lstStyle/>
          <a:p>
            <a:r>
              <a:rPr lang="en-US" sz="1200" dirty="0"/>
              <a:t>  A=(2,1,3,0)</a:t>
            </a:r>
            <a:endParaRPr lang="he-IL" sz="1200" dirty="0"/>
          </a:p>
          <a:p>
            <a:r>
              <a:rPr lang="en-US" sz="1200" u="sng" dirty="0"/>
              <a:t>P2=(2,0,0,1)</a:t>
            </a:r>
          </a:p>
          <a:p>
            <a:r>
              <a:rPr lang="en-US" sz="1200" dirty="0"/>
              <a:t>  A=(4,1,3,1)</a:t>
            </a:r>
          </a:p>
          <a:p>
            <a:r>
              <a:rPr lang="en-US" sz="1200" u="sng" dirty="0"/>
              <a:t>P1=(0,1,1,2)</a:t>
            </a:r>
          </a:p>
          <a:p>
            <a:r>
              <a:rPr lang="en-US" sz="1200" dirty="0"/>
              <a:t>  A=(4,2,4,3)</a:t>
            </a:r>
          </a:p>
          <a:p>
            <a:r>
              <a:rPr lang="en-US" sz="1200" dirty="0"/>
              <a:t>P4=(2,1,2,0)</a:t>
            </a:r>
            <a:endParaRPr lang="he-IL" sz="1200" dirty="0"/>
          </a:p>
          <a:p>
            <a:r>
              <a:rPr lang="en-US" sz="1200" dirty="0"/>
              <a:t>  A=(4,3,6,3)</a:t>
            </a:r>
          </a:p>
          <a:p>
            <a:r>
              <a:rPr lang="en-US" sz="1200" dirty="0"/>
              <a:t>P3,P5,P6,P7</a:t>
            </a:r>
          </a:p>
        </p:txBody>
      </p:sp>
    </p:spTree>
    <p:extLst>
      <p:ext uri="{BB962C8B-B14F-4D97-AF65-F5344CB8AC3E}">
        <p14:creationId xmlns:p14="http://schemas.microsoft.com/office/powerpoint/2010/main" val="21272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plain white">
  <a:themeElements>
    <a:clrScheme name="plain white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plain whi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lain whi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in whi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whi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whi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whi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whi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whi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Data\Microsoft\Templates\plain white.pot</Template>
  <TotalTime>2872</TotalTime>
  <Words>1586</Words>
  <Application>Microsoft Office PowerPoint</Application>
  <PresentationFormat>מסך רחב</PresentationFormat>
  <Paragraphs>434</Paragraphs>
  <Slides>39</Slides>
  <Notes>39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39</vt:i4>
      </vt:variant>
    </vt:vector>
  </HeadingPairs>
  <TitlesOfParts>
    <vt:vector size="43" baseType="lpstr">
      <vt:lpstr>Tahoma</vt:lpstr>
      <vt:lpstr>Times New Roman</vt:lpstr>
      <vt:lpstr>Wingdings</vt:lpstr>
      <vt:lpstr>plain white</vt:lpstr>
      <vt:lpstr>Deadlocks</vt:lpstr>
      <vt:lpstr>Resources</vt:lpstr>
      <vt:lpstr>Resources (1)</vt:lpstr>
      <vt:lpstr>Resources (2)</vt:lpstr>
      <vt:lpstr>Introduction to Deadlocks</vt:lpstr>
      <vt:lpstr>מסקנות</vt:lpstr>
      <vt:lpstr>מסקנות</vt:lpstr>
      <vt:lpstr>Four Conditions for Deadlock</vt:lpstr>
      <vt:lpstr>Deadlock Modeling (2)</vt:lpstr>
      <vt:lpstr>Deadlock Modeling (3)</vt:lpstr>
      <vt:lpstr>Deadlock Modeling (4)</vt:lpstr>
      <vt:lpstr>Deadlock Modeling (4)</vt:lpstr>
      <vt:lpstr>Deadlock Modeling (5)</vt:lpstr>
      <vt:lpstr>The Ostrich Algorithm</vt:lpstr>
      <vt:lpstr>Detection with One Resource of Each Type (1)</vt:lpstr>
      <vt:lpstr>Detection with One Resource of Each Type (2)</vt:lpstr>
      <vt:lpstr>Detection with One Resource of Each Type (3)</vt:lpstr>
      <vt:lpstr>Recovery from Deadlock (1)</vt:lpstr>
      <vt:lpstr>Recovery from Deadlock (2)</vt:lpstr>
      <vt:lpstr>Deadlock Avoidance Resource Trajectories</vt:lpstr>
      <vt:lpstr>Safe and Unsafe States (1)</vt:lpstr>
      <vt:lpstr>Safe and Unsafe States (2)</vt:lpstr>
      <vt:lpstr> מצב לא בטוח =! קיפאון?</vt:lpstr>
      <vt:lpstr>The Banker's Algorithm for a Single Resource</vt:lpstr>
      <vt:lpstr>Banker's Algorithm for Multiple Resources</vt:lpstr>
      <vt:lpstr>Deadlock Prevention Attacking the Mutual Exclusion Condition</vt:lpstr>
      <vt:lpstr>Attacking the Hold and Wait Condition</vt:lpstr>
      <vt:lpstr>Attacking the No Preemption Condition</vt:lpstr>
      <vt:lpstr>Attacking the Circular Wait Condition (1)</vt:lpstr>
      <vt:lpstr>Attacking the Circular Wait Condition (1)</vt:lpstr>
      <vt:lpstr>Other Issues Two-Phase Locking</vt:lpstr>
      <vt:lpstr>Nonresource Deadlocks</vt:lpstr>
      <vt:lpstr>Starvation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</dc:title>
  <dc:creator>Steve  Armstrong</dc:creator>
  <cp:lastModifiedBy>yakir zadok</cp:lastModifiedBy>
  <cp:revision>99</cp:revision>
  <cp:lastPrinted>2001-01-13T17:50:15Z</cp:lastPrinted>
  <dcterms:created xsi:type="dcterms:W3CDTF">2000-10-19T00:18:00Z</dcterms:created>
  <dcterms:modified xsi:type="dcterms:W3CDTF">2021-01-12T19:41:58Z</dcterms:modified>
</cp:coreProperties>
</file>