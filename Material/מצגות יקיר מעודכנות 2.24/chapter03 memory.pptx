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0"/>
  </p:notesMasterIdLst>
  <p:sldIdLst>
    <p:sldId id="257" r:id="rId3"/>
    <p:sldId id="342" r:id="rId4"/>
    <p:sldId id="343" r:id="rId5"/>
    <p:sldId id="344" r:id="rId6"/>
    <p:sldId id="352" r:id="rId7"/>
    <p:sldId id="353" r:id="rId8"/>
    <p:sldId id="354" r:id="rId9"/>
    <p:sldId id="355" r:id="rId10"/>
    <p:sldId id="356" r:id="rId11"/>
    <p:sldId id="357" r:id="rId12"/>
    <p:sldId id="345" r:id="rId13"/>
    <p:sldId id="258" r:id="rId14"/>
    <p:sldId id="334" r:id="rId15"/>
    <p:sldId id="335" r:id="rId16"/>
    <p:sldId id="259" r:id="rId17"/>
    <p:sldId id="260" r:id="rId18"/>
    <p:sldId id="263" r:id="rId19"/>
    <p:sldId id="332" r:id="rId20"/>
    <p:sldId id="264" r:id="rId21"/>
    <p:sldId id="265" r:id="rId22"/>
    <p:sldId id="266" r:id="rId23"/>
    <p:sldId id="267" r:id="rId24"/>
    <p:sldId id="349" r:id="rId25"/>
    <p:sldId id="358" r:id="rId26"/>
    <p:sldId id="351" r:id="rId27"/>
    <p:sldId id="359" r:id="rId28"/>
    <p:sldId id="346" r:id="rId29"/>
    <p:sldId id="268" r:id="rId30"/>
    <p:sldId id="269" r:id="rId31"/>
    <p:sldId id="270" r:id="rId32"/>
    <p:sldId id="272" r:id="rId33"/>
    <p:sldId id="271" r:id="rId34"/>
    <p:sldId id="273" r:id="rId35"/>
    <p:sldId id="274" r:id="rId36"/>
    <p:sldId id="324" r:id="rId37"/>
    <p:sldId id="321"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92" r:id="rId52"/>
    <p:sldId id="293" r:id="rId53"/>
    <p:sldId id="294" r:id="rId54"/>
    <p:sldId id="296" r:id="rId55"/>
    <p:sldId id="297" r:id="rId56"/>
    <p:sldId id="298" r:id="rId57"/>
    <p:sldId id="300" r:id="rId58"/>
    <p:sldId id="301" r:id="rId59"/>
    <p:sldId id="302" r:id="rId60"/>
    <p:sldId id="303" r:id="rId61"/>
    <p:sldId id="304" r:id="rId62"/>
    <p:sldId id="305" r:id="rId63"/>
    <p:sldId id="306" r:id="rId64"/>
    <p:sldId id="322"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7" r:id="rId80"/>
    <p:sldId id="328" r:id="rId81"/>
    <p:sldId id="330" r:id="rId82"/>
    <p:sldId id="331" r:id="rId83"/>
    <p:sldId id="336" r:id="rId84"/>
    <p:sldId id="340" r:id="rId85"/>
    <p:sldId id="341" r:id="rId86"/>
    <p:sldId id="337" r:id="rId87"/>
    <p:sldId id="360" r:id="rId88"/>
    <p:sldId id="361" r:id="rId8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Helvetica" pitchFamily="2" charset="0"/>
        <a:ea typeface="+mn-ea"/>
        <a:cs typeface="+mn-cs"/>
      </a:defRPr>
    </a:lvl1pPr>
    <a:lvl2pPr marL="296997" indent="28448" algn="l" rtl="0" fontAlgn="base">
      <a:spcBef>
        <a:spcPct val="0"/>
      </a:spcBef>
      <a:spcAft>
        <a:spcPct val="0"/>
      </a:spcAft>
      <a:defRPr kern="1200">
        <a:solidFill>
          <a:schemeClr val="tx1"/>
        </a:solidFill>
        <a:latin typeface="Helvetica" pitchFamily="2" charset="0"/>
        <a:ea typeface="+mn-ea"/>
        <a:cs typeface="+mn-cs"/>
      </a:defRPr>
    </a:lvl2pPr>
    <a:lvl3pPr marL="596270" indent="56896" algn="l" rtl="0" fontAlgn="base">
      <a:spcBef>
        <a:spcPct val="0"/>
      </a:spcBef>
      <a:spcAft>
        <a:spcPct val="0"/>
      </a:spcAft>
      <a:defRPr kern="1200">
        <a:solidFill>
          <a:schemeClr val="tx1"/>
        </a:solidFill>
        <a:latin typeface="Helvetica" pitchFamily="2" charset="0"/>
        <a:ea typeface="+mn-ea"/>
        <a:cs typeface="+mn-cs"/>
      </a:defRPr>
    </a:lvl3pPr>
    <a:lvl4pPr marL="894405" indent="86482" algn="l" rtl="0" fontAlgn="base">
      <a:spcBef>
        <a:spcPct val="0"/>
      </a:spcBef>
      <a:spcAft>
        <a:spcPct val="0"/>
      </a:spcAft>
      <a:defRPr kern="1200">
        <a:solidFill>
          <a:schemeClr val="tx1"/>
        </a:solidFill>
        <a:latin typeface="Helvetica" pitchFamily="2" charset="0"/>
        <a:ea typeface="+mn-ea"/>
        <a:cs typeface="+mn-cs"/>
      </a:defRPr>
    </a:lvl4pPr>
    <a:lvl5pPr marL="1193678" indent="114930" algn="l" rtl="0" fontAlgn="base">
      <a:spcBef>
        <a:spcPct val="0"/>
      </a:spcBef>
      <a:spcAft>
        <a:spcPct val="0"/>
      </a:spcAft>
      <a:defRPr kern="1200">
        <a:solidFill>
          <a:schemeClr val="tx1"/>
        </a:solidFill>
        <a:latin typeface="Helvetica" pitchFamily="2" charset="0"/>
        <a:ea typeface="+mn-ea"/>
        <a:cs typeface="+mn-cs"/>
      </a:defRPr>
    </a:lvl5pPr>
    <a:lvl6pPr marL="1638605" algn="r" defTabSz="655442" rtl="1" eaLnBrk="1" latinLnBrk="0" hangingPunct="1">
      <a:defRPr kern="1200">
        <a:solidFill>
          <a:schemeClr val="tx1"/>
        </a:solidFill>
        <a:latin typeface="Helvetica" pitchFamily="2" charset="0"/>
        <a:ea typeface="+mn-ea"/>
        <a:cs typeface="+mn-cs"/>
      </a:defRPr>
    </a:lvl6pPr>
    <a:lvl7pPr marL="1966326" algn="r" defTabSz="655442" rtl="1" eaLnBrk="1" latinLnBrk="0" hangingPunct="1">
      <a:defRPr kern="1200">
        <a:solidFill>
          <a:schemeClr val="tx1"/>
        </a:solidFill>
        <a:latin typeface="Helvetica" pitchFamily="2" charset="0"/>
        <a:ea typeface="+mn-ea"/>
        <a:cs typeface="+mn-cs"/>
      </a:defRPr>
    </a:lvl7pPr>
    <a:lvl8pPr marL="2294047" algn="r" defTabSz="655442" rtl="1" eaLnBrk="1" latinLnBrk="0" hangingPunct="1">
      <a:defRPr kern="1200">
        <a:solidFill>
          <a:schemeClr val="tx1"/>
        </a:solidFill>
        <a:latin typeface="Helvetica" pitchFamily="2" charset="0"/>
        <a:ea typeface="+mn-ea"/>
        <a:cs typeface="+mn-cs"/>
      </a:defRPr>
    </a:lvl8pPr>
    <a:lvl9pPr marL="2621768" algn="r" defTabSz="655442" rtl="1" eaLnBrk="1" latinLnBrk="0" hangingPunct="1">
      <a:defRPr kern="1200">
        <a:solidFill>
          <a:schemeClr val="tx1"/>
        </a:solidFill>
        <a:latin typeface="Helvetica" pitchFamily="2" charset="0"/>
        <a:ea typeface="+mn-ea"/>
        <a:cs typeface="+mn-cs"/>
      </a:defRPr>
    </a:lvl9pPr>
  </p:defaultTextStyle>
  <p:extLst>
    <p:ext uri="{EFAFB233-063F-42B5-8137-9DF3F51BA10A}">
      <p15:sldGuideLst xmlns:p15="http://schemas.microsoft.com/office/powerpoint/2012/main">
        <p15:guide id="1" orient="horz" pos="49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kir zadok" initials="yz" lastIdx="1" clrIdx="0">
    <p:extLst>
      <p:ext uri="{19B8F6BF-5375-455C-9EA6-DF929625EA0E}">
        <p15:presenceInfo xmlns:p15="http://schemas.microsoft.com/office/powerpoint/2012/main" userId="4a797c7f335209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סגנון ביניים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סגנון ביניים 2 - הדגשה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סגנון ערכת נושא 1 - הדגשה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56" autoAdjust="0"/>
    <p:restoredTop sz="98027" autoAdjust="0"/>
  </p:normalViewPr>
  <p:slideViewPr>
    <p:cSldViewPr snapToGrid="0">
      <p:cViewPr varScale="1">
        <p:scale>
          <a:sx n="79" d="100"/>
          <a:sy n="79" d="100"/>
        </p:scale>
        <p:origin x="126" y="174"/>
      </p:cViewPr>
      <p:guideLst>
        <p:guide orient="horz" pos="496"/>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26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0659" name="Rectangle 1027"/>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84996" name="Rectangle 1028"/>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70661" name="Rectangle 1029"/>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0662" name="Rectangle 1030"/>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0663" name="Rectangle 1031"/>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439170-B54D-41FC-8323-DCBE6DCE09CE}" type="slidenum">
              <a:rPr lang="he-IL"/>
              <a:pPr>
                <a:defRPr/>
              </a:pPr>
              <a:t>‹#›</a:t>
            </a:fld>
            <a:endParaRPr lang="en-US"/>
          </a:p>
        </p:txBody>
      </p:sp>
    </p:spTree>
    <p:extLst>
      <p:ext uri="{BB962C8B-B14F-4D97-AF65-F5344CB8AC3E}">
        <p14:creationId xmlns:p14="http://schemas.microsoft.com/office/powerpoint/2010/main" val="34465632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00" kern="1200">
        <a:solidFill>
          <a:schemeClr val="tx1"/>
        </a:solidFill>
        <a:latin typeface="Times New Roman" pitchFamily="18" charset="0"/>
        <a:ea typeface="+mn-ea"/>
        <a:cs typeface="+mn-cs"/>
      </a:defRPr>
    </a:lvl1pPr>
    <a:lvl2pPr marL="296997" algn="l" rtl="0" eaLnBrk="0" fontAlgn="base" hangingPunct="0">
      <a:spcBef>
        <a:spcPct val="30000"/>
      </a:spcBef>
      <a:spcAft>
        <a:spcPct val="0"/>
      </a:spcAft>
      <a:defRPr sz="800" kern="1200">
        <a:solidFill>
          <a:schemeClr val="tx1"/>
        </a:solidFill>
        <a:latin typeface="Times New Roman" pitchFamily="18" charset="0"/>
        <a:ea typeface="+mn-ea"/>
        <a:cs typeface="+mn-cs"/>
      </a:defRPr>
    </a:lvl2pPr>
    <a:lvl3pPr marL="596270" algn="l" rtl="0" eaLnBrk="0" fontAlgn="base" hangingPunct="0">
      <a:spcBef>
        <a:spcPct val="30000"/>
      </a:spcBef>
      <a:spcAft>
        <a:spcPct val="0"/>
      </a:spcAft>
      <a:defRPr sz="800" kern="1200">
        <a:solidFill>
          <a:schemeClr val="tx1"/>
        </a:solidFill>
        <a:latin typeface="Times New Roman" pitchFamily="18" charset="0"/>
        <a:ea typeface="+mn-ea"/>
        <a:cs typeface="+mn-cs"/>
      </a:defRPr>
    </a:lvl3pPr>
    <a:lvl4pPr marL="894405" algn="l" rtl="0" eaLnBrk="0" fontAlgn="base" hangingPunct="0">
      <a:spcBef>
        <a:spcPct val="30000"/>
      </a:spcBef>
      <a:spcAft>
        <a:spcPct val="0"/>
      </a:spcAft>
      <a:defRPr sz="800" kern="1200">
        <a:solidFill>
          <a:schemeClr val="tx1"/>
        </a:solidFill>
        <a:latin typeface="Times New Roman" pitchFamily="18" charset="0"/>
        <a:ea typeface="+mn-ea"/>
        <a:cs typeface="+mn-cs"/>
      </a:defRPr>
    </a:lvl4pPr>
    <a:lvl5pPr marL="1193678" algn="l" rtl="0" eaLnBrk="0" fontAlgn="base" hangingPunct="0">
      <a:spcBef>
        <a:spcPct val="30000"/>
      </a:spcBef>
      <a:spcAft>
        <a:spcPct val="0"/>
      </a:spcAft>
      <a:defRPr sz="800" kern="1200">
        <a:solidFill>
          <a:schemeClr val="tx1"/>
        </a:solidFill>
        <a:latin typeface="Times New Roman" pitchFamily="18" charset="0"/>
        <a:ea typeface="+mn-ea"/>
        <a:cs typeface="+mn-cs"/>
      </a:defRPr>
    </a:lvl5pPr>
    <a:lvl6pPr marL="1493748" algn="r" defTabSz="597503" rtl="1" eaLnBrk="1" latinLnBrk="0" hangingPunct="1">
      <a:defRPr sz="800" kern="1200">
        <a:solidFill>
          <a:schemeClr val="tx1"/>
        </a:solidFill>
        <a:latin typeface="+mn-lt"/>
        <a:ea typeface="+mn-ea"/>
        <a:cs typeface="+mn-cs"/>
      </a:defRPr>
    </a:lvl6pPr>
    <a:lvl7pPr marL="1792500" algn="r" defTabSz="597503" rtl="1" eaLnBrk="1" latinLnBrk="0" hangingPunct="1">
      <a:defRPr sz="800" kern="1200">
        <a:solidFill>
          <a:schemeClr val="tx1"/>
        </a:solidFill>
        <a:latin typeface="+mn-lt"/>
        <a:ea typeface="+mn-ea"/>
        <a:cs typeface="+mn-cs"/>
      </a:defRPr>
    </a:lvl7pPr>
    <a:lvl8pPr marL="2091250" algn="r" defTabSz="597503" rtl="1" eaLnBrk="1" latinLnBrk="0" hangingPunct="1">
      <a:defRPr sz="800" kern="1200">
        <a:solidFill>
          <a:schemeClr val="tx1"/>
        </a:solidFill>
        <a:latin typeface="+mn-lt"/>
        <a:ea typeface="+mn-ea"/>
        <a:cs typeface="+mn-cs"/>
      </a:defRPr>
    </a:lvl8pPr>
    <a:lvl9pPr marL="2390001" algn="r" defTabSz="597503" rtl="1" eaLnBrk="1" latinLnBrk="0" hangingPunct="1">
      <a:defRPr sz="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381000" y="685800"/>
            <a:ext cx="6096000" cy="3429000"/>
          </a:xfrm>
          <a:ln/>
        </p:spPr>
      </p:sp>
      <p:sp>
        <p:nvSpPr>
          <p:cNvPr id="8601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381000" y="685800"/>
            <a:ext cx="6096000" cy="3429000"/>
          </a:xfrm>
          <a:ln/>
        </p:spPr>
      </p:sp>
      <p:sp>
        <p:nvSpPr>
          <p:cNvPr id="9216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1000" y="685800"/>
            <a:ext cx="6096000" cy="3429000"/>
          </a:xfrm>
          <a:ln/>
        </p:spPr>
      </p:sp>
      <p:sp>
        <p:nvSpPr>
          <p:cNvPr id="9318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cap="flat"/>
        </p:spPr>
      </p:sp>
      <p:sp>
        <p:nvSpPr>
          <p:cNvPr id="8806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מציין מיקום של תמונת שקופית 1"/>
          <p:cNvSpPr>
            <a:spLocks noGrp="1" noRot="1" noChangeAspect="1" noTextEdit="1"/>
          </p:cNvSpPr>
          <p:nvPr>
            <p:ph type="sldImg"/>
          </p:nvPr>
        </p:nvSpPr>
        <p:spPr>
          <a:xfrm>
            <a:off x="381000" y="685800"/>
            <a:ext cx="6096000" cy="3429000"/>
          </a:xfrm>
          <a:ln/>
        </p:spPr>
      </p:sp>
      <p:sp>
        <p:nvSpPr>
          <p:cNvPr id="89091" name="מציין מיקום של הערות 2"/>
          <p:cNvSpPr>
            <a:spLocks noGrp="1"/>
          </p:cNvSpPr>
          <p:nvPr>
            <p:ph type="body" idx="1"/>
          </p:nvPr>
        </p:nvSpPr>
        <p:spPr>
          <a:noFill/>
          <a:ln/>
        </p:spPr>
        <p:txBody>
          <a:bodyPr/>
          <a:lstStyle/>
          <a:p>
            <a:endParaRPr lang="he-IL"/>
          </a:p>
        </p:txBody>
      </p:sp>
      <p:sp>
        <p:nvSpPr>
          <p:cNvPr id="89092" name="מציין מיקום של מספר שקופית 3"/>
          <p:cNvSpPr>
            <a:spLocks noGrp="1"/>
          </p:cNvSpPr>
          <p:nvPr>
            <p:ph type="sldNum" sz="quarter" idx="5"/>
          </p:nvPr>
        </p:nvSpPr>
        <p:spPr>
          <a:noFill/>
        </p:spPr>
        <p:txBody>
          <a:bodyPr/>
          <a:lstStyle/>
          <a:p>
            <a:fld id="{F1B12677-5843-4D59-BBFC-EDE1659A5FAA}"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381000" y="685800"/>
            <a:ext cx="6096000" cy="3429000"/>
          </a:xfrm>
          <a:ln/>
        </p:spPr>
      </p:sp>
      <p:sp>
        <p:nvSpPr>
          <p:cNvPr id="9011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מציין מיקום של תמונת שקופית 1"/>
          <p:cNvSpPr>
            <a:spLocks noGrp="1" noRot="1" noChangeAspect="1" noTextEdit="1"/>
          </p:cNvSpPr>
          <p:nvPr>
            <p:ph type="sldImg"/>
          </p:nvPr>
        </p:nvSpPr>
        <p:spPr>
          <a:xfrm>
            <a:off x="381000" y="685800"/>
            <a:ext cx="6096000" cy="3429000"/>
          </a:xfrm>
          <a:ln/>
        </p:spPr>
      </p:sp>
      <p:sp>
        <p:nvSpPr>
          <p:cNvPr id="96259" name="מציין מיקום של הערות 2"/>
          <p:cNvSpPr>
            <a:spLocks noGrp="1"/>
          </p:cNvSpPr>
          <p:nvPr>
            <p:ph type="body" idx="1"/>
          </p:nvPr>
        </p:nvSpPr>
        <p:spPr>
          <a:noFill/>
          <a:ln/>
        </p:spPr>
        <p:txBody>
          <a:bodyPr/>
          <a:lstStyle/>
          <a:p>
            <a:endParaRPr lang="he-IL"/>
          </a:p>
        </p:txBody>
      </p:sp>
      <p:sp>
        <p:nvSpPr>
          <p:cNvPr id="96260" name="מציין מיקום של מספר שקופית 3"/>
          <p:cNvSpPr>
            <a:spLocks noGrp="1"/>
          </p:cNvSpPr>
          <p:nvPr>
            <p:ph type="sldNum" sz="quarter" idx="5"/>
          </p:nvPr>
        </p:nvSpPr>
        <p:spPr>
          <a:noFill/>
        </p:spPr>
        <p:txBody>
          <a:bodyPr/>
          <a:lstStyle/>
          <a:p>
            <a:fld id="{C2E73C47-6A2B-4006-BF2C-D7060826EE33}" type="slidenum">
              <a:rPr lang="he-IL"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81000" y="685800"/>
            <a:ext cx="6096000" cy="3429000"/>
          </a:xfrm>
          <a:ln/>
        </p:spPr>
      </p:sp>
      <p:sp>
        <p:nvSpPr>
          <p:cNvPr id="9830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endParaRPr lang="he-IL"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מציין מיקום של תמונת שקופית 1"/>
          <p:cNvSpPr>
            <a:spLocks noGrp="1" noRot="1" noChangeAspect="1" noTextEdit="1"/>
          </p:cNvSpPr>
          <p:nvPr>
            <p:ph type="sldImg"/>
          </p:nvPr>
        </p:nvSpPr>
        <p:spPr>
          <a:xfrm>
            <a:off x="381000" y="685800"/>
            <a:ext cx="6096000" cy="3429000"/>
          </a:xfrm>
          <a:ln/>
        </p:spPr>
      </p:sp>
      <p:sp>
        <p:nvSpPr>
          <p:cNvPr id="100355" name="מציין מיקום של הערות 2"/>
          <p:cNvSpPr>
            <a:spLocks noGrp="1"/>
          </p:cNvSpPr>
          <p:nvPr>
            <p:ph type="body" idx="1"/>
          </p:nvPr>
        </p:nvSpPr>
        <p:spPr>
          <a:noFill/>
          <a:ln/>
        </p:spPr>
        <p:txBody>
          <a:bodyPr/>
          <a:lstStyle/>
          <a:p>
            <a:endParaRPr lang="he-IL"/>
          </a:p>
        </p:txBody>
      </p:sp>
      <p:sp>
        <p:nvSpPr>
          <p:cNvPr id="100356" name="מציין מיקום של מספר שקופית 3"/>
          <p:cNvSpPr>
            <a:spLocks noGrp="1"/>
          </p:cNvSpPr>
          <p:nvPr>
            <p:ph type="sldNum" sz="quarter" idx="5"/>
          </p:nvPr>
        </p:nvSpPr>
        <p:spPr>
          <a:noFill/>
        </p:spPr>
        <p:txBody>
          <a:bodyPr/>
          <a:lstStyle/>
          <a:p>
            <a:fld id="{F8E07B87-3343-4DBC-BBC6-F775E04C20BA}" type="slidenum">
              <a:rPr lang="he-IL"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מציין מיקום של תמונת שקופית 1"/>
          <p:cNvSpPr>
            <a:spLocks noGrp="1" noRot="1" noChangeAspect="1" noTextEdit="1"/>
          </p:cNvSpPr>
          <p:nvPr>
            <p:ph type="sldImg"/>
          </p:nvPr>
        </p:nvSpPr>
        <p:spPr>
          <a:xfrm>
            <a:off x="381000" y="685800"/>
            <a:ext cx="6096000" cy="3429000"/>
          </a:xfrm>
          <a:ln/>
        </p:spPr>
      </p:sp>
      <p:sp>
        <p:nvSpPr>
          <p:cNvPr id="100355" name="מציין מיקום של הערות 2"/>
          <p:cNvSpPr>
            <a:spLocks noGrp="1"/>
          </p:cNvSpPr>
          <p:nvPr>
            <p:ph type="body" idx="1"/>
          </p:nvPr>
        </p:nvSpPr>
        <p:spPr>
          <a:noFill/>
          <a:ln/>
        </p:spPr>
        <p:txBody>
          <a:bodyPr/>
          <a:lstStyle/>
          <a:p>
            <a:endParaRPr lang="he-IL"/>
          </a:p>
        </p:txBody>
      </p:sp>
      <p:sp>
        <p:nvSpPr>
          <p:cNvPr id="100356" name="מציין מיקום של מספר שקופית 3"/>
          <p:cNvSpPr>
            <a:spLocks noGrp="1"/>
          </p:cNvSpPr>
          <p:nvPr>
            <p:ph type="sldNum" sz="quarter" idx="5"/>
          </p:nvPr>
        </p:nvSpPr>
        <p:spPr>
          <a:noFill/>
        </p:spPr>
        <p:txBody>
          <a:bodyPr/>
          <a:lstStyle/>
          <a:p>
            <a:fld id="{F8E07B87-3343-4DBC-BBC6-F775E04C20BA}" type="slidenum">
              <a:rPr lang="he-IL"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מציין מיקום של תמונת שקופית 1"/>
          <p:cNvSpPr>
            <a:spLocks noGrp="1" noRot="1" noChangeAspect="1" noTextEdit="1"/>
          </p:cNvSpPr>
          <p:nvPr>
            <p:ph type="sldImg"/>
          </p:nvPr>
        </p:nvSpPr>
        <p:spPr>
          <a:xfrm>
            <a:off x="381000" y="685800"/>
            <a:ext cx="6096000" cy="3429000"/>
          </a:xfrm>
          <a:ln/>
        </p:spPr>
      </p:sp>
      <p:sp>
        <p:nvSpPr>
          <p:cNvPr id="100355" name="מציין מיקום של הערות 2"/>
          <p:cNvSpPr>
            <a:spLocks noGrp="1"/>
          </p:cNvSpPr>
          <p:nvPr>
            <p:ph type="body" idx="1"/>
          </p:nvPr>
        </p:nvSpPr>
        <p:spPr>
          <a:noFill/>
          <a:ln/>
        </p:spPr>
        <p:txBody>
          <a:bodyPr/>
          <a:lstStyle/>
          <a:p>
            <a:endParaRPr lang="he-IL"/>
          </a:p>
        </p:txBody>
      </p:sp>
      <p:sp>
        <p:nvSpPr>
          <p:cNvPr id="100356" name="מציין מיקום של מספר שקופית 3"/>
          <p:cNvSpPr>
            <a:spLocks noGrp="1"/>
          </p:cNvSpPr>
          <p:nvPr>
            <p:ph type="sldNum" sz="quarter" idx="5"/>
          </p:nvPr>
        </p:nvSpPr>
        <p:spPr>
          <a:noFill/>
        </p:spPr>
        <p:txBody>
          <a:bodyPr/>
          <a:lstStyle/>
          <a:p>
            <a:fld id="{F8E07B87-3343-4DBC-BBC6-F775E04C20BA}" type="slidenum">
              <a:rPr lang="he-IL"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מציין מיקום של תמונת שקופית 1"/>
          <p:cNvSpPr>
            <a:spLocks noGrp="1" noRot="1" noChangeAspect="1" noTextEdit="1"/>
          </p:cNvSpPr>
          <p:nvPr>
            <p:ph type="sldImg"/>
          </p:nvPr>
        </p:nvSpPr>
        <p:spPr>
          <a:xfrm>
            <a:off x="381000" y="685800"/>
            <a:ext cx="6096000" cy="3429000"/>
          </a:xfrm>
          <a:ln/>
        </p:spPr>
      </p:sp>
      <p:sp>
        <p:nvSpPr>
          <p:cNvPr id="100355" name="מציין מיקום של הערות 2"/>
          <p:cNvSpPr>
            <a:spLocks noGrp="1"/>
          </p:cNvSpPr>
          <p:nvPr>
            <p:ph type="body" idx="1"/>
          </p:nvPr>
        </p:nvSpPr>
        <p:spPr>
          <a:noFill/>
          <a:ln/>
        </p:spPr>
        <p:txBody>
          <a:bodyPr/>
          <a:lstStyle/>
          <a:p>
            <a:endParaRPr lang="he-IL"/>
          </a:p>
        </p:txBody>
      </p:sp>
      <p:sp>
        <p:nvSpPr>
          <p:cNvPr id="100356" name="מציין מיקום של מספר שקופית 3"/>
          <p:cNvSpPr>
            <a:spLocks noGrp="1"/>
          </p:cNvSpPr>
          <p:nvPr>
            <p:ph type="sldNum" sz="quarter" idx="5"/>
          </p:nvPr>
        </p:nvSpPr>
        <p:spPr>
          <a:noFill/>
        </p:spPr>
        <p:txBody>
          <a:bodyPr/>
          <a:lstStyle/>
          <a:p>
            <a:fld id="{F8E07B87-3343-4DBC-BBC6-F775E04C20BA}" type="slidenum">
              <a:rPr lang="he-IL"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381000" y="685800"/>
            <a:ext cx="6096000" cy="3429000"/>
          </a:xfrm>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a:defRPr/>
            </a:pPr>
            <a:fld id="{8C439170-B54D-41FC-8323-DCBE6DCE09CE}" type="slidenum">
              <a:rPr lang="he-IL" smtClean="0"/>
              <a:pPr>
                <a:defRPr/>
              </a:pPr>
              <a:t>27</a:t>
            </a:fld>
            <a:endParaRPr lang="en-US"/>
          </a:p>
        </p:txBody>
      </p:sp>
    </p:spTree>
    <p:extLst>
      <p:ext uri="{BB962C8B-B14F-4D97-AF65-F5344CB8AC3E}">
        <p14:creationId xmlns:p14="http://schemas.microsoft.com/office/powerpoint/2010/main" val="2946350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381000" y="685800"/>
            <a:ext cx="6096000" cy="3429000"/>
          </a:xfrm>
          <a:ln/>
        </p:spPr>
      </p:sp>
      <p:sp>
        <p:nvSpPr>
          <p:cNvPr id="10547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81000" y="685800"/>
            <a:ext cx="6096000" cy="3429000"/>
          </a:xfrm>
          <a:ln/>
        </p:spPr>
      </p:sp>
      <p:sp>
        <p:nvSpPr>
          <p:cNvPr id="10649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מציין מיקום של תמונת שקופית 1"/>
          <p:cNvSpPr>
            <a:spLocks noGrp="1" noRot="1" noChangeAspect="1" noTextEdit="1"/>
          </p:cNvSpPr>
          <p:nvPr>
            <p:ph type="sldImg"/>
          </p:nvPr>
        </p:nvSpPr>
        <p:spPr>
          <a:xfrm>
            <a:off x="381000" y="685800"/>
            <a:ext cx="6096000" cy="3429000"/>
          </a:xfrm>
          <a:ln/>
        </p:spPr>
      </p:sp>
      <p:sp>
        <p:nvSpPr>
          <p:cNvPr id="109571" name="מציין מיקום של הערות 2"/>
          <p:cNvSpPr>
            <a:spLocks noGrp="1"/>
          </p:cNvSpPr>
          <p:nvPr>
            <p:ph type="body" idx="1"/>
          </p:nvPr>
        </p:nvSpPr>
        <p:spPr>
          <a:noFill/>
          <a:ln/>
        </p:spPr>
        <p:txBody>
          <a:bodyPr/>
          <a:lstStyle/>
          <a:p>
            <a:endParaRPr lang="he-IL"/>
          </a:p>
        </p:txBody>
      </p:sp>
      <p:sp>
        <p:nvSpPr>
          <p:cNvPr id="109572" name="מציין מיקום של מספר שקופית 3"/>
          <p:cNvSpPr>
            <a:spLocks noGrp="1"/>
          </p:cNvSpPr>
          <p:nvPr>
            <p:ph type="sldNum" sz="quarter" idx="5"/>
          </p:nvPr>
        </p:nvSpPr>
        <p:spPr>
          <a:noFill/>
        </p:spPr>
        <p:txBody>
          <a:bodyPr/>
          <a:lstStyle/>
          <a:p>
            <a:fld id="{6DC6296D-ADCA-48A7-B970-2F35C755163B}" type="slidenum">
              <a:rPr lang="he-IL"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381000" y="685800"/>
            <a:ext cx="6096000" cy="3429000"/>
          </a:xfrm>
          <a:ln/>
        </p:spPr>
      </p:sp>
      <p:sp>
        <p:nvSpPr>
          <p:cNvPr id="110595" name="Rectangle 3"/>
          <p:cNvSpPr>
            <a:spLocks noGrp="1" noChangeArrowheads="1"/>
          </p:cNvSpPr>
          <p:nvPr>
            <p:ph type="body" idx="1"/>
          </p:nvPr>
        </p:nvSpPr>
        <p:spPr>
          <a:noFill/>
          <a:ln/>
        </p:spPr>
        <p:txBody>
          <a:bodyPr/>
          <a:lstStyle/>
          <a:p>
            <a:pPr eaLnBrk="1" hangingPunct="1"/>
            <a:endParaRPr lang="he-IL"/>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381000" y="685800"/>
            <a:ext cx="6096000" cy="3429000"/>
          </a:xfrm>
          <a:ln/>
        </p:spPr>
      </p:sp>
      <p:sp>
        <p:nvSpPr>
          <p:cNvPr id="11264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81000" y="685800"/>
            <a:ext cx="6096000" cy="3429000"/>
          </a:xfrm>
          <a:ln/>
        </p:spPr>
      </p:sp>
      <p:sp>
        <p:nvSpPr>
          <p:cNvPr id="11366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81000" y="685800"/>
            <a:ext cx="6096000" cy="3429000"/>
          </a:xfrm>
          <a:ln/>
        </p:spPr>
      </p:sp>
      <p:sp>
        <p:nvSpPr>
          <p:cNvPr id="11469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381000" y="685800"/>
            <a:ext cx="6096000" cy="3429000"/>
          </a:xfrm>
          <a:ln/>
        </p:spPr>
      </p:sp>
      <p:sp>
        <p:nvSpPr>
          <p:cNvPr id="11571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381000" y="685800"/>
            <a:ext cx="6096000" cy="3429000"/>
          </a:xfrm>
          <a:ln/>
        </p:spPr>
      </p:sp>
      <p:sp>
        <p:nvSpPr>
          <p:cNvPr id="11673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xfrm>
            <a:off x="381000" y="685800"/>
            <a:ext cx="6096000" cy="3429000"/>
          </a:xfrm>
          <a:ln/>
        </p:spPr>
      </p:sp>
      <p:sp>
        <p:nvSpPr>
          <p:cNvPr id="11776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381000" y="685800"/>
            <a:ext cx="6096000" cy="3429000"/>
          </a:xfrm>
          <a:ln/>
        </p:spPr>
      </p:sp>
      <p:sp>
        <p:nvSpPr>
          <p:cNvPr id="1198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381000" y="685800"/>
            <a:ext cx="6096000" cy="3429000"/>
          </a:xfrm>
          <a:ln/>
        </p:spPr>
      </p:sp>
      <p:sp>
        <p:nvSpPr>
          <p:cNvPr id="12083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xfrm>
            <a:off x="381000" y="685800"/>
            <a:ext cx="6096000" cy="3429000"/>
          </a:xfrm>
          <a:ln/>
        </p:spPr>
      </p:sp>
      <p:sp>
        <p:nvSpPr>
          <p:cNvPr id="12185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381000" y="685800"/>
            <a:ext cx="6096000" cy="3429000"/>
          </a:xfrm>
          <a:ln/>
        </p:spPr>
      </p:sp>
      <p:sp>
        <p:nvSpPr>
          <p:cNvPr id="12288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381000" y="685800"/>
            <a:ext cx="6096000" cy="3429000"/>
          </a:xfrm>
          <a:ln/>
        </p:spPr>
      </p:sp>
      <p:sp>
        <p:nvSpPr>
          <p:cNvPr id="12390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381000" y="685800"/>
            <a:ext cx="6096000" cy="3429000"/>
          </a:xfrm>
          <a:ln/>
        </p:spPr>
      </p:sp>
      <p:sp>
        <p:nvSpPr>
          <p:cNvPr id="12902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81000" y="685800"/>
            <a:ext cx="6096000" cy="3429000"/>
          </a:xfrm>
          <a:ln/>
        </p:spPr>
      </p:sp>
      <p:sp>
        <p:nvSpPr>
          <p:cNvPr id="13005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381000" y="685800"/>
            <a:ext cx="6096000" cy="3429000"/>
          </a:xfrm>
          <a:ln/>
        </p:spPr>
      </p:sp>
      <p:sp>
        <p:nvSpPr>
          <p:cNvPr id="13107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381000" y="685800"/>
            <a:ext cx="6096000" cy="3429000"/>
          </a:xfrm>
          <a:ln/>
        </p:spPr>
      </p:sp>
      <p:sp>
        <p:nvSpPr>
          <p:cNvPr id="13312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381000" y="685800"/>
            <a:ext cx="6096000" cy="3429000"/>
          </a:xfrm>
          <a:ln/>
        </p:spPr>
      </p:sp>
      <p:sp>
        <p:nvSpPr>
          <p:cNvPr id="13414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381000" y="685800"/>
            <a:ext cx="6096000" cy="3429000"/>
          </a:xfrm>
          <a:ln/>
        </p:spPr>
      </p:sp>
      <p:sp>
        <p:nvSpPr>
          <p:cNvPr id="13517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381000" y="685800"/>
            <a:ext cx="6096000" cy="3429000"/>
          </a:xfrm>
          <a:ln/>
        </p:spPr>
      </p:sp>
      <p:sp>
        <p:nvSpPr>
          <p:cNvPr id="13619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381000" y="685800"/>
            <a:ext cx="6096000" cy="3429000"/>
          </a:xfrm>
          <a:ln/>
        </p:spPr>
      </p:sp>
      <p:sp>
        <p:nvSpPr>
          <p:cNvPr id="13721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381000" y="685800"/>
            <a:ext cx="6096000" cy="3429000"/>
          </a:xfrm>
          <a:ln/>
        </p:spPr>
      </p:sp>
      <p:sp>
        <p:nvSpPr>
          <p:cNvPr id="13824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381000" y="685800"/>
            <a:ext cx="6096000" cy="3429000"/>
          </a:xfrm>
          <a:ln/>
        </p:spPr>
      </p:sp>
      <p:sp>
        <p:nvSpPr>
          <p:cNvPr id="13926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xfrm>
            <a:off x="381000" y="685800"/>
            <a:ext cx="6096000" cy="3429000"/>
          </a:xfrm>
          <a:ln/>
        </p:spPr>
      </p:sp>
      <p:sp>
        <p:nvSpPr>
          <p:cNvPr id="14029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381000" y="685800"/>
            <a:ext cx="6096000" cy="3429000"/>
          </a:xfrm>
          <a:ln/>
        </p:spPr>
      </p:sp>
      <p:sp>
        <p:nvSpPr>
          <p:cNvPr id="14131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xfrm>
            <a:off x="381000" y="685800"/>
            <a:ext cx="6096000" cy="3429000"/>
          </a:xfrm>
          <a:ln/>
        </p:spPr>
      </p:sp>
      <p:sp>
        <p:nvSpPr>
          <p:cNvPr id="14233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381000" y="685800"/>
            <a:ext cx="6096000" cy="3429000"/>
          </a:xfrm>
          <a:ln/>
        </p:spPr>
      </p:sp>
      <p:sp>
        <p:nvSpPr>
          <p:cNvPr id="143363" name="Rectangle 3"/>
          <p:cNvSpPr>
            <a:spLocks noGrp="1" noChangeArrowheads="1"/>
          </p:cNvSpPr>
          <p:nvPr>
            <p:ph type="body" idx="1"/>
          </p:nvPr>
        </p:nvSpPr>
        <p:spPr>
          <a:noFill/>
          <a:ln/>
        </p:spPr>
        <p:txBody>
          <a:bodyPr/>
          <a:lstStyle/>
          <a:p>
            <a:pPr eaLnBrk="1" hangingPunct="1"/>
            <a:endParaRPr lang="he-IL"/>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xfrm>
            <a:off x="381000" y="685800"/>
            <a:ext cx="6096000" cy="3429000"/>
          </a:xfrm>
          <a:ln/>
        </p:spPr>
      </p:sp>
      <p:sp>
        <p:nvSpPr>
          <p:cNvPr id="14438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xfrm>
            <a:off x="381000" y="685800"/>
            <a:ext cx="6096000" cy="3429000"/>
          </a:xfrm>
          <a:ln/>
        </p:spPr>
      </p:sp>
      <p:sp>
        <p:nvSpPr>
          <p:cNvPr id="14541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381000" y="685800"/>
            <a:ext cx="6096000" cy="3429000"/>
          </a:xfrm>
          <a:ln/>
        </p:spPr>
      </p:sp>
      <p:sp>
        <p:nvSpPr>
          <p:cNvPr id="14643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381000" y="685800"/>
            <a:ext cx="6096000" cy="3429000"/>
          </a:xfrm>
          <a:ln/>
        </p:spPr>
      </p:sp>
      <p:sp>
        <p:nvSpPr>
          <p:cNvPr id="14848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381000" y="685800"/>
            <a:ext cx="6096000" cy="3429000"/>
          </a:xfrm>
          <a:ln/>
        </p:spPr>
      </p:sp>
      <p:sp>
        <p:nvSpPr>
          <p:cNvPr id="14950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381000" y="685800"/>
            <a:ext cx="6096000" cy="3429000"/>
          </a:xfrm>
          <a:ln/>
        </p:spPr>
      </p:sp>
      <p:sp>
        <p:nvSpPr>
          <p:cNvPr id="15053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xfrm>
            <a:off x="381000" y="685800"/>
            <a:ext cx="6096000" cy="3429000"/>
          </a:xfrm>
          <a:ln/>
        </p:spPr>
      </p:sp>
      <p:sp>
        <p:nvSpPr>
          <p:cNvPr id="15155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381000" y="685800"/>
            <a:ext cx="6096000" cy="3429000"/>
          </a:xfrm>
          <a:ln/>
        </p:spPr>
      </p:sp>
      <p:sp>
        <p:nvSpPr>
          <p:cNvPr id="15257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xfrm>
            <a:off x="381000" y="685800"/>
            <a:ext cx="6096000" cy="3429000"/>
          </a:xfrm>
          <a:ln/>
        </p:spPr>
      </p:sp>
      <p:sp>
        <p:nvSpPr>
          <p:cNvPr id="153603"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381000" y="685800"/>
            <a:ext cx="6096000" cy="3429000"/>
          </a:xfrm>
          <a:ln/>
        </p:spPr>
      </p:sp>
      <p:sp>
        <p:nvSpPr>
          <p:cNvPr id="154627"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381000" y="685800"/>
            <a:ext cx="6096000" cy="3429000"/>
          </a:xfrm>
          <a:ln/>
        </p:spPr>
      </p:sp>
      <p:sp>
        <p:nvSpPr>
          <p:cNvPr id="15565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xfrm>
            <a:off x="381000" y="685800"/>
            <a:ext cx="6096000" cy="3429000"/>
          </a:xfrm>
          <a:ln/>
        </p:spPr>
      </p:sp>
      <p:sp>
        <p:nvSpPr>
          <p:cNvPr id="156675"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381000" y="685800"/>
            <a:ext cx="6096000" cy="3429000"/>
          </a:xfrm>
          <a:ln/>
        </p:spPr>
      </p:sp>
      <p:sp>
        <p:nvSpPr>
          <p:cNvPr id="157699"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מציין מיקום של תמונת שקופית 1"/>
          <p:cNvSpPr>
            <a:spLocks noGrp="1" noRot="1" noChangeAspect="1" noTextEdit="1"/>
          </p:cNvSpPr>
          <p:nvPr>
            <p:ph type="sldImg"/>
          </p:nvPr>
        </p:nvSpPr>
        <p:spPr>
          <a:xfrm>
            <a:off x="381000" y="685800"/>
            <a:ext cx="6096000" cy="3429000"/>
          </a:xfrm>
          <a:ln/>
        </p:spPr>
      </p:sp>
      <p:sp>
        <p:nvSpPr>
          <p:cNvPr id="158723" name="מציין מיקום של הערות 2"/>
          <p:cNvSpPr>
            <a:spLocks noGrp="1"/>
          </p:cNvSpPr>
          <p:nvPr>
            <p:ph type="body" idx="1"/>
          </p:nvPr>
        </p:nvSpPr>
        <p:spPr>
          <a:noFill/>
          <a:ln/>
        </p:spPr>
        <p:txBody>
          <a:bodyPr/>
          <a:lstStyle/>
          <a:p>
            <a:endParaRPr lang="he-IL"/>
          </a:p>
        </p:txBody>
      </p:sp>
      <p:sp>
        <p:nvSpPr>
          <p:cNvPr id="158724" name="מציין מיקום של מספר שקופית 3"/>
          <p:cNvSpPr>
            <a:spLocks noGrp="1"/>
          </p:cNvSpPr>
          <p:nvPr>
            <p:ph type="sldNum" sz="quarter" idx="5"/>
          </p:nvPr>
        </p:nvSpPr>
        <p:spPr>
          <a:noFill/>
        </p:spPr>
        <p:txBody>
          <a:bodyPr/>
          <a:lstStyle/>
          <a:p>
            <a:fld id="{5289EF50-2487-47B4-91DB-46D6495ACD89}" type="slidenum">
              <a:rPr lang="he-IL" smtClean="0"/>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מציין מיקום של תמונת שקופית 1"/>
          <p:cNvSpPr>
            <a:spLocks noGrp="1" noRot="1" noChangeAspect="1" noTextEdit="1"/>
          </p:cNvSpPr>
          <p:nvPr>
            <p:ph type="sldImg"/>
          </p:nvPr>
        </p:nvSpPr>
        <p:spPr>
          <a:xfrm>
            <a:off x="381000" y="685800"/>
            <a:ext cx="6096000" cy="3429000"/>
          </a:xfrm>
          <a:ln/>
        </p:spPr>
      </p:sp>
      <p:sp>
        <p:nvSpPr>
          <p:cNvPr id="159747" name="מציין מיקום של הערות 2"/>
          <p:cNvSpPr>
            <a:spLocks noGrp="1"/>
          </p:cNvSpPr>
          <p:nvPr>
            <p:ph type="body" idx="1"/>
          </p:nvPr>
        </p:nvSpPr>
        <p:spPr>
          <a:noFill/>
          <a:ln/>
        </p:spPr>
        <p:txBody>
          <a:bodyPr/>
          <a:lstStyle/>
          <a:p>
            <a:endParaRPr lang="he-IL"/>
          </a:p>
        </p:txBody>
      </p:sp>
      <p:sp>
        <p:nvSpPr>
          <p:cNvPr id="159748" name="מציין מיקום של מספר שקופית 3"/>
          <p:cNvSpPr>
            <a:spLocks noGrp="1"/>
          </p:cNvSpPr>
          <p:nvPr>
            <p:ph type="sldNum" sz="quarter" idx="5"/>
          </p:nvPr>
        </p:nvSpPr>
        <p:spPr>
          <a:noFill/>
        </p:spPr>
        <p:txBody>
          <a:bodyPr/>
          <a:lstStyle/>
          <a:p>
            <a:fld id="{E91C82EF-A928-47CD-843C-4236C381600D}" type="slidenum">
              <a:rPr lang="he-IL" smtClean="0"/>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xfrm>
            <a:off x="381000" y="685800"/>
            <a:ext cx="6096000" cy="3429000"/>
          </a:xfrm>
          <a:ln/>
        </p:spPr>
      </p:sp>
      <p:sp>
        <p:nvSpPr>
          <p:cNvPr id="160771"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מציין מיקום של תמונת שקופית 1"/>
          <p:cNvSpPr>
            <a:spLocks noGrp="1" noRot="1" noChangeAspect="1" noTextEdit="1"/>
          </p:cNvSpPr>
          <p:nvPr>
            <p:ph type="sldImg"/>
          </p:nvPr>
        </p:nvSpPr>
        <p:spPr>
          <a:xfrm>
            <a:off x="381000" y="685800"/>
            <a:ext cx="6096000" cy="3429000"/>
          </a:xfrm>
          <a:ln/>
        </p:spPr>
      </p:sp>
      <p:sp>
        <p:nvSpPr>
          <p:cNvPr id="161795" name="מציין מיקום של הערות 2"/>
          <p:cNvSpPr>
            <a:spLocks noGrp="1"/>
          </p:cNvSpPr>
          <p:nvPr>
            <p:ph type="body" idx="1"/>
          </p:nvPr>
        </p:nvSpPr>
        <p:spPr>
          <a:noFill/>
          <a:ln/>
        </p:spPr>
        <p:txBody>
          <a:bodyPr/>
          <a:lstStyle/>
          <a:p>
            <a:endParaRPr lang="he-IL"/>
          </a:p>
        </p:txBody>
      </p:sp>
      <p:sp>
        <p:nvSpPr>
          <p:cNvPr id="161796" name="מציין מיקום של מספר שקופית 3"/>
          <p:cNvSpPr>
            <a:spLocks noGrp="1"/>
          </p:cNvSpPr>
          <p:nvPr>
            <p:ph type="sldNum" sz="quarter" idx="5"/>
          </p:nvPr>
        </p:nvSpPr>
        <p:spPr>
          <a:noFill/>
        </p:spPr>
        <p:txBody>
          <a:bodyPr/>
          <a:lstStyle/>
          <a:p>
            <a:fld id="{3410B0FD-44B4-4CE5-94AE-2113D17ACF23}" type="slidenum">
              <a:rPr lang="he-IL" smtClean="0"/>
              <a:pPr/>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381000" y="685800"/>
            <a:ext cx="6096000" cy="3429000"/>
          </a:xfrm>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a:defRPr/>
            </a:pPr>
            <a:fld id="{8C439170-B54D-41FC-8323-DCBE6DCE09CE}" type="slidenum">
              <a:rPr lang="he-IL" smtClean="0"/>
              <a:pPr>
                <a:defRPr/>
              </a:pPr>
              <a:t>82</a:t>
            </a:fld>
            <a:endParaRPr lang="en-US"/>
          </a:p>
        </p:txBody>
      </p:sp>
    </p:spTree>
    <p:extLst>
      <p:ext uri="{BB962C8B-B14F-4D97-AF65-F5344CB8AC3E}">
        <p14:creationId xmlns:p14="http://schemas.microsoft.com/office/powerpoint/2010/main" val="170942649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מציין מיקום של תמונת שקופית 1"/>
          <p:cNvSpPr>
            <a:spLocks noGrp="1" noRot="1" noChangeAspect="1" noTextEdit="1"/>
          </p:cNvSpPr>
          <p:nvPr>
            <p:ph type="sldImg"/>
          </p:nvPr>
        </p:nvSpPr>
        <p:spPr>
          <a:xfrm>
            <a:off x="381000" y="685800"/>
            <a:ext cx="6096000" cy="3429000"/>
          </a:xfrm>
          <a:ln/>
        </p:spPr>
      </p:sp>
      <p:sp>
        <p:nvSpPr>
          <p:cNvPr id="162819" name="מציין מיקום של הערות 2"/>
          <p:cNvSpPr>
            <a:spLocks noGrp="1"/>
          </p:cNvSpPr>
          <p:nvPr>
            <p:ph type="body" idx="1"/>
          </p:nvPr>
        </p:nvSpPr>
        <p:spPr>
          <a:noFill/>
          <a:ln/>
        </p:spPr>
        <p:txBody>
          <a:bodyPr/>
          <a:lstStyle/>
          <a:p>
            <a:endParaRPr lang="he-IL"/>
          </a:p>
        </p:txBody>
      </p:sp>
      <p:sp>
        <p:nvSpPr>
          <p:cNvPr id="162820" name="מציין מיקום של מספר שקופית 3"/>
          <p:cNvSpPr>
            <a:spLocks noGrp="1"/>
          </p:cNvSpPr>
          <p:nvPr>
            <p:ph type="sldNum" sz="quarter" idx="5"/>
          </p:nvPr>
        </p:nvSpPr>
        <p:spPr>
          <a:noFill/>
        </p:spPr>
        <p:txBody>
          <a:bodyPr/>
          <a:lstStyle/>
          <a:p>
            <a:fld id="{9565C8B6-BBB0-49F0-BF6E-CE9E00F5A517}" type="slidenum">
              <a:rPr lang="he-IL" smtClean="0"/>
              <a:pPr/>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מציין מיקום של תמונת שקופית 1"/>
          <p:cNvSpPr>
            <a:spLocks noGrp="1" noRot="1" noChangeAspect="1" noTextEdit="1"/>
          </p:cNvSpPr>
          <p:nvPr>
            <p:ph type="sldImg"/>
          </p:nvPr>
        </p:nvSpPr>
        <p:spPr>
          <a:xfrm>
            <a:off x="381000" y="685800"/>
            <a:ext cx="6096000" cy="3429000"/>
          </a:xfrm>
          <a:ln/>
        </p:spPr>
      </p:sp>
      <p:sp>
        <p:nvSpPr>
          <p:cNvPr id="163843" name="מציין מיקום של הערות 2"/>
          <p:cNvSpPr>
            <a:spLocks noGrp="1"/>
          </p:cNvSpPr>
          <p:nvPr>
            <p:ph type="body" idx="1"/>
          </p:nvPr>
        </p:nvSpPr>
        <p:spPr>
          <a:noFill/>
          <a:ln/>
        </p:spPr>
        <p:txBody>
          <a:bodyPr/>
          <a:lstStyle/>
          <a:p>
            <a:endParaRPr lang="he-IL"/>
          </a:p>
        </p:txBody>
      </p:sp>
      <p:sp>
        <p:nvSpPr>
          <p:cNvPr id="163844" name="מציין מיקום של מספר שקופית 3"/>
          <p:cNvSpPr>
            <a:spLocks noGrp="1"/>
          </p:cNvSpPr>
          <p:nvPr>
            <p:ph type="sldNum" sz="quarter" idx="5"/>
          </p:nvPr>
        </p:nvSpPr>
        <p:spPr>
          <a:noFill/>
        </p:spPr>
        <p:txBody>
          <a:bodyPr/>
          <a:lstStyle/>
          <a:p>
            <a:fld id="{EE9F2456-052B-4311-A6FA-2C6AA5593BC2}" type="slidenum">
              <a:rPr lang="he-IL" smtClean="0"/>
              <a:pPr/>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381000" y="685800"/>
            <a:ext cx="6096000" cy="3429000"/>
          </a:xfrm>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a:defRPr/>
            </a:pPr>
            <a:fld id="{8C439170-B54D-41FC-8323-DCBE6DCE09CE}" type="slidenum">
              <a:rPr lang="he-IL" smtClean="0"/>
              <a:pPr>
                <a:defRPr/>
              </a:pPr>
              <a:t>85</a:t>
            </a:fld>
            <a:endParaRPr lang="en-US"/>
          </a:p>
        </p:txBody>
      </p:sp>
    </p:spTree>
    <p:extLst>
      <p:ext uri="{BB962C8B-B14F-4D97-AF65-F5344CB8AC3E}">
        <p14:creationId xmlns:p14="http://schemas.microsoft.com/office/powerpoint/2010/main" val="72701727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2286000" y="514350"/>
            <a:ext cx="4572000" cy="2571750"/>
          </a:xfrm>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a:defRPr/>
            </a:pPr>
            <a:fld id="{6024931E-5A63-4EAE-B437-8F33B1148CBB}" type="slidenum">
              <a:rPr lang="en-US" smtClean="0"/>
              <a:pPr>
                <a:defRPr/>
              </a:pPr>
              <a:t>86</a:t>
            </a:fld>
            <a:endParaRPr lang="en-US"/>
          </a:p>
        </p:txBody>
      </p:sp>
    </p:spTree>
    <p:extLst>
      <p:ext uri="{BB962C8B-B14F-4D97-AF65-F5344CB8AC3E}">
        <p14:creationId xmlns:p14="http://schemas.microsoft.com/office/powerpoint/2010/main" val="2206929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914411" y="2130446"/>
            <a:ext cx="103632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828813" y="3886203"/>
            <a:ext cx="8534401" cy="1752600"/>
          </a:xfrm>
        </p:spPr>
        <p:txBody>
          <a:bodyPr/>
          <a:lstStyle>
            <a:lvl1pPr marL="0" indent="0" algn="ctr">
              <a:buNone/>
              <a:defRPr/>
            </a:lvl1pPr>
            <a:lvl2pPr marL="298743" indent="0" algn="ctr">
              <a:buNone/>
              <a:defRPr/>
            </a:lvl2pPr>
            <a:lvl3pPr marL="597488" indent="0" algn="ctr">
              <a:buNone/>
              <a:defRPr/>
            </a:lvl3pPr>
            <a:lvl4pPr marL="896230" indent="0" algn="ctr">
              <a:buNone/>
              <a:defRPr/>
            </a:lvl4pPr>
            <a:lvl5pPr marL="1194973" indent="0" algn="ctr">
              <a:buNone/>
              <a:defRPr/>
            </a:lvl5pPr>
            <a:lvl6pPr marL="1493711" indent="0" algn="ctr">
              <a:buNone/>
              <a:defRPr/>
            </a:lvl6pPr>
            <a:lvl7pPr marL="1792455" indent="0" algn="ctr">
              <a:buNone/>
              <a:defRPr/>
            </a:lvl7pPr>
            <a:lvl8pPr marL="2091198" indent="0" algn="ctr">
              <a:buNone/>
              <a:defRPr/>
            </a:lvl8pPr>
            <a:lvl9pPr marL="2389942" indent="0" algn="ctr">
              <a:buNone/>
              <a:defRPr/>
            </a:lvl9pPr>
          </a:lstStyle>
          <a:p>
            <a:r>
              <a:rPr lang="he-IL"/>
              <a:t>לחץ כדי לערוך סגנון כותרת משנה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fld id="{9AF9D7EF-19F8-43F7-9324-90425F60DED3}"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62D1645-C22A-404F-86E6-A986099A0193}" type="slidenum">
              <a:rPr lang="he-IL"/>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BC72A855-5839-4313-946A-58AE7B7340A1}"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633B1A6-2372-4EDF-9289-35602BEB5AE9}" type="slidenum">
              <a:rPr lang="he-IL"/>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963093" y="4406919"/>
            <a:ext cx="10363200" cy="1362075"/>
          </a:xfrm>
        </p:spPr>
        <p:txBody>
          <a:bodyPr anchor="t"/>
          <a:lstStyle>
            <a:lvl1pPr algn="r">
              <a:defRPr sz="26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963093" y="2906732"/>
            <a:ext cx="10363200" cy="1500187"/>
          </a:xfrm>
        </p:spPr>
        <p:txBody>
          <a:bodyPr anchor="b"/>
          <a:lstStyle>
            <a:lvl1pPr marL="0" indent="0">
              <a:buNone/>
              <a:defRPr sz="1300"/>
            </a:lvl1pPr>
            <a:lvl2pPr marL="298743" indent="0">
              <a:buNone/>
              <a:defRPr sz="1100"/>
            </a:lvl2pPr>
            <a:lvl3pPr marL="597488" indent="0">
              <a:buNone/>
              <a:defRPr sz="1100"/>
            </a:lvl3pPr>
            <a:lvl4pPr marL="896230" indent="0">
              <a:buNone/>
              <a:defRPr sz="900"/>
            </a:lvl4pPr>
            <a:lvl5pPr marL="1194973" indent="0">
              <a:buNone/>
              <a:defRPr sz="900"/>
            </a:lvl5pPr>
            <a:lvl6pPr marL="1493711" indent="0">
              <a:buNone/>
              <a:defRPr sz="900"/>
            </a:lvl6pPr>
            <a:lvl7pPr marL="1792455" indent="0">
              <a:buNone/>
              <a:defRPr sz="900"/>
            </a:lvl7pPr>
            <a:lvl8pPr marL="2091198" indent="0">
              <a:buNone/>
              <a:defRPr sz="900"/>
            </a:lvl8pPr>
            <a:lvl9pPr marL="2389942" indent="0">
              <a:buNone/>
              <a:defRPr sz="900"/>
            </a:lvl9pPr>
          </a:lstStyle>
          <a:p>
            <a:pPr lvl="0"/>
            <a:r>
              <a:rPr lang="he-IL"/>
              <a:t>לחץ כדי לערוך סגנונות טקסט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fld id="{B6D629DE-5F4D-487F-A94F-FBA9C682A80C}"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B3525A2-F9FF-45DE-8C7C-2E491A6A75F4}" type="slidenum">
              <a:rPr lang="he-IL"/>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914413" y="1981204"/>
            <a:ext cx="5080000" cy="4114800"/>
          </a:xfrm>
        </p:spPr>
        <p:txBody>
          <a:bodyPr/>
          <a:lstStyle>
            <a:lvl1pPr>
              <a:defRPr sz="1900"/>
            </a:lvl1pPr>
            <a:lvl2pPr>
              <a:defRPr sz="1600"/>
            </a:lvl2pPr>
            <a:lvl3pPr>
              <a:defRPr sz="1300"/>
            </a:lvl3pPr>
            <a:lvl4pPr>
              <a:defRPr sz="1100"/>
            </a:lvl4pPr>
            <a:lvl5pPr>
              <a:defRPr sz="1100"/>
            </a:lvl5pPr>
            <a:lvl6pPr>
              <a:defRPr sz="1100"/>
            </a:lvl6pPr>
            <a:lvl7pPr>
              <a:defRPr sz="1100"/>
            </a:lvl7pPr>
            <a:lvl8pPr>
              <a:defRPr sz="1100"/>
            </a:lvl8pPr>
            <a:lvl9pPr>
              <a:defRPr sz="11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97613" y="1981204"/>
            <a:ext cx="5080000" cy="4114800"/>
          </a:xfrm>
        </p:spPr>
        <p:txBody>
          <a:bodyPr/>
          <a:lstStyle>
            <a:lvl1pPr>
              <a:defRPr sz="1900"/>
            </a:lvl1pPr>
            <a:lvl2pPr>
              <a:defRPr sz="1600"/>
            </a:lvl2pPr>
            <a:lvl3pPr>
              <a:defRPr sz="1300"/>
            </a:lvl3pPr>
            <a:lvl4pPr>
              <a:defRPr sz="1100"/>
            </a:lvl4pPr>
            <a:lvl5pPr>
              <a:defRPr sz="1100"/>
            </a:lvl5pPr>
            <a:lvl6pPr>
              <a:defRPr sz="1100"/>
            </a:lvl6pPr>
            <a:lvl7pPr>
              <a:defRPr sz="1100"/>
            </a:lvl7pPr>
            <a:lvl8pPr>
              <a:defRPr sz="1100"/>
            </a:lvl8pPr>
            <a:lvl9pPr>
              <a:defRPr sz="11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Rectangle 4"/>
          <p:cNvSpPr>
            <a:spLocks noGrp="1" noChangeArrowheads="1"/>
          </p:cNvSpPr>
          <p:nvPr>
            <p:ph type="dt" sz="half" idx="10"/>
          </p:nvPr>
        </p:nvSpPr>
        <p:spPr>
          <a:ln/>
        </p:spPr>
        <p:txBody>
          <a:bodyPr/>
          <a:lstStyle>
            <a:lvl1pPr>
              <a:defRPr/>
            </a:lvl1pPr>
          </a:lstStyle>
          <a:p>
            <a:pPr>
              <a:defRPr/>
            </a:pPr>
            <a:fld id="{8DAF0467-E27E-4EF3-A422-AA29DF04C910}"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B10519A-06D2-45DF-AAFD-7274CF134475}" type="slidenum">
              <a:rPr lang="he-IL"/>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09614" y="274650"/>
            <a:ext cx="10972801" cy="1142999"/>
          </a:xfrm>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09612" y="1535122"/>
            <a:ext cx="5386917" cy="639763"/>
          </a:xfrm>
        </p:spPr>
        <p:txBody>
          <a:bodyPr anchor="b"/>
          <a:lstStyle>
            <a:lvl1pPr marL="0" indent="0">
              <a:buNone/>
              <a:defRPr sz="1600" b="1"/>
            </a:lvl1pPr>
            <a:lvl2pPr marL="298743" indent="0">
              <a:buNone/>
              <a:defRPr sz="1300" b="1"/>
            </a:lvl2pPr>
            <a:lvl3pPr marL="597488" indent="0">
              <a:buNone/>
              <a:defRPr sz="1100" b="1"/>
            </a:lvl3pPr>
            <a:lvl4pPr marL="896230" indent="0">
              <a:buNone/>
              <a:defRPr sz="1100" b="1"/>
            </a:lvl4pPr>
            <a:lvl5pPr marL="1194973" indent="0">
              <a:buNone/>
              <a:defRPr sz="1100" b="1"/>
            </a:lvl5pPr>
            <a:lvl6pPr marL="1493711" indent="0">
              <a:buNone/>
              <a:defRPr sz="1100" b="1"/>
            </a:lvl6pPr>
            <a:lvl7pPr marL="1792455" indent="0">
              <a:buNone/>
              <a:defRPr sz="1100" b="1"/>
            </a:lvl7pPr>
            <a:lvl8pPr marL="2091198" indent="0">
              <a:buNone/>
              <a:defRPr sz="1100" b="1"/>
            </a:lvl8pPr>
            <a:lvl9pPr marL="2389942" indent="0">
              <a:buNone/>
              <a:defRPr sz="11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09612" y="2174881"/>
            <a:ext cx="5386917" cy="3951288"/>
          </a:xfrm>
        </p:spPr>
        <p:txBody>
          <a:bodyPr/>
          <a:lstStyle>
            <a:lvl1pPr>
              <a:defRPr sz="1600"/>
            </a:lvl1pPr>
            <a:lvl2pPr>
              <a:defRPr sz="1300"/>
            </a:lvl2pPr>
            <a:lvl3pPr>
              <a:defRPr sz="1100"/>
            </a:lvl3pPr>
            <a:lvl4pPr>
              <a:defRPr sz="1100"/>
            </a:lvl4pPr>
            <a:lvl5pPr>
              <a:defRPr sz="1100"/>
            </a:lvl5pPr>
            <a:lvl6pPr>
              <a:defRPr sz="1100"/>
            </a:lvl6pPr>
            <a:lvl7pPr>
              <a:defRPr sz="1100"/>
            </a:lvl7pPr>
            <a:lvl8pPr>
              <a:defRPr sz="1100"/>
            </a:lvl8pPr>
            <a:lvl9pPr>
              <a:defRPr sz="11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93387" y="1535122"/>
            <a:ext cx="5389036" cy="639763"/>
          </a:xfrm>
        </p:spPr>
        <p:txBody>
          <a:bodyPr anchor="b"/>
          <a:lstStyle>
            <a:lvl1pPr marL="0" indent="0">
              <a:buNone/>
              <a:defRPr sz="1600" b="1"/>
            </a:lvl1pPr>
            <a:lvl2pPr marL="298743" indent="0">
              <a:buNone/>
              <a:defRPr sz="1300" b="1"/>
            </a:lvl2pPr>
            <a:lvl3pPr marL="597488" indent="0">
              <a:buNone/>
              <a:defRPr sz="1100" b="1"/>
            </a:lvl3pPr>
            <a:lvl4pPr marL="896230" indent="0">
              <a:buNone/>
              <a:defRPr sz="1100" b="1"/>
            </a:lvl4pPr>
            <a:lvl5pPr marL="1194973" indent="0">
              <a:buNone/>
              <a:defRPr sz="1100" b="1"/>
            </a:lvl5pPr>
            <a:lvl6pPr marL="1493711" indent="0">
              <a:buNone/>
              <a:defRPr sz="1100" b="1"/>
            </a:lvl6pPr>
            <a:lvl7pPr marL="1792455" indent="0">
              <a:buNone/>
              <a:defRPr sz="1100" b="1"/>
            </a:lvl7pPr>
            <a:lvl8pPr marL="2091198" indent="0">
              <a:buNone/>
              <a:defRPr sz="1100" b="1"/>
            </a:lvl8pPr>
            <a:lvl9pPr marL="2389942" indent="0">
              <a:buNone/>
              <a:defRPr sz="11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93387" y="2174881"/>
            <a:ext cx="5389036" cy="3951288"/>
          </a:xfrm>
        </p:spPr>
        <p:txBody>
          <a:bodyPr/>
          <a:lstStyle>
            <a:lvl1pPr>
              <a:defRPr sz="1600"/>
            </a:lvl1pPr>
            <a:lvl2pPr>
              <a:defRPr sz="1300"/>
            </a:lvl2pPr>
            <a:lvl3pPr>
              <a:defRPr sz="1100"/>
            </a:lvl3pPr>
            <a:lvl4pPr>
              <a:defRPr sz="1100"/>
            </a:lvl4pPr>
            <a:lvl5pPr>
              <a:defRPr sz="1100"/>
            </a:lvl5pPr>
            <a:lvl6pPr>
              <a:defRPr sz="1100"/>
            </a:lvl6pPr>
            <a:lvl7pPr>
              <a:defRPr sz="1100"/>
            </a:lvl7pPr>
            <a:lvl8pPr>
              <a:defRPr sz="1100"/>
            </a:lvl8pPr>
            <a:lvl9pPr>
              <a:defRPr sz="11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Rectangle 4"/>
          <p:cNvSpPr>
            <a:spLocks noGrp="1" noChangeArrowheads="1"/>
          </p:cNvSpPr>
          <p:nvPr>
            <p:ph type="dt" sz="half" idx="10"/>
          </p:nvPr>
        </p:nvSpPr>
        <p:spPr>
          <a:ln/>
        </p:spPr>
        <p:txBody>
          <a:bodyPr/>
          <a:lstStyle>
            <a:lvl1pPr>
              <a:defRPr/>
            </a:lvl1pPr>
          </a:lstStyle>
          <a:p>
            <a:pPr>
              <a:defRPr/>
            </a:pPr>
            <a:fld id="{ECF47E39-7DE9-4C1D-88B7-F5CDB59EC928}" type="datetime12">
              <a:rPr lang="he-IL" smtClean="0"/>
              <a:pPr>
                <a:defRPr/>
              </a:pPr>
              <a:t>28/01/2024 18:13</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6531882-4D3C-4B89-9AF9-35D44C76E1EA}" type="slidenum">
              <a:rPr lang="he-IL"/>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Rectangle 4"/>
          <p:cNvSpPr>
            <a:spLocks noGrp="1" noChangeArrowheads="1"/>
          </p:cNvSpPr>
          <p:nvPr>
            <p:ph type="dt" sz="half" idx="10"/>
          </p:nvPr>
        </p:nvSpPr>
        <p:spPr>
          <a:ln/>
        </p:spPr>
        <p:txBody>
          <a:bodyPr/>
          <a:lstStyle>
            <a:lvl1pPr>
              <a:defRPr/>
            </a:lvl1pPr>
          </a:lstStyle>
          <a:p>
            <a:pPr>
              <a:defRPr/>
            </a:pPr>
            <a:fld id="{ED485473-3A2E-4DF1-8F6A-CF39A7B648E6}" type="datetime12">
              <a:rPr lang="he-IL" smtClean="0"/>
              <a:pPr>
                <a:defRPr/>
              </a:pPr>
              <a:t>28/01/2024 18:13</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18E1A52-4574-4A58-9FDB-02AC4D25678C}" type="slidenum">
              <a:rPr lang="he-IL"/>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A29ED6E2-2E32-4160-BFA7-E888397FFACF}" type="datetime12">
              <a:rPr lang="he-IL" smtClean="0"/>
              <a:pPr>
                <a:defRPr/>
              </a:pPr>
              <a:t>28/01/2024 18:13</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061DC7B-53AB-4EA6-B431-9AA39A66E421}" type="slidenum">
              <a:rPr lang="he-IL"/>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09608" y="273066"/>
            <a:ext cx="4011085" cy="1162051"/>
          </a:xfrm>
        </p:spPr>
        <p:txBody>
          <a:bodyPr anchor="b"/>
          <a:lstStyle>
            <a:lvl1pPr algn="r">
              <a:defRPr sz="13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4766743" y="273071"/>
            <a:ext cx="6815668" cy="5853113"/>
          </a:xfrm>
        </p:spPr>
        <p:txBody>
          <a:bodyPr/>
          <a:lstStyle>
            <a:lvl1pPr>
              <a:defRPr sz="2100"/>
            </a:lvl1pPr>
            <a:lvl2pPr>
              <a:defRPr sz="1900"/>
            </a:lvl2pPr>
            <a:lvl3pPr>
              <a:defRPr sz="1600"/>
            </a:lvl3pPr>
            <a:lvl4pPr>
              <a:defRPr sz="1300"/>
            </a:lvl4pPr>
            <a:lvl5pPr>
              <a:defRPr sz="1300"/>
            </a:lvl5pPr>
            <a:lvl6pPr>
              <a:defRPr sz="1300"/>
            </a:lvl6pPr>
            <a:lvl7pPr>
              <a:defRPr sz="1300"/>
            </a:lvl7pPr>
            <a:lvl8pPr>
              <a:defRPr sz="1300"/>
            </a:lvl8pPr>
            <a:lvl9pPr>
              <a:defRPr sz="13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09608" y="1435110"/>
            <a:ext cx="4011085" cy="4691064"/>
          </a:xfrm>
        </p:spPr>
        <p:txBody>
          <a:bodyPr/>
          <a:lstStyle>
            <a:lvl1pPr marL="0" indent="0">
              <a:buNone/>
              <a:defRPr sz="900"/>
            </a:lvl1pPr>
            <a:lvl2pPr marL="298743" indent="0">
              <a:buNone/>
              <a:defRPr sz="800"/>
            </a:lvl2pPr>
            <a:lvl3pPr marL="597488" indent="0">
              <a:buNone/>
              <a:defRPr sz="600"/>
            </a:lvl3pPr>
            <a:lvl4pPr marL="896230" indent="0">
              <a:buNone/>
              <a:defRPr sz="600"/>
            </a:lvl4pPr>
            <a:lvl5pPr marL="1194973" indent="0">
              <a:buNone/>
              <a:defRPr sz="600"/>
            </a:lvl5pPr>
            <a:lvl6pPr marL="1493711" indent="0">
              <a:buNone/>
              <a:defRPr sz="600"/>
            </a:lvl6pPr>
            <a:lvl7pPr marL="1792455" indent="0">
              <a:buNone/>
              <a:defRPr sz="600"/>
            </a:lvl7pPr>
            <a:lvl8pPr marL="2091198" indent="0">
              <a:buNone/>
              <a:defRPr sz="600"/>
            </a:lvl8pPr>
            <a:lvl9pPr marL="2389942" indent="0">
              <a:buNone/>
              <a:defRPr sz="6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fld id="{DC73A850-5FA4-4A42-9CEB-8856456EBF0C}"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9A268D9-BB64-4905-AAD8-DC8B4FFA6545}" type="slidenum">
              <a:rPr lang="he-IL"/>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2389721" y="4800604"/>
            <a:ext cx="7315200" cy="566738"/>
          </a:xfrm>
        </p:spPr>
        <p:txBody>
          <a:bodyPr anchor="b"/>
          <a:lstStyle>
            <a:lvl1pPr algn="r">
              <a:defRPr sz="13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2389721" y="612777"/>
            <a:ext cx="7315200" cy="4114800"/>
          </a:xfrm>
        </p:spPr>
        <p:txBody>
          <a:bodyPr/>
          <a:lstStyle>
            <a:lvl1pPr marL="0" indent="0">
              <a:buNone/>
              <a:defRPr sz="2100"/>
            </a:lvl1pPr>
            <a:lvl2pPr marL="298743" indent="0">
              <a:buNone/>
              <a:defRPr sz="1900"/>
            </a:lvl2pPr>
            <a:lvl3pPr marL="597488" indent="0">
              <a:buNone/>
              <a:defRPr sz="1600"/>
            </a:lvl3pPr>
            <a:lvl4pPr marL="896230" indent="0">
              <a:buNone/>
              <a:defRPr sz="1300"/>
            </a:lvl4pPr>
            <a:lvl5pPr marL="1194973" indent="0">
              <a:buNone/>
              <a:defRPr sz="1300"/>
            </a:lvl5pPr>
            <a:lvl6pPr marL="1493711" indent="0">
              <a:buNone/>
              <a:defRPr sz="1300"/>
            </a:lvl6pPr>
            <a:lvl7pPr marL="1792455" indent="0">
              <a:buNone/>
              <a:defRPr sz="1300"/>
            </a:lvl7pPr>
            <a:lvl8pPr marL="2091198" indent="0">
              <a:buNone/>
              <a:defRPr sz="1300"/>
            </a:lvl8pPr>
            <a:lvl9pPr marL="2389942" indent="0">
              <a:buNone/>
              <a:defRPr sz="1300"/>
            </a:lvl9pPr>
          </a:lstStyle>
          <a:p>
            <a:pPr lvl="0"/>
            <a:endParaRPr lang="he-IL" noProof="0"/>
          </a:p>
        </p:txBody>
      </p:sp>
      <p:sp>
        <p:nvSpPr>
          <p:cNvPr id="4" name="מציין מיקום טקסט 3"/>
          <p:cNvSpPr>
            <a:spLocks noGrp="1"/>
          </p:cNvSpPr>
          <p:nvPr>
            <p:ph type="body" sz="half" idx="2"/>
          </p:nvPr>
        </p:nvSpPr>
        <p:spPr>
          <a:xfrm>
            <a:off x="2389721" y="5367357"/>
            <a:ext cx="7315200" cy="804863"/>
          </a:xfrm>
        </p:spPr>
        <p:txBody>
          <a:bodyPr/>
          <a:lstStyle>
            <a:lvl1pPr marL="0" indent="0">
              <a:buNone/>
              <a:defRPr sz="900"/>
            </a:lvl1pPr>
            <a:lvl2pPr marL="298743" indent="0">
              <a:buNone/>
              <a:defRPr sz="800"/>
            </a:lvl2pPr>
            <a:lvl3pPr marL="597488" indent="0">
              <a:buNone/>
              <a:defRPr sz="600"/>
            </a:lvl3pPr>
            <a:lvl4pPr marL="896230" indent="0">
              <a:buNone/>
              <a:defRPr sz="600"/>
            </a:lvl4pPr>
            <a:lvl5pPr marL="1194973" indent="0">
              <a:buNone/>
              <a:defRPr sz="600"/>
            </a:lvl5pPr>
            <a:lvl6pPr marL="1493711" indent="0">
              <a:buNone/>
              <a:defRPr sz="600"/>
            </a:lvl6pPr>
            <a:lvl7pPr marL="1792455" indent="0">
              <a:buNone/>
              <a:defRPr sz="600"/>
            </a:lvl7pPr>
            <a:lvl8pPr marL="2091198" indent="0">
              <a:buNone/>
              <a:defRPr sz="600"/>
            </a:lvl8pPr>
            <a:lvl9pPr marL="2389942" indent="0">
              <a:buNone/>
              <a:defRPr sz="6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fld id="{F5436CC1-EFB0-48BA-8203-652A5C28AB13}"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DF7E660-05C9-40D9-B63B-BB774032664B}" type="slidenum">
              <a:rPr lang="he-IL"/>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8BEDBD14-5E34-4B32-9576-F17B6535AFC9}"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33AC610-F816-4FEC-826D-7602F5295EC3}" type="slidenum">
              <a:rPr lang="he-IL"/>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678351" y="8"/>
            <a:ext cx="2599268" cy="6096000"/>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76316" y="8"/>
            <a:ext cx="7598833" cy="609600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3E578C6C-C8E6-4B58-9066-EB870BC00769}"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971A18B-F853-44C3-B569-8F02C5D0FDB6}" type="slidenum">
              <a:rPr lang="he-IL"/>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914400" y="2130435"/>
            <a:ext cx="103632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828800" y="3886200"/>
            <a:ext cx="8534400" cy="1752600"/>
          </a:xfrm>
        </p:spPr>
        <p:txBody>
          <a:bodyPr/>
          <a:lstStyle>
            <a:lvl1pPr marL="0" indent="0" algn="ctr">
              <a:buNone/>
              <a:defRPr/>
            </a:lvl1pPr>
            <a:lvl2pPr marL="457159" indent="0" algn="ctr">
              <a:buNone/>
              <a:defRPr/>
            </a:lvl2pPr>
            <a:lvl3pPr marL="914318" indent="0" algn="ctr">
              <a:buNone/>
              <a:defRPr/>
            </a:lvl3pPr>
            <a:lvl4pPr marL="1371478" indent="0" algn="ctr">
              <a:buNone/>
              <a:defRPr/>
            </a:lvl4pPr>
            <a:lvl5pPr marL="1828637" indent="0" algn="ctr">
              <a:buNone/>
              <a:defRPr/>
            </a:lvl5pPr>
            <a:lvl6pPr marL="2285798" indent="0" algn="ctr">
              <a:buNone/>
              <a:defRPr/>
            </a:lvl6pPr>
            <a:lvl7pPr marL="2742955" indent="0" algn="ctr">
              <a:buNone/>
              <a:defRPr/>
            </a:lvl7pPr>
            <a:lvl8pPr marL="3200115" indent="0" algn="ctr">
              <a:buNone/>
              <a:defRPr/>
            </a:lvl8pPr>
            <a:lvl9pPr marL="3657275" indent="0" algn="ctr">
              <a:buNone/>
              <a:defRPr/>
            </a:lvl9pPr>
          </a:lstStyle>
          <a:p>
            <a:r>
              <a:rPr lang="he-IL"/>
              <a:t>לחץ כדי לערוך סגנון כותרת משנה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fld id="{690DC02A-C6F6-4135-A68E-7AD7F12F82BE}"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8A22A66-006D-4831-8336-397404907FF4}"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730870E4-13D7-49ED-8107-EF375CA6B272}"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C48877F-C976-40DC-927E-ED64717AAB8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963084" y="4406910"/>
            <a:ext cx="103632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963084" y="2906722"/>
            <a:ext cx="10363200" cy="1500187"/>
          </a:xfrm>
        </p:spPr>
        <p:txBody>
          <a:bodyPr anchor="b"/>
          <a:lstStyle>
            <a:lvl1pPr marL="0" indent="0">
              <a:buNone/>
              <a:defRPr sz="2000"/>
            </a:lvl1pPr>
            <a:lvl2pPr marL="457159" indent="0">
              <a:buNone/>
              <a:defRPr sz="1800"/>
            </a:lvl2pPr>
            <a:lvl3pPr marL="914318" indent="0">
              <a:buNone/>
              <a:defRPr sz="1600"/>
            </a:lvl3pPr>
            <a:lvl4pPr marL="1371478" indent="0">
              <a:buNone/>
              <a:defRPr sz="1400"/>
            </a:lvl4pPr>
            <a:lvl5pPr marL="1828637" indent="0">
              <a:buNone/>
              <a:defRPr sz="1400"/>
            </a:lvl5pPr>
            <a:lvl6pPr marL="2285798" indent="0">
              <a:buNone/>
              <a:defRPr sz="1400"/>
            </a:lvl6pPr>
            <a:lvl7pPr marL="2742955" indent="0">
              <a:buNone/>
              <a:defRPr sz="1400"/>
            </a:lvl7pPr>
            <a:lvl8pPr marL="3200115" indent="0">
              <a:buNone/>
              <a:defRPr sz="1400"/>
            </a:lvl8pPr>
            <a:lvl9pPr marL="3657275" indent="0">
              <a:buNone/>
              <a:defRPr sz="1400"/>
            </a:lvl9pPr>
          </a:lstStyle>
          <a:p>
            <a:pPr lvl="0"/>
            <a:r>
              <a:rPr lang="he-IL"/>
              <a:t>לחץ כדי לערוך סגנונות טקסט של תבנית בסיס</a:t>
            </a:r>
          </a:p>
        </p:txBody>
      </p:sp>
      <p:sp>
        <p:nvSpPr>
          <p:cNvPr id="4" name="Rectangle 4"/>
          <p:cNvSpPr>
            <a:spLocks noGrp="1" noChangeArrowheads="1"/>
          </p:cNvSpPr>
          <p:nvPr>
            <p:ph type="dt" sz="half" idx="10"/>
          </p:nvPr>
        </p:nvSpPr>
        <p:spPr>
          <a:ln/>
        </p:spPr>
        <p:txBody>
          <a:bodyPr/>
          <a:lstStyle>
            <a:lvl1pPr>
              <a:defRPr/>
            </a:lvl1pPr>
          </a:lstStyle>
          <a:p>
            <a:pPr>
              <a:defRPr/>
            </a:pPr>
            <a:fld id="{F3F994CC-EEE8-4809-84FB-48CFC957C437}"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DB4CC96-CF97-4300-9276-31F08D628FB0}"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Rectangle 4"/>
          <p:cNvSpPr>
            <a:spLocks noGrp="1" noChangeArrowheads="1"/>
          </p:cNvSpPr>
          <p:nvPr>
            <p:ph type="dt" sz="half" idx="10"/>
          </p:nvPr>
        </p:nvSpPr>
        <p:spPr>
          <a:ln/>
        </p:spPr>
        <p:txBody>
          <a:bodyPr/>
          <a:lstStyle>
            <a:lvl1pPr>
              <a:defRPr/>
            </a:lvl1pPr>
          </a:lstStyle>
          <a:p>
            <a:pPr>
              <a:defRPr/>
            </a:pPr>
            <a:fld id="{3768AE91-C10A-4A05-ABA0-084D9E6CF4EE}"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09BA6AB-A8F5-4843-87B9-47022220511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09600" y="274638"/>
            <a:ext cx="10972800" cy="1143000"/>
          </a:xfrm>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09600" y="1535113"/>
            <a:ext cx="5386917" cy="639762"/>
          </a:xfrm>
        </p:spPr>
        <p:txBody>
          <a:bodyPr anchor="b"/>
          <a:lstStyle>
            <a:lvl1pPr marL="0" indent="0">
              <a:buNone/>
              <a:defRPr sz="2400" b="1"/>
            </a:lvl1pPr>
            <a:lvl2pPr marL="457159" indent="0">
              <a:buNone/>
              <a:defRPr sz="2000" b="1"/>
            </a:lvl2pPr>
            <a:lvl3pPr marL="914318" indent="0">
              <a:buNone/>
              <a:defRPr sz="1800" b="1"/>
            </a:lvl3pPr>
            <a:lvl4pPr marL="1371478" indent="0">
              <a:buNone/>
              <a:defRPr sz="1600" b="1"/>
            </a:lvl4pPr>
            <a:lvl5pPr marL="1828637" indent="0">
              <a:buNone/>
              <a:defRPr sz="1600" b="1"/>
            </a:lvl5pPr>
            <a:lvl6pPr marL="2285798" indent="0">
              <a:buNone/>
              <a:defRPr sz="1600" b="1"/>
            </a:lvl6pPr>
            <a:lvl7pPr marL="2742955" indent="0">
              <a:buNone/>
              <a:defRPr sz="1600" b="1"/>
            </a:lvl7pPr>
            <a:lvl8pPr marL="3200115" indent="0">
              <a:buNone/>
              <a:defRPr sz="1600" b="1"/>
            </a:lvl8pPr>
            <a:lvl9pPr marL="3657275"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93374" y="1535113"/>
            <a:ext cx="5389033" cy="639762"/>
          </a:xfrm>
        </p:spPr>
        <p:txBody>
          <a:bodyPr anchor="b"/>
          <a:lstStyle>
            <a:lvl1pPr marL="0" indent="0">
              <a:buNone/>
              <a:defRPr sz="2400" b="1"/>
            </a:lvl1pPr>
            <a:lvl2pPr marL="457159" indent="0">
              <a:buNone/>
              <a:defRPr sz="2000" b="1"/>
            </a:lvl2pPr>
            <a:lvl3pPr marL="914318" indent="0">
              <a:buNone/>
              <a:defRPr sz="1800" b="1"/>
            </a:lvl3pPr>
            <a:lvl4pPr marL="1371478" indent="0">
              <a:buNone/>
              <a:defRPr sz="1600" b="1"/>
            </a:lvl4pPr>
            <a:lvl5pPr marL="1828637" indent="0">
              <a:buNone/>
              <a:defRPr sz="1600" b="1"/>
            </a:lvl5pPr>
            <a:lvl6pPr marL="2285798" indent="0">
              <a:buNone/>
              <a:defRPr sz="1600" b="1"/>
            </a:lvl6pPr>
            <a:lvl7pPr marL="2742955" indent="0">
              <a:buNone/>
              <a:defRPr sz="1600" b="1"/>
            </a:lvl7pPr>
            <a:lvl8pPr marL="3200115" indent="0">
              <a:buNone/>
              <a:defRPr sz="1600" b="1"/>
            </a:lvl8pPr>
            <a:lvl9pPr marL="3657275"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9337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Rectangle 4"/>
          <p:cNvSpPr>
            <a:spLocks noGrp="1" noChangeArrowheads="1"/>
          </p:cNvSpPr>
          <p:nvPr>
            <p:ph type="dt" sz="half" idx="10"/>
          </p:nvPr>
        </p:nvSpPr>
        <p:spPr>
          <a:ln/>
        </p:spPr>
        <p:txBody>
          <a:bodyPr/>
          <a:lstStyle>
            <a:lvl1pPr>
              <a:defRPr/>
            </a:lvl1pPr>
          </a:lstStyle>
          <a:p>
            <a:pPr>
              <a:defRPr/>
            </a:pPr>
            <a:fld id="{285FC898-5C4C-4AA0-822E-C8B761A88AEA}" type="datetime12">
              <a:rPr lang="he-IL" smtClean="0"/>
              <a:pPr>
                <a:defRPr/>
              </a:pPr>
              <a:t>28/01/2024 18:13</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2C6493F-9007-4667-A6F9-43058F755BBA}"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Rectangle 4"/>
          <p:cNvSpPr>
            <a:spLocks noGrp="1" noChangeArrowheads="1"/>
          </p:cNvSpPr>
          <p:nvPr>
            <p:ph type="dt" sz="half" idx="10"/>
          </p:nvPr>
        </p:nvSpPr>
        <p:spPr>
          <a:ln/>
        </p:spPr>
        <p:txBody>
          <a:bodyPr/>
          <a:lstStyle>
            <a:lvl1pPr>
              <a:defRPr/>
            </a:lvl1pPr>
          </a:lstStyle>
          <a:p>
            <a:pPr>
              <a:defRPr/>
            </a:pPr>
            <a:fld id="{836891E0-EB15-4DF6-A0C7-265456DADFCD}" type="datetime12">
              <a:rPr lang="he-IL" smtClean="0"/>
              <a:pPr>
                <a:defRPr/>
              </a:pPr>
              <a:t>28/01/2024 18:13</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9F8211-89BB-40CF-A594-AF97C83B3CE6}"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822E995-FC12-4730-8E64-A066634B7EB9}" type="datetime12">
              <a:rPr lang="he-IL" smtClean="0"/>
              <a:pPr>
                <a:defRPr/>
              </a:pPr>
              <a:t>28/01/2024 18:13</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99D9762-F5E9-4EC3-BD4C-44AA42C3BA87}"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09603" y="273050"/>
            <a:ext cx="4011084"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4766733" y="27306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09603" y="1435103"/>
            <a:ext cx="4011084" cy="4691063"/>
          </a:xfrm>
        </p:spPr>
        <p:txBody>
          <a:bodyPr/>
          <a:lstStyle>
            <a:lvl1pPr marL="0" indent="0">
              <a:buNone/>
              <a:defRPr sz="1400"/>
            </a:lvl1pPr>
            <a:lvl2pPr marL="457159" indent="0">
              <a:buNone/>
              <a:defRPr sz="1200"/>
            </a:lvl2pPr>
            <a:lvl3pPr marL="914318" indent="0">
              <a:buNone/>
              <a:defRPr sz="1000"/>
            </a:lvl3pPr>
            <a:lvl4pPr marL="1371478" indent="0">
              <a:buNone/>
              <a:defRPr sz="900"/>
            </a:lvl4pPr>
            <a:lvl5pPr marL="1828637" indent="0">
              <a:buNone/>
              <a:defRPr sz="900"/>
            </a:lvl5pPr>
            <a:lvl6pPr marL="2285798" indent="0">
              <a:buNone/>
              <a:defRPr sz="900"/>
            </a:lvl6pPr>
            <a:lvl7pPr marL="2742955" indent="0">
              <a:buNone/>
              <a:defRPr sz="900"/>
            </a:lvl7pPr>
            <a:lvl8pPr marL="3200115" indent="0">
              <a:buNone/>
              <a:defRPr sz="900"/>
            </a:lvl8pPr>
            <a:lvl9pPr marL="3657275" indent="0">
              <a:buNone/>
              <a:defRPr sz="9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fld id="{C242C1BD-9D12-4DB4-8DE1-30DFBF87855B}"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8A43454-C86D-448F-8C44-883251514799}"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2389717" y="4800600"/>
            <a:ext cx="73152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2389717" y="612776"/>
            <a:ext cx="7315200" cy="4114800"/>
          </a:xfrm>
        </p:spPr>
        <p:txBody>
          <a:bodyPr/>
          <a:lstStyle>
            <a:lvl1pPr marL="0" indent="0">
              <a:buNone/>
              <a:defRPr sz="3200"/>
            </a:lvl1pPr>
            <a:lvl2pPr marL="457159" indent="0">
              <a:buNone/>
              <a:defRPr sz="2800"/>
            </a:lvl2pPr>
            <a:lvl3pPr marL="914318" indent="0">
              <a:buNone/>
              <a:defRPr sz="2400"/>
            </a:lvl3pPr>
            <a:lvl4pPr marL="1371478" indent="0">
              <a:buNone/>
              <a:defRPr sz="2000"/>
            </a:lvl4pPr>
            <a:lvl5pPr marL="1828637" indent="0">
              <a:buNone/>
              <a:defRPr sz="2000"/>
            </a:lvl5pPr>
            <a:lvl6pPr marL="2285798" indent="0">
              <a:buNone/>
              <a:defRPr sz="2000"/>
            </a:lvl6pPr>
            <a:lvl7pPr marL="2742955" indent="0">
              <a:buNone/>
              <a:defRPr sz="2000"/>
            </a:lvl7pPr>
            <a:lvl8pPr marL="3200115" indent="0">
              <a:buNone/>
              <a:defRPr sz="2000"/>
            </a:lvl8pPr>
            <a:lvl9pPr marL="3657275" indent="0">
              <a:buNone/>
              <a:defRPr sz="2000"/>
            </a:lvl9pPr>
          </a:lstStyle>
          <a:p>
            <a:pPr lvl="0"/>
            <a:endParaRPr lang="he-IL" noProof="0"/>
          </a:p>
        </p:txBody>
      </p:sp>
      <p:sp>
        <p:nvSpPr>
          <p:cNvPr id="4" name="מציין מיקום טקסט 3"/>
          <p:cNvSpPr>
            <a:spLocks noGrp="1"/>
          </p:cNvSpPr>
          <p:nvPr>
            <p:ph type="body" sz="half" idx="2"/>
          </p:nvPr>
        </p:nvSpPr>
        <p:spPr>
          <a:xfrm>
            <a:off x="2389717" y="5367338"/>
            <a:ext cx="7315200" cy="804862"/>
          </a:xfrm>
        </p:spPr>
        <p:txBody>
          <a:bodyPr/>
          <a:lstStyle>
            <a:lvl1pPr marL="0" indent="0">
              <a:buNone/>
              <a:defRPr sz="1400"/>
            </a:lvl1pPr>
            <a:lvl2pPr marL="457159" indent="0">
              <a:buNone/>
              <a:defRPr sz="1200"/>
            </a:lvl2pPr>
            <a:lvl3pPr marL="914318" indent="0">
              <a:buNone/>
              <a:defRPr sz="1000"/>
            </a:lvl3pPr>
            <a:lvl4pPr marL="1371478" indent="0">
              <a:buNone/>
              <a:defRPr sz="900"/>
            </a:lvl4pPr>
            <a:lvl5pPr marL="1828637" indent="0">
              <a:buNone/>
              <a:defRPr sz="900"/>
            </a:lvl5pPr>
            <a:lvl6pPr marL="2285798" indent="0">
              <a:buNone/>
              <a:defRPr sz="900"/>
            </a:lvl6pPr>
            <a:lvl7pPr marL="2742955" indent="0">
              <a:buNone/>
              <a:defRPr sz="900"/>
            </a:lvl7pPr>
            <a:lvl8pPr marL="3200115" indent="0">
              <a:buNone/>
              <a:defRPr sz="900"/>
            </a:lvl8pPr>
            <a:lvl9pPr marL="3657275" indent="0">
              <a:buNone/>
              <a:defRPr sz="900"/>
            </a:lvl9pPr>
          </a:lstStyle>
          <a:p>
            <a:pPr lvl="0"/>
            <a:r>
              <a:rPr lang="he-IL"/>
              <a:t>לחץ כדי לערוך סגנונות טקסט של תבנית בסיס</a:t>
            </a:r>
          </a:p>
        </p:txBody>
      </p:sp>
      <p:sp>
        <p:nvSpPr>
          <p:cNvPr id="5" name="Rectangle 4"/>
          <p:cNvSpPr>
            <a:spLocks noGrp="1" noChangeArrowheads="1"/>
          </p:cNvSpPr>
          <p:nvPr>
            <p:ph type="dt" sz="half" idx="10"/>
          </p:nvPr>
        </p:nvSpPr>
        <p:spPr>
          <a:ln/>
        </p:spPr>
        <p:txBody>
          <a:bodyPr/>
          <a:lstStyle>
            <a:lvl1pPr>
              <a:defRPr/>
            </a:lvl1pPr>
          </a:lstStyle>
          <a:p>
            <a:pPr>
              <a:defRPr/>
            </a:pPr>
            <a:fld id="{9F93007E-A9F2-41BF-866F-A18FB1CC05EB}" type="datetime12">
              <a:rPr lang="he-IL" smtClean="0"/>
              <a:pPr>
                <a:defRPr/>
              </a:pPr>
              <a:t>28/01/2024 18:13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83E956-183B-469C-B79C-0DB09A286DFA}"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79EF92D1-6DDD-4B2A-BE38-41D517A36EBC}"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288600-A290-4FF8-B224-14D3942CAA49}"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686800" y="0"/>
            <a:ext cx="2590800" cy="6096000"/>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914400" y="0"/>
            <a:ext cx="7569200" cy="609600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4"/>
          <p:cNvSpPr>
            <a:spLocks noGrp="1" noChangeArrowheads="1"/>
          </p:cNvSpPr>
          <p:nvPr>
            <p:ph type="dt" sz="half" idx="10"/>
          </p:nvPr>
        </p:nvSpPr>
        <p:spPr>
          <a:ln/>
        </p:spPr>
        <p:txBody>
          <a:bodyPr/>
          <a:lstStyle>
            <a:lvl1pPr>
              <a:defRPr/>
            </a:lvl1pPr>
          </a:lstStyle>
          <a:p>
            <a:pPr>
              <a:defRPr/>
            </a:pPr>
            <a:fld id="{2BBEDCD0-027E-493A-A89B-D8AA6A9E526C}" type="datetime12">
              <a:rPr lang="he-IL" smtClean="0"/>
              <a:pPr>
                <a:defRPr/>
              </a:pPr>
              <a:t>28/01/2024 18:13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4BABE7-4CBF-4E39-90BE-EA37E70DBD0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874889" y="0"/>
            <a:ext cx="10364275" cy="1143458"/>
          </a:xfrm>
          <a:prstGeom prst="rect">
            <a:avLst/>
          </a:prstGeom>
          <a:noFill/>
          <a:ln w="9525">
            <a:noFill/>
            <a:miter lim="800000"/>
            <a:headEnd/>
            <a:tailEnd/>
          </a:ln>
        </p:spPr>
        <p:txBody>
          <a:bodyPr vert="horz" wrap="square" lIns="59750" tIns="29874" rIns="59750" bIns="29874"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913865" y="1981811"/>
            <a:ext cx="10364275" cy="4114800"/>
          </a:xfrm>
          <a:prstGeom prst="rect">
            <a:avLst/>
          </a:prstGeom>
          <a:noFill/>
          <a:ln w="9525">
            <a:noFill/>
            <a:miter lim="800000"/>
            <a:headEnd/>
            <a:tailEnd/>
          </a:ln>
        </p:spPr>
        <p:txBody>
          <a:bodyPr vert="horz" wrap="square" lIns="59750" tIns="29874" rIns="59750" bIns="2987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913863" y="6247798"/>
            <a:ext cx="2540000" cy="457659"/>
          </a:xfrm>
          <a:prstGeom prst="rect">
            <a:avLst/>
          </a:prstGeom>
          <a:noFill/>
          <a:ln w="9525">
            <a:noFill/>
            <a:miter lim="800000"/>
            <a:headEnd/>
            <a:tailEnd/>
          </a:ln>
          <a:effectLst/>
        </p:spPr>
        <p:txBody>
          <a:bodyPr vert="horz" wrap="square" lIns="59750" tIns="29874" rIns="59750" bIns="29874" numCol="1" anchor="t" anchorCtr="0" compatLnSpc="1">
            <a:prstTxWarp prst="textNoShape">
              <a:avLst/>
            </a:prstTxWarp>
          </a:bodyPr>
          <a:lstStyle>
            <a:lvl1pPr>
              <a:defRPr sz="900">
                <a:latin typeface="+mn-lt"/>
              </a:defRPr>
            </a:lvl1pPr>
          </a:lstStyle>
          <a:p>
            <a:pPr>
              <a:defRPr/>
            </a:pPr>
            <a:fld id="{1481D297-1333-4014-AFF8-26A26595ED5E}" type="datetime12">
              <a:rPr lang="he-IL" smtClean="0"/>
              <a:pPr>
                <a:defRPr/>
              </a:pPr>
              <a:t>28/01/2024 18:13</a:t>
            </a:fld>
            <a:endParaRPr lang="en-US"/>
          </a:p>
        </p:txBody>
      </p:sp>
      <p:sp>
        <p:nvSpPr>
          <p:cNvPr id="1029" name="Rectangle 5"/>
          <p:cNvSpPr>
            <a:spLocks noGrp="1" noChangeArrowheads="1"/>
          </p:cNvSpPr>
          <p:nvPr>
            <p:ph type="ftr" sz="quarter" idx="3"/>
          </p:nvPr>
        </p:nvSpPr>
        <p:spPr bwMode="auto">
          <a:xfrm>
            <a:off x="4164796" y="6247798"/>
            <a:ext cx="3862413" cy="457659"/>
          </a:xfrm>
          <a:prstGeom prst="rect">
            <a:avLst/>
          </a:prstGeom>
          <a:noFill/>
          <a:ln w="9525">
            <a:noFill/>
            <a:miter lim="800000"/>
            <a:headEnd/>
            <a:tailEnd/>
          </a:ln>
          <a:effectLst/>
        </p:spPr>
        <p:txBody>
          <a:bodyPr vert="horz" wrap="square" lIns="59750" tIns="29874" rIns="59750" bIns="29874" numCol="1" anchor="t" anchorCtr="0" compatLnSpc="1">
            <a:prstTxWarp prst="textNoShape">
              <a:avLst/>
            </a:prstTxWarp>
          </a:bodyPr>
          <a:lstStyle>
            <a:lvl1pPr algn="ctr">
              <a:defRPr sz="9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11514668" y="6438824"/>
            <a:ext cx="556381" cy="405432"/>
          </a:xfrm>
          <a:prstGeom prst="rect">
            <a:avLst/>
          </a:prstGeom>
          <a:noFill/>
          <a:ln w="9525">
            <a:noFill/>
            <a:miter lim="800000"/>
            <a:headEnd/>
            <a:tailEnd/>
          </a:ln>
          <a:effectLst/>
        </p:spPr>
        <p:txBody>
          <a:bodyPr vert="horz" wrap="square" lIns="59750" tIns="29874" rIns="59750" bIns="29874" numCol="1" anchor="t" anchorCtr="0" compatLnSpc="1">
            <a:prstTxWarp prst="textNoShape">
              <a:avLst/>
            </a:prstTxWarp>
          </a:bodyPr>
          <a:lstStyle>
            <a:lvl1pPr algn="r">
              <a:defRPr sz="900">
                <a:latin typeface="Times New Roman" pitchFamily="18" charset="0"/>
                <a:cs typeface="Times New Roman" pitchFamily="18" charset="0"/>
              </a:defRPr>
            </a:lvl1pPr>
          </a:lstStyle>
          <a:p>
            <a:pPr>
              <a:defRPr/>
            </a:pPr>
            <a:fld id="{3182D00E-3BC5-4B0A-93A8-7534D27596B8}" type="slidenum">
              <a:rPr lang="he-IL"/>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sz="2900">
          <a:solidFill>
            <a:srgbClr val="FF0000"/>
          </a:solidFill>
          <a:latin typeface="+mj-lt"/>
          <a:ea typeface="+mj-ea"/>
          <a:cs typeface="+mj-cs"/>
        </a:defRPr>
      </a:lvl1pPr>
      <a:lvl2pPr algn="ctr" rtl="0" eaLnBrk="0" fontAlgn="base" hangingPunct="0">
        <a:spcBef>
          <a:spcPct val="0"/>
        </a:spcBef>
        <a:spcAft>
          <a:spcPct val="0"/>
        </a:spcAft>
        <a:defRPr sz="2900">
          <a:solidFill>
            <a:srgbClr val="FF0000"/>
          </a:solidFill>
          <a:latin typeface="Times New Roman" pitchFamily="18" charset="0"/>
        </a:defRPr>
      </a:lvl2pPr>
      <a:lvl3pPr algn="ctr" rtl="0" eaLnBrk="0" fontAlgn="base" hangingPunct="0">
        <a:spcBef>
          <a:spcPct val="0"/>
        </a:spcBef>
        <a:spcAft>
          <a:spcPct val="0"/>
        </a:spcAft>
        <a:defRPr sz="2900">
          <a:solidFill>
            <a:srgbClr val="FF0000"/>
          </a:solidFill>
          <a:latin typeface="Times New Roman" pitchFamily="18" charset="0"/>
        </a:defRPr>
      </a:lvl3pPr>
      <a:lvl4pPr algn="ctr" rtl="0" eaLnBrk="0" fontAlgn="base" hangingPunct="0">
        <a:spcBef>
          <a:spcPct val="0"/>
        </a:spcBef>
        <a:spcAft>
          <a:spcPct val="0"/>
        </a:spcAft>
        <a:defRPr sz="2900">
          <a:solidFill>
            <a:srgbClr val="FF0000"/>
          </a:solidFill>
          <a:latin typeface="Times New Roman" pitchFamily="18" charset="0"/>
        </a:defRPr>
      </a:lvl4pPr>
      <a:lvl5pPr algn="ctr" rtl="0" eaLnBrk="0" fontAlgn="base" hangingPunct="0">
        <a:spcBef>
          <a:spcPct val="0"/>
        </a:spcBef>
        <a:spcAft>
          <a:spcPct val="0"/>
        </a:spcAft>
        <a:defRPr sz="2900">
          <a:solidFill>
            <a:srgbClr val="FF0000"/>
          </a:solidFill>
          <a:latin typeface="Times New Roman" pitchFamily="18" charset="0"/>
        </a:defRPr>
      </a:lvl5pPr>
      <a:lvl6pPr marL="298743" algn="ctr" rtl="0" fontAlgn="base">
        <a:spcBef>
          <a:spcPct val="0"/>
        </a:spcBef>
        <a:spcAft>
          <a:spcPct val="0"/>
        </a:spcAft>
        <a:defRPr sz="2900">
          <a:solidFill>
            <a:srgbClr val="FF0000"/>
          </a:solidFill>
          <a:latin typeface="Times New Roman" pitchFamily="18" charset="0"/>
        </a:defRPr>
      </a:lvl6pPr>
      <a:lvl7pPr marL="597488" algn="ctr" rtl="0" fontAlgn="base">
        <a:spcBef>
          <a:spcPct val="0"/>
        </a:spcBef>
        <a:spcAft>
          <a:spcPct val="0"/>
        </a:spcAft>
        <a:defRPr sz="2900">
          <a:solidFill>
            <a:srgbClr val="FF0000"/>
          </a:solidFill>
          <a:latin typeface="Times New Roman" pitchFamily="18" charset="0"/>
        </a:defRPr>
      </a:lvl7pPr>
      <a:lvl8pPr marL="896230" algn="ctr" rtl="0" fontAlgn="base">
        <a:spcBef>
          <a:spcPct val="0"/>
        </a:spcBef>
        <a:spcAft>
          <a:spcPct val="0"/>
        </a:spcAft>
        <a:defRPr sz="2900">
          <a:solidFill>
            <a:srgbClr val="FF0000"/>
          </a:solidFill>
          <a:latin typeface="Times New Roman" pitchFamily="18" charset="0"/>
        </a:defRPr>
      </a:lvl8pPr>
      <a:lvl9pPr marL="1194973" algn="ctr" rtl="0" fontAlgn="base">
        <a:spcBef>
          <a:spcPct val="0"/>
        </a:spcBef>
        <a:spcAft>
          <a:spcPct val="0"/>
        </a:spcAft>
        <a:defRPr sz="2900">
          <a:solidFill>
            <a:srgbClr val="FF0000"/>
          </a:solidFill>
          <a:latin typeface="Times New Roman" pitchFamily="18" charset="0"/>
        </a:defRPr>
      </a:lvl9pPr>
    </p:titleStyle>
    <p:bodyStyle>
      <a:lvl1pPr marL="221889" indent="-221889" algn="l" rtl="0" eaLnBrk="0" fontAlgn="base" hangingPunct="0">
        <a:spcBef>
          <a:spcPct val="20000"/>
        </a:spcBef>
        <a:spcAft>
          <a:spcPct val="0"/>
        </a:spcAft>
        <a:buClr>
          <a:schemeClr val="accent2"/>
        </a:buClr>
        <a:buChar char="•"/>
        <a:defRPr sz="2100">
          <a:solidFill>
            <a:srgbClr val="3333CC"/>
          </a:solidFill>
          <a:latin typeface="+mn-lt"/>
          <a:ea typeface="+mn-ea"/>
          <a:cs typeface="+mn-cs"/>
        </a:defRPr>
      </a:lvl1pPr>
      <a:lvl2pPr marL="483604" indent="-185477" algn="l" rtl="0" eaLnBrk="0" fontAlgn="base" hangingPunct="0">
        <a:spcBef>
          <a:spcPct val="20000"/>
        </a:spcBef>
        <a:spcAft>
          <a:spcPct val="0"/>
        </a:spcAft>
        <a:buClr>
          <a:schemeClr val="accent2"/>
        </a:buClr>
        <a:buChar char="–"/>
        <a:defRPr sz="1900">
          <a:solidFill>
            <a:schemeClr val="tx1"/>
          </a:solidFill>
          <a:latin typeface="+mn-lt"/>
        </a:defRPr>
      </a:lvl2pPr>
      <a:lvl3pPr marL="745320" indent="-147927" algn="l" rtl="0" eaLnBrk="0" fontAlgn="base" hangingPunct="0">
        <a:spcBef>
          <a:spcPct val="20000"/>
        </a:spcBef>
        <a:spcAft>
          <a:spcPct val="0"/>
        </a:spcAft>
        <a:buClr>
          <a:schemeClr val="accent2"/>
        </a:buClr>
        <a:buChar char="•"/>
        <a:defRPr sz="1600">
          <a:solidFill>
            <a:schemeClr val="tx1"/>
          </a:solidFill>
          <a:latin typeface="+mn-lt"/>
        </a:defRPr>
      </a:lvl3pPr>
      <a:lvl4pPr marL="1044585" indent="-147927" algn="l" rtl="0" eaLnBrk="0" fontAlgn="base" hangingPunct="0">
        <a:spcBef>
          <a:spcPct val="20000"/>
        </a:spcBef>
        <a:spcAft>
          <a:spcPct val="0"/>
        </a:spcAft>
        <a:buClr>
          <a:schemeClr val="accent2"/>
        </a:buClr>
        <a:buChar char="–"/>
        <a:defRPr>
          <a:solidFill>
            <a:schemeClr val="tx1"/>
          </a:solidFill>
          <a:latin typeface="+mn-lt"/>
        </a:defRPr>
      </a:lvl4pPr>
      <a:lvl5pPr marL="1342713" indent="-147927" algn="l" rtl="0" eaLnBrk="0" fontAlgn="base" hangingPunct="0">
        <a:spcBef>
          <a:spcPct val="20000"/>
        </a:spcBef>
        <a:spcAft>
          <a:spcPct val="0"/>
        </a:spcAft>
        <a:buClr>
          <a:schemeClr val="accent2"/>
        </a:buClr>
        <a:buChar char="»"/>
        <a:defRPr>
          <a:solidFill>
            <a:schemeClr val="tx1"/>
          </a:solidFill>
          <a:latin typeface="+mn-lt"/>
        </a:defRPr>
      </a:lvl5pPr>
      <a:lvl6pPr marL="1643086" indent="-149370" algn="l" rtl="0" fontAlgn="base">
        <a:spcBef>
          <a:spcPct val="20000"/>
        </a:spcBef>
        <a:spcAft>
          <a:spcPct val="0"/>
        </a:spcAft>
        <a:buClr>
          <a:schemeClr val="accent2"/>
        </a:buClr>
        <a:buChar char="»"/>
        <a:defRPr sz="1300">
          <a:solidFill>
            <a:schemeClr val="tx1"/>
          </a:solidFill>
          <a:latin typeface="+mn-lt"/>
        </a:defRPr>
      </a:lvl6pPr>
      <a:lvl7pPr marL="1941827" indent="-149370" algn="l" rtl="0" fontAlgn="base">
        <a:spcBef>
          <a:spcPct val="20000"/>
        </a:spcBef>
        <a:spcAft>
          <a:spcPct val="0"/>
        </a:spcAft>
        <a:buClr>
          <a:schemeClr val="accent2"/>
        </a:buClr>
        <a:buChar char="»"/>
        <a:defRPr sz="1300">
          <a:solidFill>
            <a:schemeClr val="tx1"/>
          </a:solidFill>
          <a:latin typeface="+mn-lt"/>
        </a:defRPr>
      </a:lvl7pPr>
      <a:lvl8pPr marL="2240568" indent="-149370" algn="l" rtl="0" fontAlgn="base">
        <a:spcBef>
          <a:spcPct val="20000"/>
        </a:spcBef>
        <a:spcAft>
          <a:spcPct val="0"/>
        </a:spcAft>
        <a:buClr>
          <a:schemeClr val="accent2"/>
        </a:buClr>
        <a:buChar char="»"/>
        <a:defRPr sz="1300">
          <a:solidFill>
            <a:schemeClr val="tx1"/>
          </a:solidFill>
          <a:latin typeface="+mn-lt"/>
        </a:defRPr>
      </a:lvl8pPr>
      <a:lvl9pPr marL="2539315" indent="-149370" algn="l" rtl="0" fontAlgn="base">
        <a:spcBef>
          <a:spcPct val="20000"/>
        </a:spcBef>
        <a:spcAft>
          <a:spcPct val="0"/>
        </a:spcAft>
        <a:buClr>
          <a:schemeClr val="accent2"/>
        </a:buClr>
        <a:buChar char="»"/>
        <a:defRPr sz="1300">
          <a:solidFill>
            <a:schemeClr val="tx1"/>
          </a:solidFill>
          <a:latin typeface="+mn-lt"/>
        </a:defRPr>
      </a:lvl9pPr>
    </p:bodyStyle>
    <p:otherStyle>
      <a:defPPr>
        <a:defRPr lang="he-IL"/>
      </a:defPPr>
      <a:lvl1pPr marL="0" algn="r" defTabSz="597488" rtl="1" eaLnBrk="1" latinLnBrk="0" hangingPunct="1">
        <a:defRPr sz="1100" kern="1200">
          <a:solidFill>
            <a:schemeClr val="tx1"/>
          </a:solidFill>
          <a:latin typeface="+mn-lt"/>
          <a:ea typeface="+mn-ea"/>
          <a:cs typeface="+mn-cs"/>
        </a:defRPr>
      </a:lvl1pPr>
      <a:lvl2pPr marL="298743" algn="r" defTabSz="597488" rtl="1" eaLnBrk="1" latinLnBrk="0" hangingPunct="1">
        <a:defRPr sz="1100" kern="1200">
          <a:solidFill>
            <a:schemeClr val="tx1"/>
          </a:solidFill>
          <a:latin typeface="+mn-lt"/>
          <a:ea typeface="+mn-ea"/>
          <a:cs typeface="+mn-cs"/>
        </a:defRPr>
      </a:lvl2pPr>
      <a:lvl3pPr marL="597488" algn="r" defTabSz="597488" rtl="1" eaLnBrk="1" latinLnBrk="0" hangingPunct="1">
        <a:defRPr sz="1100" kern="1200">
          <a:solidFill>
            <a:schemeClr val="tx1"/>
          </a:solidFill>
          <a:latin typeface="+mn-lt"/>
          <a:ea typeface="+mn-ea"/>
          <a:cs typeface="+mn-cs"/>
        </a:defRPr>
      </a:lvl3pPr>
      <a:lvl4pPr marL="896230" algn="r" defTabSz="597488" rtl="1" eaLnBrk="1" latinLnBrk="0" hangingPunct="1">
        <a:defRPr sz="1100" kern="1200">
          <a:solidFill>
            <a:schemeClr val="tx1"/>
          </a:solidFill>
          <a:latin typeface="+mn-lt"/>
          <a:ea typeface="+mn-ea"/>
          <a:cs typeface="+mn-cs"/>
        </a:defRPr>
      </a:lvl4pPr>
      <a:lvl5pPr marL="1194973" algn="r" defTabSz="597488" rtl="1" eaLnBrk="1" latinLnBrk="0" hangingPunct="1">
        <a:defRPr sz="1100" kern="1200">
          <a:solidFill>
            <a:schemeClr val="tx1"/>
          </a:solidFill>
          <a:latin typeface="+mn-lt"/>
          <a:ea typeface="+mn-ea"/>
          <a:cs typeface="+mn-cs"/>
        </a:defRPr>
      </a:lvl5pPr>
      <a:lvl6pPr marL="1493711" algn="r" defTabSz="597488" rtl="1" eaLnBrk="1" latinLnBrk="0" hangingPunct="1">
        <a:defRPr sz="1100" kern="1200">
          <a:solidFill>
            <a:schemeClr val="tx1"/>
          </a:solidFill>
          <a:latin typeface="+mn-lt"/>
          <a:ea typeface="+mn-ea"/>
          <a:cs typeface="+mn-cs"/>
        </a:defRPr>
      </a:lvl6pPr>
      <a:lvl7pPr marL="1792455" algn="r" defTabSz="597488" rtl="1" eaLnBrk="1" latinLnBrk="0" hangingPunct="1">
        <a:defRPr sz="1100" kern="1200">
          <a:solidFill>
            <a:schemeClr val="tx1"/>
          </a:solidFill>
          <a:latin typeface="+mn-lt"/>
          <a:ea typeface="+mn-ea"/>
          <a:cs typeface="+mn-cs"/>
        </a:defRPr>
      </a:lvl7pPr>
      <a:lvl8pPr marL="2091198" algn="r" defTabSz="597488" rtl="1" eaLnBrk="1" latinLnBrk="0" hangingPunct="1">
        <a:defRPr sz="1100" kern="1200">
          <a:solidFill>
            <a:schemeClr val="tx1"/>
          </a:solidFill>
          <a:latin typeface="+mn-lt"/>
          <a:ea typeface="+mn-ea"/>
          <a:cs typeface="+mn-cs"/>
        </a:defRPr>
      </a:lvl8pPr>
      <a:lvl9pPr marL="2389942" algn="r" defTabSz="597488" rtl="1" eaLnBrk="1" latinLnBrk="0" hangingPunct="1">
        <a:defRPr sz="1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913865" y="0"/>
            <a:ext cx="10364275" cy="1143458"/>
          </a:xfrm>
          <a:prstGeom prst="rect">
            <a:avLst/>
          </a:prstGeom>
          <a:noFill/>
          <a:ln w="9525">
            <a:noFill/>
            <a:miter lim="800000"/>
            <a:headEnd/>
            <a:tailEnd/>
          </a:ln>
        </p:spPr>
        <p:txBody>
          <a:bodyPr vert="horz" wrap="square" lIns="91434" tIns="45717" rIns="91434" bIns="45717"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913865" y="1981811"/>
            <a:ext cx="10364275" cy="4114800"/>
          </a:xfrm>
          <a:prstGeom prst="rect">
            <a:avLst/>
          </a:prstGeom>
          <a:noFill/>
          <a:ln w="9525">
            <a:noFill/>
            <a:miter lim="800000"/>
            <a:headEnd/>
            <a:tailEnd/>
          </a:ln>
        </p:spPr>
        <p:txBody>
          <a:bodyPr vert="horz" wrap="square" lIns="91434" tIns="45717" rIns="91434" bIns="45717"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913863" y="6247798"/>
            <a:ext cx="2540000" cy="457659"/>
          </a:xfrm>
          <a:prstGeom prst="rect">
            <a:avLst/>
          </a:prstGeom>
          <a:noFill/>
          <a:ln>
            <a:noFill/>
          </a:ln>
          <a:effectLst/>
        </p:spPr>
        <p:txBody>
          <a:bodyPr vert="horz" wrap="square" lIns="91434" tIns="45717" rIns="91434" bIns="45717" numCol="1" anchor="t" anchorCtr="0" compatLnSpc="1">
            <a:prstTxWarp prst="textNoShape">
              <a:avLst/>
            </a:prstTxWarp>
          </a:bodyPr>
          <a:lstStyle>
            <a:lvl1pPr>
              <a:defRPr sz="1400">
                <a:solidFill>
                  <a:srgbClr val="000000"/>
                </a:solidFill>
                <a:latin typeface="+mn-lt"/>
              </a:defRPr>
            </a:lvl1pPr>
          </a:lstStyle>
          <a:p>
            <a:pPr>
              <a:defRPr/>
            </a:pPr>
            <a:fld id="{CBCF1914-2352-45E3-BEE4-D888CAF8FB8F}" type="datetime12">
              <a:rPr lang="he-IL" smtClean="0"/>
              <a:pPr>
                <a:defRPr/>
              </a:pPr>
              <a:t>28/01/2024 18:13</a:t>
            </a:fld>
            <a:endParaRPr lang="en-US"/>
          </a:p>
        </p:txBody>
      </p:sp>
      <p:sp>
        <p:nvSpPr>
          <p:cNvPr id="1029" name="Rectangle 5"/>
          <p:cNvSpPr>
            <a:spLocks noGrp="1" noChangeArrowheads="1"/>
          </p:cNvSpPr>
          <p:nvPr>
            <p:ph type="ftr" sz="quarter" idx="3"/>
          </p:nvPr>
        </p:nvSpPr>
        <p:spPr bwMode="auto">
          <a:xfrm>
            <a:off x="4166140" y="6247798"/>
            <a:ext cx="3859725" cy="457659"/>
          </a:xfrm>
          <a:prstGeom prst="rect">
            <a:avLst/>
          </a:prstGeom>
          <a:noFill/>
          <a:ln>
            <a:noFill/>
          </a:ln>
          <a:effectLst/>
        </p:spPr>
        <p:txBody>
          <a:bodyPr vert="horz" wrap="square" lIns="91434" tIns="45717" rIns="91434" bIns="45717" numCol="1" anchor="t" anchorCtr="0" compatLnSpc="1">
            <a:prstTxWarp prst="textNoShape">
              <a:avLst/>
            </a:prstTxWarp>
          </a:bodyPr>
          <a:lstStyle>
            <a:lvl1pPr algn="ctr">
              <a:defRPr sz="1400">
                <a:solidFill>
                  <a:srgbClr val="000000"/>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11650404" y="6502044"/>
            <a:ext cx="541597" cy="355956"/>
          </a:xfrm>
          <a:prstGeom prst="rect">
            <a:avLst/>
          </a:prstGeom>
          <a:noFill/>
          <a:ln>
            <a:noFill/>
          </a:ln>
          <a:effectLst/>
        </p:spPr>
        <p:txBody>
          <a:bodyPr vert="horz" wrap="square" lIns="91434" tIns="45717" rIns="91434" bIns="45717" numCol="1" anchor="t" anchorCtr="0" compatLnSpc="1">
            <a:prstTxWarp prst="textNoShape">
              <a:avLst/>
            </a:prstTxWarp>
          </a:bodyPr>
          <a:lstStyle>
            <a:lvl1pPr algn="r">
              <a:defRPr sz="1400">
                <a:solidFill>
                  <a:srgbClr val="000000"/>
                </a:solidFill>
                <a:latin typeface="+mn-lt"/>
              </a:defRPr>
            </a:lvl1pPr>
          </a:lstStyle>
          <a:p>
            <a:pPr>
              <a:defRPr/>
            </a:pPr>
            <a:fld id="{7151C985-EEAE-4296-A3D9-5683B860F29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ftr="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itchFamily="18" charset="0"/>
        </a:defRPr>
      </a:lvl2pPr>
      <a:lvl3pPr algn="ctr" rtl="0" eaLnBrk="0" fontAlgn="base" hangingPunct="0">
        <a:spcBef>
          <a:spcPct val="0"/>
        </a:spcBef>
        <a:spcAft>
          <a:spcPct val="0"/>
        </a:spcAft>
        <a:defRPr sz="4400">
          <a:solidFill>
            <a:srgbClr val="FF0000"/>
          </a:solidFill>
          <a:latin typeface="Times New Roman" pitchFamily="18" charset="0"/>
        </a:defRPr>
      </a:lvl3pPr>
      <a:lvl4pPr algn="ctr" rtl="0" eaLnBrk="0" fontAlgn="base" hangingPunct="0">
        <a:spcBef>
          <a:spcPct val="0"/>
        </a:spcBef>
        <a:spcAft>
          <a:spcPct val="0"/>
        </a:spcAft>
        <a:defRPr sz="4400">
          <a:solidFill>
            <a:srgbClr val="FF0000"/>
          </a:solidFill>
          <a:latin typeface="Times New Roman" pitchFamily="18" charset="0"/>
        </a:defRPr>
      </a:lvl4pPr>
      <a:lvl5pPr algn="ctr" rtl="0" eaLnBrk="0" fontAlgn="base" hangingPunct="0">
        <a:spcBef>
          <a:spcPct val="0"/>
        </a:spcBef>
        <a:spcAft>
          <a:spcPct val="0"/>
        </a:spcAft>
        <a:defRPr sz="4400">
          <a:solidFill>
            <a:srgbClr val="FF0000"/>
          </a:solidFill>
          <a:latin typeface="Times New Roman" pitchFamily="18" charset="0"/>
        </a:defRPr>
      </a:lvl5pPr>
      <a:lvl6pPr marL="457159" algn="ctr" rtl="0" fontAlgn="base">
        <a:spcBef>
          <a:spcPct val="0"/>
        </a:spcBef>
        <a:spcAft>
          <a:spcPct val="0"/>
        </a:spcAft>
        <a:defRPr sz="4400">
          <a:solidFill>
            <a:srgbClr val="FF0000"/>
          </a:solidFill>
          <a:latin typeface="Times New Roman" pitchFamily="18" charset="0"/>
        </a:defRPr>
      </a:lvl6pPr>
      <a:lvl7pPr marL="914318" algn="ctr" rtl="0" fontAlgn="base">
        <a:spcBef>
          <a:spcPct val="0"/>
        </a:spcBef>
        <a:spcAft>
          <a:spcPct val="0"/>
        </a:spcAft>
        <a:defRPr sz="4400">
          <a:solidFill>
            <a:srgbClr val="FF0000"/>
          </a:solidFill>
          <a:latin typeface="Times New Roman" pitchFamily="18" charset="0"/>
        </a:defRPr>
      </a:lvl7pPr>
      <a:lvl8pPr marL="1371478" algn="ctr" rtl="0" fontAlgn="base">
        <a:spcBef>
          <a:spcPct val="0"/>
        </a:spcBef>
        <a:spcAft>
          <a:spcPct val="0"/>
        </a:spcAft>
        <a:defRPr sz="4400">
          <a:solidFill>
            <a:srgbClr val="FF0000"/>
          </a:solidFill>
          <a:latin typeface="Times New Roman" pitchFamily="18" charset="0"/>
        </a:defRPr>
      </a:lvl8pPr>
      <a:lvl9pPr marL="1828637" algn="ctr" rtl="0" fontAlgn="base">
        <a:spcBef>
          <a:spcPct val="0"/>
        </a:spcBef>
        <a:spcAft>
          <a:spcPct val="0"/>
        </a:spcAft>
        <a:defRPr sz="4400">
          <a:solidFill>
            <a:srgbClr val="FF0000"/>
          </a:solidFill>
          <a:latin typeface="Times New Roman" pitchFamily="18" charset="0"/>
        </a:defRPr>
      </a:lvl9pPr>
    </p:titleStyle>
    <p:bodyStyle>
      <a:lvl1pPr marL="342506" indent="-342506" algn="l" rtl="0" eaLnBrk="0" fontAlgn="base" hangingPunct="0">
        <a:spcBef>
          <a:spcPct val="20000"/>
        </a:spcBef>
        <a:spcAft>
          <a:spcPct val="0"/>
        </a:spcAft>
        <a:buClr>
          <a:schemeClr val="accent2"/>
        </a:buClr>
        <a:buChar char="•"/>
        <a:defRPr sz="3200">
          <a:solidFill>
            <a:schemeClr val="accent2"/>
          </a:solidFill>
          <a:latin typeface="+mn-lt"/>
          <a:ea typeface="+mn-ea"/>
          <a:cs typeface="+mn-cs"/>
        </a:defRPr>
      </a:lvl1pPr>
      <a:lvl2pPr marL="741905" indent="-285612" algn="l" rtl="0" eaLnBrk="0" fontAlgn="base" hangingPunct="0">
        <a:spcBef>
          <a:spcPct val="20000"/>
        </a:spcBef>
        <a:spcAft>
          <a:spcPct val="0"/>
        </a:spcAft>
        <a:buClr>
          <a:schemeClr val="accent2"/>
        </a:buClr>
        <a:buChar char="–"/>
        <a:defRPr sz="2800">
          <a:solidFill>
            <a:schemeClr val="tx1"/>
          </a:solidFill>
          <a:latin typeface="+mn-lt"/>
        </a:defRPr>
      </a:lvl2pPr>
      <a:lvl3pPr marL="1142443" indent="-227578" algn="l" rtl="0" eaLnBrk="0" fontAlgn="base" hangingPunct="0">
        <a:spcBef>
          <a:spcPct val="20000"/>
        </a:spcBef>
        <a:spcAft>
          <a:spcPct val="0"/>
        </a:spcAft>
        <a:buClr>
          <a:schemeClr val="accent2"/>
        </a:buClr>
        <a:buChar char="•"/>
        <a:defRPr sz="2400">
          <a:solidFill>
            <a:schemeClr val="tx1"/>
          </a:solidFill>
          <a:latin typeface="+mn-lt"/>
        </a:defRPr>
      </a:lvl3pPr>
      <a:lvl4pPr marL="1599876" indent="-227578" algn="l" rtl="0" eaLnBrk="0" fontAlgn="base" hangingPunct="0">
        <a:spcBef>
          <a:spcPct val="20000"/>
        </a:spcBef>
        <a:spcAft>
          <a:spcPct val="0"/>
        </a:spcAft>
        <a:buClr>
          <a:schemeClr val="accent2"/>
        </a:buClr>
        <a:buChar char="–"/>
        <a:defRPr sz="2000">
          <a:solidFill>
            <a:schemeClr val="tx1"/>
          </a:solidFill>
          <a:latin typeface="+mn-lt"/>
        </a:defRPr>
      </a:lvl4pPr>
      <a:lvl5pPr marL="2056171" indent="-227578" algn="l" rtl="0" eaLnBrk="0" fontAlgn="base" hangingPunct="0">
        <a:spcBef>
          <a:spcPct val="20000"/>
        </a:spcBef>
        <a:spcAft>
          <a:spcPct val="0"/>
        </a:spcAft>
        <a:buClr>
          <a:schemeClr val="accent2"/>
        </a:buClr>
        <a:buChar char="»"/>
        <a:defRPr sz="2000">
          <a:solidFill>
            <a:schemeClr val="tx1"/>
          </a:solidFill>
          <a:latin typeface="+mn-lt"/>
        </a:defRPr>
      </a:lvl5pPr>
      <a:lvl6pPr marL="2514376" indent="-228580" algn="l" rtl="0" fontAlgn="base">
        <a:spcBef>
          <a:spcPct val="20000"/>
        </a:spcBef>
        <a:spcAft>
          <a:spcPct val="0"/>
        </a:spcAft>
        <a:buClr>
          <a:schemeClr val="accent2"/>
        </a:buClr>
        <a:buChar char="»"/>
        <a:defRPr sz="2000">
          <a:solidFill>
            <a:schemeClr val="tx1"/>
          </a:solidFill>
          <a:latin typeface="+mn-lt"/>
        </a:defRPr>
      </a:lvl6pPr>
      <a:lvl7pPr marL="2971536" indent="-228580" algn="l" rtl="0" fontAlgn="base">
        <a:spcBef>
          <a:spcPct val="20000"/>
        </a:spcBef>
        <a:spcAft>
          <a:spcPct val="0"/>
        </a:spcAft>
        <a:buClr>
          <a:schemeClr val="accent2"/>
        </a:buClr>
        <a:buChar char="»"/>
        <a:defRPr sz="2000">
          <a:solidFill>
            <a:schemeClr val="tx1"/>
          </a:solidFill>
          <a:latin typeface="+mn-lt"/>
        </a:defRPr>
      </a:lvl7pPr>
      <a:lvl8pPr marL="3428696" indent="-228580" algn="l" rtl="0" fontAlgn="base">
        <a:spcBef>
          <a:spcPct val="20000"/>
        </a:spcBef>
        <a:spcAft>
          <a:spcPct val="0"/>
        </a:spcAft>
        <a:buClr>
          <a:schemeClr val="accent2"/>
        </a:buClr>
        <a:buChar char="»"/>
        <a:defRPr sz="2000">
          <a:solidFill>
            <a:schemeClr val="tx1"/>
          </a:solidFill>
          <a:latin typeface="+mn-lt"/>
        </a:defRPr>
      </a:lvl8pPr>
      <a:lvl9pPr marL="3885854" indent="-228580" algn="l" rtl="0" fontAlgn="base">
        <a:spcBef>
          <a:spcPct val="20000"/>
        </a:spcBef>
        <a:spcAft>
          <a:spcPct val="0"/>
        </a:spcAft>
        <a:buClr>
          <a:schemeClr val="accent2"/>
        </a:buClr>
        <a:buChar char="»"/>
        <a:defRPr sz="2000">
          <a:solidFill>
            <a:schemeClr val="tx1"/>
          </a:solidFill>
          <a:latin typeface="+mn-lt"/>
        </a:defRPr>
      </a:lvl9pPr>
    </p:bodyStyle>
    <p:otherStyle>
      <a:defPPr>
        <a:defRPr lang="he-IL"/>
      </a:defPPr>
      <a:lvl1pPr marL="0" algn="r" defTabSz="914318" rtl="1" eaLnBrk="1" latinLnBrk="0" hangingPunct="1">
        <a:defRPr sz="1800" kern="1200">
          <a:solidFill>
            <a:schemeClr val="tx1"/>
          </a:solidFill>
          <a:latin typeface="+mn-lt"/>
          <a:ea typeface="+mn-ea"/>
          <a:cs typeface="+mn-cs"/>
        </a:defRPr>
      </a:lvl1pPr>
      <a:lvl2pPr marL="457159" algn="r" defTabSz="914318" rtl="1" eaLnBrk="1" latinLnBrk="0" hangingPunct="1">
        <a:defRPr sz="1800" kern="1200">
          <a:solidFill>
            <a:schemeClr val="tx1"/>
          </a:solidFill>
          <a:latin typeface="+mn-lt"/>
          <a:ea typeface="+mn-ea"/>
          <a:cs typeface="+mn-cs"/>
        </a:defRPr>
      </a:lvl2pPr>
      <a:lvl3pPr marL="914318" algn="r" defTabSz="914318" rtl="1" eaLnBrk="1" latinLnBrk="0" hangingPunct="1">
        <a:defRPr sz="1800" kern="1200">
          <a:solidFill>
            <a:schemeClr val="tx1"/>
          </a:solidFill>
          <a:latin typeface="+mn-lt"/>
          <a:ea typeface="+mn-ea"/>
          <a:cs typeface="+mn-cs"/>
        </a:defRPr>
      </a:lvl3pPr>
      <a:lvl4pPr marL="1371478" algn="r" defTabSz="914318" rtl="1" eaLnBrk="1" latinLnBrk="0" hangingPunct="1">
        <a:defRPr sz="1800" kern="1200">
          <a:solidFill>
            <a:schemeClr val="tx1"/>
          </a:solidFill>
          <a:latin typeface="+mn-lt"/>
          <a:ea typeface="+mn-ea"/>
          <a:cs typeface="+mn-cs"/>
        </a:defRPr>
      </a:lvl4pPr>
      <a:lvl5pPr marL="1828637" algn="r" defTabSz="914318" rtl="1" eaLnBrk="1" latinLnBrk="0" hangingPunct="1">
        <a:defRPr sz="1800" kern="1200">
          <a:solidFill>
            <a:schemeClr val="tx1"/>
          </a:solidFill>
          <a:latin typeface="+mn-lt"/>
          <a:ea typeface="+mn-ea"/>
          <a:cs typeface="+mn-cs"/>
        </a:defRPr>
      </a:lvl5pPr>
      <a:lvl6pPr marL="2285798" algn="r" defTabSz="914318" rtl="1" eaLnBrk="1" latinLnBrk="0" hangingPunct="1">
        <a:defRPr sz="1800" kern="1200">
          <a:solidFill>
            <a:schemeClr val="tx1"/>
          </a:solidFill>
          <a:latin typeface="+mn-lt"/>
          <a:ea typeface="+mn-ea"/>
          <a:cs typeface="+mn-cs"/>
        </a:defRPr>
      </a:lvl6pPr>
      <a:lvl7pPr marL="2742955" algn="r" defTabSz="914318" rtl="1" eaLnBrk="1" latinLnBrk="0" hangingPunct="1">
        <a:defRPr sz="1800" kern="1200">
          <a:solidFill>
            <a:schemeClr val="tx1"/>
          </a:solidFill>
          <a:latin typeface="+mn-lt"/>
          <a:ea typeface="+mn-ea"/>
          <a:cs typeface="+mn-cs"/>
        </a:defRPr>
      </a:lvl7pPr>
      <a:lvl8pPr marL="3200115" algn="r" defTabSz="914318" rtl="1" eaLnBrk="1" latinLnBrk="0" hangingPunct="1">
        <a:defRPr sz="1800" kern="1200">
          <a:solidFill>
            <a:schemeClr val="tx1"/>
          </a:solidFill>
          <a:latin typeface="+mn-lt"/>
          <a:ea typeface="+mn-ea"/>
          <a:cs typeface="+mn-cs"/>
        </a:defRPr>
      </a:lvl8pPr>
      <a:lvl9pPr marL="3657275" algn="r" defTabSz="914318"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2.bin"/><Relationship Id="rId4" Type="http://schemas.openxmlformats.org/officeDocument/2006/relationships/image" Target="../media/image30.wmf"/></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מציין מיקום של מספר שקופית 5"/>
          <p:cNvSpPr>
            <a:spLocks noGrp="1"/>
          </p:cNvSpPr>
          <p:nvPr>
            <p:ph type="sldNum" sz="quarter" idx="12"/>
          </p:nvPr>
        </p:nvSpPr>
        <p:spPr>
          <a:noFill/>
        </p:spPr>
        <p:txBody>
          <a:bodyPr/>
          <a:lstStyle/>
          <a:p>
            <a:fld id="{0571BE8B-FAD6-4034-ACC5-A93838FC96C0}" type="slidenum">
              <a:rPr lang="he-IL" smtClean="0"/>
              <a:pPr/>
              <a:t>1</a:t>
            </a:fld>
            <a:endParaRPr lang="en-US"/>
          </a:p>
        </p:txBody>
      </p:sp>
      <p:sp>
        <p:nvSpPr>
          <p:cNvPr id="4099" name="Rectangle 2"/>
          <p:cNvSpPr>
            <a:spLocks noGrp="1" noChangeArrowheads="1"/>
          </p:cNvSpPr>
          <p:nvPr>
            <p:ph type="ctrTitle"/>
          </p:nvPr>
        </p:nvSpPr>
        <p:spPr>
          <a:xfrm>
            <a:off x="2198317" y="1650595"/>
            <a:ext cx="7771191" cy="1143459"/>
          </a:xfrm>
        </p:spPr>
        <p:txBody>
          <a:bodyPr/>
          <a:lstStyle/>
          <a:p>
            <a:pPr eaLnBrk="1" hangingPunct="1"/>
            <a:r>
              <a:rPr lang="en-US" dirty="0"/>
              <a:t>Memory Management</a:t>
            </a:r>
          </a:p>
        </p:txBody>
      </p:sp>
      <p:sp>
        <p:nvSpPr>
          <p:cNvPr id="4100" name="Rectangle 3"/>
          <p:cNvSpPr>
            <a:spLocks noGrp="1" noChangeArrowheads="1"/>
          </p:cNvSpPr>
          <p:nvPr>
            <p:ph type="subTitle" idx="1"/>
          </p:nvPr>
        </p:nvSpPr>
        <p:spPr>
          <a:xfrm>
            <a:off x="2857078" y="787505"/>
            <a:ext cx="6400397" cy="710539"/>
          </a:xfrm>
        </p:spPr>
        <p:txBody>
          <a:bodyPr/>
          <a:lstStyle/>
          <a:p>
            <a:pPr eaLnBrk="1" hangingPunct="1"/>
            <a:r>
              <a:rPr lang="en-US" sz="2900" dirty="0"/>
              <a:t>Chapter 3</a:t>
            </a:r>
            <a:endParaRPr lang="en-US" dirty="0"/>
          </a:p>
        </p:txBody>
      </p:sp>
      <p:sp>
        <p:nvSpPr>
          <p:cNvPr id="4101" name="Text Box 6"/>
          <p:cNvSpPr txBox="1">
            <a:spLocks noChangeArrowheads="1"/>
          </p:cNvSpPr>
          <p:nvPr/>
        </p:nvSpPr>
        <p:spPr bwMode="auto">
          <a:xfrm>
            <a:off x="2336407" y="3030446"/>
            <a:ext cx="4876779" cy="1783882"/>
          </a:xfrm>
          <a:prstGeom prst="rect">
            <a:avLst/>
          </a:prstGeom>
          <a:noFill/>
          <a:ln w="9525">
            <a:noFill/>
            <a:miter lim="800000"/>
            <a:headEnd/>
            <a:tailEnd/>
          </a:ln>
        </p:spPr>
        <p:txBody>
          <a:bodyPr wrap="none" lIns="59751" tIns="29875" rIns="59751" bIns="29875">
            <a:spAutoFit/>
          </a:bodyPr>
          <a:lstStyle/>
          <a:p>
            <a:r>
              <a:rPr lang="en-US" sz="1600" dirty="0">
                <a:latin typeface="Times New Roman" pitchFamily="18" charset="0"/>
              </a:rPr>
              <a:t>3.1 Basic memory management   (</a:t>
            </a:r>
            <a:r>
              <a:rPr lang="he-IL" sz="1600" dirty="0">
                <a:latin typeface="Times New Roman" pitchFamily="18" charset="0"/>
              </a:rPr>
              <a:t>(חלוקה למחיצות קבועות</a:t>
            </a:r>
            <a:endParaRPr lang="en-US" sz="1600" dirty="0">
              <a:latin typeface="Times New Roman" pitchFamily="18" charset="0"/>
            </a:endParaRPr>
          </a:p>
          <a:p>
            <a:r>
              <a:rPr lang="en-US" sz="1600" dirty="0">
                <a:latin typeface="Times New Roman" pitchFamily="18" charset="0"/>
              </a:rPr>
              <a:t>3.2 </a:t>
            </a:r>
            <a:r>
              <a:rPr lang="en-US" sz="1600" dirty="0">
                <a:solidFill>
                  <a:srgbClr val="FF0000"/>
                </a:solidFill>
                <a:latin typeface="Times New Roman" pitchFamily="18" charset="0"/>
              </a:rPr>
              <a:t>Swapping  - </a:t>
            </a:r>
            <a:r>
              <a:rPr lang="he-IL" sz="1600" dirty="0">
                <a:latin typeface="Times New Roman" pitchFamily="18" charset="0"/>
              </a:rPr>
              <a:t>(חלוקה למחיצות נעות)</a:t>
            </a:r>
            <a:r>
              <a:rPr lang="en-US" sz="1600" dirty="0">
                <a:latin typeface="Times New Roman" pitchFamily="18" charset="0"/>
              </a:rPr>
              <a:t> </a:t>
            </a:r>
            <a:endParaRPr lang="en-US" sz="1600" dirty="0">
              <a:solidFill>
                <a:srgbClr val="FF0000"/>
              </a:solidFill>
              <a:latin typeface="Times New Roman" pitchFamily="18" charset="0"/>
            </a:endParaRPr>
          </a:p>
          <a:p>
            <a:r>
              <a:rPr lang="en-US" sz="1600" dirty="0">
                <a:solidFill>
                  <a:srgbClr val="FF0000"/>
                </a:solidFill>
                <a:latin typeface="Times New Roman" pitchFamily="18" charset="0"/>
              </a:rPr>
              <a:t>3.3 Virtual memory  (paging)</a:t>
            </a:r>
          </a:p>
          <a:p>
            <a:r>
              <a:rPr lang="en-US" sz="1600" dirty="0">
                <a:solidFill>
                  <a:srgbClr val="FF0000"/>
                </a:solidFill>
                <a:latin typeface="Times New Roman" pitchFamily="18" charset="0"/>
              </a:rPr>
              <a:t>3.4</a:t>
            </a:r>
            <a:r>
              <a:rPr lang="en-US" sz="1600" dirty="0">
                <a:latin typeface="Times New Roman" pitchFamily="18" charset="0"/>
              </a:rPr>
              <a:t> </a:t>
            </a:r>
            <a:r>
              <a:rPr lang="en-US" sz="1600" dirty="0">
                <a:solidFill>
                  <a:srgbClr val="FF0000"/>
                </a:solidFill>
                <a:latin typeface="Times New Roman" pitchFamily="18" charset="0"/>
              </a:rPr>
              <a:t>Page replacement algorithms </a:t>
            </a:r>
          </a:p>
          <a:p>
            <a:r>
              <a:rPr lang="en-US" sz="1600" dirty="0">
                <a:latin typeface="Times New Roman" pitchFamily="18" charset="0"/>
              </a:rPr>
              <a:t>3.5 Design issues for paging systems</a:t>
            </a:r>
          </a:p>
          <a:p>
            <a:r>
              <a:rPr lang="en-US" sz="1600" dirty="0">
                <a:latin typeface="Times New Roman" pitchFamily="18" charset="0"/>
              </a:rPr>
              <a:t>3.6 Implementation issues</a:t>
            </a:r>
          </a:p>
          <a:p>
            <a:r>
              <a:rPr lang="en-US" sz="1600" dirty="0">
                <a:latin typeface="Times New Roman" pitchFamily="18" charset="0"/>
              </a:rPr>
              <a:t>3.7 </a:t>
            </a:r>
            <a:r>
              <a:rPr lang="en-US" sz="1600" dirty="0">
                <a:solidFill>
                  <a:srgbClr val="FF0000"/>
                </a:solidFill>
                <a:latin typeface="Times New Roman" pitchFamily="18" charset="0"/>
              </a:rPr>
              <a:t>Segmentation</a:t>
            </a:r>
          </a:p>
        </p:txBody>
      </p:sp>
      <p:sp>
        <p:nvSpPr>
          <p:cNvPr id="6" name="מציין מיקום של תאריך 5"/>
          <p:cNvSpPr>
            <a:spLocks noGrp="1"/>
          </p:cNvSpPr>
          <p:nvPr>
            <p:ph type="dt" sz="half" idx="10"/>
          </p:nvPr>
        </p:nvSpPr>
        <p:spPr/>
        <p:txBody>
          <a:bodyPr/>
          <a:lstStyle/>
          <a:p>
            <a:pPr>
              <a:defRPr/>
            </a:pPr>
            <a:fld id="{0CE09ACD-C2AB-4988-B765-6E61041A56A4}" type="datetime12">
              <a:rPr lang="he-IL" smtClean="0"/>
              <a:pPr>
                <a:defRPr/>
              </a:pPr>
              <a:t>28/01/2024 18:13</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מציין מיקום של מספר שקופית 5"/>
          <p:cNvSpPr>
            <a:spLocks noGrp="1"/>
          </p:cNvSpPr>
          <p:nvPr>
            <p:ph type="sldNum" sz="quarter" idx="12"/>
          </p:nvPr>
        </p:nvSpPr>
        <p:spPr>
          <a:noFill/>
        </p:spPr>
        <p:txBody>
          <a:bodyPr/>
          <a:lstStyle/>
          <a:p>
            <a:fld id="{6663C9F0-9DAD-4605-B842-5FBDB1B9C647}" type="slidenum">
              <a:rPr lang="he-IL" smtClean="0"/>
              <a:pPr/>
              <a:t>2</a:t>
            </a:fld>
            <a:endParaRPr lang="en-US"/>
          </a:p>
        </p:txBody>
      </p:sp>
      <p:sp>
        <p:nvSpPr>
          <p:cNvPr id="10243" name="Rectangle 2"/>
          <p:cNvSpPr>
            <a:spLocks noGrp="1" noChangeArrowheads="1"/>
          </p:cNvSpPr>
          <p:nvPr>
            <p:ph type="title"/>
          </p:nvPr>
        </p:nvSpPr>
        <p:spPr>
          <a:xfrm>
            <a:off x="2198317" y="2"/>
            <a:ext cx="7771191" cy="1143459"/>
          </a:xfrm>
        </p:spPr>
        <p:txBody>
          <a:bodyPr/>
          <a:lstStyle/>
          <a:p>
            <a:pPr eaLnBrk="1" hangingPunct="1"/>
            <a:r>
              <a:rPr lang="en-US" dirty="0"/>
              <a:t>Modeling Multiprogramming</a:t>
            </a:r>
            <a:endParaRPr lang="en-US" sz="2600" dirty="0"/>
          </a:p>
        </p:txBody>
      </p:sp>
      <p:sp>
        <p:nvSpPr>
          <p:cNvPr id="10244" name="Rectangle 3"/>
          <p:cNvSpPr>
            <a:spLocks noGrp="1" noChangeArrowheads="1"/>
          </p:cNvSpPr>
          <p:nvPr>
            <p:ph type="body" idx="1"/>
          </p:nvPr>
        </p:nvSpPr>
        <p:spPr>
          <a:xfrm>
            <a:off x="1878795" y="6147471"/>
            <a:ext cx="8383008" cy="380695"/>
          </a:xfrm>
        </p:spPr>
        <p:txBody>
          <a:bodyPr/>
          <a:lstStyle/>
          <a:p>
            <a:pPr algn="ctr" eaLnBrk="1" hangingPunct="1">
              <a:lnSpc>
                <a:spcPct val="90000"/>
              </a:lnSpc>
              <a:buFontTx/>
              <a:buNone/>
            </a:pPr>
            <a:r>
              <a:rPr lang="en-US" sz="1600" dirty="0"/>
              <a:t>CPU utilization as a function of number of processes in memory</a:t>
            </a:r>
          </a:p>
        </p:txBody>
      </p:sp>
      <p:pic>
        <p:nvPicPr>
          <p:cNvPr id="10245" name="Picture 5" descr="C:\B\b4\JPG\foo\4-3.jpg"/>
          <p:cNvPicPr>
            <a:picLocks noChangeAspect="1" noChangeArrowheads="1"/>
          </p:cNvPicPr>
          <p:nvPr/>
        </p:nvPicPr>
        <p:blipFill>
          <a:blip r:embed="rId3" cstate="print"/>
          <a:srcRect/>
          <a:stretch>
            <a:fillRect/>
          </a:stretch>
        </p:blipFill>
        <p:spPr bwMode="auto">
          <a:xfrm>
            <a:off x="2574280" y="1441693"/>
            <a:ext cx="7093857" cy="3988360"/>
          </a:xfrm>
          <a:prstGeom prst="rect">
            <a:avLst/>
          </a:prstGeom>
          <a:noFill/>
          <a:ln w="9525">
            <a:noFill/>
            <a:miter lim="800000"/>
            <a:headEnd/>
            <a:tailEnd/>
          </a:ln>
        </p:spPr>
      </p:pic>
      <p:sp>
        <p:nvSpPr>
          <p:cNvPr id="10246" name="Rectangle 6"/>
          <p:cNvSpPr>
            <a:spLocks noChangeArrowheads="1"/>
          </p:cNvSpPr>
          <p:nvPr/>
        </p:nvSpPr>
        <p:spPr bwMode="auto">
          <a:xfrm>
            <a:off x="5243290" y="5282998"/>
            <a:ext cx="3355421" cy="384819"/>
          </a:xfrm>
          <a:prstGeom prst="rect">
            <a:avLst/>
          </a:prstGeom>
          <a:solidFill>
            <a:schemeClr val="bg1"/>
          </a:solidFill>
          <a:ln w="9525">
            <a:noFill/>
            <a:miter lim="800000"/>
            <a:headEnd/>
            <a:tailEnd/>
          </a:ln>
        </p:spPr>
        <p:txBody>
          <a:bodyPr wrap="none" lIns="59751" tIns="29875" rIns="59751" bIns="29875" anchor="ctr"/>
          <a:lstStyle/>
          <a:p>
            <a:endParaRPr lang="he-IL"/>
          </a:p>
        </p:txBody>
      </p:sp>
      <p:sp>
        <p:nvSpPr>
          <p:cNvPr id="10247" name="Text Box 7"/>
          <p:cNvSpPr txBox="1">
            <a:spLocks noChangeArrowheads="1"/>
          </p:cNvSpPr>
          <p:nvPr/>
        </p:nvSpPr>
        <p:spPr bwMode="auto">
          <a:xfrm>
            <a:off x="4886482" y="5331105"/>
            <a:ext cx="3044546" cy="337332"/>
          </a:xfrm>
          <a:prstGeom prst="rect">
            <a:avLst/>
          </a:prstGeom>
          <a:noFill/>
          <a:ln w="9525">
            <a:noFill/>
            <a:miter lim="800000"/>
            <a:headEnd/>
            <a:tailEnd/>
          </a:ln>
        </p:spPr>
        <p:txBody>
          <a:bodyPr wrap="none" lIns="59751" tIns="29875" rIns="59751" bIns="29875">
            <a:spAutoFit/>
          </a:bodyPr>
          <a:lstStyle/>
          <a:p>
            <a:r>
              <a:rPr lang="en-US" dirty="0"/>
              <a:t>Degree of multiprogramming</a:t>
            </a:r>
            <a:endParaRPr lang="en-US" sz="1600" dirty="0">
              <a:latin typeface="Times New Roman" pitchFamily="18" charset="0"/>
            </a:endParaRPr>
          </a:p>
        </p:txBody>
      </p:sp>
      <p:sp>
        <p:nvSpPr>
          <p:cNvPr id="8" name="מציין מיקום של תאריך 7"/>
          <p:cNvSpPr>
            <a:spLocks noGrp="1"/>
          </p:cNvSpPr>
          <p:nvPr>
            <p:ph type="dt" sz="half" idx="10"/>
          </p:nvPr>
        </p:nvSpPr>
        <p:spPr/>
        <p:txBody>
          <a:bodyPr/>
          <a:lstStyle/>
          <a:p>
            <a:pPr>
              <a:defRPr/>
            </a:pPr>
            <a:fld id="{007FB106-2931-4180-9FD4-59BB12D97E02}" type="datetime12">
              <a:rPr lang="he-IL" smtClean="0"/>
              <a:pPr>
                <a:defRPr/>
              </a:pPr>
              <a:t>28/01/2024 18:13</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מציין מיקום של מספר שקופית 5"/>
          <p:cNvSpPr>
            <a:spLocks noGrp="1"/>
          </p:cNvSpPr>
          <p:nvPr>
            <p:ph type="sldNum" sz="quarter" idx="12"/>
          </p:nvPr>
        </p:nvSpPr>
        <p:spPr>
          <a:noFill/>
        </p:spPr>
        <p:txBody>
          <a:bodyPr/>
          <a:lstStyle/>
          <a:p>
            <a:fld id="{4EA7F503-AA17-4B4A-8F39-FB7426ED423B}" type="slidenum">
              <a:rPr lang="he-IL" smtClean="0"/>
              <a:pPr/>
              <a:t>3</a:t>
            </a:fld>
            <a:endParaRPr lang="en-US"/>
          </a:p>
        </p:txBody>
      </p:sp>
      <p:sp>
        <p:nvSpPr>
          <p:cNvPr id="11267"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1268"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1269" name="Picture 6"/>
          <p:cNvPicPr>
            <a:picLocks noChangeAspect="1" noChangeArrowheads="1"/>
          </p:cNvPicPr>
          <p:nvPr/>
        </p:nvPicPr>
        <p:blipFill>
          <a:blip r:embed="rId3" cstate="print"/>
          <a:srcRect r="60477" b="60767"/>
          <a:stretch>
            <a:fillRect/>
          </a:stretch>
        </p:blipFill>
        <p:spPr bwMode="auto">
          <a:xfrm>
            <a:off x="3109494" y="1311135"/>
            <a:ext cx="2269873" cy="1535148"/>
          </a:xfrm>
          <a:prstGeom prst="rect">
            <a:avLst/>
          </a:prstGeom>
          <a:noFill/>
          <a:ln w="9525">
            <a:noFill/>
            <a:miter lim="800000"/>
            <a:headEnd/>
            <a:tailEnd/>
          </a:ln>
        </p:spPr>
      </p:pic>
      <p:sp>
        <p:nvSpPr>
          <p:cNvPr id="11270" name="TextBox 5"/>
          <p:cNvSpPr txBox="1">
            <a:spLocks noChangeArrowheads="1"/>
          </p:cNvSpPr>
          <p:nvPr/>
        </p:nvSpPr>
        <p:spPr bwMode="auto">
          <a:xfrm>
            <a:off x="5018519" y="1711167"/>
            <a:ext cx="722691" cy="1297266"/>
          </a:xfrm>
          <a:prstGeom prst="rect">
            <a:avLst/>
          </a:prstGeom>
          <a:noFill/>
          <a:ln w="9525">
            <a:noFill/>
            <a:miter lim="800000"/>
            <a:headEnd/>
            <a:tailEnd/>
          </a:ln>
        </p:spPr>
        <p:txBody>
          <a:bodyPr lIns="65520" tIns="32760" rIns="65520" bIns="32760">
            <a:spAutoFit/>
          </a:bodyPr>
          <a:lstStyle/>
          <a:p>
            <a:r>
              <a:rPr lang="en-US" sz="1600" dirty="0"/>
              <a:t>20</a:t>
            </a:r>
          </a:p>
          <a:p>
            <a:r>
              <a:rPr lang="en-US" sz="1600" dirty="0"/>
              <a:t>15</a:t>
            </a:r>
          </a:p>
          <a:p>
            <a:r>
              <a:rPr lang="en-US" sz="1600" dirty="0"/>
              <a:t>10</a:t>
            </a:r>
          </a:p>
          <a:p>
            <a:r>
              <a:rPr lang="en-US" sz="1600" u="sng" dirty="0"/>
              <a:t>10</a:t>
            </a:r>
            <a:endParaRPr lang="en-US" sz="1600" dirty="0"/>
          </a:p>
          <a:p>
            <a:r>
              <a:rPr lang="en-US" sz="1600" dirty="0"/>
              <a:t>55</a:t>
            </a:r>
            <a:endParaRPr lang="he-IL" sz="1600" dirty="0"/>
          </a:p>
        </p:txBody>
      </p:sp>
      <p:sp>
        <p:nvSpPr>
          <p:cNvPr id="11271" name="TextBox 1"/>
          <p:cNvSpPr txBox="1">
            <a:spLocks noChangeArrowheads="1"/>
          </p:cNvSpPr>
          <p:nvPr/>
        </p:nvSpPr>
        <p:spPr bwMode="auto">
          <a:xfrm>
            <a:off x="6000253" y="868590"/>
            <a:ext cx="3071183" cy="327794"/>
          </a:xfrm>
          <a:prstGeom prst="rect">
            <a:avLst/>
          </a:prstGeom>
          <a:noFill/>
          <a:ln w="9525">
            <a:noFill/>
            <a:miter lim="800000"/>
            <a:headEnd/>
            <a:tailEnd/>
          </a:ln>
        </p:spPr>
        <p:txBody>
          <a:bodyPr lIns="65544" tIns="32772" rIns="65544" bIns="32772">
            <a:spAutoFit/>
          </a:bodyPr>
          <a:lstStyle/>
          <a:p>
            <a:r>
              <a:rPr lang="he-IL" sz="1700" u="sng" dirty="0"/>
              <a:t>מתי יסיים תהליך 3?</a:t>
            </a:r>
          </a:p>
        </p:txBody>
      </p:sp>
      <p:sp>
        <p:nvSpPr>
          <p:cNvPr id="8" name="TextBox 6"/>
          <p:cNvSpPr txBox="1">
            <a:spLocks noChangeArrowheads="1"/>
          </p:cNvSpPr>
          <p:nvPr/>
        </p:nvSpPr>
        <p:spPr bwMode="auto">
          <a:xfrm>
            <a:off x="2246697" y="2846283"/>
            <a:ext cx="1592540" cy="620158"/>
          </a:xfrm>
          <a:prstGeom prst="rect">
            <a:avLst/>
          </a:prstGeom>
          <a:noFill/>
          <a:ln w="9525">
            <a:noFill/>
            <a:miter lim="800000"/>
            <a:headEnd/>
            <a:tailEnd/>
          </a:ln>
        </p:spPr>
        <p:txBody>
          <a:bodyPr lIns="65520" tIns="32760" rIns="65520" bIns="32760">
            <a:spAutoFit/>
          </a:bodyPr>
          <a:lstStyle/>
          <a:p>
            <a:r>
              <a:rPr lang="he-IL" dirty="0"/>
              <a:t>תהליך 4 יסיים ב 10:55</a:t>
            </a:r>
          </a:p>
        </p:txBody>
      </p:sp>
      <p:sp>
        <p:nvSpPr>
          <p:cNvPr id="9" name="מציין מיקום של תאריך 8"/>
          <p:cNvSpPr>
            <a:spLocks noGrp="1"/>
          </p:cNvSpPr>
          <p:nvPr>
            <p:ph type="dt" sz="half" idx="10"/>
          </p:nvPr>
        </p:nvSpPr>
        <p:spPr/>
        <p:txBody>
          <a:bodyPr/>
          <a:lstStyle/>
          <a:p>
            <a:pPr>
              <a:defRPr/>
            </a:pPr>
            <a:fld id="{7CDA2A11-CD35-44FE-AC8F-7E710A0F7067}" type="datetime12">
              <a:rPr lang="he-IL" smtClean="0"/>
              <a:pPr>
                <a:defRPr/>
              </a:pPr>
              <a:t>28/01/2024 18:13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4</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3390906" y="3276606"/>
            <a:ext cx="6235700"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5</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5055877" y="3276606"/>
            <a:ext cx="5382260"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6</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5867406" y="3242317"/>
            <a:ext cx="3690620"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7</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6701791" y="3242317"/>
            <a:ext cx="2331720"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8</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7113277" y="3505206"/>
            <a:ext cx="1941831"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9</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7901948" y="3448057"/>
            <a:ext cx="1941831"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10</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 name="מלבן 11"/>
          <p:cNvSpPr/>
          <p:nvPr/>
        </p:nvSpPr>
        <p:spPr bwMode="auto">
          <a:xfrm>
            <a:off x="8107688" y="2979426"/>
            <a:ext cx="1941831" cy="15875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endParaRPr lang="he-IL"/>
          </a:p>
        </p:txBody>
      </p:sp>
      <p:sp>
        <p:nvSpPr>
          <p:cNvPr id="13" name="מציין מיקום של תאריך 12"/>
          <p:cNvSpPr>
            <a:spLocks noGrp="1"/>
          </p:cNvSpPr>
          <p:nvPr>
            <p:ph type="dt" sz="half" idx="10"/>
          </p:nvPr>
        </p:nvSpPr>
        <p:spPr/>
        <p:txBody>
          <a:bodyPr/>
          <a:lstStyle/>
          <a:p>
            <a:pPr>
              <a:defRPr/>
            </a:pPr>
            <a:fld id="{F2E203F8-BED2-4BD5-87DE-8EBA074B6A85}" type="datetime12">
              <a:rPr lang="he-IL" smtClean="0"/>
              <a:pPr>
                <a:defRPr/>
              </a:pPr>
              <a:t>28/01/2024 18:13</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מציין מיקום של מספר שקופית 5"/>
          <p:cNvSpPr>
            <a:spLocks noGrp="1"/>
          </p:cNvSpPr>
          <p:nvPr>
            <p:ph type="sldNum" sz="quarter" idx="12"/>
          </p:nvPr>
        </p:nvSpPr>
        <p:spPr>
          <a:noFill/>
        </p:spPr>
        <p:txBody>
          <a:bodyPr/>
          <a:lstStyle/>
          <a:p>
            <a:fld id="{8E661D9D-62D0-4051-81EF-5449B6F6F677}" type="slidenum">
              <a:rPr lang="he-IL" smtClean="0"/>
              <a:pPr/>
              <a:t>11</a:t>
            </a:fld>
            <a:endParaRPr lang="en-US"/>
          </a:p>
        </p:txBody>
      </p:sp>
      <p:sp>
        <p:nvSpPr>
          <p:cNvPr id="12291" name="Rectangle 2"/>
          <p:cNvSpPr>
            <a:spLocks noGrp="1" noChangeArrowheads="1"/>
          </p:cNvSpPr>
          <p:nvPr>
            <p:ph type="title"/>
          </p:nvPr>
        </p:nvSpPr>
        <p:spPr>
          <a:xfrm>
            <a:off x="2209405" y="2"/>
            <a:ext cx="7773207" cy="1143459"/>
          </a:xfrm>
        </p:spPr>
        <p:txBody>
          <a:bodyPr/>
          <a:lstStyle/>
          <a:p>
            <a:pPr eaLnBrk="1" hangingPunct="1"/>
            <a:r>
              <a:rPr lang="en-US" sz="2400" dirty="0"/>
              <a:t>Analysis of Multiprogramming System Performance</a:t>
            </a:r>
          </a:p>
        </p:txBody>
      </p:sp>
      <p:sp>
        <p:nvSpPr>
          <p:cNvPr id="12292" name="Rectangle 3"/>
          <p:cNvSpPr>
            <a:spLocks noGrp="1" noChangeArrowheads="1"/>
          </p:cNvSpPr>
          <p:nvPr>
            <p:ph type="body" idx="1"/>
          </p:nvPr>
        </p:nvSpPr>
        <p:spPr>
          <a:xfrm>
            <a:off x="2360595" y="5258265"/>
            <a:ext cx="7773207" cy="1142084"/>
          </a:xfrm>
        </p:spPr>
        <p:txBody>
          <a:bodyPr/>
          <a:lstStyle/>
          <a:p>
            <a:pPr eaLnBrk="1" hangingPunct="1">
              <a:lnSpc>
                <a:spcPct val="90000"/>
              </a:lnSpc>
            </a:pPr>
            <a:r>
              <a:rPr lang="en-US" sz="1600" dirty="0"/>
              <a:t>Arrival and work requirements of 4 jobs</a:t>
            </a:r>
          </a:p>
          <a:p>
            <a:pPr eaLnBrk="1" hangingPunct="1">
              <a:lnSpc>
                <a:spcPct val="90000"/>
              </a:lnSpc>
            </a:pPr>
            <a:r>
              <a:rPr lang="en-US" sz="1600" dirty="0"/>
              <a:t>CPU utilization for 1 – 4 jobs with 80% I/O wait</a:t>
            </a:r>
          </a:p>
          <a:p>
            <a:pPr eaLnBrk="1" hangingPunct="1">
              <a:lnSpc>
                <a:spcPct val="90000"/>
              </a:lnSpc>
            </a:pPr>
            <a:r>
              <a:rPr lang="en-US" sz="1600" dirty="0"/>
              <a:t>Sequence of events as jobs arrive and finish</a:t>
            </a:r>
          </a:p>
          <a:p>
            <a:pPr lvl="1" eaLnBrk="1" hangingPunct="1">
              <a:lnSpc>
                <a:spcPct val="90000"/>
              </a:lnSpc>
            </a:pPr>
            <a:r>
              <a:rPr lang="en-US" sz="1300" dirty="0"/>
              <a:t>note numbers show </a:t>
            </a:r>
            <a:r>
              <a:rPr lang="en-US" sz="1300" dirty="0" err="1"/>
              <a:t>amout</a:t>
            </a:r>
            <a:r>
              <a:rPr lang="en-US" sz="1300" dirty="0"/>
              <a:t> of CPU time jobs get in each interval</a:t>
            </a:r>
          </a:p>
        </p:txBody>
      </p:sp>
      <p:pic>
        <p:nvPicPr>
          <p:cNvPr id="12293" name="Picture 6"/>
          <p:cNvPicPr>
            <a:picLocks noChangeAspect="1" noChangeArrowheads="1"/>
          </p:cNvPicPr>
          <p:nvPr/>
        </p:nvPicPr>
        <p:blipFill>
          <a:blip r:embed="rId3" cstate="print"/>
          <a:srcRect/>
          <a:stretch>
            <a:fillRect/>
          </a:stretch>
        </p:blipFill>
        <p:spPr bwMode="auto">
          <a:xfrm>
            <a:off x="3109492" y="1311133"/>
            <a:ext cx="5744231" cy="3912771"/>
          </a:xfrm>
          <a:prstGeom prst="rect">
            <a:avLst/>
          </a:prstGeom>
          <a:noFill/>
          <a:ln w="9525">
            <a:noFill/>
            <a:miter lim="800000"/>
            <a:headEnd/>
            <a:tailEnd/>
          </a:ln>
        </p:spPr>
      </p:pic>
      <p:sp>
        <p:nvSpPr>
          <p:cNvPr id="12296" name="TextBox 7"/>
          <p:cNvSpPr txBox="1">
            <a:spLocks noChangeArrowheads="1"/>
          </p:cNvSpPr>
          <p:nvPr/>
        </p:nvSpPr>
        <p:spPr bwMode="auto">
          <a:xfrm>
            <a:off x="8395108" y="4955911"/>
            <a:ext cx="1312333" cy="343159"/>
          </a:xfrm>
          <a:prstGeom prst="rect">
            <a:avLst/>
          </a:prstGeom>
          <a:noFill/>
          <a:ln w="9525">
            <a:noFill/>
            <a:miter lim="800000"/>
            <a:headEnd/>
            <a:tailEnd/>
          </a:ln>
        </p:spPr>
        <p:txBody>
          <a:bodyPr lIns="65520" tIns="32760" rIns="65520" bIns="32760">
            <a:spAutoFit/>
          </a:bodyPr>
          <a:lstStyle/>
          <a:p>
            <a:r>
              <a:rPr lang="en-US"/>
              <a:t>10:32</a:t>
            </a:r>
            <a:endParaRPr lang="he-IL"/>
          </a:p>
        </p:txBody>
      </p:sp>
      <p:sp>
        <p:nvSpPr>
          <p:cNvPr id="11" name="מציין מיקום של תאריך 10"/>
          <p:cNvSpPr>
            <a:spLocks noGrp="1"/>
          </p:cNvSpPr>
          <p:nvPr>
            <p:ph type="dt" sz="half" idx="10"/>
          </p:nvPr>
        </p:nvSpPr>
        <p:spPr/>
        <p:txBody>
          <a:bodyPr/>
          <a:lstStyle/>
          <a:p>
            <a:pPr>
              <a:defRPr/>
            </a:pPr>
            <a:fld id="{8755F35B-88E9-4C25-AF15-4AF150E958FC}" type="datetime12">
              <a:rPr lang="he-IL" smtClean="0"/>
              <a:pPr>
                <a:defRPr/>
              </a:pPr>
              <a:t>28/01/2024 18:13</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מציין מיקום של מספר שקופית 5"/>
          <p:cNvSpPr>
            <a:spLocks noGrp="1"/>
          </p:cNvSpPr>
          <p:nvPr>
            <p:ph type="sldNum" sz="quarter" idx="12"/>
          </p:nvPr>
        </p:nvSpPr>
        <p:spPr>
          <a:noFill/>
        </p:spPr>
        <p:txBody>
          <a:bodyPr/>
          <a:lstStyle/>
          <a:p>
            <a:fld id="{DE51273B-D48D-44DE-873E-52520632BCE3}" type="slidenum">
              <a:rPr lang="he-IL" smtClean="0"/>
              <a:pPr/>
              <a:t>12</a:t>
            </a:fld>
            <a:endParaRPr lang="en-US"/>
          </a:p>
        </p:txBody>
      </p:sp>
      <p:sp>
        <p:nvSpPr>
          <p:cNvPr id="5123" name="Rectangle 2"/>
          <p:cNvSpPr>
            <a:spLocks noGrp="1" noChangeArrowheads="1"/>
          </p:cNvSpPr>
          <p:nvPr>
            <p:ph type="title"/>
          </p:nvPr>
        </p:nvSpPr>
        <p:spPr/>
        <p:txBody>
          <a:bodyPr/>
          <a:lstStyle/>
          <a:p>
            <a:pPr eaLnBrk="1" hangingPunct="1"/>
            <a:r>
              <a:rPr lang="en-US"/>
              <a:t>Memory Management	</a:t>
            </a:r>
          </a:p>
        </p:txBody>
      </p:sp>
      <p:sp>
        <p:nvSpPr>
          <p:cNvPr id="5124" name="Rectangle 3"/>
          <p:cNvSpPr>
            <a:spLocks noGrp="1" noChangeArrowheads="1"/>
          </p:cNvSpPr>
          <p:nvPr>
            <p:ph type="body" idx="1"/>
          </p:nvPr>
        </p:nvSpPr>
        <p:spPr>
          <a:xfrm>
            <a:off x="1838487" y="1305632"/>
            <a:ext cx="8613825" cy="4714016"/>
          </a:xfrm>
        </p:spPr>
        <p:txBody>
          <a:bodyPr/>
          <a:lstStyle/>
          <a:p>
            <a:pPr eaLnBrk="1" hangingPunct="1"/>
            <a:r>
              <a:rPr lang="en-US" dirty="0"/>
              <a:t>Ideally programmers want memory that is</a:t>
            </a:r>
            <a:endParaRPr lang="en-US" sz="1900" dirty="0"/>
          </a:p>
          <a:p>
            <a:pPr lvl="1" eaLnBrk="1" hangingPunct="1"/>
            <a:r>
              <a:rPr lang="en-US" sz="1600" dirty="0"/>
              <a:t>large</a:t>
            </a:r>
          </a:p>
          <a:p>
            <a:pPr lvl="1" eaLnBrk="1" hangingPunct="1"/>
            <a:r>
              <a:rPr lang="en-US" sz="1600" dirty="0"/>
              <a:t>fast</a:t>
            </a:r>
          </a:p>
          <a:p>
            <a:pPr lvl="1" eaLnBrk="1" hangingPunct="1"/>
            <a:r>
              <a:rPr lang="en-US" sz="1600" dirty="0"/>
              <a:t>non volatile</a:t>
            </a:r>
          </a:p>
          <a:p>
            <a:pPr lvl="1" eaLnBrk="1" hangingPunct="1"/>
            <a:endParaRPr lang="en-US" sz="1600" dirty="0"/>
          </a:p>
          <a:p>
            <a:pPr eaLnBrk="1" hangingPunct="1"/>
            <a:r>
              <a:rPr lang="en-US" dirty="0"/>
              <a:t>Memory hierarchy</a:t>
            </a:r>
            <a:r>
              <a:rPr lang="en-US" sz="1900" dirty="0"/>
              <a:t> </a:t>
            </a:r>
          </a:p>
          <a:p>
            <a:pPr lvl="1" eaLnBrk="1" hangingPunct="1"/>
            <a:r>
              <a:rPr lang="en-US" sz="1600" dirty="0"/>
              <a:t>small amount of fast, expensive memory – cache </a:t>
            </a:r>
          </a:p>
          <a:p>
            <a:pPr lvl="1" eaLnBrk="1" hangingPunct="1"/>
            <a:r>
              <a:rPr lang="en-US" sz="1600" dirty="0"/>
              <a:t>some medium-speed, medium price main memory</a:t>
            </a:r>
          </a:p>
          <a:p>
            <a:pPr lvl="1" eaLnBrk="1" hangingPunct="1"/>
            <a:r>
              <a:rPr lang="en-US" sz="1600" dirty="0"/>
              <a:t>gigabytes of slow, cheap disk storage</a:t>
            </a:r>
          </a:p>
          <a:p>
            <a:pPr lvl="1" eaLnBrk="1" hangingPunct="1"/>
            <a:endParaRPr lang="en-US" sz="1600" dirty="0"/>
          </a:p>
          <a:p>
            <a:pPr eaLnBrk="1" hangingPunct="1"/>
            <a:r>
              <a:rPr lang="en-US" dirty="0"/>
              <a:t>Memory manager handles the memory hierarchy</a:t>
            </a:r>
            <a:endParaRPr lang="en-US" sz="1900" dirty="0"/>
          </a:p>
          <a:p>
            <a:pPr eaLnBrk="1" hangingPunct="1"/>
            <a:endParaRPr lang="en-US" sz="1900" dirty="0"/>
          </a:p>
        </p:txBody>
      </p:sp>
      <p:sp>
        <p:nvSpPr>
          <p:cNvPr id="5" name="מציין מיקום של תאריך 4"/>
          <p:cNvSpPr>
            <a:spLocks noGrp="1"/>
          </p:cNvSpPr>
          <p:nvPr>
            <p:ph type="dt" sz="half" idx="10"/>
          </p:nvPr>
        </p:nvSpPr>
        <p:spPr/>
        <p:txBody>
          <a:bodyPr/>
          <a:lstStyle/>
          <a:p>
            <a:pPr>
              <a:defRPr/>
            </a:pPr>
            <a:fld id="{430D9F90-D21B-473D-8EBB-2D8F0B77F789}" type="datetime12">
              <a:rPr lang="he-IL" smtClean="0"/>
              <a:pPr>
                <a:defRPr/>
              </a:pPr>
              <a:t>28/01/2024 18:13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524000" y="5714552"/>
            <a:ext cx="9144000" cy="838353"/>
          </a:xfrm>
          <a:prstGeom prst="rect">
            <a:avLst/>
          </a:prstGeom>
          <a:noFill/>
          <a:ln w="9525">
            <a:noFill/>
            <a:miter lim="800000"/>
            <a:headEnd/>
            <a:tailEnd/>
          </a:ln>
        </p:spPr>
        <p:txBody>
          <a:bodyPr lIns="92069" tIns="46035" rIns="92069" bIns="46035"/>
          <a:lstStyle/>
          <a:p>
            <a:pPr marL="608773" indent="-608773" eaLnBrk="0" hangingPunct="0">
              <a:spcBef>
                <a:spcPct val="20000"/>
              </a:spcBef>
            </a:pPr>
            <a:r>
              <a:rPr lang="en-US" dirty="0">
                <a:latin typeface="Arial" pitchFamily="34" charset="0"/>
              </a:rPr>
              <a:t>Figure 1-8. (a) A quad-core chip with a shared L2 cache. </a:t>
            </a:r>
            <a:br>
              <a:rPr lang="en-US" dirty="0">
                <a:latin typeface="Arial" pitchFamily="34" charset="0"/>
              </a:rPr>
            </a:br>
            <a:r>
              <a:rPr lang="en-US" dirty="0">
                <a:latin typeface="Arial" pitchFamily="34" charset="0"/>
              </a:rPr>
              <a:t>(b) A quad-core chip with separate L2 caches.</a:t>
            </a:r>
          </a:p>
        </p:txBody>
      </p:sp>
      <p:sp>
        <p:nvSpPr>
          <p:cNvPr id="6147" name="Rectangle 3"/>
          <p:cNvSpPr>
            <a:spLocks noChangeArrowheads="1"/>
          </p:cNvSpPr>
          <p:nvPr/>
        </p:nvSpPr>
        <p:spPr bwMode="auto">
          <a:xfrm>
            <a:off x="1524000" y="2"/>
            <a:ext cx="9144000" cy="1143459"/>
          </a:xfrm>
          <a:prstGeom prst="rect">
            <a:avLst/>
          </a:prstGeom>
          <a:noFill/>
          <a:ln w="9525">
            <a:noFill/>
            <a:miter lim="800000"/>
            <a:headEnd/>
            <a:tailEnd/>
          </a:ln>
        </p:spPr>
        <p:txBody>
          <a:bodyPr lIns="92069" tIns="46035" rIns="92069" bIns="46035" anchor="ctr"/>
          <a:lstStyle/>
          <a:p>
            <a:pPr eaLnBrk="0" hangingPunct="0"/>
            <a:r>
              <a:rPr lang="en-US" sz="3600" dirty="0">
                <a:solidFill>
                  <a:srgbClr val="FF0000"/>
                </a:solidFill>
                <a:latin typeface="Arial" pitchFamily="34" charset="0"/>
              </a:rPr>
              <a:t>Multithreaded and </a:t>
            </a:r>
            <a:r>
              <a:rPr lang="en-US" sz="3600" dirty="0" err="1">
                <a:solidFill>
                  <a:srgbClr val="FF0000"/>
                </a:solidFill>
                <a:latin typeface="Arial" pitchFamily="34" charset="0"/>
              </a:rPr>
              <a:t>Multicore</a:t>
            </a:r>
            <a:r>
              <a:rPr lang="en-US" sz="3600" dirty="0">
                <a:solidFill>
                  <a:srgbClr val="FF0000"/>
                </a:solidFill>
                <a:latin typeface="Arial" pitchFamily="34" charset="0"/>
              </a:rPr>
              <a:t> Chips</a:t>
            </a:r>
          </a:p>
        </p:txBody>
      </p:sp>
      <p:sp>
        <p:nvSpPr>
          <p:cNvPr id="6148" name="Rectangle 4"/>
          <p:cNvSpPr>
            <a:spLocks noChangeArrowheads="1"/>
          </p:cNvSpPr>
          <p:nvPr/>
        </p:nvSpPr>
        <p:spPr bwMode="auto">
          <a:xfrm>
            <a:off x="1701401" y="6565266"/>
            <a:ext cx="8712603" cy="258379"/>
          </a:xfrm>
          <a:prstGeom prst="rect">
            <a:avLst/>
          </a:prstGeom>
          <a:noFill/>
          <a:ln w="9525">
            <a:noFill/>
            <a:miter lim="800000"/>
            <a:headEnd/>
            <a:tailEnd/>
          </a:ln>
        </p:spPr>
        <p:txBody>
          <a:bodyPr lIns="92069" tIns="46035" rIns="92069" bIns="46035" anchor="ctr"/>
          <a:lstStyle/>
          <a:p>
            <a:r>
              <a:rPr lang="en-US" sz="1200" dirty="0" err="1">
                <a:solidFill>
                  <a:srgbClr val="898989"/>
                </a:solidFill>
              </a:rPr>
              <a:t>Tanenbaum</a:t>
            </a:r>
            <a:r>
              <a:rPr lang="en-US" sz="1200" dirty="0">
                <a:solidFill>
                  <a:srgbClr val="898989"/>
                </a:solidFill>
              </a:rPr>
              <a:t>, Modern Operating Systems 3 e, (c) 2008 Prentice-Hall, Inc. All rights reserved. 0-13-</a:t>
            </a:r>
            <a:r>
              <a:rPr lang="en-US" sz="1200" b="1" dirty="0">
                <a:solidFill>
                  <a:srgbClr val="898989"/>
                </a:solidFill>
              </a:rPr>
              <a:t>6006639</a:t>
            </a:r>
          </a:p>
        </p:txBody>
      </p:sp>
      <p:pic>
        <p:nvPicPr>
          <p:cNvPr id="6149" name="Picture 5" descr="01-08"/>
          <p:cNvPicPr>
            <a:picLocks noChangeAspect="1" noChangeArrowheads="1"/>
          </p:cNvPicPr>
          <p:nvPr/>
        </p:nvPicPr>
        <p:blipFill>
          <a:blip r:embed="rId3" cstate="print"/>
          <a:srcRect/>
          <a:stretch>
            <a:fillRect/>
          </a:stretch>
        </p:blipFill>
        <p:spPr bwMode="auto">
          <a:xfrm>
            <a:off x="3542905" y="1814151"/>
            <a:ext cx="5106207" cy="3229719"/>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6FDB96A7-2CD0-453D-9245-E0869A844EC6}" type="datetime12">
              <a:rPr lang="he-IL" smtClean="0"/>
              <a:pPr>
                <a:defRPr/>
              </a:pPr>
              <a:t>28/01/2024 18:13</a:t>
            </a:fld>
            <a:endParaRPr lang="en-US"/>
          </a:p>
        </p:txBody>
      </p:sp>
      <p:sp>
        <p:nvSpPr>
          <p:cNvPr id="7" name="מציין מיקום של מספר שקופית 6"/>
          <p:cNvSpPr>
            <a:spLocks noGrp="1"/>
          </p:cNvSpPr>
          <p:nvPr>
            <p:ph type="sldNum" sz="quarter" idx="12"/>
          </p:nvPr>
        </p:nvSpPr>
        <p:spPr/>
        <p:txBody>
          <a:bodyPr/>
          <a:lstStyle/>
          <a:p>
            <a:pPr>
              <a:defRPr/>
            </a:pPr>
            <a:fld id="{3061DC7B-53AB-4EA6-B431-9AA39A66E421}" type="slidenum">
              <a:rPr lang="he-IL"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מציין מיקום של מספר שקופית 5"/>
          <p:cNvSpPr>
            <a:spLocks noGrp="1"/>
          </p:cNvSpPr>
          <p:nvPr>
            <p:ph type="sldNum" sz="quarter" idx="12"/>
          </p:nvPr>
        </p:nvSpPr>
        <p:spPr>
          <a:noFill/>
        </p:spPr>
        <p:txBody>
          <a:bodyPr/>
          <a:lstStyle/>
          <a:p>
            <a:fld id="{C55074DF-43F4-43B9-8FBF-06E957528B4F}" type="slidenum">
              <a:rPr lang="en-US" smtClean="0"/>
              <a:pPr/>
              <a:t>14</a:t>
            </a:fld>
            <a:endParaRPr lang="en-US"/>
          </a:p>
        </p:txBody>
      </p:sp>
      <p:sp>
        <p:nvSpPr>
          <p:cNvPr id="7171" name="Rectangle 2"/>
          <p:cNvSpPr>
            <a:spLocks noGrp="1" noChangeArrowheads="1"/>
          </p:cNvSpPr>
          <p:nvPr>
            <p:ph type="title"/>
          </p:nvPr>
        </p:nvSpPr>
        <p:spPr>
          <a:xfrm>
            <a:off x="2152963" y="2"/>
            <a:ext cx="7772199" cy="1143459"/>
          </a:xfrm>
        </p:spPr>
        <p:txBody>
          <a:bodyPr/>
          <a:lstStyle/>
          <a:p>
            <a:r>
              <a:rPr lang="en-US"/>
              <a:t>Computer Hardware Review (3)</a:t>
            </a:r>
          </a:p>
        </p:txBody>
      </p:sp>
      <p:sp>
        <p:nvSpPr>
          <p:cNvPr id="7172" name="Rectangle 3"/>
          <p:cNvSpPr>
            <a:spLocks noGrp="1" noChangeArrowheads="1"/>
          </p:cNvSpPr>
          <p:nvPr>
            <p:ph type="body" idx="1"/>
          </p:nvPr>
        </p:nvSpPr>
        <p:spPr>
          <a:xfrm>
            <a:off x="3352405" y="5486409"/>
            <a:ext cx="7773207" cy="533247"/>
          </a:xfrm>
        </p:spPr>
        <p:txBody>
          <a:bodyPr/>
          <a:lstStyle/>
          <a:p>
            <a:pPr>
              <a:lnSpc>
                <a:spcPct val="90000"/>
              </a:lnSpc>
            </a:pPr>
            <a:r>
              <a:rPr lang="en-US" dirty="0"/>
              <a:t>Typical memory hierarchy</a:t>
            </a:r>
            <a:endParaRPr lang="en-US" sz="2800" dirty="0"/>
          </a:p>
          <a:p>
            <a:pPr lvl="1">
              <a:lnSpc>
                <a:spcPct val="90000"/>
              </a:lnSpc>
            </a:pPr>
            <a:r>
              <a:rPr lang="en-US" dirty="0"/>
              <a:t>numbers shown are rough approximations</a:t>
            </a:r>
            <a:endParaRPr lang="en-US" sz="2400" dirty="0"/>
          </a:p>
        </p:txBody>
      </p:sp>
      <p:pic>
        <p:nvPicPr>
          <p:cNvPr id="7173" name="Picture 5"/>
          <p:cNvPicPr>
            <a:picLocks noChangeAspect="1" noChangeArrowheads="1"/>
          </p:cNvPicPr>
          <p:nvPr/>
        </p:nvPicPr>
        <p:blipFill>
          <a:blip r:embed="rId3" cstate="print"/>
          <a:srcRect/>
          <a:stretch>
            <a:fillRect/>
          </a:stretch>
        </p:blipFill>
        <p:spPr bwMode="auto">
          <a:xfrm>
            <a:off x="1895931" y="1214935"/>
            <a:ext cx="8343699" cy="3323175"/>
          </a:xfrm>
          <a:prstGeom prst="rect">
            <a:avLst/>
          </a:prstGeom>
          <a:noFill/>
          <a:ln w="9525">
            <a:noFill/>
            <a:miter lim="800000"/>
            <a:headEnd/>
            <a:tailEnd/>
          </a:ln>
        </p:spPr>
      </p:pic>
      <p:pic>
        <p:nvPicPr>
          <p:cNvPr id="7174" name="Picture 5" descr="01-09"/>
          <p:cNvPicPr>
            <a:picLocks noChangeAspect="1" noChangeArrowheads="1"/>
          </p:cNvPicPr>
          <p:nvPr/>
        </p:nvPicPr>
        <p:blipFill>
          <a:blip r:embed="rId4" cstate="print"/>
          <a:srcRect/>
          <a:stretch>
            <a:fillRect/>
          </a:stretch>
        </p:blipFill>
        <p:spPr bwMode="auto">
          <a:xfrm>
            <a:off x="1930205" y="1569507"/>
            <a:ext cx="8306404" cy="3363032"/>
          </a:xfrm>
          <a:prstGeom prst="rect">
            <a:avLst/>
          </a:prstGeom>
          <a:noFill/>
          <a:ln w="9525">
            <a:noFill/>
            <a:miter lim="800000"/>
            <a:headEnd/>
            <a:tailEnd/>
          </a:ln>
        </p:spPr>
      </p:pic>
      <p:sp>
        <p:nvSpPr>
          <p:cNvPr id="7" name="מציין מיקום של תאריך 6"/>
          <p:cNvSpPr>
            <a:spLocks noGrp="1"/>
          </p:cNvSpPr>
          <p:nvPr>
            <p:ph type="dt" sz="half" idx="10"/>
          </p:nvPr>
        </p:nvSpPr>
        <p:spPr/>
        <p:txBody>
          <a:bodyPr/>
          <a:lstStyle/>
          <a:p>
            <a:pPr>
              <a:defRPr/>
            </a:pPr>
            <a:fld id="{3473F60D-1F2C-40F5-BBBD-D6B18E31EA92}" type="datetime12">
              <a:rPr lang="he-IL" smtClean="0"/>
              <a:pPr>
                <a:defRPr/>
              </a:pPr>
              <a:t>28/01/2024 18:13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מציין מיקום של מספר שקופית 5"/>
          <p:cNvSpPr>
            <a:spLocks noGrp="1"/>
          </p:cNvSpPr>
          <p:nvPr>
            <p:ph type="sldNum" sz="quarter" idx="12"/>
          </p:nvPr>
        </p:nvSpPr>
        <p:spPr>
          <a:noFill/>
        </p:spPr>
        <p:txBody>
          <a:bodyPr/>
          <a:lstStyle/>
          <a:p>
            <a:fld id="{247D00EB-B4BD-4129-A8FD-A7C1B3A2F33B}" type="slidenum">
              <a:rPr lang="he-IL" smtClean="0"/>
              <a:pPr/>
              <a:t>15</a:t>
            </a:fld>
            <a:endParaRPr lang="en-US"/>
          </a:p>
        </p:txBody>
      </p:sp>
      <p:sp>
        <p:nvSpPr>
          <p:cNvPr id="8195" name="Rectangle 2"/>
          <p:cNvSpPr>
            <a:spLocks noGrp="1" noChangeArrowheads="1"/>
          </p:cNvSpPr>
          <p:nvPr>
            <p:ph type="title"/>
          </p:nvPr>
        </p:nvSpPr>
        <p:spPr>
          <a:xfrm>
            <a:off x="2285001" y="2"/>
            <a:ext cx="7773207" cy="1143459"/>
          </a:xfrm>
        </p:spPr>
        <p:txBody>
          <a:bodyPr/>
          <a:lstStyle/>
          <a:p>
            <a:pPr eaLnBrk="1" hangingPunct="1"/>
            <a:r>
              <a:rPr lang="en-US" sz="2100" dirty="0"/>
              <a:t>Basic Memory Management</a:t>
            </a:r>
            <a:br>
              <a:rPr lang="en-US" sz="2100" dirty="0"/>
            </a:br>
            <a:r>
              <a:rPr lang="en-US" sz="1600" dirty="0" err="1"/>
              <a:t>Monoprogramming</a:t>
            </a:r>
            <a:r>
              <a:rPr lang="en-US" sz="1600" dirty="0"/>
              <a:t> without Swapping or Paging</a:t>
            </a:r>
          </a:p>
        </p:txBody>
      </p:sp>
      <p:sp>
        <p:nvSpPr>
          <p:cNvPr id="8196" name="Rectangle 3"/>
          <p:cNvSpPr>
            <a:spLocks noGrp="1" noChangeArrowheads="1"/>
          </p:cNvSpPr>
          <p:nvPr>
            <p:ph type="body" idx="1"/>
          </p:nvPr>
        </p:nvSpPr>
        <p:spPr>
          <a:xfrm>
            <a:off x="2719421" y="5537256"/>
            <a:ext cx="7771191" cy="913941"/>
          </a:xfrm>
        </p:spPr>
        <p:txBody>
          <a:bodyPr/>
          <a:lstStyle/>
          <a:p>
            <a:pPr eaLnBrk="1" hangingPunct="1">
              <a:lnSpc>
                <a:spcPct val="90000"/>
              </a:lnSpc>
              <a:buFontTx/>
              <a:buNone/>
            </a:pPr>
            <a:r>
              <a:rPr lang="en-US" dirty="0"/>
              <a:t>Three simple ways of organizing memory</a:t>
            </a:r>
            <a:endParaRPr lang="en-US" sz="1900" dirty="0"/>
          </a:p>
          <a:p>
            <a:pPr eaLnBrk="1" hangingPunct="1">
              <a:lnSpc>
                <a:spcPct val="90000"/>
              </a:lnSpc>
              <a:buFontTx/>
              <a:buNone/>
            </a:pPr>
            <a:r>
              <a:rPr lang="en-US" sz="1900" dirty="0"/>
              <a:t>- </a:t>
            </a:r>
            <a:r>
              <a:rPr lang="en-US" sz="1900" dirty="0">
                <a:solidFill>
                  <a:schemeClr val="tx1"/>
                </a:solidFill>
              </a:rPr>
              <a:t>an operating system with one user process</a:t>
            </a:r>
            <a:endParaRPr lang="en-US" sz="1900" dirty="0"/>
          </a:p>
        </p:txBody>
      </p:sp>
      <p:pic>
        <p:nvPicPr>
          <p:cNvPr id="8197" name="Picture 6" descr="C:\B\b4\JPG\4-1.jpg"/>
          <p:cNvPicPr>
            <a:picLocks noChangeAspect="1" noChangeArrowheads="1"/>
          </p:cNvPicPr>
          <p:nvPr/>
        </p:nvPicPr>
        <p:blipFill>
          <a:blip r:embed="rId3" cstate="print"/>
          <a:srcRect/>
          <a:stretch>
            <a:fillRect/>
          </a:stretch>
        </p:blipFill>
        <p:spPr bwMode="auto">
          <a:xfrm>
            <a:off x="2088455" y="1529657"/>
            <a:ext cx="8015111" cy="3798700"/>
          </a:xfrm>
          <a:prstGeom prst="rect">
            <a:avLst/>
          </a:prstGeom>
          <a:noFill/>
          <a:ln w="9525">
            <a:noFill/>
            <a:miter lim="800000"/>
            <a:headEnd/>
            <a:tailEnd/>
          </a:ln>
        </p:spPr>
      </p:pic>
      <p:cxnSp>
        <p:nvCxnSpPr>
          <p:cNvPr id="7174" name="מחבר ישר 8"/>
          <p:cNvCxnSpPr>
            <a:cxnSpLocks noChangeShapeType="1"/>
          </p:cNvCxnSpPr>
          <p:nvPr/>
        </p:nvCxnSpPr>
        <p:spPr bwMode="auto">
          <a:xfrm>
            <a:off x="2088446" y="3231095"/>
            <a:ext cx="1750787" cy="0"/>
          </a:xfrm>
          <a:prstGeom prst="line">
            <a:avLst/>
          </a:prstGeom>
          <a:noFill/>
          <a:ln w="9525" algn="ctr">
            <a:solidFill>
              <a:schemeClr val="accent1"/>
            </a:solidFill>
            <a:round/>
            <a:headEnd/>
            <a:tailEnd/>
          </a:ln>
        </p:spPr>
      </p:cxnSp>
      <p:cxnSp>
        <p:nvCxnSpPr>
          <p:cNvPr id="5127" name="מחבר ישר 11"/>
          <p:cNvCxnSpPr>
            <a:cxnSpLocks noChangeShapeType="1"/>
          </p:cNvCxnSpPr>
          <p:nvPr/>
        </p:nvCxnSpPr>
        <p:spPr bwMode="auto">
          <a:xfrm>
            <a:off x="2088446" y="2706093"/>
            <a:ext cx="1750787" cy="0"/>
          </a:xfrm>
          <a:prstGeom prst="line">
            <a:avLst/>
          </a:prstGeom>
          <a:noFill/>
          <a:ln w="9525" algn="ctr">
            <a:solidFill>
              <a:schemeClr val="accent1"/>
            </a:solidFill>
            <a:round/>
            <a:headEnd/>
            <a:tailEnd/>
          </a:ln>
        </p:spPr>
      </p:cxnSp>
      <p:cxnSp>
        <p:nvCxnSpPr>
          <p:cNvPr id="5128" name="מחבר ישר 12"/>
          <p:cNvCxnSpPr>
            <a:cxnSpLocks noChangeShapeType="1"/>
          </p:cNvCxnSpPr>
          <p:nvPr/>
        </p:nvCxnSpPr>
        <p:spPr bwMode="auto">
          <a:xfrm>
            <a:off x="2088446" y="2174220"/>
            <a:ext cx="1750787" cy="0"/>
          </a:xfrm>
          <a:prstGeom prst="line">
            <a:avLst/>
          </a:prstGeom>
          <a:noFill/>
          <a:ln w="9525" algn="ctr">
            <a:solidFill>
              <a:schemeClr val="accent1"/>
            </a:solidFill>
            <a:round/>
            <a:headEnd/>
            <a:tailEnd/>
          </a:ln>
        </p:spPr>
      </p:cxnSp>
      <p:sp>
        <p:nvSpPr>
          <p:cNvPr id="5129" name="TextBox 14"/>
          <p:cNvSpPr txBox="1">
            <a:spLocks noChangeArrowheads="1"/>
          </p:cNvSpPr>
          <p:nvPr/>
        </p:nvSpPr>
        <p:spPr bwMode="auto">
          <a:xfrm>
            <a:off x="3839237" y="869967"/>
            <a:ext cx="3110492" cy="343159"/>
          </a:xfrm>
          <a:prstGeom prst="rect">
            <a:avLst/>
          </a:prstGeom>
          <a:noFill/>
          <a:ln w="9525">
            <a:noFill/>
            <a:miter lim="800000"/>
            <a:headEnd/>
            <a:tailEnd/>
          </a:ln>
        </p:spPr>
        <p:txBody>
          <a:bodyPr lIns="65520" tIns="32760" rIns="65520" bIns="32760">
            <a:spAutoFit/>
          </a:bodyPr>
          <a:lstStyle/>
          <a:p>
            <a:r>
              <a:rPr lang="he-IL"/>
              <a:t>חלוקה למחיצות </a:t>
            </a:r>
            <a:r>
              <a:rPr lang="he-IL">
                <a:solidFill>
                  <a:srgbClr val="FF0000"/>
                </a:solidFill>
              </a:rPr>
              <a:t>קבועות</a:t>
            </a:r>
            <a:r>
              <a:rPr lang="he-IL"/>
              <a:t> ושוות</a:t>
            </a:r>
          </a:p>
        </p:txBody>
      </p:sp>
      <p:sp>
        <p:nvSpPr>
          <p:cNvPr id="5130" name="TextBox 15"/>
          <p:cNvSpPr txBox="1">
            <a:spLocks noChangeArrowheads="1"/>
          </p:cNvSpPr>
          <p:nvPr/>
        </p:nvSpPr>
        <p:spPr bwMode="auto">
          <a:xfrm>
            <a:off x="2219484" y="1712448"/>
            <a:ext cx="1563311" cy="343159"/>
          </a:xfrm>
          <a:prstGeom prst="rect">
            <a:avLst/>
          </a:prstGeom>
          <a:noFill/>
          <a:ln w="9525">
            <a:noFill/>
            <a:miter lim="800000"/>
            <a:headEnd/>
            <a:tailEnd/>
          </a:ln>
        </p:spPr>
        <p:txBody>
          <a:bodyPr lIns="65520" tIns="32760" rIns="65520" bIns="32760">
            <a:spAutoFit/>
          </a:bodyPr>
          <a:lstStyle/>
          <a:p>
            <a:pPr algn="ctr" rtl="1"/>
            <a:r>
              <a:rPr lang="he-IL" dirty="0"/>
              <a:t>ביטוח לאומי</a:t>
            </a:r>
          </a:p>
        </p:txBody>
      </p:sp>
      <p:sp>
        <p:nvSpPr>
          <p:cNvPr id="5131" name="TextBox 16"/>
          <p:cNvSpPr txBox="1">
            <a:spLocks noChangeArrowheads="1"/>
          </p:cNvSpPr>
          <p:nvPr/>
        </p:nvSpPr>
        <p:spPr bwMode="auto">
          <a:xfrm>
            <a:off x="2378737" y="2190721"/>
            <a:ext cx="1460500" cy="343159"/>
          </a:xfrm>
          <a:prstGeom prst="rect">
            <a:avLst/>
          </a:prstGeom>
          <a:noFill/>
          <a:ln w="9525">
            <a:noFill/>
            <a:miter lim="800000"/>
            <a:headEnd/>
            <a:tailEnd/>
          </a:ln>
        </p:spPr>
        <p:txBody>
          <a:bodyPr lIns="65520" tIns="32760" rIns="65520" bIns="32760">
            <a:spAutoFit/>
          </a:bodyPr>
          <a:lstStyle/>
          <a:p>
            <a:r>
              <a:rPr lang="he-IL"/>
              <a:t>ממח אופ</a:t>
            </a:r>
          </a:p>
        </p:txBody>
      </p:sp>
      <p:sp>
        <p:nvSpPr>
          <p:cNvPr id="5132" name="TextBox 17"/>
          <p:cNvSpPr txBox="1">
            <a:spLocks noChangeArrowheads="1"/>
          </p:cNvSpPr>
          <p:nvPr/>
        </p:nvSpPr>
        <p:spPr bwMode="auto">
          <a:xfrm>
            <a:off x="2335391" y="3235217"/>
            <a:ext cx="987779" cy="620158"/>
          </a:xfrm>
          <a:prstGeom prst="rect">
            <a:avLst/>
          </a:prstGeom>
          <a:noFill/>
          <a:ln w="9525">
            <a:noFill/>
            <a:miter lim="800000"/>
            <a:headEnd/>
            <a:tailEnd/>
          </a:ln>
        </p:spPr>
        <p:txBody>
          <a:bodyPr lIns="65520" tIns="32760" rIns="65520" bIns="32760">
            <a:spAutoFit/>
          </a:bodyPr>
          <a:lstStyle/>
          <a:p>
            <a:r>
              <a:rPr lang="he-IL"/>
              <a:t>מס הכנסה</a:t>
            </a:r>
          </a:p>
        </p:txBody>
      </p:sp>
      <p:sp>
        <p:nvSpPr>
          <p:cNvPr id="8205" name="TextBox 18"/>
          <p:cNvSpPr txBox="1">
            <a:spLocks noChangeArrowheads="1"/>
          </p:cNvSpPr>
          <p:nvPr/>
        </p:nvSpPr>
        <p:spPr bwMode="auto">
          <a:xfrm>
            <a:off x="3971271" y="3655777"/>
            <a:ext cx="737811" cy="343159"/>
          </a:xfrm>
          <a:prstGeom prst="rect">
            <a:avLst/>
          </a:prstGeom>
          <a:noFill/>
          <a:ln w="9525">
            <a:noFill/>
            <a:miter lim="800000"/>
            <a:headEnd/>
            <a:tailEnd/>
          </a:ln>
        </p:spPr>
        <p:txBody>
          <a:bodyPr lIns="65520" tIns="32760" rIns="65520" bIns="32760">
            <a:spAutoFit/>
          </a:bodyPr>
          <a:lstStyle/>
          <a:p>
            <a:r>
              <a:rPr lang="en-US"/>
              <a:t>1Kb</a:t>
            </a:r>
            <a:endParaRPr lang="he-IL"/>
          </a:p>
        </p:txBody>
      </p:sp>
      <p:sp>
        <p:nvSpPr>
          <p:cNvPr id="5134" name="TextBox 19"/>
          <p:cNvSpPr txBox="1">
            <a:spLocks noChangeArrowheads="1"/>
          </p:cNvSpPr>
          <p:nvPr/>
        </p:nvSpPr>
        <p:spPr bwMode="auto">
          <a:xfrm>
            <a:off x="2335397" y="2908132"/>
            <a:ext cx="1562303" cy="343159"/>
          </a:xfrm>
          <a:prstGeom prst="rect">
            <a:avLst/>
          </a:prstGeom>
          <a:noFill/>
          <a:ln w="9525">
            <a:noFill/>
            <a:miter lim="800000"/>
            <a:headEnd/>
            <a:tailEnd/>
          </a:ln>
        </p:spPr>
        <p:txBody>
          <a:bodyPr lIns="65520" tIns="32760" rIns="65520" bIns="32760">
            <a:spAutoFit/>
          </a:bodyPr>
          <a:lstStyle/>
          <a:p>
            <a:r>
              <a:rPr lang="he-IL"/>
              <a:t>מע"מ</a:t>
            </a:r>
          </a:p>
        </p:txBody>
      </p:sp>
      <p:sp>
        <p:nvSpPr>
          <p:cNvPr id="15" name="מציין מיקום של תאריך 14"/>
          <p:cNvSpPr>
            <a:spLocks noGrp="1"/>
          </p:cNvSpPr>
          <p:nvPr>
            <p:ph type="dt" sz="half" idx="10"/>
          </p:nvPr>
        </p:nvSpPr>
        <p:spPr/>
        <p:txBody>
          <a:bodyPr/>
          <a:lstStyle/>
          <a:p>
            <a:pPr>
              <a:defRPr/>
            </a:pPr>
            <a:fld id="{9A621930-97C9-48E4-8DF7-2B03EB7E06D5}"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7"/>
                                        </p:tgtEl>
                                        <p:attrNameLst>
                                          <p:attrName>style.visibility</p:attrName>
                                        </p:attrNameLst>
                                      </p:cBhvr>
                                      <p:to>
                                        <p:strVal val="visible"/>
                                      </p:to>
                                    </p:set>
                                    <p:anim calcmode="lin" valueType="num">
                                      <p:cBhvr additive="base">
                                        <p:cTn id="7" dur="500" fill="hold"/>
                                        <p:tgtEl>
                                          <p:spTgt spid="5127"/>
                                        </p:tgtEl>
                                        <p:attrNameLst>
                                          <p:attrName>ppt_x</p:attrName>
                                        </p:attrNameLst>
                                      </p:cBhvr>
                                      <p:tavLst>
                                        <p:tav tm="0">
                                          <p:val>
                                            <p:strVal val="#ppt_x"/>
                                          </p:val>
                                        </p:tav>
                                        <p:tav tm="100000">
                                          <p:val>
                                            <p:strVal val="#ppt_x"/>
                                          </p:val>
                                        </p:tav>
                                      </p:tavLst>
                                    </p:anim>
                                    <p:anim calcmode="lin" valueType="num">
                                      <p:cBhvr additive="base">
                                        <p:cTn id="8" dur="500" fill="hold"/>
                                        <p:tgtEl>
                                          <p:spTgt spid="512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8"/>
                                        </p:tgtEl>
                                        <p:attrNameLst>
                                          <p:attrName>style.visibility</p:attrName>
                                        </p:attrNameLst>
                                      </p:cBhvr>
                                      <p:to>
                                        <p:strVal val="visible"/>
                                      </p:to>
                                    </p:set>
                                    <p:anim calcmode="lin" valueType="num">
                                      <p:cBhvr additive="base">
                                        <p:cTn id="11" dur="500" fill="hold"/>
                                        <p:tgtEl>
                                          <p:spTgt spid="5128"/>
                                        </p:tgtEl>
                                        <p:attrNameLst>
                                          <p:attrName>ppt_x</p:attrName>
                                        </p:attrNameLst>
                                      </p:cBhvr>
                                      <p:tavLst>
                                        <p:tav tm="0">
                                          <p:val>
                                            <p:strVal val="#ppt_x"/>
                                          </p:val>
                                        </p:tav>
                                        <p:tav tm="100000">
                                          <p:val>
                                            <p:strVal val="#ppt_x"/>
                                          </p:val>
                                        </p:tav>
                                      </p:tavLst>
                                    </p:anim>
                                    <p:anim calcmode="lin" valueType="num">
                                      <p:cBhvr additive="base">
                                        <p:cTn id="12" dur="500" fill="hold"/>
                                        <p:tgtEl>
                                          <p:spTgt spid="512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30"/>
                                        </p:tgtEl>
                                        <p:attrNameLst>
                                          <p:attrName>style.visibility</p:attrName>
                                        </p:attrNameLst>
                                      </p:cBhvr>
                                      <p:to>
                                        <p:strVal val="visible"/>
                                      </p:to>
                                    </p:set>
                                    <p:anim calcmode="lin" valueType="num">
                                      <p:cBhvr additive="base">
                                        <p:cTn id="15" dur="500" fill="hold"/>
                                        <p:tgtEl>
                                          <p:spTgt spid="5130"/>
                                        </p:tgtEl>
                                        <p:attrNameLst>
                                          <p:attrName>ppt_x</p:attrName>
                                        </p:attrNameLst>
                                      </p:cBhvr>
                                      <p:tavLst>
                                        <p:tav tm="0">
                                          <p:val>
                                            <p:strVal val="#ppt_x"/>
                                          </p:val>
                                        </p:tav>
                                        <p:tav tm="100000">
                                          <p:val>
                                            <p:strVal val="#ppt_x"/>
                                          </p:val>
                                        </p:tav>
                                      </p:tavLst>
                                    </p:anim>
                                    <p:anim calcmode="lin" valueType="num">
                                      <p:cBhvr additive="base">
                                        <p:cTn id="16" dur="500" fill="hold"/>
                                        <p:tgtEl>
                                          <p:spTgt spid="51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131"/>
                                        </p:tgtEl>
                                        <p:attrNameLst>
                                          <p:attrName>style.visibility</p:attrName>
                                        </p:attrNameLst>
                                      </p:cBhvr>
                                      <p:to>
                                        <p:strVal val="visible"/>
                                      </p:to>
                                    </p:set>
                                    <p:anim calcmode="lin" valueType="num">
                                      <p:cBhvr additive="base">
                                        <p:cTn id="19" dur="500" fill="hold"/>
                                        <p:tgtEl>
                                          <p:spTgt spid="5131"/>
                                        </p:tgtEl>
                                        <p:attrNameLst>
                                          <p:attrName>ppt_x</p:attrName>
                                        </p:attrNameLst>
                                      </p:cBhvr>
                                      <p:tavLst>
                                        <p:tav tm="0">
                                          <p:val>
                                            <p:strVal val="#ppt_x"/>
                                          </p:val>
                                        </p:tav>
                                        <p:tav tm="100000">
                                          <p:val>
                                            <p:strVal val="#ppt_x"/>
                                          </p:val>
                                        </p:tav>
                                      </p:tavLst>
                                    </p:anim>
                                    <p:anim calcmode="lin" valueType="num">
                                      <p:cBhvr additive="base">
                                        <p:cTn id="20" dur="500" fill="hold"/>
                                        <p:tgtEl>
                                          <p:spTgt spid="513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132"/>
                                        </p:tgtEl>
                                        <p:attrNameLst>
                                          <p:attrName>style.visibility</p:attrName>
                                        </p:attrNameLst>
                                      </p:cBhvr>
                                      <p:to>
                                        <p:strVal val="visible"/>
                                      </p:to>
                                    </p:set>
                                    <p:anim calcmode="lin" valueType="num">
                                      <p:cBhvr additive="base">
                                        <p:cTn id="23" dur="500" fill="hold"/>
                                        <p:tgtEl>
                                          <p:spTgt spid="5132"/>
                                        </p:tgtEl>
                                        <p:attrNameLst>
                                          <p:attrName>ppt_x</p:attrName>
                                        </p:attrNameLst>
                                      </p:cBhvr>
                                      <p:tavLst>
                                        <p:tav tm="0">
                                          <p:val>
                                            <p:strVal val="#ppt_x"/>
                                          </p:val>
                                        </p:tav>
                                        <p:tav tm="100000">
                                          <p:val>
                                            <p:strVal val="#ppt_x"/>
                                          </p:val>
                                        </p:tav>
                                      </p:tavLst>
                                    </p:anim>
                                    <p:anim calcmode="lin" valueType="num">
                                      <p:cBhvr additive="base">
                                        <p:cTn id="24" dur="500" fill="hold"/>
                                        <p:tgtEl>
                                          <p:spTgt spid="513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134"/>
                                        </p:tgtEl>
                                        <p:attrNameLst>
                                          <p:attrName>style.visibility</p:attrName>
                                        </p:attrNameLst>
                                      </p:cBhvr>
                                      <p:to>
                                        <p:strVal val="visible"/>
                                      </p:to>
                                    </p:set>
                                    <p:anim calcmode="lin" valueType="num">
                                      <p:cBhvr additive="base">
                                        <p:cTn id="27" dur="500" fill="hold"/>
                                        <p:tgtEl>
                                          <p:spTgt spid="5134"/>
                                        </p:tgtEl>
                                        <p:attrNameLst>
                                          <p:attrName>ppt_x</p:attrName>
                                        </p:attrNameLst>
                                      </p:cBhvr>
                                      <p:tavLst>
                                        <p:tav tm="0">
                                          <p:val>
                                            <p:strVal val="#ppt_x"/>
                                          </p:val>
                                        </p:tav>
                                        <p:tav tm="100000">
                                          <p:val>
                                            <p:strVal val="#ppt_x"/>
                                          </p:val>
                                        </p:tav>
                                      </p:tavLst>
                                    </p:anim>
                                    <p:anim calcmode="lin" valueType="num">
                                      <p:cBhvr additive="base">
                                        <p:cTn id="28" dur="500" fill="hold"/>
                                        <p:tgtEl>
                                          <p:spTgt spid="513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29"/>
                                        </p:tgtEl>
                                        <p:attrNameLst>
                                          <p:attrName>style.visibility</p:attrName>
                                        </p:attrNameLst>
                                      </p:cBhvr>
                                      <p:to>
                                        <p:strVal val="visible"/>
                                      </p:to>
                                    </p:set>
                                    <p:anim calcmode="lin" valueType="num">
                                      <p:cBhvr additive="base">
                                        <p:cTn id="31" dur="500" fill="hold"/>
                                        <p:tgtEl>
                                          <p:spTgt spid="5129"/>
                                        </p:tgtEl>
                                        <p:attrNameLst>
                                          <p:attrName>ppt_x</p:attrName>
                                        </p:attrNameLst>
                                      </p:cBhvr>
                                      <p:tavLst>
                                        <p:tav tm="0">
                                          <p:val>
                                            <p:strVal val="#ppt_x"/>
                                          </p:val>
                                        </p:tav>
                                        <p:tav tm="100000">
                                          <p:val>
                                            <p:strVal val="#ppt_x"/>
                                          </p:val>
                                        </p:tav>
                                      </p:tavLst>
                                    </p:anim>
                                    <p:anim calcmode="lin" valueType="num">
                                      <p:cBhvr additive="base">
                                        <p:cTn id="32" dur="500" fill="hold"/>
                                        <p:tgtEl>
                                          <p:spTgt spid="512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174"/>
                                        </p:tgtEl>
                                        <p:attrNameLst>
                                          <p:attrName>style.visibility</p:attrName>
                                        </p:attrNameLst>
                                      </p:cBhvr>
                                      <p:to>
                                        <p:strVal val="visible"/>
                                      </p:to>
                                    </p:set>
                                    <p:anim calcmode="lin" valueType="num">
                                      <p:cBhvr additive="base">
                                        <p:cTn id="35" dur="500" fill="hold"/>
                                        <p:tgtEl>
                                          <p:spTgt spid="7174"/>
                                        </p:tgtEl>
                                        <p:attrNameLst>
                                          <p:attrName>ppt_x</p:attrName>
                                        </p:attrNameLst>
                                      </p:cBhvr>
                                      <p:tavLst>
                                        <p:tav tm="0">
                                          <p:val>
                                            <p:strVal val="#ppt_x"/>
                                          </p:val>
                                        </p:tav>
                                        <p:tav tm="100000">
                                          <p:val>
                                            <p:strVal val="#ppt_x"/>
                                          </p:val>
                                        </p:tav>
                                      </p:tavLst>
                                    </p:anim>
                                    <p:anim calcmode="lin" valueType="num">
                                      <p:cBhvr additive="base">
                                        <p:cTn id="36" dur="500" fill="hold"/>
                                        <p:tgtEl>
                                          <p:spTgt spid="71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 grpId="0"/>
      <p:bldP spid="5130" grpId="0"/>
      <p:bldP spid="5131" grpId="0"/>
      <p:bldP spid="5132" grpId="0"/>
      <p:bldP spid="51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6"/>
          <p:cNvPicPr>
            <a:picLocks noChangeAspect="1" noChangeArrowheads="1"/>
          </p:cNvPicPr>
          <p:nvPr/>
        </p:nvPicPr>
        <p:blipFill>
          <a:blip r:embed="rId3" cstate="print"/>
          <a:srcRect/>
          <a:stretch>
            <a:fillRect/>
          </a:stretch>
        </p:blipFill>
        <p:spPr bwMode="auto">
          <a:xfrm>
            <a:off x="2948221" y="1056879"/>
            <a:ext cx="5781524" cy="3932011"/>
          </a:xfrm>
          <a:prstGeom prst="rect">
            <a:avLst/>
          </a:prstGeom>
          <a:noFill/>
          <a:ln w="9525">
            <a:noFill/>
            <a:miter lim="800000"/>
            <a:headEnd/>
            <a:tailEnd/>
          </a:ln>
        </p:spPr>
      </p:pic>
      <p:sp>
        <p:nvSpPr>
          <p:cNvPr id="9219" name="מציין מיקום של מספר שקופית 5"/>
          <p:cNvSpPr>
            <a:spLocks noGrp="1"/>
          </p:cNvSpPr>
          <p:nvPr>
            <p:ph type="sldNum" sz="quarter" idx="12"/>
          </p:nvPr>
        </p:nvSpPr>
        <p:spPr>
          <a:noFill/>
        </p:spPr>
        <p:txBody>
          <a:bodyPr/>
          <a:lstStyle/>
          <a:p>
            <a:fld id="{7F08A66E-DDBA-41EF-AC29-27B68A4D7B8A}" type="slidenum">
              <a:rPr lang="he-IL" smtClean="0"/>
              <a:pPr/>
              <a:t>16</a:t>
            </a:fld>
            <a:endParaRPr lang="en-US"/>
          </a:p>
        </p:txBody>
      </p:sp>
      <p:sp>
        <p:nvSpPr>
          <p:cNvPr id="9220" name="Rectangle 2"/>
          <p:cNvSpPr>
            <a:spLocks noGrp="1" noChangeArrowheads="1"/>
          </p:cNvSpPr>
          <p:nvPr>
            <p:ph type="title"/>
          </p:nvPr>
        </p:nvSpPr>
        <p:spPr>
          <a:xfrm>
            <a:off x="1524000" y="2"/>
            <a:ext cx="9144000" cy="1143459"/>
          </a:xfrm>
        </p:spPr>
        <p:txBody>
          <a:bodyPr/>
          <a:lstStyle/>
          <a:p>
            <a:pPr eaLnBrk="1" hangingPunct="1"/>
            <a:r>
              <a:rPr lang="en-US" sz="2600" dirty="0"/>
              <a:t>Multiprogramming with Fixed Partitions</a:t>
            </a:r>
            <a:endParaRPr lang="en-US" sz="2400" dirty="0"/>
          </a:p>
        </p:txBody>
      </p:sp>
      <p:sp>
        <p:nvSpPr>
          <p:cNvPr id="9221" name="Rectangle 3"/>
          <p:cNvSpPr>
            <a:spLocks noGrp="1" noChangeArrowheads="1"/>
          </p:cNvSpPr>
          <p:nvPr>
            <p:ph type="body" idx="1"/>
          </p:nvPr>
        </p:nvSpPr>
        <p:spPr>
          <a:xfrm>
            <a:off x="2896817" y="5105710"/>
            <a:ext cx="7771191" cy="913941"/>
          </a:xfrm>
        </p:spPr>
        <p:txBody>
          <a:bodyPr/>
          <a:lstStyle/>
          <a:p>
            <a:pPr eaLnBrk="1" hangingPunct="1">
              <a:lnSpc>
                <a:spcPct val="90000"/>
              </a:lnSpc>
            </a:pPr>
            <a:r>
              <a:rPr lang="en-US" dirty="0">
                <a:solidFill>
                  <a:srgbClr val="FF0000"/>
                </a:solidFill>
              </a:rPr>
              <a:t>Fixed</a:t>
            </a:r>
            <a:r>
              <a:rPr lang="en-US" dirty="0"/>
              <a:t> memory partitions</a:t>
            </a:r>
            <a:endParaRPr lang="en-US" sz="1900" dirty="0"/>
          </a:p>
          <a:p>
            <a:pPr lvl="1" eaLnBrk="1" hangingPunct="1">
              <a:lnSpc>
                <a:spcPct val="90000"/>
              </a:lnSpc>
            </a:pPr>
            <a:r>
              <a:rPr lang="en-US" dirty="0"/>
              <a:t>separate input queues for each partition</a:t>
            </a:r>
          </a:p>
          <a:p>
            <a:pPr lvl="1" eaLnBrk="1" hangingPunct="1">
              <a:lnSpc>
                <a:spcPct val="90000"/>
              </a:lnSpc>
            </a:pPr>
            <a:r>
              <a:rPr lang="en-US" dirty="0"/>
              <a:t>single input queue</a:t>
            </a:r>
          </a:p>
        </p:txBody>
      </p:sp>
      <p:cxnSp>
        <p:nvCxnSpPr>
          <p:cNvPr id="6150" name="מחבר חץ ישר 6"/>
          <p:cNvCxnSpPr>
            <a:cxnSpLocks noChangeShapeType="1"/>
          </p:cNvCxnSpPr>
          <p:nvPr/>
        </p:nvCxnSpPr>
        <p:spPr bwMode="auto">
          <a:xfrm rot="5400000" flipH="1" flipV="1">
            <a:off x="2929211" y="2985152"/>
            <a:ext cx="1125591" cy="869849"/>
          </a:xfrm>
          <a:prstGeom prst="straightConnector1">
            <a:avLst/>
          </a:prstGeom>
          <a:noFill/>
          <a:ln w="9525" algn="ctr">
            <a:solidFill>
              <a:schemeClr val="accent1"/>
            </a:solidFill>
            <a:round/>
            <a:headEnd/>
            <a:tailEnd type="arrow" w="med" len="med"/>
          </a:ln>
        </p:spPr>
      </p:cxnSp>
      <p:cxnSp>
        <p:nvCxnSpPr>
          <p:cNvPr id="6151" name="מחבר ישר 8"/>
          <p:cNvCxnSpPr>
            <a:cxnSpLocks noChangeShapeType="1"/>
          </p:cNvCxnSpPr>
          <p:nvPr/>
        </p:nvCxnSpPr>
        <p:spPr bwMode="auto">
          <a:xfrm>
            <a:off x="3853343" y="2703344"/>
            <a:ext cx="987779" cy="0"/>
          </a:xfrm>
          <a:prstGeom prst="line">
            <a:avLst/>
          </a:prstGeom>
          <a:noFill/>
          <a:ln w="9525" algn="ctr">
            <a:solidFill>
              <a:schemeClr val="accent1"/>
            </a:solidFill>
            <a:round/>
            <a:headEnd/>
            <a:tailEnd/>
          </a:ln>
        </p:spPr>
      </p:cxnSp>
      <p:sp>
        <p:nvSpPr>
          <p:cNvPr id="6152" name="מלבן 9"/>
          <p:cNvSpPr>
            <a:spLocks noChangeArrowheads="1"/>
          </p:cNvSpPr>
          <p:nvPr/>
        </p:nvSpPr>
        <p:spPr bwMode="auto">
          <a:xfrm>
            <a:off x="3012723" y="2160478"/>
            <a:ext cx="250976" cy="511259"/>
          </a:xfrm>
          <a:prstGeom prst="rect">
            <a:avLst/>
          </a:prstGeom>
          <a:solidFill>
            <a:schemeClr val="bg1"/>
          </a:solidFill>
          <a:ln w="9525" algn="ctr">
            <a:noFill/>
            <a:round/>
            <a:headEnd/>
            <a:tailEnd/>
          </a:ln>
        </p:spPr>
        <p:txBody>
          <a:bodyPr lIns="65520" tIns="32760" rIns="65520" bIns="32760"/>
          <a:lstStyle/>
          <a:p>
            <a:endParaRPr lang="he-IL"/>
          </a:p>
        </p:txBody>
      </p:sp>
      <p:sp>
        <p:nvSpPr>
          <p:cNvPr id="9225" name="TextBox 10"/>
          <p:cNvSpPr txBox="1">
            <a:spLocks noChangeArrowheads="1"/>
          </p:cNvSpPr>
          <p:nvPr/>
        </p:nvSpPr>
        <p:spPr bwMode="auto">
          <a:xfrm>
            <a:off x="8677327" y="1781156"/>
            <a:ext cx="1990675" cy="2559150"/>
          </a:xfrm>
          <a:prstGeom prst="rect">
            <a:avLst/>
          </a:prstGeom>
          <a:noFill/>
          <a:ln w="9525">
            <a:noFill/>
            <a:miter lim="800000"/>
            <a:headEnd/>
            <a:tailEnd/>
          </a:ln>
        </p:spPr>
        <p:txBody>
          <a:bodyPr lIns="65520" tIns="32760" rIns="65520" bIns="32760">
            <a:spAutoFit/>
          </a:bodyPr>
          <a:lstStyle/>
          <a:p>
            <a:pPr algn="r" rtl="1"/>
            <a:r>
              <a:rPr lang="he-IL" dirty="0"/>
              <a:t>סורקים את התור בכל פעם שמתפנה מחיצה ובוחרים את התהליך הגדול ביותר המתאים</a:t>
            </a:r>
          </a:p>
          <a:p>
            <a:pPr algn="r" rtl="1"/>
            <a:r>
              <a:rPr lang="he-IL" dirty="0"/>
              <a:t>חיסרון: הרעבת תהליכים קטנים</a:t>
            </a:r>
          </a:p>
          <a:p>
            <a:pPr algn="r" rtl="1"/>
            <a:r>
              <a:rPr lang="he-IL" dirty="0"/>
              <a:t>פתרון: (דילוג) עד </a:t>
            </a:r>
            <a:r>
              <a:rPr lang="en-US" dirty="0"/>
              <a:t>K</a:t>
            </a:r>
            <a:r>
              <a:rPr lang="he-IL" dirty="0"/>
              <a:t>  פעמים</a:t>
            </a:r>
          </a:p>
        </p:txBody>
      </p:sp>
      <p:cxnSp>
        <p:nvCxnSpPr>
          <p:cNvPr id="9226" name="מחבר חץ ישר 12"/>
          <p:cNvCxnSpPr>
            <a:cxnSpLocks noChangeShapeType="1"/>
          </p:cNvCxnSpPr>
          <p:nvPr/>
        </p:nvCxnSpPr>
        <p:spPr bwMode="auto">
          <a:xfrm rot="5400000" flipH="1" flipV="1">
            <a:off x="6813667" y="3057190"/>
            <a:ext cx="317475" cy="162277"/>
          </a:xfrm>
          <a:prstGeom prst="straightConnector1">
            <a:avLst/>
          </a:prstGeom>
          <a:noFill/>
          <a:ln w="9525" algn="ctr">
            <a:solidFill>
              <a:schemeClr val="tx1"/>
            </a:solidFill>
            <a:round/>
            <a:headEnd/>
            <a:tailEnd type="arrow" w="med" len="med"/>
          </a:ln>
        </p:spPr>
      </p:cxnSp>
      <p:sp>
        <p:nvSpPr>
          <p:cNvPr id="6155" name="TextBox 13"/>
          <p:cNvSpPr txBox="1">
            <a:spLocks noChangeArrowheads="1"/>
          </p:cNvSpPr>
          <p:nvPr/>
        </p:nvSpPr>
        <p:spPr bwMode="auto">
          <a:xfrm>
            <a:off x="5387425" y="747651"/>
            <a:ext cx="3479397" cy="620158"/>
          </a:xfrm>
          <a:prstGeom prst="rect">
            <a:avLst/>
          </a:prstGeom>
          <a:noFill/>
          <a:ln w="9525">
            <a:noFill/>
            <a:miter lim="800000"/>
            <a:headEnd/>
            <a:tailEnd/>
          </a:ln>
        </p:spPr>
        <p:txBody>
          <a:bodyPr lIns="65520" tIns="32760" rIns="65520" bIns="32760">
            <a:spAutoFit/>
          </a:bodyPr>
          <a:lstStyle/>
          <a:p>
            <a:r>
              <a:rPr lang="he-IL" dirty="0"/>
              <a:t>ריסוק פנימי/חיצוני</a:t>
            </a:r>
          </a:p>
          <a:p>
            <a:r>
              <a:rPr lang="en-US" dirty="0"/>
              <a:t>Fragmentation external/internal</a:t>
            </a:r>
            <a:endParaRPr lang="he-IL" dirty="0"/>
          </a:p>
        </p:txBody>
      </p:sp>
      <p:sp>
        <p:nvSpPr>
          <p:cNvPr id="9228" name="TextBox 14"/>
          <p:cNvSpPr txBox="1">
            <a:spLocks noChangeArrowheads="1"/>
          </p:cNvSpPr>
          <p:nvPr/>
        </p:nvSpPr>
        <p:spPr bwMode="auto">
          <a:xfrm>
            <a:off x="8969630" y="4514739"/>
            <a:ext cx="1698373" cy="897157"/>
          </a:xfrm>
          <a:prstGeom prst="rect">
            <a:avLst/>
          </a:prstGeom>
          <a:noFill/>
          <a:ln w="9525">
            <a:noFill/>
            <a:miter lim="800000"/>
            <a:headEnd/>
            <a:tailEnd/>
          </a:ln>
        </p:spPr>
        <p:txBody>
          <a:bodyPr lIns="65520" tIns="32760" rIns="65520" bIns="32760">
            <a:spAutoFit/>
          </a:bodyPr>
          <a:lstStyle/>
          <a:p>
            <a:pPr algn="r" rtl="1"/>
            <a:r>
              <a:rPr lang="he-IL" dirty="0"/>
              <a:t>ריסוק פנימי בתוך המחיצה מבוזבז מקום זיכרון</a:t>
            </a:r>
          </a:p>
        </p:txBody>
      </p:sp>
      <p:cxnSp>
        <p:nvCxnSpPr>
          <p:cNvPr id="9229" name="מחבר חץ ישר 16"/>
          <p:cNvCxnSpPr>
            <a:cxnSpLocks noChangeShapeType="1"/>
          </p:cNvCxnSpPr>
          <p:nvPr/>
        </p:nvCxnSpPr>
        <p:spPr bwMode="auto">
          <a:xfrm rot="5400000" flipH="1" flipV="1">
            <a:off x="8098514" y="2799915"/>
            <a:ext cx="357331" cy="2016"/>
          </a:xfrm>
          <a:prstGeom prst="straightConnector1">
            <a:avLst/>
          </a:prstGeom>
          <a:noFill/>
          <a:ln w="9525" algn="ctr">
            <a:solidFill>
              <a:schemeClr val="tx1"/>
            </a:solidFill>
            <a:round/>
            <a:headEnd type="arrow" w="med" len="med"/>
            <a:tailEnd type="arrow" w="med" len="med"/>
          </a:ln>
        </p:spPr>
      </p:cxnSp>
      <p:cxnSp>
        <p:nvCxnSpPr>
          <p:cNvPr id="9230" name="מחבר ישר 18"/>
          <p:cNvCxnSpPr>
            <a:cxnSpLocks noChangeShapeType="1"/>
          </p:cNvCxnSpPr>
          <p:nvPr/>
        </p:nvCxnSpPr>
        <p:spPr bwMode="auto">
          <a:xfrm flipV="1">
            <a:off x="7672423" y="2620885"/>
            <a:ext cx="899079" cy="31611"/>
          </a:xfrm>
          <a:prstGeom prst="line">
            <a:avLst/>
          </a:prstGeom>
          <a:noFill/>
          <a:ln w="9525" algn="ctr">
            <a:solidFill>
              <a:schemeClr val="tx1"/>
            </a:solidFill>
            <a:round/>
            <a:headEnd/>
            <a:tailEnd type="arrow" w="med" len="med"/>
          </a:ln>
        </p:spPr>
      </p:cxnSp>
      <p:sp>
        <p:nvSpPr>
          <p:cNvPr id="9231" name="TextBox 19"/>
          <p:cNvSpPr txBox="1">
            <a:spLocks noChangeArrowheads="1"/>
          </p:cNvSpPr>
          <p:nvPr/>
        </p:nvSpPr>
        <p:spPr bwMode="auto">
          <a:xfrm>
            <a:off x="7407330" y="5036989"/>
            <a:ext cx="1695349" cy="620158"/>
          </a:xfrm>
          <a:prstGeom prst="rect">
            <a:avLst/>
          </a:prstGeom>
          <a:noFill/>
          <a:ln w="9525">
            <a:noFill/>
            <a:miter lim="800000"/>
            <a:headEnd/>
            <a:tailEnd/>
          </a:ln>
        </p:spPr>
        <p:txBody>
          <a:bodyPr lIns="65520" tIns="32760" rIns="65520" bIns="32760">
            <a:spAutoFit/>
          </a:bodyPr>
          <a:lstStyle/>
          <a:p>
            <a:r>
              <a:rPr lang="en-US" dirty="0"/>
              <a:t>for(*p=</a:t>
            </a:r>
            <a:r>
              <a:rPr lang="en-US" dirty="0" err="1"/>
              <a:t>ffff</a:t>
            </a:r>
            <a:r>
              <a:rPr lang="en-US" dirty="0"/>
              <a:t>; p; )</a:t>
            </a:r>
          </a:p>
          <a:p>
            <a:r>
              <a:rPr lang="en-US" dirty="0"/>
              <a:t>     A[</a:t>
            </a:r>
            <a:r>
              <a:rPr lang="en-US" dirty="0" err="1"/>
              <a:t>i</a:t>
            </a:r>
            <a:r>
              <a:rPr lang="en-US" dirty="0"/>
              <a:t>]=*p--;</a:t>
            </a:r>
            <a:endParaRPr lang="he-IL" dirty="0"/>
          </a:p>
        </p:txBody>
      </p:sp>
      <p:sp>
        <p:nvSpPr>
          <p:cNvPr id="16" name="מציין מיקום של תאריך 15"/>
          <p:cNvSpPr>
            <a:spLocks noGrp="1"/>
          </p:cNvSpPr>
          <p:nvPr>
            <p:ph type="dt" sz="half" idx="10"/>
          </p:nvPr>
        </p:nvSpPr>
        <p:spPr/>
        <p:txBody>
          <a:bodyPr/>
          <a:lstStyle/>
          <a:p>
            <a:pPr>
              <a:defRPr/>
            </a:pPr>
            <a:fld id="{27E2187B-9F3E-49BE-81AF-6C226460226C}"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anim calcmode="lin" valueType="num">
                                      <p:cBhvr additive="base">
                                        <p:cTn id="7" dur="500" fill="hold"/>
                                        <p:tgtEl>
                                          <p:spTgt spid="6150"/>
                                        </p:tgtEl>
                                        <p:attrNameLst>
                                          <p:attrName>ppt_x</p:attrName>
                                        </p:attrNameLst>
                                      </p:cBhvr>
                                      <p:tavLst>
                                        <p:tav tm="0">
                                          <p:val>
                                            <p:strVal val="#ppt_x"/>
                                          </p:val>
                                        </p:tav>
                                        <p:tav tm="100000">
                                          <p:val>
                                            <p:strVal val="#ppt_x"/>
                                          </p:val>
                                        </p:tav>
                                      </p:tavLst>
                                    </p:anim>
                                    <p:anim calcmode="lin" valueType="num">
                                      <p:cBhvr additive="base">
                                        <p:cTn id="8" dur="500" fill="hold"/>
                                        <p:tgtEl>
                                          <p:spTgt spid="615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51"/>
                                        </p:tgtEl>
                                        <p:attrNameLst>
                                          <p:attrName>style.visibility</p:attrName>
                                        </p:attrNameLst>
                                      </p:cBhvr>
                                      <p:to>
                                        <p:strVal val="visible"/>
                                      </p:to>
                                    </p:set>
                                    <p:anim calcmode="lin" valueType="num">
                                      <p:cBhvr additive="base">
                                        <p:cTn id="11" dur="500" fill="hold"/>
                                        <p:tgtEl>
                                          <p:spTgt spid="6151"/>
                                        </p:tgtEl>
                                        <p:attrNameLst>
                                          <p:attrName>ppt_x</p:attrName>
                                        </p:attrNameLst>
                                      </p:cBhvr>
                                      <p:tavLst>
                                        <p:tav tm="0">
                                          <p:val>
                                            <p:strVal val="#ppt_x"/>
                                          </p:val>
                                        </p:tav>
                                        <p:tav tm="100000">
                                          <p:val>
                                            <p:strVal val="#ppt_x"/>
                                          </p:val>
                                        </p:tav>
                                      </p:tavLst>
                                    </p:anim>
                                    <p:anim calcmode="lin" valueType="num">
                                      <p:cBhvr additive="base">
                                        <p:cTn id="12" dur="500" fill="hold"/>
                                        <p:tgtEl>
                                          <p:spTgt spid="615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152"/>
                                        </p:tgtEl>
                                        <p:attrNameLst>
                                          <p:attrName>style.visibility</p:attrName>
                                        </p:attrNameLst>
                                      </p:cBhvr>
                                      <p:to>
                                        <p:strVal val="visible"/>
                                      </p:to>
                                    </p:set>
                                    <p:anim calcmode="lin" valueType="num">
                                      <p:cBhvr additive="base">
                                        <p:cTn id="15" dur="500" fill="hold"/>
                                        <p:tgtEl>
                                          <p:spTgt spid="6152"/>
                                        </p:tgtEl>
                                        <p:attrNameLst>
                                          <p:attrName>ppt_x</p:attrName>
                                        </p:attrNameLst>
                                      </p:cBhvr>
                                      <p:tavLst>
                                        <p:tav tm="0">
                                          <p:val>
                                            <p:strVal val="#ppt_x"/>
                                          </p:val>
                                        </p:tav>
                                        <p:tav tm="100000">
                                          <p:val>
                                            <p:strVal val="#ppt_x"/>
                                          </p:val>
                                        </p:tav>
                                      </p:tavLst>
                                    </p:anim>
                                    <p:anim calcmode="lin" valueType="num">
                                      <p:cBhvr additive="base">
                                        <p:cTn id="16" dur="500" fill="hold"/>
                                        <p:tgtEl>
                                          <p:spTgt spid="615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155"/>
                                        </p:tgtEl>
                                        <p:attrNameLst>
                                          <p:attrName>style.visibility</p:attrName>
                                        </p:attrNameLst>
                                      </p:cBhvr>
                                      <p:to>
                                        <p:strVal val="visible"/>
                                      </p:to>
                                    </p:set>
                                    <p:anim calcmode="lin" valueType="num">
                                      <p:cBhvr additive="base">
                                        <p:cTn id="19" dur="500" fill="hold"/>
                                        <p:tgtEl>
                                          <p:spTgt spid="6155"/>
                                        </p:tgtEl>
                                        <p:attrNameLst>
                                          <p:attrName>ppt_x</p:attrName>
                                        </p:attrNameLst>
                                      </p:cBhvr>
                                      <p:tavLst>
                                        <p:tav tm="0">
                                          <p:val>
                                            <p:strVal val="#ppt_x"/>
                                          </p:val>
                                        </p:tav>
                                        <p:tav tm="100000">
                                          <p:val>
                                            <p:strVal val="#ppt_x"/>
                                          </p:val>
                                        </p:tav>
                                      </p:tavLst>
                                    </p:anim>
                                    <p:anim calcmode="lin" valueType="num">
                                      <p:cBhvr additive="base">
                                        <p:cTn id="20" dur="500" fill="hold"/>
                                        <p:tgtEl>
                                          <p:spTgt spid="615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28">
                                            <p:txEl>
                                              <p:pRg st="0" end="0"/>
                                            </p:txEl>
                                          </p:spTgt>
                                        </p:tgtEl>
                                        <p:attrNameLst>
                                          <p:attrName>style.visibility</p:attrName>
                                        </p:attrNameLst>
                                      </p:cBhvr>
                                      <p:to>
                                        <p:strVal val="visible"/>
                                      </p:to>
                                    </p:set>
                                    <p:anim calcmode="lin" valueType="num">
                                      <p:cBhvr additive="base">
                                        <p:cTn id="25" dur="500" fill="hold"/>
                                        <p:tgtEl>
                                          <p:spTgt spid="922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26"/>
                                        </p:tgtEl>
                                        <p:attrNameLst>
                                          <p:attrName>style.visibility</p:attrName>
                                        </p:attrNameLst>
                                      </p:cBhvr>
                                      <p:to>
                                        <p:strVal val="visible"/>
                                      </p:to>
                                    </p:set>
                                    <p:anim calcmode="lin" valueType="num">
                                      <p:cBhvr additive="base">
                                        <p:cTn id="31" dur="500" fill="hold"/>
                                        <p:tgtEl>
                                          <p:spTgt spid="9226"/>
                                        </p:tgtEl>
                                        <p:attrNameLst>
                                          <p:attrName>ppt_x</p:attrName>
                                        </p:attrNameLst>
                                      </p:cBhvr>
                                      <p:tavLst>
                                        <p:tav tm="0">
                                          <p:val>
                                            <p:strVal val="#ppt_x"/>
                                          </p:val>
                                        </p:tav>
                                        <p:tav tm="100000">
                                          <p:val>
                                            <p:strVal val="#ppt_x"/>
                                          </p:val>
                                        </p:tav>
                                      </p:tavLst>
                                    </p:anim>
                                    <p:anim calcmode="lin" valueType="num">
                                      <p:cBhvr additive="base">
                                        <p:cTn id="32" dur="500" fill="hold"/>
                                        <p:tgtEl>
                                          <p:spTgt spid="922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225"/>
                                        </p:tgtEl>
                                        <p:attrNameLst>
                                          <p:attrName>style.visibility</p:attrName>
                                        </p:attrNameLst>
                                      </p:cBhvr>
                                      <p:to>
                                        <p:strVal val="visible"/>
                                      </p:to>
                                    </p:set>
                                    <p:anim calcmode="lin" valueType="num">
                                      <p:cBhvr additive="base">
                                        <p:cTn id="35" dur="500" fill="hold"/>
                                        <p:tgtEl>
                                          <p:spTgt spid="9225"/>
                                        </p:tgtEl>
                                        <p:attrNameLst>
                                          <p:attrName>ppt_x</p:attrName>
                                        </p:attrNameLst>
                                      </p:cBhvr>
                                      <p:tavLst>
                                        <p:tav tm="0">
                                          <p:val>
                                            <p:strVal val="#ppt_x"/>
                                          </p:val>
                                        </p:tav>
                                        <p:tav tm="100000">
                                          <p:val>
                                            <p:strVal val="#ppt_x"/>
                                          </p:val>
                                        </p:tav>
                                      </p:tavLst>
                                    </p:anim>
                                    <p:anim calcmode="lin" valueType="num">
                                      <p:cBhvr additive="base">
                                        <p:cTn id="36" dur="500" fill="hold"/>
                                        <p:tgtEl>
                                          <p:spTgt spid="922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231">
                                            <p:txEl>
                                              <p:pRg st="0" end="0"/>
                                            </p:txEl>
                                          </p:spTgt>
                                        </p:tgtEl>
                                        <p:attrNameLst>
                                          <p:attrName>style.visibility</p:attrName>
                                        </p:attrNameLst>
                                      </p:cBhvr>
                                      <p:to>
                                        <p:strVal val="visible"/>
                                      </p:to>
                                    </p:set>
                                    <p:animEffect transition="in" filter="fade">
                                      <p:cBhvr>
                                        <p:cTn id="41" dur="2000"/>
                                        <p:tgtEl>
                                          <p:spTgt spid="9231">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231">
                                            <p:txEl>
                                              <p:pRg st="1" end="1"/>
                                            </p:txEl>
                                          </p:spTgt>
                                        </p:tgtEl>
                                        <p:attrNameLst>
                                          <p:attrName>style.visibility</p:attrName>
                                        </p:attrNameLst>
                                      </p:cBhvr>
                                      <p:to>
                                        <p:strVal val="visible"/>
                                      </p:to>
                                    </p:set>
                                    <p:animEffect transition="in" filter="fade">
                                      <p:cBhvr>
                                        <p:cTn id="44" dur="2000"/>
                                        <p:tgtEl>
                                          <p:spTgt spid="92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animBg="1"/>
      <p:bldP spid="9225" grpId="0"/>
      <p:bldP spid="6155" grpId="0"/>
      <p:bldP spid="9228" grpId="0" build="allAtOnce"/>
      <p:bldP spid="9231"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מציין מיקום של מספר שקופית 5"/>
          <p:cNvSpPr>
            <a:spLocks noGrp="1"/>
          </p:cNvSpPr>
          <p:nvPr>
            <p:ph type="sldNum" sz="quarter" idx="12"/>
          </p:nvPr>
        </p:nvSpPr>
        <p:spPr>
          <a:noFill/>
        </p:spPr>
        <p:txBody>
          <a:bodyPr/>
          <a:lstStyle/>
          <a:p>
            <a:fld id="{5CFB1399-82E7-4297-AE0B-DE4A653B823C}" type="slidenum">
              <a:rPr lang="he-IL" smtClean="0"/>
              <a:pPr/>
              <a:t>17</a:t>
            </a:fld>
            <a:endParaRPr lang="en-US"/>
          </a:p>
        </p:txBody>
      </p:sp>
      <p:sp>
        <p:nvSpPr>
          <p:cNvPr id="13315" name="Rectangle 2"/>
          <p:cNvSpPr>
            <a:spLocks noGrp="1" noChangeArrowheads="1"/>
          </p:cNvSpPr>
          <p:nvPr>
            <p:ph type="title"/>
          </p:nvPr>
        </p:nvSpPr>
        <p:spPr/>
        <p:txBody>
          <a:bodyPr/>
          <a:lstStyle/>
          <a:p>
            <a:pPr eaLnBrk="1" hangingPunct="1"/>
            <a:r>
              <a:rPr lang="en-US" dirty="0"/>
              <a:t>Relocation and Protection</a:t>
            </a:r>
            <a:endParaRPr lang="en-US" sz="2600" dirty="0"/>
          </a:p>
        </p:txBody>
      </p:sp>
      <p:sp>
        <p:nvSpPr>
          <p:cNvPr id="13316" name="Rectangle 3"/>
          <p:cNvSpPr>
            <a:spLocks noGrp="1" noChangeArrowheads="1"/>
          </p:cNvSpPr>
          <p:nvPr>
            <p:ph type="body" idx="1"/>
          </p:nvPr>
        </p:nvSpPr>
        <p:spPr>
          <a:xfrm>
            <a:off x="1792111" y="1381229"/>
            <a:ext cx="8760984" cy="4715391"/>
          </a:xfrm>
        </p:spPr>
        <p:txBody>
          <a:bodyPr/>
          <a:lstStyle/>
          <a:p>
            <a:pPr eaLnBrk="1" hangingPunct="1"/>
            <a:r>
              <a:rPr lang="en-US" sz="1900" dirty="0"/>
              <a:t>Cannot be sure where program will be loaded in memory</a:t>
            </a:r>
          </a:p>
          <a:p>
            <a:pPr lvl="1" eaLnBrk="1" hangingPunct="1"/>
            <a:r>
              <a:rPr lang="en-US" sz="1600" dirty="0"/>
              <a:t>address locations of variables,  code routines cannot be absolute</a:t>
            </a:r>
          </a:p>
          <a:p>
            <a:pPr lvl="1" eaLnBrk="1" hangingPunct="1"/>
            <a:r>
              <a:rPr lang="en-US" sz="1600" dirty="0"/>
              <a:t>must keep a program out of other processes’ partitions</a:t>
            </a:r>
          </a:p>
          <a:p>
            <a:pPr lvl="1" eaLnBrk="1" hangingPunct="1"/>
            <a:endParaRPr lang="en-US" sz="1600" dirty="0"/>
          </a:p>
          <a:p>
            <a:pPr eaLnBrk="1" hangingPunct="1"/>
            <a:r>
              <a:rPr lang="en-US" sz="1900" dirty="0"/>
              <a:t>Use base and limit values</a:t>
            </a:r>
          </a:p>
          <a:p>
            <a:pPr lvl="1" eaLnBrk="1" hangingPunct="1"/>
            <a:r>
              <a:rPr lang="en-US" sz="1600" dirty="0"/>
              <a:t>address locations added to base value to map to physical </a:t>
            </a:r>
            <a:r>
              <a:rPr lang="en-US" sz="1600" dirty="0" err="1"/>
              <a:t>addr</a:t>
            </a:r>
            <a:endParaRPr lang="en-US" sz="1600" dirty="0"/>
          </a:p>
          <a:p>
            <a:pPr lvl="1" eaLnBrk="1" hangingPunct="1"/>
            <a:r>
              <a:rPr lang="en-US" sz="1600" dirty="0"/>
              <a:t>address locations larger than limit value is an error</a:t>
            </a:r>
          </a:p>
        </p:txBody>
      </p:sp>
      <p:sp>
        <p:nvSpPr>
          <p:cNvPr id="5" name="מציין מיקום של תאריך 4"/>
          <p:cNvSpPr>
            <a:spLocks noGrp="1"/>
          </p:cNvSpPr>
          <p:nvPr>
            <p:ph type="dt" sz="half" idx="10"/>
          </p:nvPr>
        </p:nvSpPr>
        <p:spPr/>
        <p:txBody>
          <a:bodyPr/>
          <a:lstStyle/>
          <a:p>
            <a:pPr>
              <a:defRPr/>
            </a:pPr>
            <a:fld id="{9A26B954-C686-4434-88F9-60882F571F11}" type="datetime12">
              <a:rPr lang="he-IL" smtClean="0"/>
              <a:pPr>
                <a:defRPr/>
              </a:pPr>
              <a:t>28/01/2024 18:13</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5"/>
          <p:cNvSpPr>
            <a:spLocks noGrp="1"/>
          </p:cNvSpPr>
          <p:nvPr>
            <p:ph type="sldNum" sz="quarter" idx="12"/>
          </p:nvPr>
        </p:nvSpPr>
        <p:spPr/>
        <p:txBody>
          <a:bodyPr/>
          <a:lstStyle/>
          <a:p>
            <a:pPr>
              <a:defRPr/>
            </a:pPr>
            <a:fld id="{2B256E40-0669-4828-9B64-4C44BB10F1D9}" type="slidenum">
              <a:rPr lang="en-US"/>
              <a:pPr>
                <a:defRPr/>
              </a:pPr>
              <a:t>18</a:t>
            </a:fld>
            <a:endParaRPr lang="en-US"/>
          </a:p>
        </p:txBody>
      </p:sp>
      <p:sp>
        <p:nvSpPr>
          <p:cNvPr id="14339" name="Rectangle 2"/>
          <p:cNvSpPr>
            <a:spLocks noGrp="1" noChangeArrowheads="1"/>
          </p:cNvSpPr>
          <p:nvPr>
            <p:ph type="title"/>
          </p:nvPr>
        </p:nvSpPr>
        <p:spPr>
          <a:xfrm>
            <a:off x="2095508" y="2"/>
            <a:ext cx="7772199" cy="1143459"/>
          </a:xfrm>
        </p:spPr>
        <p:txBody>
          <a:bodyPr/>
          <a:lstStyle/>
          <a:p>
            <a:pPr eaLnBrk="1" hangingPunct="1"/>
            <a:r>
              <a:rPr lang="en-US"/>
              <a:t>Computer</a:t>
            </a:r>
          </a:p>
        </p:txBody>
      </p:sp>
      <p:sp>
        <p:nvSpPr>
          <p:cNvPr id="14340" name="Rectangle 3"/>
          <p:cNvSpPr>
            <a:spLocks noGrp="1" noChangeArrowheads="1"/>
          </p:cNvSpPr>
          <p:nvPr>
            <p:ph type="body" idx="1"/>
          </p:nvPr>
        </p:nvSpPr>
        <p:spPr>
          <a:xfrm>
            <a:off x="2352533" y="5743403"/>
            <a:ext cx="7772199" cy="685800"/>
          </a:xfrm>
        </p:spPr>
        <p:txBody>
          <a:bodyPr/>
          <a:lstStyle/>
          <a:p>
            <a:pPr algn="ctr" eaLnBrk="1" hangingPunct="1">
              <a:buFontTx/>
              <a:buNone/>
            </a:pPr>
            <a:r>
              <a:rPr lang="en-US"/>
              <a:t>One base-limit pair and two base-limit pairs</a:t>
            </a:r>
          </a:p>
        </p:txBody>
      </p:sp>
      <p:pic>
        <p:nvPicPr>
          <p:cNvPr id="14341" name="Picture 5"/>
          <p:cNvPicPr>
            <a:picLocks noChangeAspect="1" noChangeArrowheads="1"/>
          </p:cNvPicPr>
          <p:nvPr/>
        </p:nvPicPr>
        <p:blipFill>
          <a:blip r:embed="rId3" cstate="print"/>
          <a:srcRect/>
          <a:stretch>
            <a:fillRect/>
          </a:stretch>
        </p:blipFill>
        <p:spPr bwMode="auto">
          <a:xfrm>
            <a:off x="3076229" y="1078870"/>
            <a:ext cx="6296580" cy="4517484"/>
          </a:xfrm>
          <a:prstGeom prst="rect">
            <a:avLst/>
          </a:prstGeom>
          <a:noFill/>
          <a:ln w="9525">
            <a:noFill/>
            <a:miter lim="800000"/>
            <a:headEnd/>
            <a:tailEnd/>
          </a:ln>
        </p:spPr>
      </p:pic>
      <p:sp>
        <p:nvSpPr>
          <p:cNvPr id="14342" name="TextBox 1"/>
          <p:cNvSpPr txBox="1">
            <a:spLocks noChangeArrowheads="1"/>
          </p:cNvSpPr>
          <p:nvPr/>
        </p:nvSpPr>
        <p:spPr bwMode="auto">
          <a:xfrm>
            <a:off x="2177147" y="2886668"/>
            <a:ext cx="1217587" cy="620182"/>
          </a:xfrm>
          <a:prstGeom prst="rect">
            <a:avLst/>
          </a:prstGeom>
          <a:noFill/>
          <a:ln w="9525">
            <a:noFill/>
            <a:miter lim="800000"/>
            <a:headEnd/>
            <a:tailEnd/>
          </a:ln>
        </p:spPr>
        <p:txBody>
          <a:bodyPr lIns="65544" tIns="32772" rIns="65544" bIns="32772">
            <a:spAutoFit/>
          </a:bodyPr>
          <a:lstStyle/>
          <a:p>
            <a:r>
              <a:rPr lang="en-US" dirty="0" err="1"/>
              <a:t>X+Base</a:t>
            </a:r>
            <a:r>
              <a:rPr lang="en-US" dirty="0"/>
              <a:t> &lt; limit</a:t>
            </a:r>
            <a:endParaRPr lang="he-IL" dirty="0"/>
          </a:p>
        </p:txBody>
      </p:sp>
      <p:sp>
        <p:nvSpPr>
          <p:cNvPr id="7" name="מציין מיקום של תאריך 6"/>
          <p:cNvSpPr>
            <a:spLocks noGrp="1"/>
          </p:cNvSpPr>
          <p:nvPr>
            <p:ph type="dt" sz="half" idx="10"/>
          </p:nvPr>
        </p:nvSpPr>
        <p:spPr/>
        <p:txBody>
          <a:bodyPr/>
          <a:lstStyle/>
          <a:p>
            <a:pPr>
              <a:defRPr/>
            </a:pPr>
            <a:fld id="{3FD2FB36-4F8F-4104-8186-F55D76764D8F}" type="datetime12">
              <a:rPr lang="he-IL" smtClean="0"/>
              <a:pPr>
                <a:defRPr/>
              </a:pPr>
              <a:t>28/01/2024 18:13</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09405" y="2"/>
            <a:ext cx="7773207" cy="1143459"/>
          </a:xfrm>
        </p:spPr>
        <p:txBody>
          <a:bodyPr/>
          <a:lstStyle/>
          <a:p>
            <a:pPr eaLnBrk="1" hangingPunct="1"/>
            <a:r>
              <a:rPr lang="en-US"/>
              <a:t>Swapping</a:t>
            </a:r>
            <a:br>
              <a:rPr lang="en-US"/>
            </a:br>
            <a:r>
              <a:rPr lang="he-IL"/>
              <a:t>החלפה</a:t>
            </a:r>
            <a:endParaRPr lang="en-US"/>
          </a:p>
        </p:txBody>
      </p:sp>
      <p:sp>
        <p:nvSpPr>
          <p:cNvPr id="15363" name="מציין מיקום של מספר שקופית 5"/>
          <p:cNvSpPr>
            <a:spLocks noGrp="1"/>
          </p:cNvSpPr>
          <p:nvPr>
            <p:ph type="sldNum" sz="quarter" idx="12"/>
          </p:nvPr>
        </p:nvSpPr>
        <p:spPr>
          <a:noFill/>
        </p:spPr>
        <p:txBody>
          <a:bodyPr/>
          <a:lstStyle/>
          <a:p>
            <a:fld id="{3DBB3E6F-9E3F-4BD7-BD49-771E7EA4DAD1}" type="slidenum">
              <a:rPr lang="he-IL" smtClean="0"/>
              <a:pPr/>
              <a:t>19</a:t>
            </a:fld>
            <a:endParaRPr lang="en-US"/>
          </a:p>
        </p:txBody>
      </p:sp>
      <p:sp>
        <p:nvSpPr>
          <p:cNvPr id="15364" name="Rectangle 3"/>
          <p:cNvSpPr>
            <a:spLocks noGrp="1" noChangeArrowheads="1"/>
          </p:cNvSpPr>
          <p:nvPr>
            <p:ph type="body" idx="1"/>
          </p:nvPr>
        </p:nvSpPr>
        <p:spPr>
          <a:xfrm>
            <a:off x="3327207" y="4876197"/>
            <a:ext cx="7773207" cy="1220423"/>
          </a:xfrm>
        </p:spPr>
        <p:txBody>
          <a:bodyPr/>
          <a:lstStyle/>
          <a:p>
            <a:pPr eaLnBrk="1" hangingPunct="1">
              <a:lnSpc>
                <a:spcPct val="90000"/>
              </a:lnSpc>
              <a:buFontTx/>
              <a:buNone/>
            </a:pPr>
            <a:r>
              <a:rPr lang="en-US" dirty="0"/>
              <a:t>Memory allocation changes as</a:t>
            </a:r>
            <a:r>
              <a:rPr lang="en-US" sz="1900" dirty="0"/>
              <a:t> </a:t>
            </a:r>
          </a:p>
          <a:p>
            <a:pPr lvl="1" eaLnBrk="1" hangingPunct="1">
              <a:lnSpc>
                <a:spcPct val="90000"/>
              </a:lnSpc>
            </a:pPr>
            <a:r>
              <a:rPr lang="en-US" sz="1600" dirty="0"/>
              <a:t>processes come into memory</a:t>
            </a:r>
          </a:p>
          <a:p>
            <a:pPr lvl="1" eaLnBrk="1" hangingPunct="1">
              <a:lnSpc>
                <a:spcPct val="90000"/>
              </a:lnSpc>
            </a:pPr>
            <a:r>
              <a:rPr lang="en-US" sz="1600" dirty="0"/>
              <a:t>leave memory</a:t>
            </a:r>
            <a:endParaRPr lang="en-US" sz="1300" dirty="0"/>
          </a:p>
          <a:p>
            <a:pPr eaLnBrk="1" hangingPunct="1">
              <a:lnSpc>
                <a:spcPct val="90000"/>
              </a:lnSpc>
              <a:buFontTx/>
              <a:buNone/>
            </a:pPr>
            <a:r>
              <a:rPr lang="en-US" dirty="0"/>
              <a:t>Shaded regions are unused memory</a:t>
            </a:r>
            <a:endParaRPr lang="en-US" sz="1900" dirty="0"/>
          </a:p>
          <a:p>
            <a:pPr eaLnBrk="1" hangingPunct="1">
              <a:lnSpc>
                <a:spcPct val="90000"/>
              </a:lnSpc>
              <a:buFontTx/>
              <a:buNone/>
            </a:pPr>
            <a:endParaRPr lang="en-US" sz="1900" dirty="0"/>
          </a:p>
        </p:txBody>
      </p:sp>
      <p:pic>
        <p:nvPicPr>
          <p:cNvPr id="15365" name="Picture 5" descr="C:\B\b4\JPG\foo\4-5.jpg"/>
          <p:cNvPicPr>
            <a:picLocks noChangeAspect="1" noChangeArrowheads="1"/>
          </p:cNvPicPr>
          <p:nvPr/>
        </p:nvPicPr>
        <p:blipFill>
          <a:blip r:embed="rId3" cstate="print"/>
          <a:srcRect/>
          <a:stretch>
            <a:fillRect/>
          </a:stretch>
        </p:blipFill>
        <p:spPr bwMode="auto">
          <a:xfrm>
            <a:off x="2720427" y="1311133"/>
            <a:ext cx="7042452" cy="3111525"/>
          </a:xfrm>
          <a:prstGeom prst="rect">
            <a:avLst/>
          </a:prstGeom>
          <a:noFill/>
          <a:ln w="9525">
            <a:noFill/>
            <a:miter lim="800000"/>
            <a:headEnd/>
            <a:tailEnd/>
          </a:ln>
        </p:spPr>
      </p:pic>
      <p:sp>
        <p:nvSpPr>
          <p:cNvPr id="15366" name="TextBox 5"/>
          <p:cNvSpPr txBox="1">
            <a:spLocks noChangeArrowheads="1"/>
          </p:cNvSpPr>
          <p:nvPr/>
        </p:nvSpPr>
        <p:spPr bwMode="auto">
          <a:xfrm>
            <a:off x="3009207" y="405435"/>
            <a:ext cx="2240126" cy="343159"/>
          </a:xfrm>
          <a:prstGeom prst="rect">
            <a:avLst/>
          </a:prstGeom>
          <a:noFill/>
          <a:ln w="9525">
            <a:noFill/>
            <a:miter lim="800000"/>
            <a:headEnd/>
            <a:tailEnd/>
          </a:ln>
        </p:spPr>
        <p:txBody>
          <a:bodyPr wrap="square" lIns="65520" tIns="32760" rIns="65520" bIns="32760">
            <a:spAutoFit/>
          </a:bodyPr>
          <a:lstStyle/>
          <a:p>
            <a:r>
              <a:rPr lang="he-IL" dirty="0"/>
              <a:t>חלוקה למחיצות נעות </a:t>
            </a:r>
            <a:endParaRPr lang="en-US" dirty="0"/>
          </a:p>
        </p:txBody>
      </p:sp>
      <p:cxnSp>
        <p:nvCxnSpPr>
          <p:cNvPr id="15367" name="מחבר חץ ישר 7"/>
          <p:cNvCxnSpPr>
            <a:cxnSpLocks noChangeShapeType="1"/>
          </p:cNvCxnSpPr>
          <p:nvPr/>
        </p:nvCxnSpPr>
        <p:spPr bwMode="auto">
          <a:xfrm rot="5400000" flipH="1" flipV="1">
            <a:off x="8105211" y="2127317"/>
            <a:ext cx="420551" cy="14111"/>
          </a:xfrm>
          <a:prstGeom prst="straightConnector1">
            <a:avLst/>
          </a:prstGeom>
          <a:noFill/>
          <a:ln w="9525" algn="ctr">
            <a:solidFill>
              <a:schemeClr val="tx1"/>
            </a:solidFill>
            <a:round/>
            <a:headEnd type="arrow" w="med" len="med"/>
            <a:tailEnd type="arrow" w="med" len="med"/>
          </a:ln>
        </p:spPr>
      </p:cxnSp>
      <p:sp>
        <p:nvSpPr>
          <p:cNvPr id="11272" name="TextBox 8"/>
          <p:cNvSpPr txBox="1">
            <a:spLocks noChangeArrowheads="1"/>
          </p:cNvSpPr>
          <p:nvPr/>
        </p:nvSpPr>
        <p:spPr bwMode="auto">
          <a:xfrm>
            <a:off x="8191320" y="1009891"/>
            <a:ext cx="3589145" cy="620158"/>
          </a:xfrm>
          <a:prstGeom prst="rect">
            <a:avLst/>
          </a:prstGeom>
          <a:noFill/>
          <a:ln w="9525">
            <a:noFill/>
            <a:miter lim="800000"/>
            <a:headEnd/>
            <a:tailEnd/>
          </a:ln>
        </p:spPr>
        <p:txBody>
          <a:bodyPr wrap="square" lIns="65520" tIns="32760" rIns="65520" bIns="32760">
            <a:spAutoFit/>
          </a:bodyPr>
          <a:lstStyle/>
          <a:p>
            <a:pPr algn="r" rtl="1"/>
            <a:r>
              <a:rPr lang="he-IL" dirty="0"/>
              <a:t>חיסרון: ריסוק חיצוני גדול – בין מחיצות</a:t>
            </a:r>
            <a:endParaRPr lang="en-US" dirty="0"/>
          </a:p>
          <a:p>
            <a:pPr algn="r" rtl="1"/>
            <a:r>
              <a:rPr lang="he-IL" dirty="0"/>
              <a:t> לוח דמקה </a:t>
            </a:r>
            <a:r>
              <a:rPr lang="en-US" dirty="0"/>
              <a:t>checker </a:t>
            </a:r>
            <a:r>
              <a:rPr lang="en-US" dirty="0" err="1"/>
              <a:t>bording</a:t>
            </a:r>
            <a:r>
              <a:rPr lang="en-US" dirty="0"/>
              <a:t> </a:t>
            </a:r>
            <a:endParaRPr lang="he-IL" dirty="0"/>
          </a:p>
        </p:txBody>
      </p:sp>
      <p:sp>
        <p:nvSpPr>
          <p:cNvPr id="11273" name="TextBox 9"/>
          <p:cNvSpPr txBox="1">
            <a:spLocks noChangeArrowheads="1"/>
          </p:cNvSpPr>
          <p:nvPr/>
        </p:nvSpPr>
        <p:spPr bwMode="auto">
          <a:xfrm>
            <a:off x="8736676" y="395940"/>
            <a:ext cx="3003651" cy="897157"/>
          </a:xfrm>
          <a:prstGeom prst="rect">
            <a:avLst/>
          </a:prstGeom>
          <a:noFill/>
          <a:ln w="9525">
            <a:noFill/>
            <a:miter lim="800000"/>
            <a:headEnd/>
            <a:tailEnd/>
          </a:ln>
        </p:spPr>
        <p:txBody>
          <a:bodyPr lIns="65520" tIns="32760" rIns="65520" bIns="32760">
            <a:spAutoFit/>
          </a:bodyPr>
          <a:lstStyle/>
          <a:p>
            <a:pPr algn="r" rtl="1"/>
            <a:r>
              <a:rPr lang="he-IL" dirty="0"/>
              <a:t>יתרון: ניתן להריץ יותר תהליכים ע"י החלפתם החוצה לדיסק</a:t>
            </a:r>
          </a:p>
          <a:p>
            <a:pPr algn="r" rtl="1"/>
            <a:endParaRPr lang="he-IL" dirty="0"/>
          </a:p>
        </p:txBody>
      </p:sp>
      <p:sp>
        <p:nvSpPr>
          <p:cNvPr id="11274" name="TextBox 10"/>
          <p:cNvSpPr txBox="1">
            <a:spLocks noChangeArrowheads="1"/>
          </p:cNvSpPr>
          <p:nvPr/>
        </p:nvSpPr>
        <p:spPr bwMode="auto">
          <a:xfrm>
            <a:off x="9815572" y="1632378"/>
            <a:ext cx="1997723" cy="558602"/>
          </a:xfrm>
          <a:prstGeom prst="rect">
            <a:avLst/>
          </a:prstGeom>
          <a:noFill/>
          <a:ln w="9525">
            <a:noFill/>
            <a:miter lim="800000"/>
            <a:headEnd/>
            <a:tailEnd/>
          </a:ln>
        </p:spPr>
        <p:txBody>
          <a:bodyPr wrap="square" lIns="65520" tIns="32760" rIns="65520" bIns="32760">
            <a:spAutoFit/>
          </a:bodyPr>
          <a:lstStyle/>
          <a:p>
            <a:r>
              <a:rPr lang="en-US" sz="1600" dirty="0"/>
              <a:t>Memory compaction</a:t>
            </a:r>
          </a:p>
          <a:p>
            <a:pPr algn="r" rtl="1"/>
            <a:r>
              <a:rPr lang="he-IL" sz="1600" dirty="0"/>
              <a:t>לא פתרון יעיל</a:t>
            </a:r>
          </a:p>
        </p:txBody>
      </p:sp>
      <p:cxnSp>
        <p:nvCxnSpPr>
          <p:cNvPr id="15371" name="מחבר חץ ישר 12"/>
          <p:cNvCxnSpPr>
            <a:cxnSpLocks noChangeShapeType="1"/>
          </p:cNvCxnSpPr>
          <p:nvPr/>
        </p:nvCxnSpPr>
        <p:spPr bwMode="auto">
          <a:xfrm rot="16200000" flipH="1">
            <a:off x="7230121" y="1642903"/>
            <a:ext cx="164923" cy="108857"/>
          </a:xfrm>
          <a:prstGeom prst="straightConnector1">
            <a:avLst/>
          </a:prstGeom>
          <a:noFill/>
          <a:ln w="9525" algn="ctr">
            <a:solidFill>
              <a:schemeClr val="tx1"/>
            </a:solidFill>
            <a:round/>
            <a:headEnd type="arrow" w="med" len="med"/>
            <a:tailEnd type="arrow" w="med" len="med"/>
          </a:ln>
        </p:spPr>
      </p:cxnSp>
      <p:cxnSp>
        <p:nvCxnSpPr>
          <p:cNvPr id="15372" name="מחבר חץ ישר 14"/>
          <p:cNvCxnSpPr>
            <a:cxnSpLocks noChangeShapeType="1"/>
          </p:cNvCxnSpPr>
          <p:nvPr/>
        </p:nvCxnSpPr>
        <p:spPr bwMode="auto">
          <a:xfrm rot="16200000" flipH="1">
            <a:off x="7181243" y="3112575"/>
            <a:ext cx="331219" cy="122968"/>
          </a:xfrm>
          <a:prstGeom prst="straightConnector1">
            <a:avLst/>
          </a:prstGeom>
          <a:noFill/>
          <a:ln w="9525" algn="ctr">
            <a:solidFill>
              <a:schemeClr val="tx1"/>
            </a:solidFill>
            <a:round/>
            <a:headEnd type="arrow" w="med" len="med"/>
            <a:tailEnd type="arrow" w="med" len="med"/>
          </a:ln>
        </p:spPr>
      </p:cxnSp>
      <p:sp>
        <p:nvSpPr>
          <p:cNvPr id="11277" name="TextBox 15"/>
          <p:cNvSpPr txBox="1">
            <a:spLocks noChangeArrowheads="1"/>
          </p:cNvSpPr>
          <p:nvPr/>
        </p:nvSpPr>
        <p:spPr bwMode="auto">
          <a:xfrm>
            <a:off x="9716240" y="4920783"/>
            <a:ext cx="2270713" cy="620158"/>
          </a:xfrm>
          <a:prstGeom prst="rect">
            <a:avLst/>
          </a:prstGeom>
          <a:noFill/>
          <a:ln w="9525">
            <a:noFill/>
            <a:miter lim="800000"/>
            <a:headEnd/>
            <a:tailEnd/>
          </a:ln>
        </p:spPr>
        <p:txBody>
          <a:bodyPr wrap="square" lIns="65520" tIns="32760" rIns="65520" bIns="32760">
            <a:spAutoFit/>
          </a:bodyPr>
          <a:lstStyle/>
          <a:p>
            <a:pPr algn="r" rtl="1"/>
            <a:r>
              <a:rPr lang="he-IL" dirty="0"/>
              <a:t>דורש מיפוי של הזיכרון </a:t>
            </a:r>
            <a:endParaRPr lang="en-US" dirty="0"/>
          </a:p>
          <a:p>
            <a:pPr algn="r" rtl="1"/>
            <a:r>
              <a:rPr lang="he-IL" dirty="0"/>
              <a:t>מיפוי של החורים וגדלם</a:t>
            </a:r>
          </a:p>
        </p:txBody>
      </p:sp>
      <p:sp>
        <p:nvSpPr>
          <p:cNvPr id="14" name="מציין מיקום של תאריך 13"/>
          <p:cNvSpPr>
            <a:spLocks noGrp="1"/>
          </p:cNvSpPr>
          <p:nvPr>
            <p:ph type="dt" sz="half" idx="10"/>
          </p:nvPr>
        </p:nvSpPr>
        <p:spPr/>
        <p:txBody>
          <a:bodyPr/>
          <a:lstStyle/>
          <a:p>
            <a:pPr>
              <a:defRPr/>
            </a:pPr>
            <a:fld id="{BE29E227-7B3E-418C-A5F0-C09026B596AF}" type="datetime12">
              <a:rPr lang="he-IL" smtClean="0"/>
              <a:pPr>
                <a:defRPr/>
              </a:pPr>
              <a:t>28/01/2024 18:13</a:t>
            </a:fld>
            <a:endParaRPr lang="en-US"/>
          </a:p>
        </p:txBody>
      </p:sp>
      <p:sp>
        <p:nvSpPr>
          <p:cNvPr id="2" name="תרשים זרימה: דיסק מגנטי 1">
            <a:extLst>
              <a:ext uri="{FF2B5EF4-FFF2-40B4-BE49-F238E27FC236}">
                <a16:creationId xmlns:a16="http://schemas.microsoft.com/office/drawing/2014/main" id="{B82F33D0-B6B5-473F-B39A-714E25872402}"/>
              </a:ext>
            </a:extLst>
          </p:cNvPr>
          <p:cNvSpPr/>
          <p:nvPr/>
        </p:nvSpPr>
        <p:spPr bwMode="auto">
          <a:xfrm>
            <a:off x="7258153" y="4685284"/>
            <a:ext cx="1370457" cy="1980307"/>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1800" b="0" i="0" u="none" strike="noStrike" cap="none" normalizeH="0" baseline="0">
              <a:ln>
                <a:noFill/>
              </a:ln>
              <a:solidFill>
                <a:schemeClr val="tx1"/>
              </a:solidFill>
              <a:effectLst/>
              <a:latin typeface="Helvetica" pitchFamily="2" charset="0"/>
            </a:endParaRPr>
          </a:p>
        </p:txBody>
      </p:sp>
      <p:sp>
        <p:nvSpPr>
          <p:cNvPr id="3" name="מלבן 2">
            <a:extLst>
              <a:ext uri="{FF2B5EF4-FFF2-40B4-BE49-F238E27FC236}">
                <a16:creationId xmlns:a16="http://schemas.microsoft.com/office/drawing/2014/main" id="{0F22633A-3FBC-4D15-B4FF-A76F253D890B}"/>
              </a:ext>
            </a:extLst>
          </p:cNvPr>
          <p:cNvSpPr/>
          <p:nvPr/>
        </p:nvSpPr>
        <p:spPr bwMode="auto">
          <a:xfrm>
            <a:off x="4788131" y="2991822"/>
            <a:ext cx="831272" cy="75915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lang="en-US" sz="1400" dirty="0"/>
          </a:p>
          <a:p>
            <a:pPr marL="0" marR="0" indent="0" algn="l" defTabSz="914400" rtl="0" eaLnBrk="1" fontAlgn="base" latinLnBrk="0" hangingPunct="1">
              <a:lnSpc>
                <a:spcPct val="100000"/>
              </a:lnSpc>
              <a:spcBef>
                <a:spcPct val="0"/>
              </a:spcBef>
              <a:spcAft>
                <a:spcPct val="0"/>
              </a:spcAft>
              <a:buClrTx/>
              <a:buSzTx/>
              <a:buFontTx/>
              <a:buNone/>
              <a:tabLst/>
            </a:pPr>
            <a:r>
              <a:rPr lang="en-US" sz="1400" dirty="0"/>
              <a:t>      A</a:t>
            </a:r>
            <a:endParaRPr kumimoji="0" lang="he-IL" b="0" i="0" u="none" strike="noStrike" cap="none" normalizeH="0" baseline="0" dirty="0">
              <a:ln>
                <a:noFill/>
              </a:ln>
              <a:solidFill>
                <a:schemeClr val="tx1"/>
              </a:solidFill>
              <a:effectLst/>
              <a:latin typeface="Helvetica" pitchFamily="2" charset="0"/>
            </a:endParaRPr>
          </a:p>
        </p:txBody>
      </p:sp>
      <p:sp>
        <p:nvSpPr>
          <p:cNvPr id="17" name="מלבן 16">
            <a:extLst>
              <a:ext uri="{FF2B5EF4-FFF2-40B4-BE49-F238E27FC236}">
                <a16:creationId xmlns:a16="http://schemas.microsoft.com/office/drawing/2014/main" id="{88061A8B-A283-4E8C-9B5F-21454D25538B}"/>
              </a:ext>
            </a:extLst>
          </p:cNvPr>
          <p:cNvSpPr/>
          <p:nvPr/>
        </p:nvSpPr>
        <p:spPr bwMode="auto">
          <a:xfrm>
            <a:off x="6842517" y="2580519"/>
            <a:ext cx="831272" cy="40105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400" dirty="0"/>
              <a:t>     </a:t>
            </a:r>
            <a:r>
              <a:rPr lang="en-US" sz="1200" dirty="0"/>
              <a:t>B</a:t>
            </a:r>
            <a:endParaRPr kumimoji="0" lang="he-IL" b="0" i="0" u="none" strike="noStrike" cap="none" normalizeH="0" baseline="0" dirty="0">
              <a:ln>
                <a:noFill/>
              </a:ln>
              <a:solidFill>
                <a:schemeClr val="tx1"/>
              </a:solidFill>
              <a:effectLst/>
              <a:latin typeface="Helvetica"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50" presetClass="path" presetSubtype="0" accel="50000" decel="50000" fill="hold" grpId="0" nodeType="withEffect">
                                  <p:stCondLst>
                                    <p:cond delay="0"/>
                                  </p:stCondLst>
                                  <p:childTnLst>
                                    <p:animMotion origin="layout" path="M -2.91667E-6 3.33333E-6 C 0.03516 3.33333E-6 -0.00547 0.15208 0.02891 0.18889 C 0.06341 0.225 0.20638 0.14004 0.20638 0.21875 C 0.20638 0.27754 0.21133 0.29213 0.21133 0.35092 " pathEditMode="relative" rAng="0" ptsTypes="AAAA">
                                      <p:cBhvr>
                                        <p:cTn id="12" dur="4000" fill="hold"/>
                                        <p:tgtEl>
                                          <p:spTgt spid="3"/>
                                        </p:tgtEl>
                                        <p:attrNameLst>
                                          <p:attrName>ppt_x</p:attrName>
                                          <p:attrName>ppt_y</p:attrName>
                                        </p:attrNameLst>
                                      </p:cBhvr>
                                      <p:rCtr x="10560" y="17546"/>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50" presetClass="path" presetSubtype="0" accel="50000" decel="50000" fill="hold" grpId="0" nodeType="withEffect">
                                  <p:stCondLst>
                                    <p:cond delay="0"/>
                                  </p:stCondLst>
                                  <p:childTnLst>
                                    <p:animMotion origin="layout" path="M -2.5E-6 4.44444E-6 L 0.03737 4.44444E-6 C 0.05404 4.44444E-6 0.07487 0.13935 0.07487 0.25277 L 0.07487 0.50555 " pathEditMode="relative" rAng="0" ptsTypes="AAAA">
                                      <p:cBhvr>
                                        <p:cTn id="18" dur="4000" fill="hold"/>
                                        <p:tgtEl>
                                          <p:spTgt spid="17"/>
                                        </p:tgtEl>
                                        <p:attrNameLst>
                                          <p:attrName>ppt_x</p:attrName>
                                          <p:attrName>ppt_y</p:attrName>
                                        </p:attrNameLst>
                                      </p:cBhvr>
                                      <p:rCtr x="3737" y="25278"/>
                                    </p:animMotion>
                                  </p:childTnLst>
                                </p:cTn>
                              </p:par>
                            </p:childTnLst>
                          </p:cTn>
                        </p:par>
                      </p:childTnLst>
                    </p:cTn>
                  </p:par>
                  <p:par>
                    <p:cTn id="19" fill="hold">
                      <p:stCondLst>
                        <p:cond delay="indefinite"/>
                      </p:stCondLst>
                      <p:childTnLst>
                        <p:par>
                          <p:cTn id="20" fill="hold">
                            <p:stCondLst>
                              <p:cond delay="0"/>
                            </p:stCondLst>
                            <p:childTnLst>
                              <p:par>
                                <p:cTn id="21" presetID="50" presetClass="path" presetSubtype="0" accel="50000" decel="50000" fill="hold" grpId="2" nodeType="clickEffect">
                                  <p:stCondLst>
                                    <p:cond delay="0"/>
                                  </p:stCondLst>
                                  <p:childTnLst>
                                    <p:animMotion origin="layout" path="M 0.21133 0.35092 L 0.29219 0.34907 C 0.36849 0.34907 0.33568 -0.01713 0.33568 -0.0294 L 0.33568 -0.05602 " pathEditMode="relative" rAng="0" ptsTypes="AAAA">
                                      <p:cBhvr>
                                        <p:cTn id="22" dur="4000" fill="hold"/>
                                        <p:tgtEl>
                                          <p:spTgt spid="3"/>
                                        </p:tgtEl>
                                        <p:attrNameLst>
                                          <p:attrName>ppt_x</p:attrName>
                                          <p:attrName>ppt_y</p:attrName>
                                        </p:attrNameLst>
                                      </p:cBhvr>
                                      <p:rCtr x="6562" y="-20347"/>
                                    </p:animMotion>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1273"/>
                                        </p:tgtEl>
                                        <p:attrNameLst>
                                          <p:attrName>style.visibility</p:attrName>
                                        </p:attrNameLst>
                                      </p:cBhvr>
                                      <p:to>
                                        <p:strVal val="visible"/>
                                      </p:to>
                                    </p:set>
                                    <p:animEffect transition="in" filter="fade">
                                      <p:cBhvr>
                                        <p:cTn id="27" dur="1000"/>
                                        <p:tgtEl>
                                          <p:spTgt spid="11273"/>
                                        </p:tgtEl>
                                      </p:cBhvr>
                                    </p:animEffect>
                                    <p:anim calcmode="lin" valueType="num">
                                      <p:cBhvr>
                                        <p:cTn id="28" dur="1000" fill="hold"/>
                                        <p:tgtEl>
                                          <p:spTgt spid="11273"/>
                                        </p:tgtEl>
                                        <p:attrNameLst>
                                          <p:attrName>ppt_x</p:attrName>
                                        </p:attrNameLst>
                                      </p:cBhvr>
                                      <p:tavLst>
                                        <p:tav tm="0">
                                          <p:val>
                                            <p:strVal val="#ppt_x"/>
                                          </p:val>
                                        </p:tav>
                                        <p:tav tm="100000">
                                          <p:val>
                                            <p:strVal val="#ppt_x"/>
                                          </p:val>
                                        </p:tav>
                                      </p:tavLst>
                                    </p:anim>
                                    <p:anim calcmode="lin" valueType="num">
                                      <p:cBhvr>
                                        <p:cTn id="29" dur="1000" fill="hold"/>
                                        <p:tgtEl>
                                          <p:spTgt spid="1127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1272"/>
                                        </p:tgtEl>
                                        <p:attrNameLst>
                                          <p:attrName>style.visibility</p:attrName>
                                        </p:attrNameLst>
                                      </p:cBhvr>
                                      <p:to>
                                        <p:strVal val="visible"/>
                                      </p:to>
                                    </p:set>
                                    <p:animEffect transition="in" filter="fade">
                                      <p:cBhvr>
                                        <p:cTn id="34" dur="1000"/>
                                        <p:tgtEl>
                                          <p:spTgt spid="11272"/>
                                        </p:tgtEl>
                                      </p:cBhvr>
                                    </p:animEffect>
                                    <p:anim calcmode="lin" valueType="num">
                                      <p:cBhvr>
                                        <p:cTn id="35" dur="1000" fill="hold"/>
                                        <p:tgtEl>
                                          <p:spTgt spid="11272"/>
                                        </p:tgtEl>
                                        <p:attrNameLst>
                                          <p:attrName>ppt_x</p:attrName>
                                        </p:attrNameLst>
                                      </p:cBhvr>
                                      <p:tavLst>
                                        <p:tav tm="0">
                                          <p:val>
                                            <p:strVal val="#ppt_x"/>
                                          </p:val>
                                        </p:tav>
                                        <p:tav tm="100000">
                                          <p:val>
                                            <p:strVal val="#ppt_x"/>
                                          </p:val>
                                        </p:tav>
                                      </p:tavLst>
                                    </p:anim>
                                    <p:anim calcmode="lin" valueType="num">
                                      <p:cBhvr>
                                        <p:cTn id="36" dur="1000" fill="hold"/>
                                        <p:tgtEl>
                                          <p:spTgt spid="1127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274"/>
                                        </p:tgtEl>
                                        <p:attrNameLst>
                                          <p:attrName>style.visibility</p:attrName>
                                        </p:attrNameLst>
                                      </p:cBhvr>
                                      <p:to>
                                        <p:strVal val="visible"/>
                                      </p:to>
                                    </p:set>
                                    <p:animEffect transition="in" filter="fade">
                                      <p:cBhvr>
                                        <p:cTn id="41" dur="1000"/>
                                        <p:tgtEl>
                                          <p:spTgt spid="11274"/>
                                        </p:tgtEl>
                                      </p:cBhvr>
                                    </p:animEffect>
                                    <p:anim calcmode="lin" valueType="num">
                                      <p:cBhvr>
                                        <p:cTn id="42" dur="1000" fill="hold"/>
                                        <p:tgtEl>
                                          <p:spTgt spid="11274"/>
                                        </p:tgtEl>
                                        <p:attrNameLst>
                                          <p:attrName>ppt_x</p:attrName>
                                        </p:attrNameLst>
                                      </p:cBhvr>
                                      <p:tavLst>
                                        <p:tav tm="0">
                                          <p:val>
                                            <p:strVal val="#ppt_x"/>
                                          </p:val>
                                        </p:tav>
                                        <p:tav tm="100000">
                                          <p:val>
                                            <p:strVal val="#ppt_x"/>
                                          </p:val>
                                        </p:tav>
                                      </p:tavLst>
                                    </p:anim>
                                    <p:anim calcmode="lin" valueType="num">
                                      <p:cBhvr>
                                        <p:cTn id="43" dur="1000" fill="hold"/>
                                        <p:tgtEl>
                                          <p:spTgt spid="11274"/>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1277"/>
                                        </p:tgtEl>
                                        <p:attrNameLst>
                                          <p:attrName>style.visibility</p:attrName>
                                        </p:attrNameLst>
                                      </p:cBhvr>
                                      <p:to>
                                        <p:strVal val="visible"/>
                                      </p:to>
                                    </p:set>
                                    <p:animEffect transition="in" filter="fade">
                                      <p:cBhvr>
                                        <p:cTn id="48" dur="1000"/>
                                        <p:tgtEl>
                                          <p:spTgt spid="11277"/>
                                        </p:tgtEl>
                                      </p:cBhvr>
                                    </p:animEffect>
                                    <p:anim calcmode="lin" valueType="num">
                                      <p:cBhvr>
                                        <p:cTn id="49" dur="1000" fill="hold"/>
                                        <p:tgtEl>
                                          <p:spTgt spid="11277"/>
                                        </p:tgtEl>
                                        <p:attrNameLst>
                                          <p:attrName>ppt_x</p:attrName>
                                        </p:attrNameLst>
                                      </p:cBhvr>
                                      <p:tavLst>
                                        <p:tav tm="0">
                                          <p:val>
                                            <p:strVal val="#ppt_x"/>
                                          </p:val>
                                        </p:tav>
                                        <p:tav tm="100000">
                                          <p:val>
                                            <p:strVal val="#ppt_x"/>
                                          </p:val>
                                        </p:tav>
                                      </p:tavLst>
                                    </p:anim>
                                    <p:anim calcmode="lin" valueType="num">
                                      <p:cBhvr>
                                        <p:cTn id="50" dur="1000" fill="hold"/>
                                        <p:tgtEl>
                                          <p:spTgt spid="112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2" grpId="0"/>
      <p:bldP spid="11273" grpId="0"/>
      <p:bldP spid="11274" grpId="0"/>
      <p:bldP spid="11277" grpId="0"/>
      <p:bldP spid="2" grpId="0" animBg="1"/>
      <p:bldP spid="3" grpId="0" animBg="1"/>
      <p:bldP spid="3" grpId="1" animBg="1"/>
      <p:bldP spid="3" grpId="2" animBg="1"/>
      <p:bldP spid="17" grpId="0" animBg="1"/>
      <p:bldP spid="17"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מציין מיקום של מספר שקופית 5"/>
          <p:cNvSpPr>
            <a:spLocks noGrp="1"/>
          </p:cNvSpPr>
          <p:nvPr>
            <p:ph type="sldNum" sz="quarter" idx="12"/>
          </p:nvPr>
        </p:nvSpPr>
        <p:spPr>
          <a:noFill/>
        </p:spPr>
        <p:txBody>
          <a:bodyPr/>
          <a:lstStyle/>
          <a:p>
            <a:fld id="{D8E77C23-04BF-4963-97BC-350EA677C262}" type="slidenum">
              <a:rPr lang="he-IL" smtClean="0"/>
              <a:pPr/>
              <a:t>20</a:t>
            </a:fld>
            <a:endParaRPr lang="en-US"/>
          </a:p>
        </p:txBody>
      </p:sp>
      <p:sp>
        <p:nvSpPr>
          <p:cNvPr id="16387" name="Rectangle 2"/>
          <p:cNvSpPr>
            <a:spLocks noGrp="1" noChangeArrowheads="1"/>
          </p:cNvSpPr>
          <p:nvPr>
            <p:ph type="title"/>
          </p:nvPr>
        </p:nvSpPr>
        <p:spPr>
          <a:xfrm>
            <a:off x="2209405" y="2"/>
            <a:ext cx="7773207" cy="1143459"/>
          </a:xfrm>
        </p:spPr>
        <p:txBody>
          <a:bodyPr/>
          <a:lstStyle/>
          <a:p>
            <a:pPr eaLnBrk="1" hangingPunct="1"/>
            <a:r>
              <a:rPr lang="en-US"/>
              <a:t>Swapping (2)</a:t>
            </a:r>
          </a:p>
        </p:txBody>
      </p:sp>
      <p:sp>
        <p:nvSpPr>
          <p:cNvPr id="16388" name="Rectangle 3"/>
          <p:cNvSpPr>
            <a:spLocks noGrp="1" noChangeArrowheads="1"/>
          </p:cNvSpPr>
          <p:nvPr>
            <p:ph type="body" idx="1"/>
          </p:nvPr>
        </p:nvSpPr>
        <p:spPr>
          <a:xfrm>
            <a:off x="2209401" y="5486402"/>
            <a:ext cx="8458603" cy="990907"/>
          </a:xfrm>
        </p:spPr>
        <p:txBody>
          <a:bodyPr/>
          <a:lstStyle/>
          <a:p>
            <a:pPr eaLnBrk="1" hangingPunct="1">
              <a:lnSpc>
                <a:spcPct val="90000"/>
              </a:lnSpc>
            </a:pPr>
            <a:r>
              <a:rPr lang="en-US" sz="1900" dirty="0"/>
              <a:t>Allocating space for growing data segment</a:t>
            </a:r>
          </a:p>
          <a:p>
            <a:pPr eaLnBrk="1" hangingPunct="1">
              <a:lnSpc>
                <a:spcPct val="90000"/>
              </a:lnSpc>
            </a:pPr>
            <a:r>
              <a:rPr lang="en-US" sz="1900" dirty="0"/>
              <a:t>Allocating space for growing stack &amp; data segment</a:t>
            </a:r>
          </a:p>
        </p:txBody>
      </p:sp>
      <p:pic>
        <p:nvPicPr>
          <p:cNvPr id="16389" name="Picture 5" descr="C:\B\b4\JPG\foo\4-6.jpg"/>
          <p:cNvPicPr>
            <a:picLocks noChangeAspect="1" noChangeArrowheads="1"/>
          </p:cNvPicPr>
          <p:nvPr/>
        </p:nvPicPr>
        <p:blipFill>
          <a:blip r:embed="rId3" cstate="print"/>
          <a:srcRect/>
          <a:stretch>
            <a:fillRect/>
          </a:stretch>
        </p:blipFill>
        <p:spPr bwMode="auto">
          <a:xfrm>
            <a:off x="3762632" y="1239667"/>
            <a:ext cx="5242277" cy="3872915"/>
          </a:xfrm>
          <a:prstGeom prst="rect">
            <a:avLst/>
          </a:prstGeom>
          <a:noFill/>
          <a:ln w="9525">
            <a:noFill/>
            <a:miter lim="800000"/>
            <a:headEnd/>
            <a:tailEnd/>
          </a:ln>
        </p:spPr>
      </p:pic>
      <p:sp>
        <p:nvSpPr>
          <p:cNvPr id="16390" name="מלבן 5"/>
          <p:cNvSpPr>
            <a:spLocks noChangeArrowheads="1"/>
          </p:cNvSpPr>
          <p:nvPr/>
        </p:nvSpPr>
        <p:spPr bwMode="auto">
          <a:xfrm>
            <a:off x="6465924" y="2919123"/>
            <a:ext cx="1529039" cy="1261652"/>
          </a:xfrm>
          <a:prstGeom prst="rect">
            <a:avLst/>
          </a:prstGeom>
          <a:noFill/>
          <a:ln w="9525" algn="ctr">
            <a:noFill/>
            <a:round/>
            <a:headEnd/>
            <a:tailEnd/>
          </a:ln>
        </p:spPr>
        <p:txBody>
          <a:bodyPr lIns="65520" tIns="32760" rIns="65520" bIns="32760"/>
          <a:lstStyle/>
          <a:p>
            <a:endParaRPr lang="he-IL"/>
          </a:p>
        </p:txBody>
      </p:sp>
      <p:sp>
        <p:nvSpPr>
          <p:cNvPr id="16391" name="מלבן 6"/>
          <p:cNvSpPr>
            <a:spLocks noChangeArrowheads="1"/>
          </p:cNvSpPr>
          <p:nvPr/>
        </p:nvSpPr>
        <p:spPr bwMode="auto">
          <a:xfrm>
            <a:off x="6666498" y="3090914"/>
            <a:ext cx="1087564" cy="188285"/>
          </a:xfrm>
          <a:prstGeom prst="rect">
            <a:avLst/>
          </a:prstGeom>
          <a:noFill/>
          <a:ln w="9525" algn="ctr">
            <a:noFill/>
            <a:round/>
            <a:headEnd/>
            <a:tailEnd/>
          </a:ln>
        </p:spPr>
        <p:txBody>
          <a:bodyPr lIns="65520" tIns="32760" rIns="65520" bIns="32760"/>
          <a:lstStyle/>
          <a:p>
            <a:endParaRPr lang="he-IL"/>
          </a:p>
        </p:txBody>
      </p:sp>
      <p:sp>
        <p:nvSpPr>
          <p:cNvPr id="8" name="מציין מיקום של תאריך 7"/>
          <p:cNvSpPr>
            <a:spLocks noGrp="1"/>
          </p:cNvSpPr>
          <p:nvPr>
            <p:ph type="dt" sz="half" idx="10"/>
          </p:nvPr>
        </p:nvSpPr>
        <p:spPr/>
        <p:txBody>
          <a:bodyPr/>
          <a:lstStyle/>
          <a:p>
            <a:pPr>
              <a:defRPr/>
            </a:pPr>
            <a:fld id="{4BA48305-A160-4338-BD96-B524F43E24AD}" type="datetime12">
              <a:rPr lang="he-IL" smtClean="0"/>
              <a:pPr>
                <a:defRPr/>
              </a:pPr>
              <a:t>28/01/2024 18:13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מציין מיקום של מספר שקופית 5"/>
          <p:cNvSpPr>
            <a:spLocks noGrp="1"/>
          </p:cNvSpPr>
          <p:nvPr>
            <p:ph type="sldNum" sz="quarter" idx="12"/>
          </p:nvPr>
        </p:nvSpPr>
        <p:spPr>
          <a:noFill/>
        </p:spPr>
        <p:txBody>
          <a:bodyPr/>
          <a:lstStyle/>
          <a:p>
            <a:fld id="{08A98325-474D-4C96-A3EA-AF583B1D73A9}" type="slidenum">
              <a:rPr lang="he-IL" smtClean="0"/>
              <a:pPr/>
              <a:t>21</a:t>
            </a:fld>
            <a:endParaRPr lang="en-US"/>
          </a:p>
        </p:txBody>
      </p:sp>
      <p:sp>
        <p:nvSpPr>
          <p:cNvPr id="17411" name="Rectangle 2"/>
          <p:cNvSpPr>
            <a:spLocks noGrp="1" noChangeArrowheads="1"/>
          </p:cNvSpPr>
          <p:nvPr>
            <p:ph type="title"/>
          </p:nvPr>
        </p:nvSpPr>
        <p:spPr>
          <a:xfrm>
            <a:off x="1485699" y="2"/>
            <a:ext cx="9015992" cy="1143459"/>
          </a:xfrm>
        </p:spPr>
        <p:txBody>
          <a:bodyPr/>
          <a:lstStyle/>
          <a:p>
            <a:pPr eaLnBrk="1" hangingPunct="1"/>
            <a:r>
              <a:rPr lang="en-US" dirty="0"/>
              <a:t>Memory Management with Bit Maps</a:t>
            </a:r>
            <a:endParaRPr lang="en-US" sz="2400" dirty="0"/>
          </a:p>
        </p:txBody>
      </p:sp>
      <p:sp>
        <p:nvSpPr>
          <p:cNvPr id="17412" name="Rectangle 3"/>
          <p:cNvSpPr>
            <a:spLocks noGrp="1" noChangeArrowheads="1"/>
          </p:cNvSpPr>
          <p:nvPr>
            <p:ph type="body" idx="1"/>
          </p:nvPr>
        </p:nvSpPr>
        <p:spPr>
          <a:xfrm>
            <a:off x="2300120" y="4102439"/>
            <a:ext cx="7771191" cy="1752295"/>
          </a:xfrm>
        </p:spPr>
        <p:txBody>
          <a:bodyPr/>
          <a:lstStyle/>
          <a:p>
            <a:pPr eaLnBrk="1" hangingPunct="1">
              <a:lnSpc>
                <a:spcPct val="90000"/>
              </a:lnSpc>
            </a:pPr>
            <a:r>
              <a:rPr lang="en-US" dirty="0"/>
              <a:t>Part of memory with 5 processes, 3 holes</a:t>
            </a:r>
            <a:endParaRPr lang="en-US" sz="1900" dirty="0"/>
          </a:p>
          <a:p>
            <a:pPr lvl="1" eaLnBrk="1" hangingPunct="1">
              <a:lnSpc>
                <a:spcPct val="90000"/>
              </a:lnSpc>
            </a:pPr>
            <a:r>
              <a:rPr lang="en-US" sz="1600" dirty="0"/>
              <a:t>tick marks show allocation units</a:t>
            </a:r>
          </a:p>
          <a:p>
            <a:pPr lvl="1" eaLnBrk="1" hangingPunct="1">
              <a:lnSpc>
                <a:spcPct val="90000"/>
              </a:lnSpc>
            </a:pPr>
            <a:r>
              <a:rPr lang="en-US" sz="1600" dirty="0"/>
              <a:t>shaded regions are free</a:t>
            </a:r>
          </a:p>
          <a:p>
            <a:pPr eaLnBrk="1" hangingPunct="1">
              <a:lnSpc>
                <a:spcPct val="90000"/>
              </a:lnSpc>
            </a:pPr>
            <a:r>
              <a:rPr lang="en-US" dirty="0"/>
              <a:t>Corresponding bit map</a:t>
            </a:r>
            <a:endParaRPr lang="en-US" sz="1900" dirty="0"/>
          </a:p>
          <a:p>
            <a:pPr eaLnBrk="1" hangingPunct="1">
              <a:lnSpc>
                <a:spcPct val="90000"/>
              </a:lnSpc>
            </a:pPr>
            <a:r>
              <a:rPr lang="en-US" dirty="0"/>
              <a:t>Same information as a list</a:t>
            </a:r>
            <a:endParaRPr lang="en-US" sz="1300" dirty="0"/>
          </a:p>
        </p:txBody>
      </p:sp>
      <p:pic>
        <p:nvPicPr>
          <p:cNvPr id="17413" name="Picture 5" descr="C:\B\b4\JPG\foo\4-7.jpg"/>
          <p:cNvPicPr>
            <a:picLocks noChangeAspect="1" noChangeArrowheads="1"/>
          </p:cNvPicPr>
          <p:nvPr/>
        </p:nvPicPr>
        <p:blipFill>
          <a:blip r:embed="rId3" cstate="print"/>
          <a:srcRect/>
          <a:stretch>
            <a:fillRect/>
          </a:stretch>
        </p:blipFill>
        <p:spPr bwMode="auto">
          <a:xfrm>
            <a:off x="3017763" y="1401839"/>
            <a:ext cx="6069795" cy="2627755"/>
          </a:xfrm>
          <a:prstGeom prst="rect">
            <a:avLst/>
          </a:prstGeom>
          <a:noFill/>
          <a:ln w="9525">
            <a:noFill/>
            <a:miter lim="800000"/>
            <a:headEnd/>
            <a:tailEnd/>
          </a:ln>
        </p:spPr>
      </p:pic>
      <p:sp>
        <p:nvSpPr>
          <p:cNvPr id="13318" name="TextBox 5"/>
          <p:cNvSpPr txBox="1">
            <a:spLocks noChangeArrowheads="1"/>
          </p:cNvSpPr>
          <p:nvPr/>
        </p:nvSpPr>
        <p:spPr bwMode="auto">
          <a:xfrm>
            <a:off x="3244554" y="729789"/>
            <a:ext cx="6784420" cy="897157"/>
          </a:xfrm>
          <a:prstGeom prst="rect">
            <a:avLst/>
          </a:prstGeom>
          <a:noFill/>
          <a:ln w="9525">
            <a:noFill/>
            <a:miter lim="800000"/>
            <a:headEnd/>
            <a:tailEnd/>
          </a:ln>
        </p:spPr>
        <p:txBody>
          <a:bodyPr lIns="65520" tIns="32760" rIns="65520" bIns="32760">
            <a:spAutoFit/>
          </a:bodyPr>
          <a:lstStyle/>
          <a:p>
            <a:pPr algn="r" rtl="1"/>
            <a:r>
              <a:rPr lang="he-IL"/>
              <a:t>חלוקה של הזיכרון לבלוקים גדולים יותר מאפשרת מיפוי קטן של מפת הזיכרון. חיסרון ניצול של הזיכרון קטן יותר ==ריסוק פנימי של חצי בלוק אחרון</a:t>
            </a:r>
          </a:p>
        </p:txBody>
      </p:sp>
      <p:cxnSp>
        <p:nvCxnSpPr>
          <p:cNvPr id="13319" name="מחבר ישר 7"/>
          <p:cNvCxnSpPr>
            <a:cxnSpLocks noChangeShapeType="1"/>
          </p:cNvCxnSpPr>
          <p:nvPr/>
        </p:nvCxnSpPr>
        <p:spPr bwMode="auto">
          <a:xfrm rot="16200000" flipH="1">
            <a:off x="3637068" y="1705341"/>
            <a:ext cx="265249" cy="40317"/>
          </a:xfrm>
          <a:prstGeom prst="line">
            <a:avLst/>
          </a:prstGeom>
          <a:noFill/>
          <a:ln w="9525" algn="ctr">
            <a:solidFill>
              <a:schemeClr val="tx1"/>
            </a:solidFill>
            <a:prstDash val="sysDash"/>
            <a:round/>
            <a:headEnd/>
            <a:tailEnd type="arrow" w="med" len="med"/>
          </a:ln>
        </p:spPr>
      </p:cxnSp>
      <p:cxnSp>
        <p:nvCxnSpPr>
          <p:cNvPr id="13320" name="מחבר ישר 8"/>
          <p:cNvCxnSpPr>
            <a:cxnSpLocks noChangeShapeType="1"/>
          </p:cNvCxnSpPr>
          <p:nvPr/>
        </p:nvCxnSpPr>
        <p:spPr bwMode="auto">
          <a:xfrm rot="16200000" flipH="1">
            <a:off x="5070354" y="1664110"/>
            <a:ext cx="265249" cy="40317"/>
          </a:xfrm>
          <a:prstGeom prst="line">
            <a:avLst/>
          </a:prstGeom>
          <a:noFill/>
          <a:ln w="9525" algn="ctr">
            <a:solidFill>
              <a:schemeClr val="tx1"/>
            </a:solidFill>
            <a:prstDash val="sysDash"/>
            <a:round/>
            <a:headEnd/>
            <a:tailEnd type="arrow" w="med" len="med"/>
          </a:ln>
        </p:spPr>
      </p:cxnSp>
      <p:cxnSp>
        <p:nvCxnSpPr>
          <p:cNvPr id="13321" name="מחבר ישר 9"/>
          <p:cNvCxnSpPr>
            <a:cxnSpLocks noChangeShapeType="1"/>
          </p:cNvCxnSpPr>
          <p:nvPr/>
        </p:nvCxnSpPr>
        <p:spPr bwMode="auto">
          <a:xfrm rot="16200000" flipH="1">
            <a:off x="5693763" y="1710337"/>
            <a:ext cx="265249" cy="41327"/>
          </a:xfrm>
          <a:prstGeom prst="line">
            <a:avLst/>
          </a:prstGeom>
          <a:noFill/>
          <a:ln w="9525" algn="ctr">
            <a:solidFill>
              <a:schemeClr val="tx1"/>
            </a:solidFill>
            <a:prstDash val="sysDash"/>
            <a:round/>
            <a:headEnd/>
            <a:tailEnd type="arrow" w="med" len="med"/>
          </a:ln>
        </p:spPr>
      </p:cxnSp>
      <p:cxnSp>
        <p:nvCxnSpPr>
          <p:cNvPr id="13322" name="מחבר ישר 10"/>
          <p:cNvCxnSpPr>
            <a:cxnSpLocks noChangeShapeType="1"/>
          </p:cNvCxnSpPr>
          <p:nvPr/>
        </p:nvCxnSpPr>
        <p:spPr bwMode="auto">
          <a:xfrm rot="16200000" flipH="1">
            <a:off x="6948140" y="1705341"/>
            <a:ext cx="265249" cy="40317"/>
          </a:xfrm>
          <a:prstGeom prst="line">
            <a:avLst/>
          </a:prstGeom>
          <a:noFill/>
          <a:ln w="9525" algn="ctr">
            <a:solidFill>
              <a:schemeClr val="tx1"/>
            </a:solidFill>
            <a:prstDash val="sysDash"/>
            <a:round/>
            <a:headEnd/>
            <a:tailEnd type="arrow" w="med" len="med"/>
          </a:ln>
        </p:spPr>
      </p:cxnSp>
      <p:cxnSp>
        <p:nvCxnSpPr>
          <p:cNvPr id="13323" name="מחבר ישר 11"/>
          <p:cNvCxnSpPr>
            <a:cxnSpLocks noChangeShapeType="1"/>
          </p:cNvCxnSpPr>
          <p:nvPr/>
        </p:nvCxnSpPr>
        <p:spPr bwMode="auto">
          <a:xfrm rot="16200000" flipH="1">
            <a:off x="7449395" y="1699156"/>
            <a:ext cx="266624" cy="40317"/>
          </a:xfrm>
          <a:prstGeom prst="line">
            <a:avLst/>
          </a:prstGeom>
          <a:noFill/>
          <a:ln w="9525" algn="ctr">
            <a:solidFill>
              <a:schemeClr val="tx1"/>
            </a:solidFill>
            <a:prstDash val="sysDash"/>
            <a:round/>
            <a:headEnd/>
            <a:tailEnd type="arrow" w="med" len="med"/>
          </a:ln>
        </p:spPr>
      </p:cxnSp>
      <p:cxnSp>
        <p:nvCxnSpPr>
          <p:cNvPr id="13356" name="מחבר חץ ישר 16"/>
          <p:cNvCxnSpPr>
            <a:cxnSpLocks noChangeShapeType="1"/>
          </p:cNvCxnSpPr>
          <p:nvPr/>
        </p:nvCxnSpPr>
        <p:spPr bwMode="auto">
          <a:xfrm flipV="1">
            <a:off x="3910795" y="1257304"/>
            <a:ext cx="882187" cy="313581"/>
          </a:xfrm>
          <a:prstGeom prst="straightConnector1">
            <a:avLst/>
          </a:prstGeom>
          <a:noFill/>
          <a:ln w="9525" algn="ctr">
            <a:solidFill>
              <a:schemeClr val="tx1"/>
            </a:solidFill>
            <a:round/>
            <a:headEnd/>
            <a:tailEnd type="arrow" w="med" len="med"/>
          </a:ln>
        </p:spPr>
      </p:cxnSp>
      <p:cxnSp>
        <p:nvCxnSpPr>
          <p:cNvPr id="13357" name="מחבר חץ ישר 18"/>
          <p:cNvCxnSpPr>
            <a:cxnSpLocks noChangeShapeType="1"/>
          </p:cNvCxnSpPr>
          <p:nvPr/>
        </p:nvCxnSpPr>
        <p:spPr bwMode="auto">
          <a:xfrm>
            <a:off x="4850140" y="1303020"/>
            <a:ext cx="1087625" cy="178528"/>
          </a:xfrm>
          <a:prstGeom prst="straightConnector1">
            <a:avLst/>
          </a:prstGeom>
          <a:noFill/>
          <a:ln w="9525" algn="ctr">
            <a:solidFill>
              <a:schemeClr val="tx1"/>
            </a:solidFill>
            <a:round/>
            <a:headEnd/>
            <a:tailEnd type="arrow" w="med" len="med"/>
          </a:ln>
        </p:spPr>
      </p:cxnSp>
      <p:cxnSp>
        <p:nvCxnSpPr>
          <p:cNvPr id="13358" name="מחבר חץ ישר 20"/>
          <p:cNvCxnSpPr>
            <a:cxnSpLocks noChangeShapeType="1"/>
          </p:cNvCxnSpPr>
          <p:nvPr/>
        </p:nvCxnSpPr>
        <p:spPr bwMode="auto">
          <a:xfrm flipV="1">
            <a:off x="6021417" y="1360177"/>
            <a:ext cx="1068997" cy="154364"/>
          </a:xfrm>
          <a:prstGeom prst="straightConnector1">
            <a:avLst/>
          </a:prstGeom>
          <a:noFill/>
          <a:ln w="9525" algn="ctr">
            <a:solidFill>
              <a:schemeClr val="tx1"/>
            </a:solidFill>
            <a:round/>
            <a:headEnd/>
            <a:tailEnd type="arrow" w="med" len="med"/>
          </a:ln>
        </p:spPr>
      </p:cxnSp>
      <p:cxnSp>
        <p:nvCxnSpPr>
          <p:cNvPr id="13359" name="מחבר חץ ישר 22"/>
          <p:cNvCxnSpPr>
            <a:cxnSpLocks noChangeShapeType="1"/>
          </p:cNvCxnSpPr>
          <p:nvPr/>
        </p:nvCxnSpPr>
        <p:spPr bwMode="auto">
          <a:xfrm>
            <a:off x="7124706" y="1360171"/>
            <a:ext cx="617220" cy="182880"/>
          </a:xfrm>
          <a:prstGeom prst="straightConnector1">
            <a:avLst/>
          </a:prstGeom>
          <a:noFill/>
          <a:ln w="9525" algn="ctr">
            <a:solidFill>
              <a:schemeClr val="tx1"/>
            </a:solidFill>
            <a:round/>
            <a:headEnd/>
            <a:tailEnd type="arrow" w="med" len="med"/>
          </a:ln>
        </p:spPr>
      </p:cxnSp>
      <p:sp>
        <p:nvSpPr>
          <p:cNvPr id="16" name="מציין מיקום של תאריך 15"/>
          <p:cNvSpPr>
            <a:spLocks noGrp="1"/>
          </p:cNvSpPr>
          <p:nvPr>
            <p:ph type="dt" sz="half" idx="10"/>
          </p:nvPr>
        </p:nvSpPr>
        <p:spPr/>
        <p:txBody>
          <a:bodyPr/>
          <a:lstStyle/>
          <a:p>
            <a:pPr>
              <a:defRPr/>
            </a:pPr>
            <a:fld id="{20526845-14EF-40FF-B77B-854C6AF78460}"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5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מציין מיקום של מספר שקופית 5"/>
          <p:cNvSpPr>
            <a:spLocks noGrp="1"/>
          </p:cNvSpPr>
          <p:nvPr>
            <p:ph type="sldNum" sz="quarter" idx="12"/>
          </p:nvPr>
        </p:nvSpPr>
        <p:spPr>
          <a:noFill/>
        </p:spPr>
        <p:txBody>
          <a:bodyPr/>
          <a:lstStyle/>
          <a:p>
            <a:fld id="{07ACB8F7-6F0D-4120-90F5-33B8417431E6}" type="slidenum">
              <a:rPr lang="he-IL" smtClean="0"/>
              <a:pPr/>
              <a:t>22</a:t>
            </a:fld>
            <a:endParaRPr lang="en-US"/>
          </a:p>
        </p:txBody>
      </p:sp>
      <p:sp>
        <p:nvSpPr>
          <p:cNvPr id="19459" name="Rectangle 2"/>
          <p:cNvSpPr>
            <a:spLocks noGrp="1" noChangeArrowheads="1"/>
          </p:cNvSpPr>
          <p:nvPr>
            <p:ph type="title"/>
          </p:nvPr>
        </p:nvSpPr>
        <p:spPr>
          <a:xfrm>
            <a:off x="1524000" y="2"/>
            <a:ext cx="9144000" cy="1143459"/>
          </a:xfrm>
        </p:spPr>
        <p:txBody>
          <a:bodyPr/>
          <a:lstStyle/>
          <a:p>
            <a:pPr eaLnBrk="1" hangingPunct="1"/>
            <a:r>
              <a:rPr lang="en-US" sz="2600" dirty="0"/>
              <a:t>Memory Management with Linked Lists</a:t>
            </a:r>
            <a:endParaRPr lang="en-US" sz="2400" dirty="0"/>
          </a:p>
        </p:txBody>
      </p:sp>
      <p:sp>
        <p:nvSpPr>
          <p:cNvPr id="19460" name="Rectangle 3"/>
          <p:cNvSpPr>
            <a:spLocks noGrp="1" noChangeArrowheads="1"/>
          </p:cNvSpPr>
          <p:nvPr>
            <p:ph type="body" idx="1"/>
          </p:nvPr>
        </p:nvSpPr>
        <p:spPr>
          <a:xfrm>
            <a:off x="1905000" y="5486405"/>
            <a:ext cx="8763000" cy="761389"/>
          </a:xfrm>
        </p:spPr>
        <p:txBody>
          <a:bodyPr/>
          <a:lstStyle/>
          <a:p>
            <a:pPr eaLnBrk="1" hangingPunct="1">
              <a:buFontTx/>
              <a:buNone/>
            </a:pPr>
            <a:r>
              <a:rPr lang="en-US" sz="1900" dirty="0"/>
              <a:t>Four neighbor combinations for the terminating process X</a:t>
            </a:r>
          </a:p>
        </p:txBody>
      </p:sp>
      <p:pic>
        <p:nvPicPr>
          <p:cNvPr id="19461" name="Picture 5" descr="C:\B\b4\JPG\4-8.jpg"/>
          <p:cNvPicPr>
            <a:picLocks noChangeAspect="1" noChangeArrowheads="1"/>
          </p:cNvPicPr>
          <p:nvPr/>
        </p:nvPicPr>
        <p:blipFill>
          <a:blip r:embed="rId3" cstate="print"/>
          <a:srcRect/>
          <a:stretch>
            <a:fillRect/>
          </a:stretch>
        </p:blipFill>
        <p:spPr bwMode="auto">
          <a:xfrm>
            <a:off x="2130785" y="1598374"/>
            <a:ext cx="8032247" cy="3305308"/>
          </a:xfrm>
          <a:prstGeom prst="rect">
            <a:avLst/>
          </a:prstGeom>
          <a:noFill/>
          <a:ln w="9525">
            <a:noFill/>
            <a:miter lim="800000"/>
            <a:headEnd/>
            <a:tailEnd/>
          </a:ln>
        </p:spPr>
      </p:pic>
      <p:sp>
        <p:nvSpPr>
          <p:cNvPr id="18438" name="TextBox 5"/>
          <p:cNvSpPr txBox="1">
            <a:spLocks noChangeArrowheads="1"/>
          </p:cNvSpPr>
          <p:nvPr/>
        </p:nvSpPr>
        <p:spPr bwMode="auto">
          <a:xfrm>
            <a:off x="2685152" y="4102435"/>
            <a:ext cx="2826657" cy="343159"/>
          </a:xfrm>
          <a:prstGeom prst="rect">
            <a:avLst/>
          </a:prstGeom>
          <a:noFill/>
          <a:ln w="9525">
            <a:noFill/>
            <a:miter lim="800000"/>
            <a:headEnd/>
            <a:tailEnd/>
          </a:ln>
        </p:spPr>
        <p:txBody>
          <a:bodyPr wrap="square" lIns="65520" tIns="32760" rIns="65520" bIns="32760">
            <a:spAutoFit/>
          </a:bodyPr>
          <a:lstStyle/>
          <a:p>
            <a:r>
              <a:rPr lang="en-US" dirty="0"/>
              <a:t>4                8                16</a:t>
            </a:r>
            <a:endParaRPr lang="he-IL" dirty="0"/>
          </a:p>
        </p:txBody>
      </p:sp>
      <p:sp>
        <p:nvSpPr>
          <p:cNvPr id="7" name="מציין מיקום של תאריך 6"/>
          <p:cNvSpPr>
            <a:spLocks noGrp="1"/>
          </p:cNvSpPr>
          <p:nvPr>
            <p:ph type="dt" sz="half" idx="10"/>
          </p:nvPr>
        </p:nvSpPr>
        <p:spPr/>
        <p:txBody>
          <a:bodyPr/>
          <a:lstStyle/>
          <a:p>
            <a:pPr>
              <a:defRPr/>
            </a:pPr>
            <a:fld id="{D47D17FE-12AC-4182-BDD4-972C6D6EF925}"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fade">
                                      <p:cBhvr>
                                        <p:cTn id="7" dur="1000"/>
                                        <p:tgtEl>
                                          <p:spTgt spid="18438"/>
                                        </p:tgtEl>
                                      </p:cBhvr>
                                    </p:animEffect>
                                    <p:anim calcmode="lin" valueType="num">
                                      <p:cBhvr>
                                        <p:cTn id="8" dur="1000" fill="hold"/>
                                        <p:tgtEl>
                                          <p:spTgt spid="18438"/>
                                        </p:tgtEl>
                                        <p:attrNameLst>
                                          <p:attrName>ppt_x</p:attrName>
                                        </p:attrNameLst>
                                      </p:cBhvr>
                                      <p:tavLst>
                                        <p:tav tm="0">
                                          <p:val>
                                            <p:strVal val="#ppt_x"/>
                                          </p:val>
                                        </p:tav>
                                        <p:tav tm="100000">
                                          <p:val>
                                            <p:strVal val="#ppt_x"/>
                                          </p:val>
                                        </p:tav>
                                      </p:tavLst>
                                    </p:anim>
                                    <p:anim calcmode="lin" valueType="num">
                                      <p:cBhvr>
                                        <p:cTn id="9" dur="1000" fill="hold"/>
                                        <p:tgtEl>
                                          <p:spTgt spid="184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כותרת 1"/>
          <p:cNvSpPr>
            <a:spLocks noGrp="1"/>
          </p:cNvSpPr>
          <p:nvPr>
            <p:ph type="title"/>
          </p:nvPr>
        </p:nvSpPr>
        <p:spPr/>
        <p:txBody>
          <a:bodyPr/>
          <a:lstStyle/>
          <a:p>
            <a:r>
              <a:rPr lang="he-IL" dirty="0"/>
              <a:t>שיטות מיפוי</a:t>
            </a:r>
          </a:p>
        </p:txBody>
      </p:sp>
      <p:sp>
        <p:nvSpPr>
          <p:cNvPr id="18435" name="מציין מיקום תוכן 2"/>
          <p:cNvSpPr>
            <a:spLocks noGrp="1"/>
          </p:cNvSpPr>
          <p:nvPr>
            <p:ph idx="1"/>
          </p:nvPr>
        </p:nvSpPr>
        <p:spPr/>
        <p:txBody>
          <a:bodyPr/>
          <a:lstStyle/>
          <a:p>
            <a:endParaRPr lang="he-IL"/>
          </a:p>
        </p:txBody>
      </p:sp>
      <p:sp>
        <p:nvSpPr>
          <p:cNvPr id="18436" name="מציין מיקום של מספר שקופית 3"/>
          <p:cNvSpPr>
            <a:spLocks noGrp="1"/>
          </p:cNvSpPr>
          <p:nvPr>
            <p:ph type="sldNum" sz="quarter" idx="12"/>
          </p:nvPr>
        </p:nvSpPr>
        <p:spPr>
          <a:noFill/>
        </p:spPr>
        <p:txBody>
          <a:bodyPr/>
          <a:lstStyle/>
          <a:p>
            <a:fld id="{21103361-A374-456B-847C-01C8BD99B183}" type="slidenum">
              <a:rPr lang="he-IL" smtClean="0"/>
              <a:pPr/>
              <a:t>23</a:t>
            </a:fld>
            <a:endParaRPr lang="en-US"/>
          </a:p>
        </p:txBody>
      </p:sp>
      <p:graphicFrame>
        <p:nvGraphicFramePr>
          <p:cNvPr id="5" name="טבלה 4"/>
          <p:cNvGraphicFramePr>
            <a:graphicFrameLocks noGrp="1"/>
          </p:cNvGraphicFramePr>
          <p:nvPr/>
        </p:nvGraphicFramePr>
        <p:xfrm>
          <a:off x="2565409" y="1524009"/>
          <a:ext cx="7457831" cy="4374519"/>
        </p:xfrm>
        <a:graphic>
          <a:graphicData uri="http://schemas.openxmlformats.org/drawingml/2006/table">
            <a:tbl>
              <a:tblPr rtl="1" firstRow="1" bandRow="1">
                <a:tableStyleId>{5C22544A-7EE6-4342-B048-85BDC9FD1C3A}</a:tableStyleId>
              </a:tblPr>
              <a:tblGrid>
                <a:gridCol w="2165940">
                  <a:extLst>
                    <a:ext uri="{9D8B030D-6E8A-4147-A177-3AD203B41FA5}">
                      <a16:colId xmlns:a16="http://schemas.microsoft.com/office/drawing/2014/main" val="20000"/>
                    </a:ext>
                  </a:extLst>
                </a:gridCol>
                <a:gridCol w="1066583">
                  <a:extLst>
                    <a:ext uri="{9D8B030D-6E8A-4147-A177-3AD203B41FA5}">
                      <a16:colId xmlns:a16="http://schemas.microsoft.com/office/drawing/2014/main" val="20001"/>
                    </a:ext>
                  </a:extLst>
                </a:gridCol>
                <a:gridCol w="815024">
                  <a:extLst>
                    <a:ext uri="{9D8B030D-6E8A-4147-A177-3AD203B41FA5}">
                      <a16:colId xmlns:a16="http://schemas.microsoft.com/office/drawing/2014/main" val="20002"/>
                    </a:ext>
                  </a:extLst>
                </a:gridCol>
                <a:gridCol w="1876077">
                  <a:extLst>
                    <a:ext uri="{9D8B030D-6E8A-4147-A177-3AD203B41FA5}">
                      <a16:colId xmlns:a16="http://schemas.microsoft.com/office/drawing/2014/main" val="20003"/>
                    </a:ext>
                  </a:extLst>
                </a:gridCol>
                <a:gridCol w="1534207">
                  <a:extLst>
                    <a:ext uri="{9D8B030D-6E8A-4147-A177-3AD203B41FA5}">
                      <a16:colId xmlns:a16="http://schemas.microsoft.com/office/drawing/2014/main" val="20004"/>
                    </a:ext>
                  </a:extLst>
                </a:gridCol>
              </a:tblGrid>
              <a:tr h="1321188">
                <a:tc>
                  <a:txBody>
                    <a:bodyPr/>
                    <a:lstStyle/>
                    <a:p>
                      <a:pPr rtl="1"/>
                      <a:endParaRPr lang="he-IL" sz="1900" dirty="0"/>
                    </a:p>
                  </a:txBody>
                  <a:tcPr marL="58051" marR="58051" marT="34828" marB="34828"/>
                </a:tc>
                <a:tc>
                  <a:txBody>
                    <a:bodyPr/>
                    <a:lstStyle/>
                    <a:p>
                      <a:pPr rtl="1"/>
                      <a:r>
                        <a:rPr lang="he-IL" sz="1900" dirty="0"/>
                        <a:t>מפת סיביות</a:t>
                      </a:r>
                    </a:p>
                  </a:txBody>
                  <a:tcPr marL="58051" marR="58051" marT="34828" marB="34828"/>
                </a:tc>
                <a:tc>
                  <a:txBody>
                    <a:bodyPr/>
                    <a:lstStyle/>
                    <a:p>
                      <a:pPr rtl="1"/>
                      <a:r>
                        <a:rPr lang="he-IL" sz="1900" dirty="0"/>
                        <a:t>רשימה</a:t>
                      </a:r>
                    </a:p>
                  </a:txBody>
                  <a:tcPr marL="58051" marR="58051" marT="34828" marB="34828"/>
                </a:tc>
                <a:tc>
                  <a:txBody>
                    <a:bodyPr/>
                    <a:lstStyle/>
                    <a:p>
                      <a:pPr rtl="1"/>
                      <a:r>
                        <a:rPr lang="en-US" sz="1900" dirty="0"/>
                        <a:t>Free list</a:t>
                      </a:r>
                      <a:endParaRPr lang="he-IL" sz="1900" dirty="0"/>
                    </a:p>
                  </a:txBody>
                  <a:tcPr marL="58051" marR="58051" marT="34828" marB="34828"/>
                </a:tc>
                <a:tc>
                  <a:txBody>
                    <a:bodyPr/>
                    <a:lstStyle/>
                    <a:p>
                      <a:pPr rtl="1"/>
                      <a:r>
                        <a:rPr lang="en-US" sz="1900" dirty="0"/>
                        <a:t>Quick fit</a:t>
                      </a:r>
                    </a:p>
                    <a:p>
                      <a:pPr rtl="1"/>
                      <a:r>
                        <a:rPr lang="he-IL" sz="1900" dirty="0"/>
                        <a:t>רשימות בגדלים שונים</a:t>
                      </a:r>
                    </a:p>
                  </a:txBody>
                  <a:tcPr marL="58051" marR="58051" marT="34828" marB="34828"/>
                </a:tc>
                <a:extLst>
                  <a:ext uri="{0D108BD9-81ED-4DB2-BD59-A6C34878D82A}">
                    <a16:rowId xmlns:a16="http://schemas.microsoft.com/office/drawing/2014/main" val="10000"/>
                  </a:ext>
                </a:extLst>
              </a:tr>
              <a:tr h="592300">
                <a:tc>
                  <a:txBody>
                    <a:bodyPr/>
                    <a:lstStyle/>
                    <a:p>
                      <a:pPr rtl="1"/>
                      <a:r>
                        <a:rPr lang="he-IL" sz="1900" dirty="0"/>
                        <a:t>גודל</a:t>
                      </a:r>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extLst>
                  <a:ext uri="{0D108BD9-81ED-4DB2-BD59-A6C34878D82A}">
                    <a16:rowId xmlns:a16="http://schemas.microsoft.com/office/drawing/2014/main" val="10001"/>
                  </a:ext>
                </a:extLst>
              </a:tr>
              <a:tr h="638616">
                <a:tc>
                  <a:txBody>
                    <a:bodyPr/>
                    <a:lstStyle/>
                    <a:p>
                      <a:pPr rtl="1"/>
                      <a:r>
                        <a:rPr lang="he-IL" sz="1900" dirty="0"/>
                        <a:t>זמן חיפוש חור (הכי חשוב)</a:t>
                      </a:r>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extLst>
                  <a:ext uri="{0D108BD9-81ED-4DB2-BD59-A6C34878D82A}">
                    <a16:rowId xmlns:a16="http://schemas.microsoft.com/office/drawing/2014/main" val="10002"/>
                  </a:ext>
                </a:extLst>
              </a:tr>
              <a:tr h="1812255">
                <a:tc>
                  <a:txBody>
                    <a:bodyPr/>
                    <a:lstStyle/>
                    <a:p>
                      <a:pPr rtl="1"/>
                      <a:r>
                        <a:rPr lang="he-IL" sz="1900" dirty="0"/>
                        <a:t>איחוד חורים</a:t>
                      </a:r>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tc>
                  <a:txBody>
                    <a:bodyPr/>
                    <a:lstStyle/>
                    <a:p>
                      <a:pPr rtl="1"/>
                      <a:endParaRPr lang="he-IL" sz="1900" dirty="0"/>
                    </a:p>
                  </a:txBody>
                  <a:tcPr marL="58051" marR="58051" marT="34828" marB="34828"/>
                </a:tc>
                <a:extLst>
                  <a:ext uri="{0D108BD9-81ED-4DB2-BD59-A6C34878D82A}">
                    <a16:rowId xmlns:a16="http://schemas.microsoft.com/office/drawing/2014/main" val="10003"/>
                  </a:ext>
                </a:extLst>
              </a:tr>
            </a:tbl>
          </a:graphicData>
        </a:graphic>
      </p:graphicFrame>
      <p:sp>
        <p:nvSpPr>
          <p:cNvPr id="6" name="מציין מיקום של תאריך 5"/>
          <p:cNvSpPr>
            <a:spLocks noGrp="1"/>
          </p:cNvSpPr>
          <p:nvPr>
            <p:ph type="dt" sz="half" idx="10"/>
          </p:nvPr>
        </p:nvSpPr>
        <p:spPr/>
        <p:txBody>
          <a:bodyPr/>
          <a:lstStyle/>
          <a:p>
            <a:pPr>
              <a:defRPr/>
            </a:pPr>
            <a:fld id="{7ED7DE14-C1AE-4613-8039-F393458C71EE}" type="datetime12">
              <a:rPr lang="he-IL" smtClean="0"/>
              <a:pPr>
                <a:defRPr/>
              </a:pPr>
              <a:t>28/01/2024 18:13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כותרת 1"/>
          <p:cNvSpPr>
            <a:spLocks noGrp="1"/>
          </p:cNvSpPr>
          <p:nvPr>
            <p:ph type="title"/>
          </p:nvPr>
        </p:nvSpPr>
        <p:spPr/>
        <p:txBody>
          <a:bodyPr/>
          <a:lstStyle/>
          <a:p>
            <a:r>
              <a:rPr lang="he-IL" dirty="0"/>
              <a:t>שיטות מיפוי</a:t>
            </a:r>
          </a:p>
        </p:txBody>
      </p:sp>
      <p:sp>
        <p:nvSpPr>
          <p:cNvPr id="18435" name="מציין מיקום תוכן 2"/>
          <p:cNvSpPr>
            <a:spLocks noGrp="1"/>
          </p:cNvSpPr>
          <p:nvPr>
            <p:ph idx="1"/>
          </p:nvPr>
        </p:nvSpPr>
        <p:spPr/>
        <p:txBody>
          <a:bodyPr/>
          <a:lstStyle/>
          <a:p>
            <a:endParaRPr lang="he-IL"/>
          </a:p>
        </p:txBody>
      </p:sp>
      <p:sp>
        <p:nvSpPr>
          <p:cNvPr id="18436" name="מציין מיקום של מספר שקופית 3"/>
          <p:cNvSpPr>
            <a:spLocks noGrp="1"/>
          </p:cNvSpPr>
          <p:nvPr>
            <p:ph type="sldNum" sz="quarter" idx="12"/>
          </p:nvPr>
        </p:nvSpPr>
        <p:spPr>
          <a:noFill/>
        </p:spPr>
        <p:txBody>
          <a:bodyPr/>
          <a:lstStyle/>
          <a:p>
            <a:fld id="{21103361-A374-456B-847C-01C8BD99B183}" type="slidenum">
              <a:rPr lang="he-IL" smtClean="0"/>
              <a:pPr/>
              <a:t>24</a:t>
            </a:fld>
            <a:endParaRPr lang="en-US"/>
          </a:p>
        </p:txBody>
      </p:sp>
      <p:graphicFrame>
        <p:nvGraphicFramePr>
          <p:cNvPr id="5" name="טבלה 4"/>
          <p:cNvGraphicFramePr>
            <a:graphicFrameLocks noGrp="1"/>
          </p:cNvGraphicFramePr>
          <p:nvPr>
            <p:extLst>
              <p:ext uri="{D42A27DB-BD31-4B8C-83A1-F6EECF244321}">
                <p14:modId xmlns:p14="http://schemas.microsoft.com/office/powerpoint/2010/main" val="3652170215"/>
              </p:ext>
            </p:extLst>
          </p:nvPr>
        </p:nvGraphicFramePr>
        <p:xfrm>
          <a:off x="2565409" y="1524003"/>
          <a:ext cx="7457831" cy="4430995"/>
        </p:xfrm>
        <a:graphic>
          <a:graphicData uri="http://schemas.openxmlformats.org/drawingml/2006/table">
            <a:tbl>
              <a:tblPr rtl="1" firstRow="1" bandRow="1">
                <a:tableStyleId>{5C22544A-7EE6-4342-B048-85BDC9FD1C3A}</a:tableStyleId>
              </a:tblPr>
              <a:tblGrid>
                <a:gridCol w="2165940">
                  <a:extLst>
                    <a:ext uri="{9D8B030D-6E8A-4147-A177-3AD203B41FA5}">
                      <a16:colId xmlns:a16="http://schemas.microsoft.com/office/drawing/2014/main" val="20000"/>
                    </a:ext>
                  </a:extLst>
                </a:gridCol>
                <a:gridCol w="1066583">
                  <a:extLst>
                    <a:ext uri="{9D8B030D-6E8A-4147-A177-3AD203B41FA5}">
                      <a16:colId xmlns:a16="http://schemas.microsoft.com/office/drawing/2014/main" val="20001"/>
                    </a:ext>
                  </a:extLst>
                </a:gridCol>
                <a:gridCol w="815024">
                  <a:extLst>
                    <a:ext uri="{9D8B030D-6E8A-4147-A177-3AD203B41FA5}">
                      <a16:colId xmlns:a16="http://schemas.microsoft.com/office/drawing/2014/main" val="20002"/>
                    </a:ext>
                  </a:extLst>
                </a:gridCol>
                <a:gridCol w="1876077">
                  <a:extLst>
                    <a:ext uri="{9D8B030D-6E8A-4147-A177-3AD203B41FA5}">
                      <a16:colId xmlns:a16="http://schemas.microsoft.com/office/drawing/2014/main" val="20003"/>
                    </a:ext>
                  </a:extLst>
                </a:gridCol>
                <a:gridCol w="1534207">
                  <a:extLst>
                    <a:ext uri="{9D8B030D-6E8A-4147-A177-3AD203B41FA5}">
                      <a16:colId xmlns:a16="http://schemas.microsoft.com/office/drawing/2014/main" val="20004"/>
                    </a:ext>
                  </a:extLst>
                </a:gridCol>
              </a:tblGrid>
              <a:tr h="1321188">
                <a:tc>
                  <a:txBody>
                    <a:bodyPr/>
                    <a:lstStyle/>
                    <a:p>
                      <a:pPr rtl="1"/>
                      <a:endParaRPr lang="he-IL" sz="1900" dirty="0"/>
                    </a:p>
                  </a:txBody>
                  <a:tcPr marL="58051" marR="58051" marT="34828" marB="34828"/>
                </a:tc>
                <a:tc>
                  <a:txBody>
                    <a:bodyPr/>
                    <a:lstStyle/>
                    <a:p>
                      <a:pPr rtl="1"/>
                      <a:r>
                        <a:rPr lang="he-IL" sz="1900" dirty="0"/>
                        <a:t>מפת סיביות</a:t>
                      </a:r>
                    </a:p>
                  </a:txBody>
                  <a:tcPr marL="58051" marR="58051" marT="34828" marB="34828"/>
                </a:tc>
                <a:tc>
                  <a:txBody>
                    <a:bodyPr/>
                    <a:lstStyle/>
                    <a:p>
                      <a:pPr rtl="1"/>
                      <a:r>
                        <a:rPr lang="he-IL" sz="1900" dirty="0"/>
                        <a:t>רשימה</a:t>
                      </a:r>
                    </a:p>
                  </a:txBody>
                  <a:tcPr marL="58051" marR="58051" marT="34828" marB="34828"/>
                </a:tc>
                <a:tc>
                  <a:txBody>
                    <a:bodyPr/>
                    <a:lstStyle/>
                    <a:p>
                      <a:pPr rtl="1"/>
                      <a:r>
                        <a:rPr lang="en-US" sz="1900" dirty="0"/>
                        <a:t>Free list</a:t>
                      </a:r>
                      <a:endParaRPr lang="he-IL" sz="1900" dirty="0"/>
                    </a:p>
                  </a:txBody>
                  <a:tcPr marL="58051" marR="58051" marT="34828" marB="34828"/>
                </a:tc>
                <a:tc>
                  <a:txBody>
                    <a:bodyPr/>
                    <a:lstStyle/>
                    <a:p>
                      <a:pPr rtl="1"/>
                      <a:r>
                        <a:rPr lang="en-US" sz="1900" dirty="0"/>
                        <a:t>Quick fit</a:t>
                      </a:r>
                    </a:p>
                    <a:p>
                      <a:pPr rtl="1"/>
                      <a:r>
                        <a:rPr lang="he-IL" sz="1900" dirty="0"/>
                        <a:t>רשימות בגדלים שונים</a:t>
                      </a:r>
                    </a:p>
                  </a:txBody>
                  <a:tcPr marL="58051" marR="58051" marT="34828" marB="34828"/>
                </a:tc>
                <a:extLst>
                  <a:ext uri="{0D108BD9-81ED-4DB2-BD59-A6C34878D82A}">
                    <a16:rowId xmlns:a16="http://schemas.microsoft.com/office/drawing/2014/main" val="10000"/>
                  </a:ext>
                </a:extLst>
              </a:tr>
              <a:tr h="638616">
                <a:tc>
                  <a:txBody>
                    <a:bodyPr/>
                    <a:lstStyle/>
                    <a:p>
                      <a:pPr rtl="1"/>
                      <a:r>
                        <a:rPr lang="he-IL" sz="1900" dirty="0"/>
                        <a:t>גודל</a:t>
                      </a:r>
                    </a:p>
                  </a:txBody>
                  <a:tcPr marL="58051" marR="58051" marT="34828" marB="34828"/>
                </a:tc>
                <a:tc>
                  <a:txBody>
                    <a:bodyPr/>
                    <a:lstStyle/>
                    <a:p>
                      <a:pPr rtl="1"/>
                      <a:r>
                        <a:rPr lang="he-IL" sz="1900" dirty="0"/>
                        <a:t>קטן מאוד</a:t>
                      </a:r>
                    </a:p>
                  </a:txBody>
                  <a:tcPr marL="58051" marR="58051" marT="34828" marB="34828"/>
                </a:tc>
                <a:tc>
                  <a:txBody>
                    <a:bodyPr/>
                    <a:lstStyle/>
                    <a:p>
                      <a:pPr rtl="1"/>
                      <a:r>
                        <a:rPr lang="he-IL" sz="1900" dirty="0"/>
                        <a:t>יותר</a:t>
                      </a:r>
                      <a:r>
                        <a:rPr lang="he-IL" sz="1900" baseline="0" dirty="0"/>
                        <a:t> גדול </a:t>
                      </a:r>
                      <a:endParaRPr lang="he-IL" sz="1900" dirty="0"/>
                    </a:p>
                  </a:txBody>
                  <a:tcPr marL="58051" marR="58051" marT="34828" marB="34828"/>
                </a:tc>
                <a:tc>
                  <a:txBody>
                    <a:bodyPr/>
                    <a:lstStyle/>
                    <a:p>
                      <a:pPr rtl="1"/>
                      <a:r>
                        <a:rPr lang="he-IL" sz="1900" dirty="0"/>
                        <a:t>לא תופס מקום</a:t>
                      </a:r>
                    </a:p>
                  </a:txBody>
                  <a:tcPr marL="58051" marR="58051" marT="34828" marB="34828"/>
                </a:tc>
                <a:tc>
                  <a:txBody>
                    <a:bodyPr/>
                    <a:lstStyle/>
                    <a:p>
                      <a:pPr rtl="1"/>
                      <a:r>
                        <a:rPr lang="he-IL" sz="1900" dirty="0"/>
                        <a:t>לא תופס</a:t>
                      </a:r>
                    </a:p>
                  </a:txBody>
                  <a:tcPr marL="58051" marR="58051" marT="34828" marB="34828"/>
                </a:tc>
                <a:extLst>
                  <a:ext uri="{0D108BD9-81ED-4DB2-BD59-A6C34878D82A}">
                    <a16:rowId xmlns:a16="http://schemas.microsoft.com/office/drawing/2014/main" val="10001"/>
                  </a:ext>
                </a:extLst>
              </a:tr>
              <a:tr h="638616">
                <a:tc>
                  <a:txBody>
                    <a:bodyPr/>
                    <a:lstStyle/>
                    <a:p>
                      <a:pPr rtl="1"/>
                      <a:r>
                        <a:rPr lang="he-IL" sz="1900" dirty="0"/>
                        <a:t>זמן חיפוש חור (הכי חשוב)</a:t>
                      </a:r>
                    </a:p>
                  </a:txBody>
                  <a:tcPr marL="58051" marR="58051" marT="34828" marB="34828"/>
                </a:tc>
                <a:tc>
                  <a:txBody>
                    <a:bodyPr/>
                    <a:lstStyle/>
                    <a:p>
                      <a:pPr rtl="1"/>
                      <a:r>
                        <a:rPr lang="he-IL" sz="1900" dirty="0"/>
                        <a:t>גדול</a:t>
                      </a:r>
                    </a:p>
                  </a:txBody>
                  <a:tcPr marL="58051" marR="58051" marT="34828" marB="34828"/>
                </a:tc>
                <a:tc>
                  <a:txBody>
                    <a:bodyPr/>
                    <a:lstStyle/>
                    <a:p>
                      <a:pPr rtl="1"/>
                      <a:r>
                        <a:rPr lang="he-IL" sz="1900" dirty="0"/>
                        <a:t>יותר מהיר</a:t>
                      </a:r>
                    </a:p>
                  </a:txBody>
                  <a:tcPr marL="58051" marR="58051" marT="34828" marB="34828"/>
                </a:tc>
                <a:tc>
                  <a:txBody>
                    <a:bodyPr/>
                    <a:lstStyle/>
                    <a:p>
                      <a:pPr rtl="1"/>
                      <a:r>
                        <a:rPr lang="he-IL" sz="1900" dirty="0"/>
                        <a:t>חיפוש ברשימה(</a:t>
                      </a:r>
                      <a:r>
                        <a:rPr lang="he-IL" sz="1900" baseline="0" dirty="0"/>
                        <a:t>סריקת)</a:t>
                      </a:r>
                      <a:endParaRPr lang="he-IL" sz="1900" dirty="0"/>
                    </a:p>
                  </a:txBody>
                  <a:tcPr marL="58051" marR="58051" marT="34828" marB="34828"/>
                </a:tc>
                <a:tc>
                  <a:txBody>
                    <a:bodyPr/>
                    <a:lstStyle/>
                    <a:p>
                      <a:pPr rtl="1"/>
                      <a:r>
                        <a:rPr lang="he-IL" sz="1900" dirty="0"/>
                        <a:t>מהיר מאוד</a:t>
                      </a:r>
                    </a:p>
                  </a:txBody>
                  <a:tcPr marL="58051" marR="58051" marT="34828" marB="34828"/>
                </a:tc>
                <a:extLst>
                  <a:ext uri="{0D108BD9-81ED-4DB2-BD59-A6C34878D82A}">
                    <a16:rowId xmlns:a16="http://schemas.microsoft.com/office/drawing/2014/main" val="10002"/>
                  </a:ext>
                </a:extLst>
              </a:tr>
              <a:tr h="1812255">
                <a:tc>
                  <a:txBody>
                    <a:bodyPr/>
                    <a:lstStyle/>
                    <a:p>
                      <a:pPr rtl="1"/>
                      <a:r>
                        <a:rPr lang="he-IL" sz="1900" dirty="0"/>
                        <a:t>איחוד חורים</a:t>
                      </a:r>
                    </a:p>
                  </a:txBody>
                  <a:tcPr marL="58051" marR="58051" marT="34828" marB="34828"/>
                </a:tc>
                <a:tc>
                  <a:txBody>
                    <a:bodyPr/>
                    <a:lstStyle/>
                    <a:p>
                      <a:pPr rtl="1"/>
                      <a:r>
                        <a:rPr lang="he-IL" sz="1900" dirty="0"/>
                        <a:t>מהיר מאוד</a:t>
                      </a:r>
                    </a:p>
                  </a:txBody>
                  <a:tcPr marL="58051" marR="58051" marT="34828" marB="34828"/>
                </a:tc>
                <a:tc>
                  <a:txBody>
                    <a:bodyPr/>
                    <a:lstStyle/>
                    <a:p>
                      <a:pPr rtl="1"/>
                      <a:r>
                        <a:rPr lang="he-IL" sz="1900" dirty="0"/>
                        <a:t>מהיר</a:t>
                      </a:r>
                    </a:p>
                  </a:txBody>
                  <a:tcPr marL="58051" marR="58051" marT="34828" marB="34828"/>
                </a:tc>
                <a:tc>
                  <a:txBody>
                    <a:bodyPr/>
                    <a:lstStyle/>
                    <a:p>
                      <a:pPr rtl="1"/>
                      <a:r>
                        <a:rPr lang="he-IL" sz="1900" dirty="0"/>
                        <a:t>בינוני</a:t>
                      </a:r>
                    </a:p>
                  </a:txBody>
                  <a:tcPr marL="58051" marR="58051" marT="34828" marB="34828"/>
                </a:tc>
                <a:tc>
                  <a:txBody>
                    <a:bodyPr/>
                    <a:lstStyle/>
                    <a:p>
                      <a:pPr rtl="1"/>
                      <a:r>
                        <a:rPr lang="he-IL" sz="1900" dirty="0"/>
                        <a:t>איטי , יכול לגרום להעברת חורים מרשימה לרשימה</a:t>
                      </a:r>
                    </a:p>
                  </a:txBody>
                  <a:tcPr marL="58051" marR="58051" marT="34828" marB="34828"/>
                </a:tc>
                <a:extLst>
                  <a:ext uri="{0D108BD9-81ED-4DB2-BD59-A6C34878D82A}">
                    <a16:rowId xmlns:a16="http://schemas.microsoft.com/office/drawing/2014/main" val="10003"/>
                  </a:ext>
                </a:extLst>
              </a:tr>
            </a:tbl>
          </a:graphicData>
        </a:graphic>
      </p:graphicFrame>
      <p:sp>
        <p:nvSpPr>
          <p:cNvPr id="6" name="מציין מיקום של תאריך 5"/>
          <p:cNvSpPr>
            <a:spLocks noGrp="1"/>
          </p:cNvSpPr>
          <p:nvPr>
            <p:ph type="dt" sz="half" idx="10"/>
          </p:nvPr>
        </p:nvSpPr>
        <p:spPr/>
        <p:txBody>
          <a:bodyPr/>
          <a:lstStyle/>
          <a:p>
            <a:pPr>
              <a:defRPr/>
            </a:pPr>
            <a:fld id="{7ED7DE14-C1AE-4613-8039-F393458C71EE}" type="datetime12">
              <a:rPr lang="he-IL" smtClean="0"/>
              <a:pPr>
                <a:defRPr/>
              </a:pPr>
              <a:t>28/01/2024 18:13</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כותרת 1"/>
          <p:cNvSpPr>
            <a:spLocks noGrp="1"/>
          </p:cNvSpPr>
          <p:nvPr>
            <p:ph type="title"/>
          </p:nvPr>
        </p:nvSpPr>
        <p:spPr/>
        <p:txBody>
          <a:bodyPr/>
          <a:lstStyle/>
          <a:p>
            <a:r>
              <a:rPr lang="he-IL"/>
              <a:t>שיטות חיפוש</a:t>
            </a:r>
          </a:p>
        </p:txBody>
      </p:sp>
      <p:sp>
        <p:nvSpPr>
          <p:cNvPr id="18435" name="מציין מיקום תוכן 2"/>
          <p:cNvSpPr>
            <a:spLocks noGrp="1"/>
          </p:cNvSpPr>
          <p:nvPr>
            <p:ph idx="1"/>
          </p:nvPr>
        </p:nvSpPr>
        <p:spPr/>
        <p:txBody>
          <a:bodyPr/>
          <a:lstStyle/>
          <a:p>
            <a:endParaRPr lang="he-IL"/>
          </a:p>
        </p:txBody>
      </p:sp>
      <p:sp>
        <p:nvSpPr>
          <p:cNvPr id="18436" name="מציין מיקום של מספר שקופית 3"/>
          <p:cNvSpPr>
            <a:spLocks noGrp="1"/>
          </p:cNvSpPr>
          <p:nvPr>
            <p:ph type="sldNum" sz="quarter" idx="12"/>
          </p:nvPr>
        </p:nvSpPr>
        <p:spPr>
          <a:noFill/>
        </p:spPr>
        <p:txBody>
          <a:bodyPr/>
          <a:lstStyle/>
          <a:p>
            <a:fld id="{21103361-A374-456B-847C-01C8BD99B183}" type="slidenum">
              <a:rPr lang="he-IL" smtClean="0"/>
              <a:pPr/>
              <a:t>25</a:t>
            </a:fld>
            <a:endParaRPr lang="en-US"/>
          </a:p>
        </p:txBody>
      </p:sp>
      <p:graphicFrame>
        <p:nvGraphicFramePr>
          <p:cNvPr id="6" name="טבלה 5"/>
          <p:cNvGraphicFramePr>
            <a:graphicFrameLocks noGrp="1"/>
          </p:cNvGraphicFramePr>
          <p:nvPr/>
        </p:nvGraphicFramePr>
        <p:xfrm>
          <a:off x="2297732" y="1430224"/>
          <a:ext cx="7795846" cy="4325816"/>
        </p:xfrm>
        <a:graphic>
          <a:graphicData uri="http://schemas.openxmlformats.org/drawingml/2006/table">
            <a:tbl>
              <a:tblPr rtl="1" firstRow="1" bandRow="1">
                <a:tableStyleId>{5C22544A-7EE6-4342-B048-85BDC9FD1C3A}</a:tableStyleId>
              </a:tblPr>
              <a:tblGrid>
                <a:gridCol w="2106436">
                  <a:extLst>
                    <a:ext uri="{9D8B030D-6E8A-4147-A177-3AD203B41FA5}">
                      <a16:colId xmlns:a16="http://schemas.microsoft.com/office/drawing/2014/main" val="20000"/>
                    </a:ext>
                  </a:extLst>
                </a:gridCol>
                <a:gridCol w="2472211">
                  <a:extLst>
                    <a:ext uri="{9D8B030D-6E8A-4147-A177-3AD203B41FA5}">
                      <a16:colId xmlns:a16="http://schemas.microsoft.com/office/drawing/2014/main" val="20001"/>
                    </a:ext>
                  </a:extLst>
                </a:gridCol>
                <a:gridCol w="3217199">
                  <a:extLst>
                    <a:ext uri="{9D8B030D-6E8A-4147-A177-3AD203B41FA5}">
                      <a16:colId xmlns:a16="http://schemas.microsoft.com/office/drawing/2014/main" val="20002"/>
                    </a:ext>
                  </a:extLst>
                </a:gridCol>
              </a:tblGrid>
              <a:tr h="488644">
                <a:tc gridSpan="3">
                  <a:txBody>
                    <a:bodyPr/>
                    <a:lstStyle/>
                    <a:p>
                      <a:pPr algn="ctr" rtl="1"/>
                      <a:r>
                        <a:rPr lang="he-IL" sz="2000" dirty="0"/>
                        <a:t>שיטות חיפוש</a:t>
                      </a:r>
                    </a:p>
                  </a:txBody>
                  <a:tcPr marL="58061" marR="58061" marT="34836" marB="34836"/>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753035">
                <a:tc>
                  <a:txBody>
                    <a:bodyPr/>
                    <a:lstStyle/>
                    <a:p>
                      <a:pPr rtl="1"/>
                      <a:r>
                        <a:rPr lang="en-US" sz="2000" dirty="0"/>
                        <a:t>First</a:t>
                      </a:r>
                      <a:r>
                        <a:rPr lang="en-US" sz="2000" baseline="0" dirty="0"/>
                        <a:t> fit</a:t>
                      </a:r>
                      <a:endParaRPr lang="he-IL" sz="2000" dirty="0"/>
                    </a:p>
                  </a:txBody>
                  <a:tcPr marL="58061" marR="58061" marT="34836" marB="34836"/>
                </a:tc>
                <a:tc>
                  <a:txBody>
                    <a:bodyPr/>
                    <a:lstStyle/>
                    <a:p>
                      <a:pPr rtl="1"/>
                      <a:r>
                        <a:rPr lang="he-IL" sz="2000" dirty="0"/>
                        <a:t>מתחילים</a:t>
                      </a:r>
                      <a:r>
                        <a:rPr lang="he-IL" sz="2000" baseline="0" dirty="0"/>
                        <a:t> מראש הרשימה</a:t>
                      </a:r>
                      <a:endParaRPr lang="he-IL" sz="2000" dirty="0"/>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1"/>
                  </a:ext>
                </a:extLst>
              </a:tr>
              <a:tr h="1069307">
                <a:tc>
                  <a:txBody>
                    <a:bodyPr/>
                    <a:lstStyle/>
                    <a:p>
                      <a:pPr rtl="1"/>
                      <a:r>
                        <a:rPr lang="en-US" sz="2000" dirty="0"/>
                        <a:t>Next fit</a:t>
                      </a:r>
                      <a:endParaRPr lang="he-IL" sz="2000" dirty="0"/>
                    </a:p>
                  </a:txBody>
                  <a:tcPr marL="58061" marR="58061" marT="34836" marB="34836"/>
                </a:tc>
                <a:tc>
                  <a:txBody>
                    <a:bodyPr/>
                    <a:lstStyle/>
                    <a:p>
                      <a:pPr rtl="1"/>
                      <a:r>
                        <a:rPr lang="he-IL" sz="2000" dirty="0"/>
                        <a:t>ממשיכים</a:t>
                      </a:r>
                      <a:r>
                        <a:rPr lang="he-IL" sz="2000" baseline="0" dirty="0"/>
                        <a:t> ממקום העצירה של החיפוש האחרון</a:t>
                      </a:r>
                      <a:endParaRPr lang="he-IL" sz="2000" dirty="0"/>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2"/>
                  </a:ext>
                </a:extLst>
              </a:tr>
              <a:tr h="763093">
                <a:tc>
                  <a:txBody>
                    <a:bodyPr/>
                    <a:lstStyle/>
                    <a:p>
                      <a:pPr rtl="1"/>
                      <a:r>
                        <a:rPr lang="en-US" sz="2000" dirty="0"/>
                        <a:t>Best fit</a:t>
                      </a:r>
                      <a:endParaRPr lang="he-IL" sz="2000" dirty="0"/>
                    </a:p>
                  </a:txBody>
                  <a:tcPr marL="58061" marR="58061" marT="34836" marB="34836"/>
                </a:tc>
                <a:tc>
                  <a:txBody>
                    <a:bodyPr/>
                    <a:lstStyle/>
                    <a:p>
                      <a:pPr rtl="1"/>
                      <a:r>
                        <a:rPr lang="he-IL" sz="2000" dirty="0"/>
                        <a:t>מחפשת</a:t>
                      </a:r>
                      <a:r>
                        <a:rPr lang="he-IL" sz="2000" baseline="0" dirty="0"/>
                        <a:t> את החור הקטן המתאים ביותר</a:t>
                      </a:r>
                      <a:endParaRPr lang="he-IL" sz="2000" dirty="0"/>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3"/>
                  </a:ext>
                </a:extLst>
              </a:tr>
              <a:tr h="488644">
                <a:tc>
                  <a:txBody>
                    <a:bodyPr/>
                    <a:lstStyle/>
                    <a:p>
                      <a:pPr rtl="1"/>
                      <a:r>
                        <a:rPr lang="en-US" sz="2000" dirty="0"/>
                        <a:t>Worse fit </a:t>
                      </a:r>
                      <a:endParaRPr lang="he-IL" sz="2000" dirty="0"/>
                    </a:p>
                  </a:txBody>
                  <a:tcPr marL="58061" marR="58061" marT="34836" marB="34836"/>
                </a:tc>
                <a:tc>
                  <a:txBody>
                    <a:bodyPr/>
                    <a:lstStyle/>
                    <a:p>
                      <a:pPr rtl="1"/>
                      <a:r>
                        <a:rPr lang="he-IL" sz="2000" dirty="0"/>
                        <a:t>החור הגדול ביותר </a:t>
                      </a:r>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4"/>
                  </a:ext>
                </a:extLst>
              </a:tr>
              <a:tr h="763093">
                <a:tc>
                  <a:txBody>
                    <a:bodyPr/>
                    <a:lstStyle/>
                    <a:p>
                      <a:pPr rtl="1"/>
                      <a:r>
                        <a:rPr lang="en-US" sz="2000" dirty="0"/>
                        <a:t>Quick fit </a:t>
                      </a:r>
                    </a:p>
                  </a:txBody>
                  <a:tcPr marL="58061" marR="58061" marT="34836" marB="34836"/>
                </a:tc>
                <a:tc>
                  <a:txBody>
                    <a:bodyPr/>
                    <a:lstStyle/>
                    <a:p>
                      <a:pPr rtl="1"/>
                      <a:r>
                        <a:rPr lang="he-IL" sz="2000" dirty="0"/>
                        <a:t>חלוקה לרשימות בגדלים שונים </a:t>
                      </a:r>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5"/>
                  </a:ext>
                </a:extLst>
              </a:tr>
            </a:tbl>
          </a:graphicData>
        </a:graphic>
      </p:graphicFrame>
      <p:sp>
        <p:nvSpPr>
          <p:cNvPr id="7" name="מציין מיקום של תאריך 6"/>
          <p:cNvSpPr>
            <a:spLocks noGrp="1"/>
          </p:cNvSpPr>
          <p:nvPr>
            <p:ph type="dt" sz="half" idx="10"/>
          </p:nvPr>
        </p:nvSpPr>
        <p:spPr/>
        <p:txBody>
          <a:bodyPr/>
          <a:lstStyle/>
          <a:p>
            <a:pPr>
              <a:defRPr/>
            </a:pPr>
            <a:fld id="{6C10BBB8-5255-4F80-94C4-4715E570A48F}" type="datetime12">
              <a:rPr lang="he-IL" smtClean="0"/>
              <a:pPr>
                <a:defRPr/>
              </a:pPr>
              <a:t>28/01/2024 18:13</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כותרת 1"/>
          <p:cNvSpPr>
            <a:spLocks noGrp="1"/>
          </p:cNvSpPr>
          <p:nvPr>
            <p:ph type="title"/>
          </p:nvPr>
        </p:nvSpPr>
        <p:spPr/>
        <p:txBody>
          <a:bodyPr/>
          <a:lstStyle/>
          <a:p>
            <a:r>
              <a:rPr lang="he-IL"/>
              <a:t>שיטות חיפוש</a:t>
            </a:r>
          </a:p>
        </p:txBody>
      </p:sp>
      <p:sp>
        <p:nvSpPr>
          <p:cNvPr id="18435" name="מציין מיקום תוכן 2"/>
          <p:cNvSpPr>
            <a:spLocks noGrp="1"/>
          </p:cNvSpPr>
          <p:nvPr>
            <p:ph idx="1"/>
          </p:nvPr>
        </p:nvSpPr>
        <p:spPr/>
        <p:txBody>
          <a:bodyPr/>
          <a:lstStyle/>
          <a:p>
            <a:endParaRPr lang="he-IL"/>
          </a:p>
        </p:txBody>
      </p:sp>
      <p:sp>
        <p:nvSpPr>
          <p:cNvPr id="18436" name="מציין מיקום של מספר שקופית 3"/>
          <p:cNvSpPr>
            <a:spLocks noGrp="1"/>
          </p:cNvSpPr>
          <p:nvPr>
            <p:ph type="sldNum" sz="quarter" idx="12"/>
          </p:nvPr>
        </p:nvSpPr>
        <p:spPr>
          <a:noFill/>
        </p:spPr>
        <p:txBody>
          <a:bodyPr/>
          <a:lstStyle/>
          <a:p>
            <a:fld id="{21103361-A374-456B-847C-01C8BD99B183}" type="slidenum">
              <a:rPr lang="he-IL" smtClean="0"/>
              <a:pPr/>
              <a:t>26</a:t>
            </a:fld>
            <a:endParaRPr lang="en-US"/>
          </a:p>
        </p:txBody>
      </p:sp>
      <p:graphicFrame>
        <p:nvGraphicFramePr>
          <p:cNvPr id="6" name="טבלה 5"/>
          <p:cNvGraphicFramePr>
            <a:graphicFrameLocks noGrp="1"/>
          </p:cNvGraphicFramePr>
          <p:nvPr>
            <p:extLst>
              <p:ext uri="{D42A27DB-BD31-4B8C-83A1-F6EECF244321}">
                <p14:modId xmlns:p14="http://schemas.microsoft.com/office/powerpoint/2010/main" val="2691999526"/>
              </p:ext>
            </p:extLst>
          </p:nvPr>
        </p:nvGraphicFramePr>
        <p:xfrm>
          <a:off x="2297732" y="1430224"/>
          <a:ext cx="7795846" cy="4325816"/>
        </p:xfrm>
        <a:graphic>
          <a:graphicData uri="http://schemas.openxmlformats.org/drawingml/2006/table">
            <a:tbl>
              <a:tblPr rtl="1" firstRow="1" bandRow="1">
                <a:tableStyleId>{5C22544A-7EE6-4342-B048-85BDC9FD1C3A}</a:tableStyleId>
              </a:tblPr>
              <a:tblGrid>
                <a:gridCol w="2106436">
                  <a:extLst>
                    <a:ext uri="{9D8B030D-6E8A-4147-A177-3AD203B41FA5}">
                      <a16:colId xmlns:a16="http://schemas.microsoft.com/office/drawing/2014/main" val="20000"/>
                    </a:ext>
                  </a:extLst>
                </a:gridCol>
                <a:gridCol w="2472211">
                  <a:extLst>
                    <a:ext uri="{9D8B030D-6E8A-4147-A177-3AD203B41FA5}">
                      <a16:colId xmlns:a16="http://schemas.microsoft.com/office/drawing/2014/main" val="20001"/>
                    </a:ext>
                  </a:extLst>
                </a:gridCol>
                <a:gridCol w="3217199">
                  <a:extLst>
                    <a:ext uri="{9D8B030D-6E8A-4147-A177-3AD203B41FA5}">
                      <a16:colId xmlns:a16="http://schemas.microsoft.com/office/drawing/2014/main" val="20002"/>
                    </a:ext>
                  </a:extLst>
                </a:gridCol>
              </a:tblGrid>
              <a:tr h="488644">
                <a:tc gridSpan="3">
                  <a:txBody>
                    <a:bodyPr/>
                    <a:lstStyle/>
                    <a:p>
                      <a:pPr algn="ctr" rtl="1"/>
                      <a:r>
                        <a:rPr lang="he-IL" sz="2000" dirty="0"/>
                        <a:t>שיטות חיפוש</a:t>
                      </a:r>
                    </a:p>
                  </a:txBody>
                  <a:tcPr marL="58061" marR="58061" marT="34836" marB="34836"/>
                </a:tc>
                <a:tc hMerge="1">
                  <a:txBody>
                    <a:bodyPr/>
                    <a:lstStyle/>
                    <a:p>
                      <a:pPr rtl="1"/>
                      <a:endParaRPr lang="he-IL" dirty="0"/>
                    </a:p>
                  </a:txBody>
                  <a:tcPr/>
                </a:tc>
                <a:tc hMerge="1">
                  <a:txBody>
                    <a:bodyPr/>
                    <a:lstStyle/>
                    <a:p>
                      <a:pPr rtl="1"/>
                      <a:endParaRPr lang="he-IL" dirty="0"/>
                    </a:p>
                  </a:txBody>
                  <a:tcPr/>
                </a:tc>
                <a:extLst>
                  <a:ext uri="{0D108BD9-81ED-4DB2-BD59-A6C34878D82A}">
                    <a16:rowId xmlns:a16="http://schemas.microsoft.com/office/drawing/2014/main" val="10000"/>
                  </a:ext>
                </a:extLst>
              </a:tr>
              <a:tr h="753035">
                <a:tc>
                  <a:txBody>
                    <a:bodyPr/>
                    <a:lstStyle/>
                    <a:p>
                      <a:pPr rtl="1"/>
                      <a:r>
                        <a:rPr lang="en-US" sz="2000" dirty="0"/>
                        <a:t>First</a:t>
                      </a:r>
                      <a:r>
                        <a:rPr lang="en-US" sz="2000" baseline="0" dirty="0"/>
                        <a:t> fit</a:t>
                      </a:r>
                      <a:endParaRPr lang="he-IL" sz="2000" dirty="0"/>
                    </a:p>
                  </a:txBody>
                  <a:tcPr marL="58061" marR="58061" marT="34836" marB="34836"/>
                </a:tc>
                <a:tc>
                  <a:txBody>
                    <a:bodyPr/>
                    <a:lstStyle/>
                    <a:p>
                      <a:pPr rtl="1"/>
                      <a:r>
                        <a:rPr lang="he-IL" sz="2000" dirty="0"/>
                        <a:t>מתחילים</a:t>
                      </a:r>
                      <a:r>
                        <a:rPr lang="he-IL" sz="2000" baseline="0" dirty="0"/>
                        <a:t> מראש הרשימה</a:t>
                      </a:r>
                      <a:endParaRPr lang="he-IL" sz="2000" dirty="0"/>
                    </a:p>
                  </a:txBody>
                  <a:tcPr marL="58061" marR="58061" marT="34836" marB="34836"/>
                </a:tc>
                <a:tc>
                  <a:txBody>
                    <a:bodyPr/>
                    <a:lstStyle/>
                    <a:p>
                      <a:pPr rtl="1"/>
                      <a:r>
                        <a:rPr lang="he-IL" sz="2000" dirty="0"/>
                        <a:t>מהיר</a:t>
                      </a:r>
                    </a:p>
                  </a:txBody>
                  <a:tcPr marL="58061" marR="58061" marT="34836" marB="34836"/>
                </a:tc>
                <a:extLst>
                  <a:ext uri="{0D108BD9-81ED-4DB2-BD59-A6C34878D82A}">
                    <a16:rowId xmlns:a16="http://schemas.microsoft.com/office/drawing/2014/main" val="10001"/>
                  </a:ext>
                </a:extLst>
              </a:tr>
              <a:tr h="1069307">
                <a:tc>
                  <a:txBody>
                    <a:bodyPr/>
                    <a:lstStyle/>
                    <a:p>
                      <a:pPr rtl="1"/>
                      <a:r>
                        <a:rPr lang="en-US" sz="2000" dirty="0"/>
                        <a:t>Next fit</a:t>
                      </a:r>
                      <a:endParaRPr lang="he-IL" sz="2000" dirty="0"/>
                    </a:p>
                  </a:txBody>
                  <a:tcPr marL="58061" marR="58061" marT="34836" marB="34836"/>
                </a:tc>
                <a:tc>
                  <a:txBody>
                    <a:bodyPr/>
                    <a:lstStyle/>
                    <a:p>
                      <a:pPr rtl="1"/>
                      <a:r>
                        <a:rPr lang="he-IL" sz="2000" dirty="0"/>
                        <a:t>ממשיכים</a:t>
                      </a:r>
                      <a:r>
                        <a:rPr lang="he-IL" sz="2000" baseline="0" dirty="0"/>
                        <a:t> ממקום העצירה של החיפוש האחרון</a:t>
                      </a:r>
                      <a:endParaRPr lang="he-IL" sz="2000" dirty="0"/>
                    </a:p>
                  </a:txBody>
                  <a:tcPr marL="58061" marR="58061" marT="34836" marB="34836"/>
                </a:tc>
                <a:tc>
                  <a:txBody>
                    <a:bodyPr/>
                    <a:lstStyle/>
                    <a:p>
                      <a:pPr rtl="1"/>
                      <a:r>
                        <a:rPr lang="he-IL" sz="2000" dirty="0"/>
                        <a:t>טיפה פחות טוב</a:t>
                      </a:r>
                    </a:p>
                  </a:txBody>
                  <a:tcPr marL="58061" marR="58061" marT="34836" marB="34836"/>
                </a:tc>
                <a:extLst>
                  <a:ext uri="{0D108BD9-81ED-4DB2-BD59-A6C34878D82A}">
                    <a16:rowId xmlns:a16="http://schemas.microsoft.com/office/drawing/2014/main" val="10002"/>
                  </a:ext>
                </a:extLst>
              </a:tr>
              <a:tr h="763093">
                <a:tc>
                  <a:txBody>
                    <a:bodyPr/>
                    <a:lstStyle/>
                    <a:p>
                      <a:pPr rtl="1"/>
                      <a:r>
                        <a:rPr lang="en-US" sz="2000" dirty="0"/>
                        <a:t>Best fit</a:t>
                      </a:r>
                      <a:endParaRPr lang="he-IL" sz="2000" dirty="0"/>
                    </a:p>
                  </a:txBody>
                  <a:tcPr marL="58061" marR="58061" marT="34836" marB="34836"/>
                </a:tc>
                <a:tc>
                  <a:txBody>
                    <a:bodyPr/>
                    <a:lstStyle/>
                    <a:p>
                      <a:pPr rtl="1"/>
                      <a:r>
                        <a:rPr lang="he-IL" sz="2000" dirty="0"/>
                        <a:t>מחפשת</a:t>
                      </a:r>
                      <a:r>
                        <a:rPr lang="he-IL" sz="2000" baseline="0" dirty="0"/>
                        <a:t> את החור הקטן המתאים ביותר</a:t>
                      </a:r>
                      <a:endParaRPr lang="he-IL" sz="2000" dirty="0"/>
                    </a:p>
                  </a:txBody>
                  <a:tcPr marL="58061" marR="58061" marT="34836" marB="34836"/>
                </a:tc>
                <a:tc>
                  <a:txBody>
                    <a:bodyPr/>
                    <a:lstStyle/>
                    <a:p>
                      <a:pPr rtl="1"/>
                      <a:r>
                        <a:rPr lang="he-IL" sz="2000" dirty="0"/>
                        <a:t>גרוע – יוצר המון חורים קטנים לא מנוצלים בזיכרון</a:t>
                      </a:r>
                    </a:p>
                  </a:txBody>
                  <a:tcPr marL="58061" marR="58061" marT="34836" marB="34836"/>
                </a:tc>
                <a:extLst>
                  <a:ext uri="{0D108BD9-81ED-4DB2-BD59-A6C34878D82A}">
                    <a16:rowId xmlns:a16="http://schemas.microsoft.com/office/drawing/2014/main" val="10003"/>
                  </a:ext>
                </a:extLst>
              </a:tr>
              <a:tr h="488644">
                <a:tc>
                  <a:txBody>
                    <a:bodyPr/>
                    <a:lstStyle/>
                    <a:p>
                      <a:pPr rtl="1"/>
                      <a:r>
                        <a:rPr lang="en-US" sz="2000" dirty="0"/>
                        <a:t>Worse fit </a:t>
                      </a:r>
                      <a:endParaRPr lang="he-IL" sz="2000" dirty="0"/>
                    </a:p>
                  </a:txBody>
                  <a:tcPr marL="58061" marR="58061" marT="34836" marB="34836"/>
                </a:tc>
                <a:tc>
                  <a:txBody>
                    <a:bodyPr/>
                    <a:lstStyle/>
                    <a:p>
                      <a:pPr rtl="1"/>
                      <a:r>
                        <a:rPr lang="he-IL" sz="2000" dirty="0"/>
                        <a:t>החור הגדול ביותר </a:t>
                      </a:r>
                    </a:p>
                  </a:txBody>
                  <a:tcPr marL="58061" marR="58061" marT="34836" marB="34836"/>
                </a:tc>
                <a:tc>
                  <a:txBody>
                    <a:bodyPr/>
                    <a:lstStyle/>
                    <a:p>
                      <a:pPr rtl="1"/>
                      <a:r>
                        <a:rPr lang="he-IL" sz="2000" dirty="0"/>
                        <a:t>גם לא טוב</a:t>
                      </a:r>
                    </a:p>
                  </a:txBody>
                  <a:tcPr marL="58061" marR="58061" marT="34836" marB="34836"/>
                </a:tc>
                <a:extLst>
                  <a:ext uri="{0D108BD9-81ED-4DB2-BD59-A6C34878D82A}">
                    <a16:rowId xmlns:a16="http://schemas.microsoft.com/office/drawing/2014/main" val="10004"/>
                  </a:ext>
                </a:extLst>
              </a:tr>
              <a:tr h="763093">
                <a:tc>
                  <a:txBody>
                    <a:bodyPr/>
                    <a:lstStyle/>
                    <a:p>
                      <a:pPr rtl="1"/>
                      <a:endParaRPr lang="en-US" sz="2000" dirty="0"/>
                    </a:p>
                  </a:txBody>
                  <a:tcPr marL="58061" marR="58061" marT="34836" marB="34836"/>
                </a:tc>
                <a:tc>
                  <a:txBody>
                    <a:bodyPr/>
                    <a:lstStyle/>
                    <a:p>
                      <a:pPr rtl="1"/>
                      <a:endParaRPr lang="he-IL" sz="2000" dirty="0"/>
                    </a:p>
                  </a:txBody>
                  <a:tcPr marL="58061" marR="58061" marT="34836" marB="34836"/>
                </a:tc>
                <a:tc>
                  <a:txBody>
                    <a:bodyPr/>
                    <a:lstStyle/>
                    <a:p>
                      <a:pPr rtl="1"/>
                      <a:endParaRPr lang="he-IL" sz="2000" dirty="0"/>
                    </a:p>
                  </a:txBody>
                  <a:tcPr marL="58061" marR="58061" marT="34836" marB="34836"/>
                </a:tc>
                <a:extLst>
                  <a:ext uri="{0D108BD9-81ED-4DB2-BD59-A6C34878D82A}">
                    <a16:rowId xmlns:a16="http://schemas.microsoft.com/office/drawing/2014/main" val="10005"/>
                  </a:ext>
                </a:extLst>
              </a:tr>
            </a:tbl>
          </a:graphicData>
        </a:graphic>
      </p:graphicFrame>
      <p:sp>
        <p:nvSpPr>
          <p:cNvPr id="7" name="מציין מיקום של תאריך 6"/>
          <p:cNvSpPr>
            <a:spLocks noGrp="1"/>
          </p:cNvSpPr>
          <p:nvPr>
            <p:ph type="dt" sz="half" idx="10"/>
          </p:nvPr>
        </p:nvSpPr>
        <p:spPr/>
        <p:txBody>
          <a:bodyPr/>
          <a:lstStyle/>
          <a:p>
            <a:pPr>
              <a:defRPr/>
            </a:pPr>
            <a:fld id="{6C10BBB8-5255-4F80-94C4-4715E570A48F}" type="datetime12">
              <a:rPr lang="he-IL" smtClean="0"/>
              <a:pPr>
                <a:defRPr/>
              </a:pPr>
              <a:t>28/01/2024 18:13</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swapping</a:t>
            </a:r>
            <a:endParaRPr lang="he-IL" dirty="0"/>
          </a:p>
        </p:txBody>
      </p:sp>
      <p:sp>
        <p:nvSpPr>
          <p:cNvPr id="3" name="מציין מיקום תוכן 2"/>
          <p:cNvSpPr>
            <a:spLocks noGrp="1"/>
          </p:cNvSpPr>
          <p:nvPr>
            <p:ph idx="1"/>
          </p:nvPr>
        </p:nvSpPr>
        <p:spPr/>
        <p:txBody>
          <a:bodyPr/>
          <a:lstStyle/>
          <a:p>
            <a:pPr algn="r" rtl="1"/>
            <a:r>
              <a:rPr lang="he-IL" dirty="0"/>
              <a:t>חיסרון: דורש זיכרון רציף, כל התהליך שוכן או בזיכרון או בחוץ לא ניתן להריץ תהליך שדורש יותר מהחור הפנוי (או יותר מהזיכרון)</a:t>
            </a:r>
          </a:p>
          <a:p>
            <a:pPr algn="r" rtl="1"/>
            <a:r>
              <a:rPr lang="en-US" dirty="0"/>
              <a:t>Thrashing </a:t>
            </a:r>
            <a:r>
              <a:rPr lang="he-IL" dirty="0"/>
              <a:t>סחרור </a:t>
            </a:r>
          </a:p>
          <a:p>
            <a:endParaRPr lang="he-IL" dirty="0"/>
          </a:p>
        </p:txBody>
      </p:sp>
      <p:sp>
        <p:nvSpPr>
          <p:cNvPr id="4" name="מציין מיקום של מספר שקופית 3"/>
          <p:cNvSpPr>
            <a:spLocks noGrp="1"/>
          </p:cNvSpPr>
          <p:nvPr>
            <p:ph type="sldNum" sz="quarter" idx="12"/>
          </p:nvPr>
        </p:nvSpPr>
        <p:spPr/>
        <p:txBody>
          <a:bodyPr/>
          <a:lstStyle/>
          <a:p>
            <a:pPr>
              <a:defRPr/>
            </a:pPr>
            <a:fld id="{4633B1A6-2372-4EDF-9289-35602BEB5AE9}" type="slidenum">
              <a:rPr lang="he-IL" smtClean="0"/>
              <a:pPr>
                <a:defRPr/>
              </a:pPr>
              <a:t>27</a:t>
            </a:fld>
            <a:endParaRPr lang="en-US"/>
          </a:p>
        </p:txBody>
      </p:sp>
      <p:sp>
        <p:nvSpPr>
          <p:cNvPr id="5" name="מציין מיקום של תאריך 4"/>
          <p:cNvSpPr>
            <a:spLocks noGrp="1"/>
          </p:cNvSpPr>
          <p:nvPr>
            <p:ph type="dt" sz="half" idx="10"/>
          </p:nvPr>
        </p:nvSpPr>
        <p:spPr/>
        <p:txBody>
          <a:bodyPr/>
          <a:lstStyle/>
          <a:p>
            <a:pPr>
              <a:defRPr/>
            </a:pPr>
            <a:fld id="{56B94277-2F11-455C-B15C-BE85FDCCE6A2}" type="datetime12">
              <a:rPr lang="he-IL" smtClean="0"/>
              <a:pPr>
                <a:defRPr/>
              </a:pPr>
              <a:t>28/01/2024 18:13</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מציין מיקום של מספר שקופית 5"/>
          <p:cNvSpPr>
            <a:spLocks noGrp="1"/>
          </p:cNvSpPr>
          <p:nvPr>
            <p:ph type="sldNum" sz="quarter" idx="12"/>
          </p:nvPr>
        </p:nvSpPr>
        <p:spPr>
          <a:noFill/>
        </p:spPr>
        <p:txBody>
          <a:bodyPr/>
          <a:lstStyle/>
          <a:p>
            <a:fld id="{5CD41618-469A-4F6D-A753-F4F6299DB930}" type="slidenum">
              <a:rPr lang="he-IL" smtClean="0"/>
              <a:pPr/>
              <a:t>28</a:t>
            </a:fld>
            <a:endParaRPr lang="en-US"/>
          </a:p>
        </p:txBody>
      </p:sp>
      <p:sp>
        <p:nvSpPr>
          <p:cNvPr id="20483" name="Rectangle 2"/>
          <p:cNvSpPr>
            <a:spLocks noGrp="1" noChangeArrowheads="1"/>
          </p:cNvSpPr>
          <p:nvPr>
            <p:ph type="title"/>
          </p:nvPr>
        </p:nvSpPr>
        <p:spPr/>
        <p:txBody>
          <a:bodyPr/>
          <a:lstStyle/>
          <a:p>
            <a:pPr eaLnBrk="1" hangingPunct="1"/>
            <a:r>
              <a:rPr lang="en-US" dirty="0"/>
              <a:t>Virtual Memory</a:t>
            </a:r>
            <a:br>
              <a:rPr lang="en-US" dirty="0"/>
            </a:br>
            <a:r>
              <a:rPr lang="en-US" sz="2400" dirty="0"/>
              <a:t>Paging (1)</a:t>
            </a:r>
          </a:p>
        </p:txBody>
      </p:sp>
      <p:sp>
        <p:nvSpPr>
          <p:cNvPr id="20484" name="Rectangle 3"/>
          <p:cNvSpPr>
            <a:spLocks noGrp="1" noChangeArrowheads="1"/>
          </p:cNvSpPr>
          <p:nvPr>
            <p:ph type="body" idx="1"/>
          </p:nvPr>
        </p:nvSpPr>
        <p:spPr>
          <a:xfrm>
            <a:off x="2285001" y="5714549"/>
            <a:ext cx="7773207" cy="762764"/>
          </a:xfrm>
        </p:spPr>
        <p:txBody>
          <a:bodyPr/>
          <a:lstStyle/>
          <a:p>
            <a:pPr algn="ctr" eaLnBrk="1" hangingPunct="1">
              <a:buFontTx/>
              <a:buNone/>
            </a:pPr>
            <a:r>
              <a:rPr lang="en-US"/>
              <a:t>The position and function of the MMU</a:t>
            </a:r>
          </a:p>
        </p:txBody>
      </p:sp>
      <p:pic>
        <p:nvPicPr>
          <p:cNvPr id="20485" name="Picture 5" descr="C:\B\b4\JPG\4-9.jpg"/>
          <p:cNvPicPr>
            <a:picLocks noChangeAspect="1" noChangeArrowheads="1"/>
          </p:cNvPicPr>
          <p:nvPr/>
        </p:nvPicPr>
        <p:blipFill>
          <a:blip r:embed="rId3" cstate="print"/>
          <a:srcRect/>
          <a:stretch>
            <a:fillRect/>
          </a:stretch>
        </p:blipFill>
        <p:spPr bwMode="auto">
          <a:xfrm>
            <a:off x="3086312" y="1606624"/>
            <a:ext cx="6106079" cy="3940257"/>
          </a:xfrm>
          <a:prstGeom prst="rect">
            <a:avLst/>
          </a:prstGeom>
          <a:noFill/>
          <a:ln w="9525">
            <a:noFill/>
            <a:miter lim="800000"/>
            <a:headEnd/>
            <a:tailEnd/>
          </a:ln>
        </p:spPr>
      </p:pic>
      <p:sp>
        <p:nvSpPr>
          <p:cNvPr id="16390" name="TextBox 5"/>
          <p:cNvSpPr txBox="1">
            <a:spLocks noChangeArrowheads="1"/>
          </p:cNvSpPr>
          <p:nvPr/>
        </p:nvSpPr>
        <p:spPr bwMode="auto">
          <a:xfrm>
            <a:off x="1955810" y="519505"/>
            <a:ext cx="2609145" cy="804824"/>
          </a:xfrm>
          <a:prstGeom prst="rect">
            <a:avLst/>
          </a:prstGeom>
          <a:noFill/>
          <a:ln w="9525">
            <a:noFill/>
            <a:miter lim="800000"/>
            <a:headEnd/>
            <a:tailEnd/>
          </a:ln>
        </p:spPr>
        <p:txBody>
          <a:bodyPr wrap="square" lIns="65520" tIns="32760" rIns="65520" bIns="32760">
            <a:spAutoFit/>
          </a:bodyPr>
          <a:lstStyle/>
          <a:p>
            <a:pPr algn="r" rtl="1"/>
            <a:r>
              <a:rPr lang="he-IL" sz="1600" dirty="0"/>
              <a:t>סביבת עבודה , </a:t>
            </a:r>
          </a:p>
          <a:p>
            <a:pPr algn="r" rtl="1"/>
            <a:r>
              <a:rPr lang="en-US" sz="1600" dirty="0"/>
              <a:t>locality of reference</a:t>
            </a:r>
            <a:endParaRPr lang="he-IL" sz="1600" dirty="0"/>
          </a:p>
          <a:p>
            <a:pPr algn="r" rtl="1"/>
            <a:r>
              <a:rPr lang="he-IL" sz="1600" dirty="0"/>
              <a:t>לא כל התהליך נדרש בזיכרון.</a:t>
            </a:r>
          </a:p>
        </p:txBody>
      </p:sp>
      <p:sp>
        <p:nvSpPr>
          <p:cNvPr id="7" name="מציין מיקום של תאריך 6"/>
          <p:cNvSpPr>
            <a:spLocks noGrp="1"/>
          </p:cNvSpPr>
          <p:nvPr>
            <p:ph type="dt" sz="half" idx="10"/>
          </p:nvPr>
        </p:nvSpPr>
        <p:spPr/>
        <p:txBody>
          <a:bodyPr/>
          <a:lstStyle/>
          <a:p>
            <a:pPr>
              <a:defRPr/>
            </a:pPr>
            <a:fld id="{CD04D99B-3D22-4EF7-9C4F-9F9757226134}"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circle(in)">
                                      <p:cBhvr>
                                        <p:cTn id="7" dur="20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מציין מיקום של מספר שקופית 5"/>
          <p:cNvSpPr>
            <a:spLocks noGrp="1"/>
          </p:cNvSpPr>
          <p:nvPr>
            <p:ph type="sldNum" sz="quarter" idx="12"/>
          </p:nvPr>
        </p:nvSpPr>
        <p:spPr>
          <a:noFill/>
        </p:spPr>
        <p:txBody>
          <a:bodyPr/>
          <a:lstStyle/>
          <a:p>
            <a:fld id="{145A0F39-7028-4781-B60A-DB86512A2731}" type="slidenum">
              <a:rPr lang="he-IL" smtClean="0"/>
              <a:pPr/>
              <a:t>29</a:t>
            </a:fld>
            <a:endParaRPr lang="en-US"/>
          </a:p>
        </p:txBody>
      </p:sp>
      <p:sp>
        <p:nvSpPr>
          <p:cNvPr id="21507" name="Rectangle 2"/>
          <p:cNvSpPr>
            <a:spLocks noGrp="1" noChangeArrowheads="1"/>
          </p:cNvSpPr>
          <p:nvPr>
            <p:ph type="title"/>
          </p:nvPr>
        </p:nvSpPr>
        <p:spPr/>
        <p:txBody>
          <a:bodyPr/>
          <a:lstStyle/>
          <a:p>
            <a:pPr algn="l" eaLnBrk="1" hangingPunct="1"/>
            <a:r>
              <a:rPr lang="en-US"/>
              <a:t>Paging (2)</a:t>
            </a:r>
          </a:p>
        </p:txBody>
      </p:sp>
      <p:sp>
        <p:nvSpPr>
          <p:cNvPr id="21508" name="Rectangle 3"/>
          <p:cNvSpPr>
            <a:spLocks noGrp="1" noChangeArrowheads="1"/>
          </p:cNvSpPr>
          <p:nvPr>
            <p:ph type="body" idx="1"/>
          </p:nvPr>
        </p:nvSpPr>
        <p:spPr>
          <a:xfrm>
            <a:off x="2301128" y="1981811"/>
            <a:ext cx="7773207" cy="4114800"/>
          </a:xfrm>
        </p:spPr>
        <p:txBody>
          <a:bodyPr/>
          <a:lstStyle/>
          <a:p>
            <a:pPr eaLnBrk="1" hangingPunct="1">
              <a:buFontTx/>
              <a:buNone/>
            </a:pPr>
            <a:r>
              <a:rPr lang="en-US" sz="1900" dirty="0"/>
              <a:t>The relation between</a:t>
            </a:r>
            <a:br>
              <a:rPr lang="en-US" sz="1900" dirty="0"/>
            </a:br>
            <a:r>
              <a:rPr lang="en-US" sz="1900" dirty="0"/>
              <a:t>virtual addresses</a:t>
            </a:r>
            <a:br>
              <a:rPr lang="en-US" sz="1900" dirty="0"/>
            </a:br>
            <a:r>
              <a:rPr lang="en-US" sz="1900" dirty="0"/>
              <a:t>and physical </a:t>
            </a:r>
            <a:br>
              <a:rPr lang="en-US" sz="1900" dirty="0"/>
            </a:br>
            <a:r>
              <a:rPr lang="en-US" sz="1900" dirty="0"/>
              <a:t>memory addresses given by</a:t>
            </a:r>
            <a:br>
              <a:rPr lang="en-US" sz="1900" dirty="0"/>
            </a:br>
            <a:r>
              <a:rPr lang="en-US" sz="1900" dirty="0"/>
              <a:t>page table</a:t>
            </a:r>
          </a:p>
        </p:txBody>
      </p:sp>
      <p:sp>
        <p:nvSpPr>
          <p:cNvPr id="21509" name="TextBox 5"/>
          <p:cNvSpPr txBox="1">
            <a:spLocks noChangeArrowheads="1"/>
          </p:cNvSpPr>
          <p:nvPr/>
        </p:nvSpPr>
        <p:spPr bwMode="auto">
          <a:xfrm>
            <a:off x="3661841" y="325722"/>
            <a:ext cx="1062567" cy="804824"/>
          </a:xfrm>
          <a:prstGeom prst="rect">
            <a:avLst/>
          </a:prstGeom>
          <a:noFill/>
          <a:ln w="9525">
            <a:noFill/>
            <a:miter lim="800000"/>
            <a:headEnd/>
            <a:tailEnd/>
          </a:ln>
        </p:spPr>
        <p:txBody>
          <a:bodyPr wrap="square" lIns="65520" tIns="32760" rIns="65520" bIns="32760">
            <a:spAutoFit/>
          </a:bodyPr>
          <a:lstStyle/>
          <a:p>
            <a:pPr algn="r" rtl="1"/>
            <a:r>
              <a:rPr lang="he-IL" sz="1600" dirty="0"/>
              <a:t>מחלקים התהליך לדפים</a:t>
            </a:r>
          </a:p>
        </p:txBody>
      </p:sp>
      <p:sp>
        <p:nvSpPr>
          <p:cNvPr id="21510" name="TextBox 6"/>
          <p:cNvSpPr txBox="1">
            <a:spLocks noChangeArrowheads="1"/>
          </p:cNvSpPr>
          <p:nvPr/>
        </p:nvSpPr>
        <p:spPr bwMode="auto">
          <a:xfrm>
            <a:off x="8168325" y="2701974"/>
            <a:ext cx="792239" cy="1174155"/>
          </a:xfrm>
          <a:prstGeom prst="rect">
            <a:avLst/>
          </a:prstGeom>
          <a:noFill/>
          <a:ln w="9525">
            <a:noFill/>
            <a:miter lim="800000"/>
            <a:headEnd/>
            <a:tailEnd/>
          </a:ln>
        </p:spPr>
        <p:txBody>
          <a:bodyPr lIns="65520" tIns="32760" rIns="65520" bIns="32760">
            <a:spAutoFit/>
          </a:bodyPr>
          <a:lstStyle/>
          <a:p>
            <a:r>
              <a:rPr lang="he-IL"/>
              <a:t>זיכרון מחולק למסגרות</a:t>
            </a:r>
          </a:p>
        </p:txBody>
      </p:sp>
      <p:sp>
        <p:nvSpPr>
          <p:cNvPr id="21511" name="TextBox 7"/>
          <p:cNvSpPr txBox="1">
            <a:spLocks noChangeArrowheads="1"/>
          </p:cNvSpPr>
          <p:nvPr/>
        </p:nvSpPr>
        <p:spPr bwMode="auto">
          <a:xfrm>
            <a:off x="8370921" y="766891"/>
            <a:ext cx="1677207" cy="1174155"/>
          </a:xfrm>
          <a:prstGeom prst="rect">
            <a:avLst/>
          </a:prstGeom>
          <a:noFill/>
          <a:ln w="9525">
            <a:noFill/>
            <a:miter lim="800000"/>
            <a:headEnd/>
            <a:tailEnd/>
          </a:ln>
        </p:spPr>
        <p:txBody>
          <a:bodyPr lIns="65520" tIns="32760" rIns="65520" bIns="32760">
            <a:spAutoFit/>
          </a:bodyPr>
          <a:lstStyle/>
          <a:p>
            <a:r>
              <a:rPr lang="he-IL"/>
              <a:t>גודל מסגרת == גודל דף</a:t>
            </a:r>
          </a:p>
          <a:p>
            <a:r>
              <a:rPr lang="he-IL"/>
              <a:t>משכינים דף בתוך מסגרת</a:t>
            </a:r>
          </a:p>
        </p:txBody>
      </p:sp>
      <p:sp>
        <p:nvSpPr>
          <p:cNvPr id="21512" name="TextBox 8"/>
          <p:cNvSpPr txBox="1">
            <a:spLocks noChangeArrowheads="1"/>
          </p:cNvSpPr>
          <p:nvPr/>
        </p:nvSpPr>
        <p:spPr bwMode="auto">
          <a:xfrm>
            <a:off x="5114071" y="890731"/>
            <a:ext cx="847675" cy="620158"/>
          </a:xfrm>
          <a:prstGeom prst="rect">
            <a:avLst/>
          </a:prstGeom>
          <a:noFill/>
          <a:ln w="9525">
            <a:noFill/>
            <a:miter lim="800000"/>
            <a:headEnd/>
            <a:tailEnd/>
          </a:ln>
        </p:spPr>
        <p:txBody>
          <a:bodyPr lIns="65520" tIns="32760" rIns="65520" bIns="32760">
            <a:spAutoFit/>
          </a:bodyPr>
          <a:lstStyle/>
          <a:p>
            <a:r>
              <a:rPr lang="en-US" dirty="0"/>
              <a:t>Page </a:t>
            </a:r>
            <a:r>
              <a:rPr lang="en-US" dirty="0" err="1"/>
              <a:t>tbl</a:t>
            </a:r>
            <a:endParaRPr lang="he-IL" dirty="0"/>
          </a:p>
        </p:txBody>
      </p:sp>
      <p:sp>
        <p:nvSpPr>
          <p:cNvPr id="21513" name="TextBox 9"/>
          <p:cNvSpPr txBox="1">
            <a:spLocks noChangeArrowheads="1"/>
          </p:cNvSpPr>
          <p:nvPr/>
        </p:nvSpPr>
        <p:spPr bwMode="auto">
          <a:xfrm>
            <a:off x="3094892" y="3781881"/>
            <a:ext cx="2759808" cy="312381"/>
          </a:xfrm>
          <a:prstGeom prst="rect">
            <a:avLst/>
          </a:prstGeom>
          <a:noFill/>
          <a:ln w="9525">
            <a:noFill/>
            <a:miter lim="800000"/>
            <a:headEnd/>
            <a:tailEnd/>
          </a:ln>
        </p:spPr>
        <p:txBody>
          <a:bodyPr wrap="square" lIns="65520" tIns="32760" rIns="65520" bIns="32760">
            <a:spAutoFit/>
          </a:bodyPr>
          <a:lstStyle/>
          <a:p>
            <a:pPr algn="r" rtl="1"/>
            <a:r>
              <a:rPr lang="he-IL" sz="1600" dirty="0"/>
              <a:t>מה יקרה בפנייה ל </a:t>
            </a:r>
            <a:r>
              <a:rPr lang="en-US" sz="1600" dirty="0"/>
              <a:t>24K</a:t>
            </a:r>
            <a:r>
              <a:rPr lang="he-IL" sz="1600" dirty="0"/>
              <a:t> (דף 6) ?</a:t>
            </a:r>
          </a:p>
        </p:txBody>
      </p:sp>
      <p:sp>
        <p:nvSpPr>
          <p:cNvPr id="21515" name="מלבן 12"/>
          <p:cNvSpPr>
            <a:spLocks noChangeArrowheads="1"/>
          </p:cNvSpPr>
          <p:nvPr/>
        </p:nvSpPr>
        <p:spPr bwMode="auto">
          <a:xfrm>
            <a:off x="6776362" y="5240394"/>
            <a:ext cx="931333" cy="1017019"/>
          </a:xfrm>
          <a:prstGeom prst="rect">
            <a:avLst/>
          </a:prstGeom>
          <a:noFill/>
          <a:ln w="9525" algn="ctr">
            <a:noFill/>
            <a:round/>
            <a:headEnd/>
            <a:tailEnd/>
          </a:ln>
        </p:spPr>
        <p:txBody>
          <a:bodyPr lIns="65520" tIns="32760" rIns="65520" bIns="32760"/>
          <a:lstStyle/>
          <a:p>
            <a:endParaRPr lang="he-IL"/>
          </a:p>
        </p:txBody>
      </p:sp>
      <p:pic>
        <p:nvPicPr>
          <p:cNvPr id="21516" name="Picture 5" descr="C:\B\b4\JPG\foo\4-10.jpg"/>
          <p:cNvPicPr>
            <a:picLocks noChangeAspect="1" noChangeArrowheads="1"/>
          </p:cNvPicPr>
          <p:nvPr/>
        </p:nvPicPr>
        <p:blipFill>
          <a:blip r:embed="rId3" cstate="print"/>
          <a:srcRect/>
          <a:stretch>
            <a:fillRect/>
          </a:stretch>
        </p:blipFill>
        <p:spPr bwMode="auto">
          <a:xfrm>
            <a:off x="6068793" y="812243"/>
            <a:ext cx="3997476" cy="5710419"/>
          </a:xfrm>
          <a:prstGeom prst="rect">
            <a:avLst/>
          </a:prstGeom>
          <a:noFill/>
          <a:ln w="9525">
            <a:noFill/>
            <a:miter lim="800000"/>
            <a:headEnd/>
            <a:tailEnd/>
          </a:ln>
        </p:spPr>
      </p:pic>
      <p:sp>
        <p:nvSpPr>
          <p:cNvPr id="21517" name="מלבן 13"/>
          <p:cNvSpPr>
            <a:spLocks noChangeArrowheads="1"/>
          </p:cNvSpPr>
          <p:nvPr/>
        </p:nvSpPr>
        <p:spPr bwMode="auto">
          <a:xfrm>
            <a:off x="6786437" y="5252771"/>
            <a:ext cx="893032" cy="1004649"/>
          </a:xfrm>
          <a:prstGeom prst="rect">
            <a:avLst/>
          </a:prstGeom>
          <a:noFill/>
          <a:ln w="9525" algn="ctr">
            <a:noFill/>
            <a:round/>
            <a:headEnd/>
            <a:tailEnd/>
          </a:ln>
        </p:spPr>
        <p:txBody>
          <a:bodyPr lIns="65520" tIns="32760" rIns="65520" bIns="32760"/>
          <a:lstStyle/>
          <a:p>
            <a:endParaRPr lang="he-IL"/>
          </a:p>
        </p:txBody>
      </p:sp>
      <p:sp>
        <p:nvSpPr>
          <p:cNvPr id="21518" name="מלבן 14"/>
          <p:cNvSpPr>
            <a:spLocks noChangeArrowheads="1"/>
          </p:cNvSpPr>
          <p:nvPr/>
        </p:nvSpPr>
        <p:spPr bwMode="auto">
          <a:xfrm>
            <a:off x="6804589" y="4222010"/>
            <a:ext cx="894039" cy="1004649"/>
          </a:xfrm>
          <a:prstGeom prst="rect">
            <a:avLst/>
          </a:prstGeom>
          <a:noFill/>
          <a:ln w="9525" algn="ctr">
            <a:noFill/>
            <a:round/>
            <a:headEnd/>
            <a:tailEnd/>
          </a:ln>
        </p:spPr>
        <p:txBody>
          <a:bodyPr lIns="65520" tIns="32760" rIns="65520" bIns="32760"/>
          <a:lstStyle/>
          <a:p>
            <a:endParaRPr lang="he-IL"/>
          </a:p>
        </p:txBody>
      </p:sp>
      <p:sp>
        <p:nvSpPr>
          <p:cNvPr id="21519" name="מלבן 15"/>
          <p:cNvSpPr>
            <a:spLocks noChangeArrowheads="1"/>
          </p:cNvSpPr>
          <p:nvPr/>
        </p:nvSpPr>
        <p:spPr bwMode="auto">
          <a:xfrm>
            <a:off x="6731000" y="5302247"/>
            <a:ext cx="894040" cy="1006023"/>
          </a:xfrm>
          <a:prstGeom prst="rect">
            <a:avLst/>
          </a:prstGeom>
          <a:noFill/>
          <a:ln w="9525" algn="ctr">
            <a:noFill/>
            <a:round/>
            <a:headEnd/>
            <a:tailEnd/>
          </a:ln>
        </p:spPr>
        <p:txBody>
          <a:bodyPr lIns="65520" tIns="32760" rIns="65520" bIns="32760"/>
          <a:lstStyle/>
          <a:p>
            <a:endParaRPr lang="he-IL"/>
          </a:p>
        </p:txBody>
      </p:sp>
      <p:sp>
        <p:nvSpPr>
          <p:cNvPr id="21520" name="מלבן 16"/>
          <p:cNvSpPr>
            <a:spLocks noChangeArrowheads="1"/>
          </p:cNvSpPr>
          <p:nvPr/>
        </p:nvSpPr>
        <p:spPr bwMode="auto">
          <a:xfrm>
            <a:off x="6860016" y="4197272"/>
            <a:ext cx="894040" cy="1004649"/>
          </a:xfrm>
          <a:prstGeom prst="rect">
            <a:avLst/>
          </a:prstGeom>
          <a:noFill/>
          <a:ln w="9525" algn="ctr">
            <a:noFill/>
            <a:round/>
            <a:headEnd/>
            <a:tailEnd/>
          </a:ln>
        </p:spPr>
        <p:txBody>
          <a:bodyPr lIns="65520" tIns="32760" rIns="65520" bIns="32760"/>
          <a:lstStyle/>
          <a:p>
            <a:endParaRPr lang="he-IL"/>
          </a:p>
        </p:txBody>
      </p:sp>
      <p:sp>
        <p:nvSpPr>
          <p:cNvPr id="21521" name="מלבן 17"/>
          <p:cNvSpPr>
            <a:spLocks noChangeArrowheads="1"/>
          </p:cNvSpPr>
          <p:nvPr/>
        </p:nvSpPr>
        <p:spPr bwMode="auto">
          <a:xfrm>
            <a:off x="6776368" y="5252771"/>
            <a:ext cx="784175" cy="904321"/>
          </a:xfrm>
          <a:prstGeom prst="rect">
            <a:avLst/>
          </a:prstGeom>
          <a:noFill/>
          <a:ln w="9525" algn="ctr">
            <a:noFill/>
            <a:round/>
            <a:headEnd/>
            <a:tailEnd/>
          </a:ln>
        </p:spPr>
        <p:txBody>
          <a:bodyPr lIns="65520" tIns="32760" rIns="65520" bIns="32760"/>
          <a:lstStyle/>
          <a:p>
            <a:endParaRPr lang="he-IL"/>
          </a:p>
        </p:txBody>
      </p:sp>
      <p:sp>
        <p:nvSpPr>
          <p:cNvPr id="21522" name="מלבן 18"/>
          <p:cNvSpPr>
            <a:spLocks noChangeArrowheads="1"/>
          </p:cNvSpPr>
          <p:nvPr/>
        </p:nvSpPr>
        <p:spPr bwMode="auto">
          <a:xfrm>
            <a:off x="6860025" y="1759176"/>
            <a:ext cx="783167" cy="904321"/>
          </a:xfrm>
          <a:prstGeom prst="rect">
            <a:avLst/>
          </a:prstGeom>
          <a:noFill/>
          <a:ln w="9525" algn="ctr">
            <a:noFill/>
            <a:round/>
            <a:headEnd/>
            <a:tailEnd/>
          </a:ln>
        </p:spPr>
        <p:txBody>
          <a:bodyPr lIns="65520" tIns="32760" rIns="65520" bIns="32760"/>
          <a:lstStyle/>
          <a:p>
            <a:endParaRPr lang="he-IL"/>
          </a:p>
        </p:txBody>
      </p:sp>
      <p:sp>
        <p:nvSpPr>
          <p:cNvPr id="21523" name="TextBox 18"/>
          <p:cNvSpPr txBox="1">
            <a:spLocks noChangeArrowheads="1"/>
          </p:cNvSpPr>
          <p:nvPr/>
        </p:nvSpPr>
        <p:spPr bwMode="auto">
          <a:xfrm>
            <a:off x="1852966" y="5745347"/>
            <a:ext cx="1834444" cy="620158"/>
          </a:xfrm>
          <a:prstGeom prst="rect">
            <a:avLst/>
          </a:prstGeom>
          <a:noFill/>
          <a:ln w="9525">
            <a:noFill/>
            <a:miter lim="800000"/>
            <a:headEnd/>
            <a:tailEnd/>
          </a:ln>
        </p:spPr>
        <p:txBody>
          <a:bodyPr lIns="65520" tIns="32760" rIns="65520" bIns="32760">
            <a:spAutoFit/>
          </a:bodyPr>
          <a:lstStyle/>
          <a:p>
            <a:r>
              <a:rPr lang="en-US" dirty="0" err="1"/>
              <a:t>v.m</a:t>
            </a:r>
            <a:r>
              <a:rPr lang="en-US" dirty="0"/>
              <a:t>=819</a:t>
            </a:r>
            <a:r>
              <a:rPr lang="he-IL" dirty="0"/>
              <a:t>6</a:t>
            </a:r>
            <a:r>
              <a:rPr lang="en-US" dirty="0"/>
              <a:t> -&gt; ph.mem=???</a:t>
            </a:r>
          </a:p>
        </p:txBody>
      </p:sp>
      <p:sp>
        <p:nvSpPr>
          <p:cNvPr id="21524" name="TextBox 19"/>
          <p:cNvSpPr txBox="1">
            <a:spLocks noChangeArrowheads="1"/>
          </p:cNvSpPr>
          <p:nvPr/>
        </p:nvSpPr>
        <p:spPr bwMode="auto">
          <a:xfrm>
            <a:off x="2408974" y="1307009"/>
            <a:ext cx="1439132" cy="312381"/>
          </a:xfrm>
          <a:prstGeom prst="rect">
            <a:avLst/>
          </a:prstGeom>
          <a:noFill/>
          <a:ln w="9525">
            <a:noFill/>
            <a:miter lim="800000"/>
            <a:headEnd/>
            <a:tailEnd/>
          </a:ln>
        </p:spPr>
        <p:txBody>
          <a:bodyPr wrap="square" lIns="65520" tIns="32760" rIns="65520" bIns="32760">
            <a:spAutoFit/>
          </a:bodyPr>
          <a:lstStyle/>
          <a:p>
            <a:r>
              <a:rPr lang="en-US" sz="1600" dirty="0"/>
              <a:t>Page==frame</a:t>
            </a:r>
            <a:endParaRPr lang="he-IL" sz="1600" dirty="0"/>
          </a:p>
        </p:txBody>
      </p:sp>
      <p:sp>
        <p:nvSpPr>
          <p:cNvPr id="21525" name="TextBox 20"/>
          <p:cNvSpPr txBox="1">
            <a:spLocks noChangeArrowheads="1"/>
          </p:cNvSpPr>
          <p:nvPr/>
        </p:nvSpPr>
        <p:spPr bwMode="auto">
          <a:xfrm>
            <a:off x="7772207" y="503015"/>
            <a:ext cx="2552903" cy="712491"/>
          </a:xfrm>
          <a:prstGeom prst="rect">
            <a:avLst/>
          </a:prstGeom>
          <a:noFill/>
          <a:ln w="9525">
            <a:noFill/>
            <a:miter lim="800000"/>
            <a:headEnd/>
            <a:tailEnd/>
          </a:ln>
        </p:spPr>
        <p:txBody>
          <a:bodyPr wrap="square" lIns="65520" tIns="32760" rIns="65520" bIns="32760">
            <a:spAutoFit/>
          </a:bodyPr>
          <a:lstStyle/>
          <a:p>
            <a:pPr algn="r" rtl="1"/>
            <a:r>
              <a:rPr lang="en-US" sz="1400" dirty="0"/>
              <a:t>Locality of </a:t>
            </a:r>
            <a:r>
              <a:rPr lang="en-US" sz="1400" dirty="0" err="1"/>
              <a:t>refference</a:t>
            </a:r>
            <a:endParaRPr lang="en-US" sz="1400" dirty="0"/>
          </a:p>
          <a:p>
            <a:pPr algn="r" rtl="1"/>
            <a:r>
              <a:rPr lang="he-IL" sz="1400" dirty="0"/>
              <a:t>הנחת מודל סביבת עבודה</a:t>
            </a:r>
          </a:p>
          <a:p>
            <a:pPr algn="r" rtl="1"/>
            <a:r>
              <a:rPr lang="he-IL" sz="1400" dirty="0"/>
              <a:t>לא צריך את כל התהליך בזיכרון</a:t>
            </a:r>
          </a:p>
        </p:txBody>
      </p:sp>
      <p:cxnSp>
        <p:nvCxnSpPr>
          <p:cNvPr id="21526" name="מחבר חץ ישר 22"/>
          <p:cNvCxnSpPr>
            <a:cxnSpLocks noChangeShapeType="1"/>
          </p:cNvCxnSpPr>
          <p:nvPr/>
        </p:nvCxnSpPr>
        <p:spPr bwMode="auto">
          <a:xfrm>
            <a:off x="8141111" y="5944061"/>
            <a:ext cx="165303" cy="24739"/>
          </a:xfrm>
          <a:prstGeom prst="straightConnector1">
            <a:avLst/>
          </a:prstGeom>
          <a:noFill/>
          <a:ln w="9525" algn="ctr">
            <a:solidFill>
              <a:schemeClr val="tx1"/>
            </a:solidFill>
            <a:round/>
            <a:headEnd/>
            <a:tailEnd type="arrow" w="med" len="med"/>
          </a:ln>
        </p:spPr>
      </p:cxnSp>
      <p:cxnSp>
        <p:nvCxnSpPr>
          <p:cNvPr id="21527" name="מחבר חץ ישר 24"/>
          <p:cNvCxnSpPr>
            <a:cxnSpLocks noChangeShapeType="1"/>
          </p:cNvCxnSpPr>
          <p:nvPr/>
        </p:nvCxnSpPr>
        <p:spPr bwMode="auto">
          <a:xfrm>
            <a:off x="8186460" y="5604601"/>
            <a:ext cx="138088" cy="37108"/>
          </a:xfrm>
          <a:prstGeom prst="straightConnector1">
            <a:avLst/>
          </a:prstGeom>
          <a:noFill/>
          <a:ln w="9525" algn="ctr">
            <a:solidFill>
              <a:schemeClr val="tx1"/>
            </a:solidFill>
            <a:round/>
            <a:headEnd/>
            <a:tailEnd type="arrow" w="med" len="med"/>
          </a:ln>
        </p:spPr>
      </p:cxnSp>
      <p:sp>
        <p:nvSpPr>
          <p:cNvPr id="25" name="מציין מיקום של תאריך 24"/>
          <p:cNvSpPr>
            <a:spLocks noGrp="1"/>
          </p:cNvSpPr>
          <p:nvPr>
            <p:ph type="dt" sz="half" idx="10"/>
          </p:nvPr>
        </p:nvSpPr>
        <p:spPr/>
        <p:txBody>
          <a:bodyPr/>
          <a:lstStyle/>
          <a:p>
            <a:pPr>
              <a:defRPr/>
            </a:pPr>
            <a:fld id="{D4388B88-12D8-4DED-A872-6289C3AB06DF}" type="datetime12">
              <a:rPr lang="he-IL" smtClean="0"/>
              <a:pPr>
                <a:defRPr/>
              </a:pPr>
              <a:t>28/01/2024 18:13</a:t>
            </a:fld>
            <a:endParaRPr lang="en-US"/>
          </a:p>
        </p:txBody>
      </p:sp>
      <p:sp>
        <p:nvSpPr>
          <p:cNvPr id="24" name="TextBox 9"/>
          <p:cNvSpPr txBox="1">
            <a:spLocks noChangeArrowheads="1"/>
          </p:cNvSpPr>
          <p:nvPr/>
        </p:nvSpPr>
        <p:spPr bwMode="auto">
          <a:xfrm>
            <a:off x="3094892" y="4157686"/>
            <a:ext cx="2759808" cy="1789709"/>
          </a:xfrm>
          <a:prstGeom prst="rect">
            <a:avLst/>
          </a:prstGeom>
          <a:noFill/>
          <a:ln w="9525">
            <a:noFill/>
            <a:miter lim="800000"/>
            <a:headEnd/>
            <a:tailEnd/>
          </a:ln>
        </p:spPr>
        <p:txBody>
          <a:bodyPr wrap="square" lIns="65520" tIns="32760" rIns="65520" bIns="32760">
            <a:spAutoFit/>
          </a:bodyPr>
          <a:lstStyle/>
          <a:p>
            <a:pPr algn="r" rtl="1"/>
            <a:r>
              <a:rPr lang="he-IL" sz="1600" dirty="0"/>
              <a:t>שגיאת דף == </a:t>
            </a:r>
            <a:r>
              <a:rPr lang="en-US" sz="1600" dirty="0"/>
              <a:t>page fault</a:t>
            </a:r>
          </a:p>
          <a:p>
            <a:pPr algn="r" rtl="1"/>
            <a:r>
              <a:rPr lang="he-IL" sz="1600" dirty="0"/>
              <a:t>הפסקת התהליך, מ"ה מבקשת את טעינת הדף (לפעמים דורש פינוי מסגרת) לאחר שהדף נטען במסגרת ניתן לחזור לתהליך.</a:t>
            </a:r>
          </a:p>
          <a:p>
            <a:pPr algn="r" rtl="1"/>
            <a:r>
              <a:rPr lang="he-IL" sz="1600" dirty="0"/>
              <a:t>גלגול הפקודה לאחור.</a:t>
            </a:r>
          </a:p>
          <a:p>
            <a:pPr algn="r" rtl="1"/>
            <a:r>
              <a:rPr lang="en-US" sz="1600" dirty="0"/>
              <a:t> ==Thrashing</a:t>
            </a:r>
            <a:r>
              <a:rPr lang="he-IL" sz="1600" dirty="0"/>
              <a:t>סחרור</a:t>
            </a:r>
          </a:p>
        </p:txBody>
      </p:sp>
      <p:graphicFrame>
        <p:nvGraphicFramePr>
          <p:cNvPr id="2" name="טבלה 1">
            <a:extLst>
              <a:ext uri="{FF2B5EF4-FFF2-40B4-BE49-F238E27FC236}">
                <a16:creationId xmlns:a16="http://schemas.microsoft.com/office/drawing/2014/main" id="{75B64E3D-F549-23E7-5684-1EA649EAD110}"/>
              </a:ext>
            </a:extLst>
          </p:cNvPr>
          <p:cNvGraphicFramePr>
            <a:graphicFrameLocks noGrp="1"/>
          </p:cNvGraphicFramePr>
          <p:nvPr>
            <p:extLst>
              <p:ext uri="{D42A27DB-BD31-4B8C-83A1-F6EECF244321}">
                <p14:modId xmlns:p14="http://schemas.microsoft.com/office/powerpoint/2010/main" val="3903457003"/>
              </p:ext>
            </p:extLst>
          </p:nvPr>
        </p:nvGraphicFramePr>
        <p:xfrm>
          <a:off x="10714947" y="1510888"/>
          <a:ext cx="725498" cy="4585728"/>
        </p:xfrm>
        <a:graphic>
          <a:graphicData uri="http://schemas.openxmlformats.org/drawingml/2006/table">
            <a:tbl>
              <a:tblPr rtl="1" firstRow="1" bandRow="1"/>
              <a:tblGrid>
                <a:gridCol w="725498">
                  <a:extLst>
                    <a:ext uri="{9D8B030D-6E8A-4147-A177-3AD203B41FA5}">
                      <a16:colId xmlns:a16="http://schemas.microsoft.com/office/drawing/2014/main" val="620297726"/>
                    </a:ext>
                  </a:extLst>
                </a:gridCol>
              </a:tblGrid>
              <a:tr h="286608">
                <a:tc>
                  <a:txBody>
                    <a:bodyPr/>
                    <a:lstStyle/>
                    <a:p>
                      <a:pPr marL="0" algn="ctr" rtl="1" eaLnBrk="1" fontAlgn="t" latinLnBrk="0" hangingPunct="1">
                        <a:spcBef>
                          <a:spcPts val="0"/>
                        </a:spcBef>
                        <a:spcAft>
                          <a:spcPts val="0"/>
                        </a:spcAft>
                      </a:pPr>
                      <a:r>
                        <a:rPr lang="en-US" sz="1300" b="0" i="0" u="none" strike="noStrike" dirty="0">
                          <a:effectLst/>
                          <a:latin typeface="Arial" panose="020B0604020202020204" pitchFamily="34" charset="0"/>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3758270"/>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380983"/>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6228116"/>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2148961"/>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4438331"/>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4699432"/>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7155681"/>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0579757"/>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4962986"/>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837673"/>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5</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2659806"/>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7862834"/>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0915580"/>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7</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5914119"/>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537406"/>
                  </a:ext>
                </a:extLst>
              </a:tr>
              <a:tr h="286608">
                <a:tc>
                  <a:txBody>
                    <a:bodyPr/>
                    <a:lstStyle/>
                    <a:p>
                      <a:pPr marL="0" algn="ctr" rtl="1" eaLnBrk="1" fontAlgn="t" latinLnBrk="0" hangingPunct="1">
                        <a:spcBef>
                          <a:spcPts val="0"/>
                        </a:spcBef>
                        <a:spcAft>
                          <a:spcPts val="0"/>
                        </a:spcAft>
                      </a:pPr>
                      <a:r>
                        <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X</a:t>
                      </a:r>
                      <a:endParaRPr lang="en-IL" sz="1300" b="0" i="0" u="none" strike="noStrike" dirty="0">
                        <a:effectLst/>
                        <a:latin typeface="Arial" panose="020B0604020202020204" pitchFamily="34" charset="0"/>
                      </a:endParaRPr>
                    </a:p>
                  </a:txBody>
                  <a:tcPr marL="58039" marR="58039" marT="39624" marB="3962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604452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מציין מיקום של מספר שקופית 5"/>
          <p:cNvSpPr>
            <a:spLocks noGrp="1"/>
          </p:cNvSpPr>
          <p:nvPr>
            <p:ph type="sldNum" sz="quarter" idx="12"/>
          </p:nvPr>
        </p:nvSpPr>
        <p:spPr>
          <a:noFill/>
        </p:spPr>
        <p:txBody>
          <a:bodyPr/>
          <a:lstStyle/>
          <a:p>
            <a:fld id="{9C055942-F46A-4A61-9913-B29BCFBF116A}" type="slidenum">
              <a:rPr lang="he-IL" smtClean="0"/>
              <a:pPr/>
              <a:t>30</a:t>
            </a:fld>
            <a:endParaRPr lang="en-US"/>
          </a:p>
        </p:txBody>
      </p:sp>
      <p:sp>
        <p:nvSpPr>
          <p:cNvPr id="22531" name="Rectangle 2"/>
          <p:cNvSpPr>
            <a:spLocks noGrp="1" noChangeArrowheads="1"/>
          </p:cNvSpPr>
          <p:nvPr>
            <p:ph type="title"/>
          </p:nvPr>
        </p:nvSpPr>
        <p:spPr>
          <a:xfrm>
            <a:off x="4171857" y="228146"/>
            <a:ext cx="3975303" cy="736651"/>
          </a:xfrm>
        </p:spPr>
        <p:txBody>
          <a:bodyPr/>
          <a:lstStyle/>
          <a:p>
            <a:pPr algn="l" eaLnBrk="1" hangingPunct="1"/>
            <a:r>
              <a:rPr lang="en-US" dirty="0"/>
              <a:t>Page  Tables (1)</a:t>
            </a:r>
            <a:endParaRPr lang="en-US" sz="2600" dirty="0"/>
          </a:p>
        </p:txBody>
      </p:sp>
      <p:sp>
        <p:nvSpPr>
          <p:cNvPr id="22532" name="Rectangle 3"/>
          <p:cNvSpPr>
            <a:spLocks noGrp="1" noChangeArrowheads="1"/>
          </p:cNvSpPr>
          <p:nvPr>
            <p:ph type="body" idx="1"/>
          </p:nvPr>
        </p:nvSpPr>
        <p:spPr>
          <a:xfrm>
            <a:off x="2209401" y="6172200"/>
            <a:ext cx="8458603" cy="685800"/>
          </a:xfrm>
        </p:spPr>
        <p:txBody>
          <a:bodyPr/>
          <a:lstStyle/>
          <a:p>
            <a:pPr eaLnBrk="1" hangingPunct="1">
              <a:buFontTx/>
              <a:buNone/>
            </a:pPr>
            <a:r>
              <a:rPr lang="en-US"/>
              <a:t>Internal operation of MMU with 16 4 KB pages</a:t>
            </a:r>
          </a:p>
        </p:txBody>
      </p:sp>
      <p:pic>
        <p:nvPicPr>
          <p:cNvPr id="22533" name="Picture 5" descr="C:\B\b4\JPG\foo\4-11.jpg"/>
          <p:cNvPicPr>
            <a:picLocks noChangeAspect="1" noChangeArrowheads="1"/>
          </p:cNvPicPr>
          <p:nvPr/>
        </p:nvPicPr>
        <p:blipFill>
          <a:blip r:embed="rId3" cstate="print"/>
          <a:srcRect/>
          <a:stretch>
            <a:fillRect/>
          </a:stretch>
        </p:blipFill>
        <p:spPr bwMode="auto">
          <a:xfrm>
            <a:off x="4273661" y="1194317"/>
            <a:ext cx="4336143" cy="4790980"/>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89DE7D51-C262-43CC-8AAA-91648DA1C21E}" type="datetime12">
              <a:rPr lang="he-IL" smtClean="0"/>
              <a:pPr>
                <a:defRPr/>
              </a:pPr>
              <a:t>28/01/2024 18:13</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מציין מיקום של מספר שקופית 5"/>
          <p:cNvSpPr>
            <a:spLocks noGrp="1"/>
          </p:cNvSpPr>
          <p:nvPr>
            <p:ph type="sldNum" sz="quarter" idx="12"/>
          </p:nvPr>
        </p:nvSpPr>
        <p:spPr>
          <a:noFill/>
        </p:spPr>
        <p:txBody>
          <a:bodyPr/>
          <a:lstStyle/>
          <a:p>
            <a:fld id="{07E939B9-2191-43E1-AF0F-53A5D4857C7F}" type="slidenum">
              <a:rPr lang="he-IL" smtClean="0"/>
              <a:pPr/>
              <a:t>31</a:t>
            </a:fld>
            <a:endParaRPr lang="en-US"/>
          </a:p>
        </p:txBody>
      </p:sp>
      <p:sp>
        <p:nvSpPr>
          <p:cNvPr id="23555" name="Rectangle 2"/>
          <p:cNvSpPr>
            <a:spLocks noGrp="1" noChangeArrowheads="1"/>
          </p:cNvSpPr>
          <p:nvPr>
            <p:ph type="title"/>
          </p:nvPr>
        </p:nvSpPr>
        <p:spPr/>
        <p:txBody>
          <a:bodyPr/>
          <a:lstStyle/>
          <a:p>
            <a:pPr eaLnBrk="1" hangingPunct="1"/>
            <a:r>
              <a:rPr lang="en-US"/>
              <a:t>Page Tables (3)</a:t>
            </a:r>
          </a:p>
        </p:txBody>
      </p:sp>
      <p:sp>
        <p:nvSpPr>
          <p:cNvPr id="23556" name="Rectangle 3"/>
          <p:cNvSpPr>
            <a:spLocks noGrp="1" noChangeArrowheads="1"/>
          </p:cNvSpPr>
          <p:nvPr>
            <p:ph type="body" idx="1"/>
          </p:nvPr>
        </p:nvSpPr>
        <p:spPr>
          <a:xfrm>
            <a:off x="2209405" y="5105716"/>
            <a:ext cx="7773207" cy="990905"/>
          </a:xfrm>
        </p:spPr>
        <p:txBody>
          <a:bodyPr/>
          <a:lstStyle/>
          <a:p>
            <a:pPr algn="ctr" eaLnBrk="1" hangingPunct="1">
              <a:buFontTx/>
              <a:buNone/>
            </a:pPr>
            <a:r>
              <a:rPr lang="en-US"/>
              <a:t>Typical page table entry</a:t>
            </a:r>
          </a:p>
        </p:txBody>
      </p:sp>
      <p:pic>
        <p:nvPicPr>
          <p:cNvPr id="23557" name="Picture 5" descr="C:\B\b4\JPG\foo\4-13.jpg"/>
          <p:cNvPicPr>
            <a:picLocks noChangeAspect="1" noChangeArrowheads="1"/>
          </p:cNvPicPr>
          <p:nvPr/>
        </p:nvPicPr>
        <p:blipFill>
          <a:blip r:embed="rId3" cstate="print"/>
          <a:srcRect/>
          <a:stretch>
            <a:fillRect/>
          </a:stretch>
        </p:blipFill>
        <p:spPr bwMode="auto">
          <a:xfrm>
            <a:off x="1876779" y="1932343"/>
            <a:ext cx="8502952" cy="2285543"/>
          </a:xfrm>
          <a:prstGeom prst="rect">
            <a:avLst/>
          </a:prstGeom>
          <a:noFill/>
          <a:ln w="9525">
            <a:noFill/>
            <a:miter lim="800000"/>
            <a:headEnd/>
            <a:tailEnd/>
          </a:ln>
        </p:spPr>
      </p:pic>
      <p:sp>
        <p:nvSpPr>
          <p:cNvPr id="23558" name="TextBox 5"/>
          <p:cNvSpPr txBox="1">
            <a:spLocks noChangeArrowheads="1"/>
          </p:cNvSpPr>
          <p:nvPr/>
        </p:nvSpPr>
        <p:spPr bwMode="auto">
          <a:xfrm>
            <a:off x="4048889" y="1858939"/>
            <a:ext cx="1183519" cy="312381"/>
          </a:xfrm>
          <a:prstGeom prst="rect">
            <a:avLst/>
          </a:prstGeom>
          <a:noFill/>
          <a:ln w="9525">
            <a:noFill/>
            <a:miter lim="800000"/>
            <a:headEnd/>
            <a:tailEnd/>
          </a:ln>
        </p:spPr>
        <p:txBody>
          <a:bodyPr wrap="square" lIns="65520" tIns="32760" rIns="65520" bIns="32760">
            <a:spAutoFit/>
          </a:bodyPr>
          <a:lstStyle/>
          <a:p>
            <a:r>
              <a:rPr lang="en-US" sz="1600" dirty="0"/>
              <a:t>Dirty bit</a:t>
            </a:r>
            <a:endParaRPr lang="he-IL" sz="1600" dirty="0"/>
          </a:p>
        </p:txBody>
      </p:sp>
      <p:sp>
        <p:nvSpPr>
          <p:cNvPr id="23559" name="TextBox 6"/>
          <p:cNvSpPr txBox="1">
            <a:spLocks noChangeArrowheads="1"/>
          </p:cNvSpPr>
          <p:nvPr/>
        </p:nvSpPr>
        <p:spPr bwMode="auto">
          <a:xfrm>
            <a:off x="2131796" y="3933390"/>
            <a:ext cx="1152071" cy="897157"/>
          </a:xfrm>
          <a:prstGeom prst="rect">
            <a:avLst/>
          </a:prstGeom>
          <a:noFill/>
          <a:ln w="9525">
            <a:noFill/>
            <a:miter lim="800000"/>
            <a:headEnd/>
            <a:tailEnd/>
          </a:ln>
        </p:spPr>
        <p:txBody>
          <a:bodyPr lIns="65520" tIns="32760" rIns="65520" bIns="32760">
            <a:spAutoFit/>
          </a:bodyPr>
          <a:lstStyle/>
          <a:p>
            <a:pPr algn="r" rtl="1"/>
            <a:r>
              <a:rPr lang="he-IL"/>
              <a:t>נעילת דפים בזיכרון. אסור לפַנות</a:t>
            </a:r>
          </a:p>
        </p:txBody>
      </p:sp>
      <p:cxnSp>
        <p:nvCxnSpPr>
          <p:cNvPr id="23560" name="מחבר חץ ישר 8"/>
          <p:cNvCxnSpPr>
            <a:cxnSpLocks noChangeShapeType="1"/>
          </p:cNvCxnSpPr>
          <p:nvPr/>
        </p:nvCxnSpPr>
        <p:spPr bwMode="auto">
          <a:xfrm rot="5400000" flipH="1" flipV="1">
            <a:off x="2720401" y="3612110"/>
            <a:ext cx="427423" cy="239889"/>
          </a:xfrm>
          <a:prstGeom prst="straightConnector1">
            <a:avLst/>
          </a:prstGeom>
          <a:noFill/>
          <a:ln w="9525" algn="ctr">
            <a:solidFill>
              <a:schemeClr val="tx1"/>
            </a:solidFill>
            <a:round/>
            <a:headEnd/>
            <a:tailEnd type="arrow" w="med" len="med"/>
          </a:ln>
        </p:spPr>
      </p:cxnSp>
      <p:sp>
        <p:nvSpPr>
          <p:cNvPr id="9" name="מציין מיקום של תאריך 8"/>
          <p:cNvSpPr>
            <a:spLocks noGrp="1"/>
          </p:cNvSpPr>
          <p:nvPr>
            <p:ph type="dt" sz="half" idx="10"/>
          </p:nvPr>
        </p:nvSpPr>
        <p:spPr/>
        <p:txBody>
          <a:bodyPr/>
          <a:lstStyle/>
          <a:p>
            <a:pPr>
              <a:defRPr/>
            </a:pPr>
            <a:fld id="{11D556FE-714F-40CB-AC5D-12AB82B45528}" type="datetime12">
              <a:rPr lang="he-IL" smtClean="0"/>
              <a:pPr>
                <a:defRPr/>
              </a:pPr>
              <a:t>28/01/2024 18:13</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descr="C:\B\b4\JPG\foo\4-12.jpg"/>
          <p:cNvPicPr>
            <a:picLocks noChangeAspect="1" noChangeArrowheads="1"/>
          </p:cNvPicPr>
          <p:nvPr/>
        </p:nvPicPr>
        <p:blipFill>
          <a:blip r:embed="rId3" cstate="print"/>
          <a:srcRect/>
          <a:stretch>
            <a:fillRect/>
          </a:stretch>
        </p:blipFill>
        <p:spPr bwMode="auto">
          <a:xfrm>
            <a:off x="3615469" y="1257533"/>
            <a:ext cx="4181928" cy="4292091"/>
          </a:xfrm>
          <a:prstGeom prst="rect">
            <a:avLst/>
          </a:prstGeom>
          <a:noFill/>
          <a:ln w="9525">
            <a:noFill/>
            <a:miter lim="800000"/>
            <a:headEnd/>
            <a:tailEnd/>
          </a:ln>
        </p:spPr>
      </p:pic>
      <p:sp>
        <p:nvSpPr>
          <p:cNvPr id="24579" name="מציין מיקום של מספר שקופית 5"/>
          <p:cNvSpPr>
            <a:spLocks noGrp="1"/>
          </p:cNvSpPr>
          <p:nvPr>
            <p:ph type="sldNum" sz="quarter" idx="12"/>
          </p:nvPr>
        </p:nvSpPr>
        <p:spPr>
          <a:noFill/>
        </p:spPr>
        <p:txBody>
          <a:bodyPr/>
          <a:lstStyle/>
          <a:p>
            <a:fld id="{E62ADA0C-BE8E-4FE7-88CB-64BDA88AF715}" type="slidenum">
              <a:rPr lang="he-IL" smtClean="0"/>
              <a:pPr/>
              <a:t>32</a:t>
            </a:fld>
            <a:endParaRPr lang="en-US"/>
          </a:p>
        </p:txBody>
      </p:sp>
      <p:sp>
        <p:nvSpPr>
          <p:cNvPr id="24580" name="Rectangle 2"/>
          <p:cNvSpPr>
            <a:spLocks noGrp="1" noChangeArrowheads="1"/>
          </p:cNvSpPr>
          <p:nvPr>
            <p:ph type="title"/>
          </p:nvPr>
        </p:nvSpPr>
        <p:spPr>
          <a:xfrm>
            <a:off x="4421828" y="215778"/>
            <a:ext cx="4459111" cy="787501"/>
          </a:xfrm>
        </p:spPr>
        <p:txBody>
          <a:bodyPr/>
          <a:lstStyle/>
          <a:p>
            <a:pPr algn="l" eaLnBrk="1" hangingPunct="1"/>
            <a:r>
              <a:rPr lang="en-US" dirty="0"/>
              <a:t>Page Tables (2)</a:t>
            </a:r>
            <a:endParaRPr lang="en-US" sz="2600" dirty="0"/>
          </a:p>
        </p:txBody>
      </p:sp>
      <p:sp>
        <p:nvSpPr>
          <p:cNvPr id="24581" name="Rectangle 3"/>
          <p:cNvSpPr>
            <a:spLocks noGrp="1" noChangeArrowheads="1"/>
          </p:cNvSpPr>
          <p:nvPr>
            <p:ph type="body" idx="1"/>
          </p:nvPr>
        </p:nvSpPr>
        <p:spPr>
          <a:xfrm>
            <a:off x="2488604" y="5626592"/>
            <a:ext cx="7773207" cy="913943"/>
          </a:xfrm>
        </p:spPr>
        <p:txBody>
          <a:bodyPr/>
          <a:lstStyle/>
          <a:p>
            <a:pPr eaLnBrk="1" hangingPunct="1"/>
            <a:r>
              <a:rPr lang="en-US" sz="1600" dirty="0"/>
              <a:t>32 bit address with 2 page table fields</a:t>
            </a:r>
          </a:p>
          <a:p>
            <a:pPr eaLnBrk="1" hangingPunct="1"/>
            <a:r>
              <a:rPr lang="en-US" sz="1600" dirty="0"/>
              <a:t>Two-level page tables</a:t>
            </a:r>
          </a:p>
        </p:txBody>
      </p:sp>
      <p:sp>
        <p:nvSpPr>
          <p:cNvPr id="24582" name="Rectangle 6"/>
          <p:cNvSpPr>
            <a:spLocks noChangeArrowheads="1"/>
          </p:cNvSpPr>
          <p:nvPr/>
        </p:nvSpPr>
        <p:spPr bwMode="auto">
          <a:xfrm>
            <a:off x="5614207" y="4966898"/>
            <a:ext cx="481795" cy="265251"/>
          </a:xfrm>
          <a:prstGeom prst="rect">
            <a:avLst/>
          </a:prstGeom>
          <a:solidFill>
            <a:schemeClr val="bg1"/>
          </a:solidFill>
          <a:ln w="9525">
            <a:noFill/>
            <a:miter lim="800000"/>
            <a:headEnd/>
            <a:tailEnd/>
          </a:ln>
        </p:spPr>
        <p:txBody>
          <a:bodyPr wrap="none" lIns="59751" tIns="29875" rIns="59751" bIns="29875" anchor="ctr"/>
          <a:lstStyle/>
          <a:p>
            <a:endParaRPr lang="he-IL"/>
          </a:p>
        </p:txBody>
      </p:sp>
      <p:sp>
        <p:nvSpPr>
          <p:cNvPr id="24583" name="Rectangle 7"/>
          <p:cNvSpPr>
            <a:spLocks noChangeArrowheads="1"/>
          </p:cNvSpPr>
          <p:nvPr/>
        </p:nvSpPr>
        <p:spPr bwMode="auto">
          <a:xfrm>
            <a:off x="6426606" y="1245164"/>
            <a:ext cx="811389" cy="215773"/>
          </a:xfrm>
          <a:prstGeom prst="rect">
            <a:avLst/>
          </a:prstGeom>
          <a:solidFill>
            <a:schemeClr val="bg1"/>
          </a:solidFill>
          <a:ln w="9525">
            <a:noFill/>
            <a:miter lim="800000"/>
            <a:headEnd/>
            <a:tailEnd/>
          </a:ln>
        </p:spPr>
        <p:txBody>
          <a:bodyPr wrap="none" lIns="59751" tIns="29875" rIns="59751" bIns="29875" anchor="ctr"/>
          <a:lstStyle/>
          <a:p>
            <a:endParaRPr lang="he-IL"/>
          </a:p>
        </p:txBody>
      </p:sp>
      <p:sp>
        <p:nvSpPr>
          <p:cNvPr id="24584" name="Text Box 8"/>
          <p:cNvSpPr txBox="1">
            <a:spLocks noChangeArrowheads="1"/>
          </p:cNvSpPr>
          <p:nvPr/>
        </p:nvSpPr>
        <p:spPr bwMode="auto">
          <a:xfrm>
            <a:off x="6096000" y="1151711"/>
            <a:ext cx="991100" cy="152666"/>
          </a:xfrm>
          <a:prstGeom prst="rect">
            <a:avLst/>
          </a:prstGeom>
          <a:noFill/>
          <a:ln w="9525">
            <a:noFill/>
            <a:miter lim="800000"/>
            <a:headEnd/>
            <a:tailEnd/>
          </a:ln>
        </p:spPr>
        <p:txBody>
          <a:bodyPr wrap="none" lIns="59751" tIns="29875" rIns="59751" bIns="29875">
            <a:spAutoFit/>
          </a:bodyPr>
          <a:lstStyle/>
          <a:p>
            <a:r>
              <a:rPr lang="en-US" sz="600" dirty="0"/>
              <a:t>Second-level page tables</a:t>
            </a:r>
            <a:endParaRPr lang="en-US" dirty="0"/>
          </a:p>
        </p:txBody>
      </p:sp>
      <p:sp>
        <p:nvSpPr>
          <p:cNvPr id="24585" name="Rectangle 9"/>
          <p:cNvSpPr>
            <a:spLocks noChangeArrowheads="1"/>
          </p:cNvSpPr>
          <p:nvPr/>
        </p:nvSpPr>
        <p:spPr bwMode="auto">
          <a:xfrm>
            <a:off x="5220110" y="2565917"/>
            <a:ext cx="443492" cy="214399"/>
          </a:xfrm>
          <a:prstGeom prst="rect">
            <a:avLst/>
          </a:prstGeom>
          <a:solidFill>
            <a:schemeClr val="bg1"/>
          </a:solidFill>
          <a:ln w="9525">
            <a:noFill/>
            <a:miter lim="800000"/>
            <a:headEnd/>
            <a:tailEnd/>
          </a:ln>
        </p:spPr>
        <p:txBody>
          <a:bodyPr wrap="none" lIns="59751" tIns="29875" rIns="59751" bIns="29875" anchor="ctr"/>
          <a:lstStyle/>
          <a:p>
            <a:endParaRPr lang="he-IL"/>
          </a:p>
        </p:txBody>
      </p:sp>
      <p:sp>
        <p:nvSpPr>
          <p:cNvPr id="24586" name="Text Box 10"/>
          <p:cNvSpPr txBox="1">
            <a:spLocks noChangeArrowheads="1"/>
          </p:cNvSpPr>
          <p:nvPr/>
        </p:nvSpPr>
        <p:spPr bwMode="auto">
          <a:xfrm>
            <a:off x="5037668" y="2403745"/>
            <a:ext cx="482948" cy="244999"/>
          </a:xfrm>
          <a:prstGeom prst="rect">
            <a:avLst/>
          </a:prstGeom>
          <a:noFill/>
          <a:ln w="9525">
            <a:noFill/>
            <a:miter lim="800000"/>
            <a:headEnd/>
            <a:tailEnd/>
          </a:ln>
        </p:spPr>
        <p:txBody>
          <a:bodyPr wrap="none" lIns="59751" tIns="29875" rIns="59751" bIns="29875">
            <a:spAutoFit/>
          </a:bodyPr>
          <a:lstStyle/>
          <a:p>
            <a:r>
              <a:rPr lang="en-US" sz="600" dirty="0"/>
              <a:t>Top-level </a:t>
            </a:r>
          </a:p>
          <a:p>
            <a:r>
              <a:rPr lang="en-US" sz="600" dirty="0"/>
              <a:t>page table</a:t>
            </a:r>
            <a:endParaRPr lang="en-US" dirty="0"/>
          </a:p>
        </p:txBody>
      </p:sp>
      <p:sp>
        <p:nvSpPr>
          <p:cNvPr id="24587" name="TextBox 10"/>
          <p:cNvSpPr txBox="1">
            <a:spLocks noChangeArrowheads="1"/>
          </p:cNvSpPr>
          <p:nvPr/>
        </p:nvSpPr>
        <p:spPr bwMode="auto">
          <a:xfrm>
            <a:off x="2408979" y="791629"/>
            <a:ext cx="2294063" cy="897157"/>
          </a:xfrm>
          <a:prstGeom prst="rect">
            <a:avLst/>
          </a:prstGeom>
          <a:noFill/>
          <a:ln w="9525">
            <a:noFill/>
            <a:miter lim="800000"/>
            <a:headEnd/>
            <a:tailEnd/>
          </a:ln>
        </p:spPr>
        <p:txBody>
          <a:bodyPr lIns="65520" tIns="32760" rIns="65520" bIns="32760">
            <a:spAutoFit/>
          </a:bodyPr>
          <a:lstStyle/>
          <a:p>
            <a:r>
              <a:rPr lang="he-IL"/>
              <a:t>חיסרון של טבלת דפדוף ששוכנת בזיכרון (לא ניתן לדפדף)</a:t>
            </a:r>
          </a:p>
        </p:txBody>
      </p:sp>
      <p:sp>
        <p:nvSpPr>
          <p:cNvPr id="24588" name="מלבן 12"/>
          <p:cNvSpPr>
            <a:spLocks noChangeArrowheads="1"/>
          </p:cNvSpPr>
          <p:nvPr/>
        </p:nvSpPr>
        <p:spPr bwMode="auto">
          <a:xfrm>
            <a:off x="6094995" y="1168201"/>
            <a:ext cx="1492755" cy="4837707"/>
          </a:xfrm>
          <a:prstGeom prst="rect">
            <a:avLst/>
          </a:prstGeom>
          <a:noFill/>
          <a:ln w="9525" algn="ctr">
            <a:noFill/>
            <a:round/>
            <a:headEnd/>
            <a:tailEnd/>
          </a:ln>
        </p:spPr>
        <p:txBody>
          <a:bodyPr lIns="65520" tIns="32760" rIns="65520" bIns="32760"/>
          <a:lstStyle/>
          <a:p>
            <a:endParaRPr lang="he-IL"/>
          </a:p>
        </p:txBody>
      </p:sp>
      <p:sp>
        <p:nvSpPr>
          <p:cNvPr id="24589" name="מלבן 13"/>
          <p:cNvSpPr>
            <a:spLocks noChangeArrowheads="1"/>
          </p:cNvSpPr>
          <p:nvPr/>
        </p:nvSpPr>
        <p:spPr bwMode="auto">
          <a:xfrm>
            <a:off x="6150438" y="916693"/>
            <a:ext cx="1132921" cy="5504267"/>
          </a:xfrm>
          <a:prstGeom prst="rect">
            <a:avLst/>
          </a:prstGeom>
          <a:noFill/>
          <a:ln w="9525" algn="ctr">
            <a:noFill/>
            <a:round/>
            <a:headEnd/>
            <a:tailEnd/>
          </a:ln>
        </p:spPr>
        <p:txBody>
          <a:bodyPr lIns="65520" tIns="32760" rIns="65520" bIns="32760"/>
          <a:lstStyle/>
          <a:p>
            <a:endParaRPr lang="he-IL"/>
          </a:p>
        </p:txBody>
      </p:sp>
      <p:sp>
        <p:nvSpPr>
          <p:cNvPr id="24590" name="TextBox 14"/>
          <p:cNvSpPr txBox="1">
            <a:spLocks noChangeArrowheads="1"/>
          </p:cNvSpPr>
          <p:nvPr/>
        </p:nvSpPr>
        <p:spPr bwMode="auto">
          <a:xfrm>
            <a:off x="3570722" y="4258827"/>
            <a:ext cx="1585484" cy="558602"/>
          </a:xfrm>
          <a:prstGeom prst="rect">
            <a:avLst/>
          </a:prstGeom>
          <a:noFill/>
          <a:ln w="9525">
            <a:noFill/>
            <a:miter lim="800000"/>
            <a:headEnd/>
            <a:tailEnd/>
          </a:ln>
        </p:spPr>
        <p:txBody>
          <a:bodyPr wrap="square" lIns="65520" tIns="32760" rIns="65520" bIns="32760">
            <a:spAutoFit/>
          </a:bodyPr>
          <a:lstStyle/>
          <a:p>
            <a:pPr algn="r" rtl="1"/>
            <a:r>
              <a:rPr lang="he-IL" sz="1600" dirty="0"/>
              <a:t>רק שכבה 0 נדרשת בזיכרון</a:t>
            </a:r>
          </a:p>
        </p:txBody>
      </p:sp>
      <p:cxnSp>
        <p:nvCxnSpPr>
          <p:cNvPr id="24591" name="מחבר חץ ישר 16"/>
          <p:cNvCxnSpPr>
            <a:cxnSpLocks noChangeShapeType="1"/>
          </p:cNvCxnSpPr>
          <p:nvPr/>
        </p:nvCxnSpPr>
        <p:spPr bwMode="auto">
          <a:xfrm rot="5400000" flipH="1" flipV="1">
            <a:off x="5257369" y="4100553"/>
            <a:ext cx="200655" cy="91723"/>
          </a:xfrm>
          <a:prstGeom prst="straightConnector1">
            <a:avLst/>
          </a:prstGeom>
          <a:noFill/>
          <a:ln w="9525" algn="ctr">
            <a:solidFill>
              <a:schemeClr val="tx1"/>
            </a:solidFill>
            <a:round/>
            <a:headEnd/>
            <a:tailEnd type="arrow" w="med" len="med"/>
          </a:ln>
        </p:spPr>
      </p:cxnSp>
      <p:sp>
        <p:nvSpPr>
          <p:cNvPr id="24592" name="מלבן 15"/>
          <p:cNvSpPr>
            <a:spLocks noChangeArrowheads="1"/>
          </p:cNvSpPr>
          <p:nvPr/>
        </p:nvSpPr>
        <p:spPr bwMode="auto">
          <a:xfrm>
            <a:off x="5984127" y="867218"/>
            <a:ext cx="1557263" cy="4749749"/>
          </a:xfrm>
          <a:prstGeom prst="rect">
            <a:avLst/>
          </a:prstGeom>
          <a:noFill/>
          <a:ln w="9525" algn="ctr">
            <a:noFill/>
            <a:round/>
            <a:headEnd/>
            <a:tailEnd/>
          </a:ln>
        </p:spPr>
        <p:txBody>
          <a:bodyPr lIns="65520" tIns="32760" rIns="65520" bIns="32760"/>
          <a:lstStyle/>
          <a:p>
            <a:endParaRPr lang="he-IL"/>
          </a:p>
        </p:txBody>
      </p:sp>
      <p:sp>
        <p:nvSpPr>
          <p:cNvPr id="24593" name="TextBox 16"/>
          <p:cNvSpPr txBox="1">
            <a:spLocks noChangeArrowheads="1"/>
          </p:cNvSpPr>
          <p:nvPr/>
        </p:nvSpPr>
        <p:spPr bwMode="auto">
          <a:xfrm>
            <a:off x="2556138" y="1783905"/>
            <a:ext cx="1501825" cy="620158"/>
          </a:xfrm>
          <a:prstGeom prst="rect">
            <a:avLst/>
          </a:prstGeom>
          <a:noFill/>
          <a:ln w="9525">
            <a:noFill/>
            <a:miter lim="800000"/>
            <a:headEnd/>
            <a:tailEnd/>
          </a:ln>
        </p:spPr>
        <p:txBody>
          <a:bodyPr lIns="65520" tIns="32760" rIns="65520" bIns="32760">
            <a:spAutoFit/>
          </a:bodyPr>
          <a:lstStyle/>
          <a:p>
            <a:r>
              <a:rPr lang="en-US"/>
              <a:t>Page=20 bits</a:t>
            </a:r>
          </a:p>
          <a:p>
            <a:r>
              <a:rPr lang="en-US"/>
              <a:t>Pages=??</a:t>
            </a:r>
            <a:endParaRPr lang="he-IL"/>
          </a:p>
        </p:txBody>
      </p:sp>
      <p:sp>
        <p:nvSpPr>
          <p:cNvPr id="24594" name="מלבן 17"/>
          <p:cNvSpPr>
            <a:spLocks noChangeArrowheads="1"/>
          </p:cNvSpPr>
          <p:nvPr/>
        </p:nvSpPr>
        <p:spPr bwMode="auto">
          <a:xfrm>
            <a:off x="6177644" y="942805"/>
            <a:ext cx="1262944" cy="4799227"/>
          </a:xfrm>
          <a:prstGeom prst="rect">
            <a:avLst/>
          </a:prstGeom>
          <a:noFill/>
          <a:ln w="9525" algn="ctr">
            <a:noFill/>
            <a:round/>
            <a:headEnd/>
            <a:tailEnd/>
          </a:ln>
        </p:spPr>
        <p:txBody>
          <a:bodyPr lIns="65520" tIns="32760" rIns="65520" bIns="32760"/>
          <a:lstStyle/>
          <a:p>
            <a:endParaRPr lang="he-IL"/>
          </a:p>
        </p:txBody>
      </p:sp>
      <p:sp>
        <p:nvSpPr>
          <p:cNvPr id="24595" name="מלבן 18"/>
          <p:cNvSpPr>
            <a:spLocks noChangeArrowheads="1"/>
          </p:cNvSpPr>
          <p:nvPr/>
        </p:nvSpPr>
        <p:spPr bwMode="auto">
          <a:xfrm>
            <a:off x="6095001" y="854845"/>
            <a:ext cx="1299231" cy="4987512"/>
          </a:xfrm>
          <a:prstGeom prst="rect">
            <a:avLst/>
          </a:prstGeom>
          <a:noFill/>
          <a:ln w="9525" algn="ctr">
            <a:noFill/>
            <a:round/>
            <a:headEnd/>
            <a:tailEnd/>
          </a:ln>
        </p:spPr>
        <p:txBody>
          <a:bodyPr lIns="65520" tIns="32760" rIns="65520" bIns="32760"/>
          <a:lstStyle/>
          <a:p>
            <a:endParaRPr lang="he-IL"/>
          </a:p>
        </p:txBody>
      </p:sp>
      <p:sp>
        <p:nvSpPr>
          <p:cNvPr id="24597" name="TextBox 21"/>
          <p:cNvSpPr txBox="1">
            <a:spLocks noChangeArrowheads="1"/>
          </p:cNvSpPr>
          <p:nvPr/>
        </p:nvSpPr>
        <p:spPr bwMode="auto">
          <a:xfrm>
            <a:off x="1708457" y="3166500"/>
            <a:ext cx="1491947" cy="1297266"/>
          </a:xfrm>
          <a:prstGeom prst="rect">
            <a:avLst/>
          </a:prstGeom>
          <a:noFill/>
          <a:ln w="9525">
            <a:noFill/>
            <a:miter lim="800000"/>
            <a:headEnd/>
            <a:tailEnd/>
          </a:ln>
        </p:spPr>
        <p:txBody>
          <a:bodyPr wrap="square" lIns="65520" tIns="32760" rIns="65520" bIns="32760">
            <a:spAutoFit/>
          </a:bodyPr>
          <a:lstStyle/>
          <a:p>
            <a:pPr algn="r" rtl="1"/>
            <a:r>
              <a:rPr lang="he-IL" sz="1600" dirty="0"/>
              <a:t>הפקודה עצמה</a:t>
            </a:r>
          </a:p>
          <a:p>
            <a:pPr algn="r" rtl="1"/>
            <a:r>
              <a:rPr lang="he-IL" sz="1600" dirty="0"/>
              <a:t>כתובת זיכרון </a:t>
            </a:r>
            <a:endParaRPr lang="en-US" sz="1600" dirty="0"/>
          </a:p>
          <a:p>
            <a:pPr algn="r" rtl="1"/>
            <a:r>
              <a:rPr lang="he-IL" sz="1600" dirty="0"/>
              <a:t>כל פנייה לזיכרון דורשת מצביע למצביע </a:t>
            </a:r>
            <a:r>
              <a:rPr lang="en-US" sz="1600" dirty="0"/>
              <a:t>x=y</a:t>
            </a:r>
            <a:endParaRPr lang="he-IL" sz="1600" dirty="0"/>
          </a:p>
        </p:txBody>
      </p:sp>
      <p:sp>
        <p:nvSpPr>
          <p:cNvPr id="24598" name="TextBox 22"/>
          <p:cNvSpPr txBox="1">
            <a:spLocks noChangeArrowheads="1"/>
          </p:cNvSpPr>
          <p:nvPr/>
        </p:nvSpPr>
        <p:spPr bwMode="auto">
          <a:xfrm>
            <a:off x="7643192" y="3894905"/>
            <a:ext cx="967417" cy="620158"/>
          </a:xfrm>
          <a:prstGeom prst="rect">
            <a:avLst/>
          </a:prstGeom>
          <a:noFill/>
          <a:ln w="9525">
            <a:noFill/>
            <a:miter lim="800000"/>
            <a:headEnd/>
            <a:tailEnd/>
          </a:ln>
        </p:spPr>
        <p:txBody>
          <a:bodyPr wrap="square" lIns="65520" tIns="32760" rIns="65520" bIns="32760">
            <a:spAutoFit/>
          </a:bodyPr>
          <a:lstStyle/>
          <a:p>
            <a:r>
              <a:rPr lang="he-IL" dirty="0"/>
              <a:t>מסגרת פיזית</a:t>
            </a:r>
          </a:p>
        </p:txBody>
      </p:sp>
      <p:sp>
        <p:nvSpPr>
          <p:cNvPr id="24599" name="סוגר מסולסל שמאלי 23"/>
          <p:cNvSpPr>
            <a:spLocks/>
          </p:cNvSpPr>
          <p:nvPr/>
        </p:nvSpPr>
        <p:spPr bwMode="auto">
          <a:xfrm>
            <a:off x="6026459" y="4388298"/>
            <a:ext cx="182436" cy="916691"/>
          </a:xfrm>
          <a:prstGeom prst="leftBrace">
            <a:avLst>
              <a:gd name="adj1" fmla="val 8377"/>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24600" name="TextBox 24"/>
          <p:cNvSpPr txBox="1">
            <a:spLocks noChangeArrowheads="1"/>
          </p:cNvSpPr>
          <p:nvPr/>
        </p:nvSpPr>
        <p:spPr bwMode="auto">
          <a:xfrm>
            <a:off x="5058844" y="4694781"/>
            <a:ext cx="896055" cy="620158"/>
          </a:xfrm>
          <a:prstGeom prst="rect">
            <a:avLst/>
          </a:prstGeom>
          <a:noFill/>
          <a:ln w="9525">
            <a:noFill/>
            <a:miter lim="800000"/>
            <a:headEnd/>
            <a:tailEnd/>
          </a:ln>
        </p:spPr>
        <p:txBody>
          <a:bodyPr lIns="65520" tIns="32760" rIns="65520" bIns="32760">
            <a:spAutoFit/>
          </a:bodyPr>
          <a:lstStyle/>
          <a:p>
            <a:r>
              <a:rPr lang="en-US"/>
              <a:t>1k entries</a:t>
            </a:r>
            <a:endParaRPr lang="he-IL"/>
          </a:p>
        </p:txBody>
      </p:sp>
      <p:sp>
        <p:nvSpPr>
          <p:cNvPr id="24601" name="TextBox 25"/>
          <p:cNvSpPr txBox="1">
            <a:spLocks noChangeArrowheads="1"/>
          </p:cNvSpPr>
          <p:nvPr/>
        </p:nvSpPr>
        <p:spPr bwMode="auto">
          <a:xfrm>
            <a:off x="7625049" y="4708528"/>
            <a:ext cx="896055" cy="343159"/>
          </a:xfrm>
          <a:prstGeom prst="rect">
            <a:avLst/>
          </a:prstGeom>
          <a:noFill/>
          <a:ln w="9525">
            <a:noFill/>
            <a:miter lim="800000"/>
            <a:headEnd/>
            <a:tailEnd/>
          </a:ln>
        </p:spPr>
        <p:txBody>
          <a:bodyPr lIns="65520" tIns="32760" rIns="65520" bIns="32760">
            <a:spAutoFit/>
          </a:bodyPr>
          <a:lstStyle/>
          <a:p>
            <a:r>
              <a:rPr lang="en-US"/>
              <a:t>4KB</a:t>
            </a:r>
            <a:endParaRPr lang="he-IL" dirty="0"/>
          </a:p>
        </p:txBody>
      </p:sp>
      <p:sp>
        <p:nvSpPr>
          <p:cNvPr id="26" name="TextBox 25"/>
          <p:cNvSpPr txBox="1"/>
          <p:nvPr/>
        </p:nvSpPr>
        <p:spPr>
          <a:xfrm>
            <a:off x="2019300" y="2768609"/>
            <a:ext cx="1244600" cy="584775"/>
          </a:xfrm>
          <a:prstGeom prst="rect">
            <a:avLst/>
          </a:prstGeom>
          <a:noFill/>
        </p:spPr>
        <p:txBody>
          <a:bodyPr wrap="square" rtlCol="1">
            <a:spAutoFit/>
          </a:bodyPr>
          <a:lstStyle/>
          <a:p>
            <a:r>
              <a:rPr lang="he-IL" sz="1600" dirty="0"/>
              <a:t>כמה זה יקר?</a:t>
            </a:r>
          </a:p>
          <a:p>
            <a:endParaRPr lang="he-IL" sz="1600" dirty="0"/>
          </a:p>
        </p:txBody>
      </p:sp>
      <p:sp>
        <p:nvSpPr>
          <p:cNvPr id="27" name="מציין מיקום של תאריך 26"/>
          <p:cNvSpPr>
            <a:spLocks noGrp="1"/>
          </p:cNvSpPr>
          <p:nvPr>
            <p:ph type="dt" sz="half" idx="10"/>
          </p:nvPr>
        </p:nvSpPr>
        <p:spPr/>
        <p:txBody>
          <a:bodyPr/>
          <a:lstStyle/>
          <a:p>
            <a:pPr>
              <a:defRPr/>
            </a:pPr>
            <a:fld id="{32ACE94E-A6FF-4B09-BDEF-CBD686C587DE}"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4597"/>
                                        </p:tgtEl>
                                        <p:attrNameLst>
                                          <p:attrName>style.visibility</p:attrName>
                                        </p:attrNameLst>
                                      </p:cBhvr>
                                      <p:to>
                                        <p:strVal val="visible"/>
                                      </p:to>
                                    </p:set>
                                    <p:anim calcmode="lin" valueType="num">
                                      <p:cBhvr>
                                        <p:cTn id="12" dur="1000" fill="hold"/>
                                        <p:tgtEl>
                                          <p:spTgt spid="24597"/>
                                        </p:tgtEl>
                                        <p:attrNameLst>
                                          <p:attrName>ppt_w</p:attrName>
                                        </p:attrNameLst>
                                      </p:cBhvr>
                                      <p:tavLst>
                                        <p:tav tm="0">
                                          <p:val>
                                            <p:strVal val="#ppt_w*0.70"/>
                                          </p:val>
                                        </p:tav>
                                        <p:tav tm="100000">
                                          <p:val>
                                            <p:strVal val="#ppt_w"/>
                                          </p:val>
                                        </p:tav>
                                      </p:tavLst>
                                    </p:anim>
                                    <p:anim calcmode="lin" valueType="num">
                                      <p:cBhvr>
                                        <p:cTn id="13" dur="1000" fill="hold"/>
                                        <p:tgtEl>
                                          <p:spTgt spid="24597"/>
                                        </p:tgtEl>
                                        <p:attrNameLst>
                                          <p:attrName>ppt_h</p:attrName>
                                        </p:attrNameLst>
                                      </p:cBhvr>
                                      <p:tavLst>
                                        <p:tav tm="0">
                                          <p:val>
                                            <p:strVal val="#ppt_h"/>
                                          </p:val>
                                        </p:tav>
                                        <p:tav tm="100000">
                                          <p:val>
                                            <p:strVal val="#ppt_h"/>
                                          </p:val>
                                        </p:tav>
                                      </p:tavLst>
                                    </p:anim>
                                    <p:animEffect transition="in" filter="fade">
                                      <p:cBhvr>
                                        <p:cTn id="14" dur="1000"/>
                                        <p:tgtEl>
                                          <p:spTgt spid="24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7" grpId="0"/>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מציין מיקום של מספר שקופית 5"/>
          <p:cNvSpPr>
            <a:spLocks noGrp="1"/>
          </p:cNvSpPr>
          <p:nvPr>
            <p:ph type="sldNum" sz="quarter" idx="12"/>
          </p:nvPr>
        </p:nvSpPr>
        <p:spPr>
          <a:noFill/>
        </p:spPr>
        <p:txBody>
          <a:bodyPr/>
          <a:lstStyle/>
          <a:p>
            <a:fld id="{CB449FD2-F95C-4DF0-8FB6-0E13742DF842}" type="slidenum">
              <a:rPr lang="he-IL" smtClean="0"/>
              <a:pPr/>
              <a:t>33</a:t>
            </a:fld>
            <a:endParaRPr lang="en-US"/>
          </a:p>
        </p:txBody>
      </p:sp>
      <p:sp>
        <p:nvSpPr>
          <p:cNvPr id="25603" name="Rectangle 2"/>
          <p:cNvSpPr>
            <a:spLocks noGrp="1" noChangeArrowheads="1"/>
          </p:cNvSpPr>
          <p:nvPr>
            <p:ph type="title"/>
          </p:nvPr>
        </p:nvSpPr>
        <p:spPr>
          <a:xfrm>
            <a:off x="1816306" y="2"/>
            <a:ext cx="8458603" cy="1143459"/>
          </a:xfrm>
        </p:spPr>
        <p:txBody>
          <a:bodyPr/>
          <a:lstStyle/>
          <a:p>
            <a:pPr eaLnBrk="1" hangingPunct="1"/>
            <a:r>
              <a:rPr lang="en-US" sz="2600" dirty="0"/>
              <a:t>TLBs – Translation </a:t>
            </a:r>
            <a:r>
              <a:rPr lang="en-US" sz="2600" dirty="0" err="1"/>
              <a:t>Lookaside</a:t>
            </a:r>
            <a:r>
              <a:rPr lang="en-US" sz="2600" dirty="0"/>
              <a:t> Buffers</a:t>
            </a:r>
            <a:endParaRPr lang="en-US" sz="2400" dirty="0"/>
          </a:p>
        </p:txBody>
      </p:sp>
      <p:sp>
        <p:nvSpPr>
          <p:cNvPr id="25604" name="Rectangle 3"/>
          <p:cNvSpPr>
            <a:spLocks noGrp="1" noChangeArrowheads="1"/>
          </p:cNvSpPr>
          <p:nvPr>
            <p:ph type="body" idx="1"/>
          </p:nvPr>
        </p:nvSpPr>
        <p:spPr>
          <a:xfrm>
            <a:off x="2209405" y="5410811"/>
            <a:ext cx="7773207" cy="685800"/>
          </a:xfrm>
        </p:spPr>
        <p:txBody>
          <a:bodyPr/>
          <a:lstStyle/>
          <a:p>
            <a:pPr algn="ctr" eaLnBrk="1" hangingPunct="1">
              <a:buFontTx/>
              <a:buNone/>
            </a:pPr>
            <a:r>
              <a:rPr lang="en-US"/>
              <a:t>A TLB to speed up paging</a:t>
            </a:r>
          </a:p>
        </p:txBody>
      </p:sp>
      <p:pic>
        <p:nvPicPr>
          <p:cNvPr id="25605" name="Picture 5"/>
          <p:cNvPicPr>
            <a:picLocks noChangeAspect="1" noChangeArrowheads="1"/>
          </p:cNvPicPr>
          <p:nvPr/>
        </p:nvPicPr>
        <p:blipFill>
          <a:blip r:embed="rId3" cstate="print"/>
          <a:srcRect/>
          <a:stretch>
            <a:fillRect/>
          </a:stretch>
        </p:blipFill>
        <p:spPr bwMode="auto">
          <a:xfrm>
            <a:off x="2433162" y="1440319"/>
            <a:ext cx="7667373" cy="3822064"/>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987D7106-33DB-4674-9035-93D2BCA2FD62}" type="datetime12">
              <a:rPr lang="he-IL" smtClean="0"/>
              <a:pPr>
                <a:defRPr/>
              </a:pPr>
              <a:t>28/01/2024 18:13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מציין מיקום של מספר שקופית 5"/>
          <p:cNvSpPr>
            <a:spLocks noGrp="1"/>
          </p:cNvSpPr>
          <p:nvPr>
            <p:ph type="sldNum" sz="quarter" idx="12"/>
          </p:nvPr>
        </p:nvSpPr>
        <p:spPr>
          <a:noFill/>
        </p:spPr>
        <p:txBody>
          <a:bodyPr/>
          <a:lstStyle/>
          <a:p>
            <a:fld id="{F0CA7DBD-DEEC-4726-B046-5593D582AF78}" type="slidenum">
              <a:rPr lang="he-IL" smtClean="0"/>
              <a:pPr/>
              <a:t>34</a:t>
            </a:fld>
            <a:endParaRPr lang="en-US"/>
          </a:p>
        </p:txBody>
      </p:sp>
      <p:sp>
        <p:nvSpPr>
          <p:cNvPr id="26627" name="Rectangle 2"/>
          <p:cNvSpPr>
            <a:spLocks noGrp="1" noChangeArrowheads="1"/>
          </p:cNvSpPr>
          <p:nvPr>
            <p:ph type="title"/>
          </p:nvPr>
        </p:nvSpPr>
        <p:spPr/>
        <p:txBody>
          <a:bodyPr/>
          <a:lstStyle/>
          <a:p>
            <a:pPr eaLnBrk="1" hangingPunct="1"/>
            <a:r>
              <a:rPr lang="en-US"/>
              <a:t>Inverted Page Tables</a:t>
            </a:r>
          </a:p>
        </p:txBody>
      </p:sp>
      <p:sp>
        <p:nvSpPr>
          <p:cNvPr id="26628" name="Rectangle 3"/>
          <p:cNvSpPr>
            <a:spLocks noGrp="1" noChangeArrowheads="1"/>
          </p:cNvSpPr>
          <p:nvPr>
            <p:ph type="body" idx="1"/>
          </p:nvPr>
        </p:nvSpPr>
        <p:spPr>
          <a:xfrm>
            <a:off x="2209401" y="5791516"/>
            <a:ext cx="8458603" cy="533247"/>
          </a:xfrm>
        </p:spPr>
        <p:txBody>
          <a:bodyPr/>
          <a:lstStyle/>
          <a:p>
            <a:pPr eaLnBrk="1" hangingPunct="1">
              <a:buFontTx/>
              <a:buNone/>
            </a:pPr>
            <a:r>
              <a:rPr lang="en-US" sz="1600" dirty="0"/>
              <a:t>Comparison of a traditional page table with an inverted page table</a:t>
            </a:r>
          </a:p>
        </p:txBody>
      </p:sp>
      <p:pic>
        <p:nvPicPr>
          <p:cNvPr id="26629" name="Picture 5"/>
          <p:cNvPicPr>
            <a:picLocks noChangeAspect="1" noChangeArrowheads="1"/>
          </p:cNvPicPr>
          <p:nvPr/>
        </p:nvPicPr>
        <p:blipFill>
          <a:blip r:embed="rId3" cstate="print"/>
          <a:srcRect/>
          <a:stretch>
            <a:fillRect/>
          </a:stretch>
        </p:blipFill>
        <p:spPr bwMode="auto">
          <a:xfrm>
            <a:off x="1580455" y="946930"/>
            <a:ext cx="8650111" cy="4197261"/>
          </a:xfrm>
          <a:prstGeom prst="rect">
            <a:avLst/>
          </a:prstGeom>
          <a:noFill/>
          <a:ln w="9525">
            <a:noFill/>
            <a:miter lim="800000"/>
            <a:headEnd/>
            <a:tailEnd/>
          </a:ln>
        </p:spPr>
      </p:pic>
      <p:cxnSp>
        <p:nvCxnSpPr>
          <p:cNvPr id="26630" name="מחבר חץ ישר 6"/>
          <p:cNvCxnSpPr>
            <a:cxnSpLocks noChangeShapeType="1"/>
          </p:cNvCxnSpPr>
          <p:nvPr/>
        </p:nvCxnSpPr>
        <p:spPr bwMode="auto">
          <a:xfrm flipV="1">
            <a:off x="3421953" y="2399617"/>
            <a:ext cx="286255" cy="50851"/>
          </a:xfrm>
          <a:prstGeom prst="straightConnector1">
            <a:avLst/>
          </a:prstGeom>
          <a:noFill/>
          <a:ln w="9525" algn="ctr">
            <a:solidFill>
              <a:schemeClr val="tx1"/>
            </a:solidFill>
            <a:round/>
            <a:headEnd/>
            <a:tailEnd type="arrow" w="med" len="med"/>
          </a:ln>
        </p:spPr>
      </p:cxnSp>
      <p:cxnSp>
        <p:nvCxnSpPr>
          <p:cNvPr id="26631" name="מחבר חץ ישר 8"/>
          <p:cNvCxnSpPr>
            <a:cxnSpLocks noChangeShapeType="1"/>
          </p:cNvCxnSpPr>
          <p:nvPr/>
        </p:nvCxnSpPr>
        <p:spPr bwMode="auto">
          <a:xfrm flipV="1">
            <a:off x="3283865" y="2802308"/>
            <a:ext cx="571500" cy="112697"/>
          </a:xfrm>
          <a:prstGeom prst="straightConnector1">
            <a:avLst/>
          </a:prstGeom>
          <a:noFill/>
          <a:ln w="9525" algn="ctr">
            <a:solidFill>
              <a:schemeClr val="tx1"/>
            </a:solidFill>
            <a:round/>
            <a:headEnd/>
            <a:tailEnd type="arrow" w="med" len="med"/>
          </a:ln>
        </p:spPr>
      </p:cxnSp>
      <p:cxnSp>
        <p:nvCxnSpPr>
          <p:cNvPr id="26632" name="מחבר חץ ישר 10"/>
          <p:cNvCxnSpPr>
            <a:cxnSpLocks noChangeShapeType="1"/>
          </p:cNvCxnSpPr>
          <p:nvPr/>
        </p:nvCxnSpPr>
        <p:spPr bwMode="auto">
          <a:xfrm flipV="1">
            <a:off x="3376596" y="3141769"/>
            <a:ext cx="248961" cy="61847"/>
          </a:xfrm>
          <a:prstGeom prst="straightConnector1">
            <a:avLst/>
          </a:prstGeom>
          <a:noFill/>
          <a:ln w="9525" algn="ctr">
            <a:solidFill>
              <a:schemeClr val="tx1"/>
            </a:solidFill>
            <a:round/>
            <a:headEnd/>
            <a:tailEnd type="arrow" w="med" len="med"/>
          </a:ln>
        </p:spPr>
      </p:cxnSp>
      <p:cxnSp>
        <p:nvCxnSpPr>
          <p:cNvPr id="26633" name="מחבר חץ ישר 12"/>
          <p:cNvCxnSpPr>
            <a:cxnSpLocks noChangeShapeType="1"/>
          </p:cNvCxnSpPr>
          <p:nvPr/>
        </p:nvCxnSpPr>
        <p:spPr bwMode="auto">
          <a:xfrm rot="10800000">
            <a:off x="3421949" y="3555449"/>
            <a:ext cx="1189365" cy="101703"/>
          </a:xfrm>
          <a:prstGeom prst="straightConnector1">
            <a:avLst/>
          </a:prstGeom>
          <a:noFill/>
          <a:ln w="9525" algn="ctr">
            <a:solidFill>
              <a:schemeClr val="tx1"/>
            </a:solidFill>
            <a:round/>
            <a:headEnd/>
            <a:tailEnd type="arrow" w="med" len="med"/>
          </a:ln>
        </p:spPr>
      </p:cxnSp>
      <p:cxnSp>
        <p:nvCxnSpPr>
          <p:cNvPr id="26634" name="מחבר חץ ישר 14"/>
          <p:cNvCxnSpPr>
            <a:cxnSpLocks noChangeShapeType="1"/>
          </p:cNvCxnSpPr>
          <p:nvPr/>
        </p:nvCxnSpPr>
        <p:spPr bwMode="auto">
          <a:xfrm rot="10800000">
            <a:off x="3357439" y="2701977"/>
            <a:ext cx="1235731" cy="1268524"/>
          </a:xfrm>
          <a:prstGeom prst="straightConnector1">
            <a:avLst/>
          </a:prstGeom>
          <a:noFill/>
          <a:ln w="9525" algn="ctr">
            <a:solidFill>
              <a:schemeClr val="tx1"/>
            </a:solidFill>
            <a:round/>
            <a:headEnd/>
            <a:tailEnd type="arrow" w="med" len="med"/>
          </a:ln>
        </p:spPr>
      </p:cxnSp>
      <p:sp>
        <p:nvSpPr>
          <p:cNvPr id="11" name="מציין מיקום של תאריך 10"/>
          <p:cNvSpPr>
            <a:spLocks noGrp="1"/>
          </p:cNvSpPr>
          <p:nvPr>
            <p:ph type="dt" sz="half" idx="10"/>
          </p:nvPr>
        </p:nvSpPr>
        <p:spPr/>
        <p:txBody>
          <a:bodyPr/>
          <a:lstStyle/>
          <a:p>
            <a:pPr>
              <a:defRPr/>
            </a:pPr>
            <a:fld id="{015C7959-30DB-4673-B909-2D1097E3A8DB}" type="datetime12">
              <a:rPr lang="he-IL" smtClean="0"/>
              <a:pPr>
                <a:defRPr/>
              </a:pPr>
              <a:t>28/01/2024 18:13</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כותרת 1"/>
          <p:cNvSpPr>
            <a:spLocks noGrp="1"/>
          </p:cNvSpPr>
          <p:nvPr>
            <p:ph type="title"/>
          </p:nvPr>
        </p:nvSpPr>
        <p:spPr/>
        <p:txBody>
          <a:bodyPr/>
          <a:lstStyle/>
          <a:p>
            <a:r>
              <a:rPr lang="en-US" dirty="0"/>
              <a:t>Locality of reference</a:t>
            </a:r>
            <a:endParaRPr lang="he-IL" dirty="0"/>
          </a:p>
        </p:txBody>
      </p:sp>
      <p:sp>
        <p:nvSpPr>
          <p:cNvPr id="27651" name="מציין מיקום תוכן 2"/>
          <p:cNvSpPr>
            <a:spLocks noGrp="1"/>
          </p:cNvSpPr>
          <p:nvPr>
            <p:ph idx="1"/>
          </p:nvPr>
        </p:nvSpPr>
        <p:spPr>
          <a:xfrm>
            <a:off x="797465" y="1771660"/>
            <a:ext cx="3594303" cy="4324961"/>
          </a:xfrm>
        </p:spPr>
        <p:txBody>
          <a:bodyPr/>
          <a:lstStyle/>
          <a:p>
            <a:pPr>
              <a:buNone/>
            </a:pPr>
            <a:r>
              <a:rPr lang="en-US" dirty="0"/>
              <a:t>#define N 4K     //==frame </a:t>
            </a:r>
          </a:p>
          <a:p>
            <a:pPr>
              <a:buNone/>
            </a:pPr>
            <a:r>
              <a:rPr lang="en-US" dirty="0"/>
              <a:t>char A[6][N];</a:t>
            </a:r>
          </a:p>
          <a:p>
            <a:pPr>
              <a:buFontTx/>
              <a:buNone/>
            </a:pPr>
            <a:r>
              <a:rPr lang="en-US" dirty="0"/>
              <a:t>for(</a:t>
            </a:r>
            <a:r>
              <a:rPr lang="en-US" dirty="0" err="1"/>
              <a:t>i</a:t>
            </a:r>
            <a:r>
              <a:rPr lang="en-US" dirty="0"/>
              <a:t>=0; </a:t>
            </a:r>
            <a:r>
              <a:rPr lang="en-US" dirty="0" err="1"/>
              <a:t>i</a:t>
            </a:r>
            <a:r>
              <a:rPr lang="en-US" dirty="0"/>
              <a:t>&lt;6; </a:t>
            </a:r>
            <a:r>
              <a:rPr lang="en-US" dirty="0" err="1"/>
              <a:t>i</a:t>
            </a:r>
            <a:r>
              <a:rPr lang="en-US" dirty="0"/>
              <a:t>++)</a:t>
            </a:r>
          </a:p>
          <a:p>
            <a:pPr>
              <a:buFontTx/>
              <a:buNone/>
            </a:pPr>
            <a:r>
              <a:rPr lang="en-US" dirty="0"/>
              <a:t>   for(j=0; j&lt;N; j++)</a:t>
            </a:r>
          </a:p>
          <a:p>
            <a:pPr>
              <a:buFontTx/>
              <a:buNone/>
            </a:pPr>
            <a:r>
              <a:rPr lang="en-US" dirty="0"/>
              <a:t>       A[</a:t>
            </a:r>
            <a:r>
              <a:rPr lang="en-US" dirty="0" err="1"/>
              <a:t>i</a:t>
            </a:r>
            <a:r>
              <a:rPr lang="en-US" dirty="0"/>
              <a:t>][j]=3</a:t>
            </a:r>
          </a:p>
          <a:p>
            <a:pPr algn="r" rtl="1">
              <a:buFontTx/>
              <a:buNone/>
            </a:pPr>
            <a:r>
              <a:rPr lang="he-IL" dirty="0"/>
              <a:t>א. האם יעבוד במהירות שונה אם נכתוב </a:t>
            </a:r>
            <a:r>
              <a:rPr lang="en-US" dirty="0"/>
              <a:t>A[j][</a:t>
            </a:r>
            <a:r>
              <a:rPr lang="en-US" dirty="0" err="1"/>
              <a:t>i</a:t>
            </a:r>
            <a:r>
              <a:rPr lang="en-US" dirty="0"/>
              <a:t>]</a:t>
            </a:r>
            <a:r>
              <a:rPr lang="he-IL" dirty="0"/>
              <a:t> במקום </a:t>
            </a:r>
            <a:r>
              <a:rPr lang="en-US" dirty="0"/>
              <a:t> A[</a:t>
            </a:r>
            <a:r>
              <a:rPr lang="en-US" dirty="0" err="1"/>
              <a:t>i</a:t>
            </a:r>
            <a:r>
              <a:rPr lang="en-US" dirty="0"/>
              <a:t>][j]</a:t>
            </a:r>
            <a:r>
              <a:rPr lang="he-IL" dirty="0"/>
              <a:t>?</a:t>
            </a:r>
          </a:p>
          <a:p>
            <a:pPr algn="r" rtl="1">
              <a:buFontTx/>
              <a:buNone/>
            </a:pPr>
            <a:r>
              <a:rPr lang="he-IL" dirty="0"/>
              <a:t>ב. נניח שכל המערך וכל התהליך בזיכרון , האם יעבוד באותה מהירות?</a:t>
            </a:r>
          </a:p>
        </p:txBody>
      </p:sp>
      <p:sp>
        <p:nvSpPr>
          <p:cNvPr id="27652" name="מציין מיקום של מספר שקופית 3"/>
          <p:cNvSpPr>
            <a:spLocks noGrp="1"/>
          </p:cNvSpPr>
          <p:nvPr>
            <p:ph type="sldNum" sz="quarter" idx="12"/>
          </p:nvPr>
        </p:nvSpPr>
        <p:spPr>
          <a:noFill/>
        </p:spPr>
        <p:txBody>
          <a:bodyPr/>
          <a:lstStyle/>
          <a:p>
            <a:fld id="{0AC9848D-C3A4-4546-874A-FB4813587B0C}" type="slidenum">
              <a:rPr lang="he-IL" smtClean="0"/>
              <a:pPr/>
              <a:t>35</a:t>
            </a:fld>
            <a:endParaRPr lang="en-US"/>
          </a:p>
        </p:txBody>
      </p:sp>
      <p:graphicFrame>
        <p:nvGraphicFramePr>
          <p:cNvPr id="5" name="טבלה 4"/>
          <p:cNvGraphicFramePr>
            <a:graphicFrameLocks noGrp="1"/>
          </p:cNvGraphicFramePr>
          <p:nvPr>
            <p:extLst>
              <p:ext uri="{D42A27DB-BD31-4B8C-83A1-F6EECF244321}">
                <p14:modId xmlns:p14="http://schemas.microsoft.com/office/powerpoint/2010/main" val="364976383"/>
              </p:ext>
            </p:extLst>
          </p:nvPr>
        </p:nvGraphicFramePr>
        <p:xfrm>
          <a:off x="4993234" y="2886830"/>
          <a:ext cx="2936118" cy="1926840"/>
        </p:xfrm>
        <a:graphic>
          <a:graphicData uri="http://schemas.openxmlformats.org/drawingml/2006/table">
            <a:tbl>
              <a:tblPr rtl="1" firstRow="1" bandRow="1">
                <a:tableStyleId>{073A0DAA-6AF3-43AB-8588-CEC1D06C72B9}</a:tableStyleId>
              </a:tblPr>
              <a:tblGrid>
                <a:gridCol w="489353">
                  <a:extLst>
                    <a:ext uri="{9D8B030D-6E8A-4147-A177-3AD203B41FA5}">
                      <a16:colId xmlns:a16="http://schemas.microsoft.com/office/drawing/2014/main" val="20000"/>
                    </a:ext>
                  </a:extLst>
                </a:gridCol>
                <a:gridCol w="489353">
                  <a:extLst>
                    <a:ext uri="{9D8B030D-6E8A-4147-A177-3AD203B41FA5}">
                      <a16:colId xmlns:a16="http://schemas.microsoft.com/office/drawing/2014/main" val="20001"/>
                    </a:ext>
                  </a:extLst>
                </a:gridCol>
                <a:gridCol w="489353">
                  <a:extLst>
                    <a:ext uri="{9D8B030D-6E8A-4147-A177-3AD203B41FA5}">
                      <a16:colId xmlns:a16="http://schemas.microsoft.com/office/drawing/2014/main" val="20002"/>
                    </a:ext>
                  </a:extLst>
                </a:gridCol>
                <a:gridCol w="489353">
                  <a:extLst>
                    <a:ext uri="{9D8B030D-6E8A-4147-A177-3AD203B41FA5}">
                      <a16:colId xmlns:a16="http://schemas.microsoft.com/office/drawing/2014/main" val="20003"/>
                    </a:ext>
                  </a:extLst>
                </a:gridCol>
                <a:gridCol w="489353">
                  <a:extLst>
                    <a:ext uri="{9D8B030D-6E8A-4147-A177-3AD203B41FA5}">
                      <a16:colId xmlns:a16="http://schemas.microsoft.com/office/drawing/2014/main" val="20004"/>
                    </a:ext>
                  </a:extLst>
                </a:gridCol>
                <a:gridCol w="489353">
                  <a:extLst>
                    <a:ext uri="{9D8B030D-6E8A-4147-A177-3AD203B41FA5}">
                      <a16:colId xmlns:a16="http://schemas.microsoft.com/office/drawing/2014/main" val="20005"/>
                    </a:ext>
                  </a:extLst>
                </a:gridCol>
              </a:tblGrid>
              <a:tr h="321140">
                <a:tc>
                  <a:txBody>
                    <a:bodyPr/>
                    <a:lstStyle/>
                    <a:p>
                      <a:pPr algn="ctr" rtl="1"/>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kumimoji="0" lang="en-US" sz="1500" b="0" i="0" u="none" strike="noStrike" kern="1200" cap="none" spc="0" normalizeH="0" baseline="0" noProof="0" dirty="0">
                          <a:ln>
                            <a:noFill/>
                          </a:ln>
                          <a:solidFill>
                            <a:srgbClr val="000000"/>
                          </a:solidFill>
                          <a:effectLst/>
                          <a:uLnTx/>
                          <a:uFillTx/>
                          <a:latin typeface="Times New Roman"/>
                          <a:ea typeface="+mn-ea"/>
                          <a:cs typeface="+mn-cs"/>
                        </a:rPr>
                        <a:t>3</a:t>
                      </a:r>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kumimoji="0" lang="en-US" sz="1500" b="0" i="0" u="none" strike="noStrike" kern="1200" cap="none" spc="0" normalizeH="0" baseline="0" noProof="0" dirty="0">
                          <a:ln>
                            <a:noFill/>
                          </a:ln>
                          <a:solidFill>
                            <a:srgbClr val="000000"/>
                          </a:solidFill>
                          <a:effectLst/>
                          <a:uLnTx/>
                          <a:uFillTx/>
                          <a:latin typeface="Times New Roman"/>
                          <a:ea typeface="+mn-ea"/>
                          <a:cs typeface="+mn-cs"/>
                        </a:rPr>
                        <a:t>3</a:t>
                      </a:r>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1140">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21140">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21140">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aphicFrame>
        <p:nvGraphicFramePr>
          <p:cNvPr id="11" name="טבלה 10"/>
          <p:cNvGraphicFramePr>
            <a:graphicFrameLocks noGrp="1"/>
          </p:cNvGraphicFramePr>
          <p:nvPr/>
        </p:nvGraphicFramePr>
        <p:xfrm>
          <a:off x="5531754" y="1316005"/>
          <a:ext cx="4421874" cy="350879"/>
        </p:xfrm>
        <a:graphic>
          <a:graphicData uri="http://schemas.openxmlformats.org/drawingml/2006/table">
            <a:tbl>
              <a:tblPr rtl="1" firstRow="1" bandRow="1">
                <a:tableStyleId>{5C22544A-7EE6-4342-B048-85BDC9FD1C3A}</a:tableStyleId>
              </a:tblPr>
              <a:tblGrid>
                <a:gridCol w="736979">
                  <a:extLst>
                    <a:ext uri="{9D8B030D-6E8A-4147-A177-3AD203B41FA5}">
                      <a16:colId xmlns:a16="http://schemas.microsoft.com/office/drawing/2014/main" val="20000"/>
                    </a:ext>
                  </a:extLst>
                </a:gridCol>
                <a:gridCol w="736979">
                  <a:extLst>
                    <a:ext uri="{9D8B030D-6E8A-4147-A177-3AD203B41FA5}">
                      <a16:colId xmlns:a16="http://schemas.microsoft.com/office/drawing/2014/main" val="20001"/>
                    </a:ext>
                  </a:extLst>
                </a:gridCol>
                <a:gridCol w="736979">
                  <a:extLst>
                    <a:ext uri="{9D8B030D-6E8A-4147-A177-3AD203B41FA5}">
                      <a16:colId xmlns:a16="http://schemas.microsoft.com/office/drawing/2014/main" val="20002"/>
                    </a:ext>
                  </a:extLst>
                </a:gridCol>
                <a:gridCol w="736979">
                  <a:extLst>
                    <a:ext uri="{9D8B030D-6E8A-4147-A177-3AD203B41FA5}">
                      <a16:colId xmlns:a16="http://schemas.microsoft.com/office/drawing/2014/main" val="20003"/>
                    </a:ext>
                  </a:extLst>
                </a:gridCol>
                <a:gridCol w="736979">
                  <a:extLst>
                    <a:ext uri="{9D8B030D-6E8A-4147-A177-3AD203B41FA5}">
                      <a16:colId xmlns:a16="http://schemas.microsoft.com/office/drawing/2014/main" val="20004"/>
                    </a:ext>
                  </a:extLst>
                </a:gridCol>
                <a:gridCol w="736979">
                  <a:extLst>
                    <a:ext uri="{9D8B030D-6E8A-4147-A177-3AD203B41FA5}">
                      <a16:colId xmlns:a16="http://schemas.microsoft.com/office/drawing/2014/main" val="20005"/>
                    </a:ext>
                  </a:extLst>
                </a:gridCol>
              </a:tblGrid>
              <a:tr h="350879">
                <a:tc>
                  <a:txBody>
                    <a:bodyPr/>
                    <a:lstStyle/>
                    <a:p>
                      <a:pPr algn="l" rtl="0"/>
                      <a:endParaRPr lang="he-IL" sz="1500" dirty="0"/>
                    </a:p>
                  </a:txBody>
                  <a:tcPr marL="58057" marR="58057" marT="39649" marB="39649"/>
                </a:tc>
                <a:tc>
                  <a:txBody>
                    <a:bodyPr/>
                    <a:lstStyle/>
                    <a:p>
                      <a:pPr algn="l" rtl="0"/>
                      <a:r>
                        <a:rPr lang="en-US" sz="1500" dirty="0"/>
                        <a:t>3</a:t>
                      </a:r>
                      <a:endParaRPr lang="he-IL" sz="1500" dirty="0"/>
                    </a:p>
                  </a:txBody>
                  <a:tcPr marL="58057" marR="58057" marT="39649" marB="39649"/>
                </a:tc>
                <a:tc>
                  <a:txBody>
                    <a:bodyPr/>
                    <a:lstStyle/>
                    <a:p>
                      <a:pPr algn="l" rtl="0"/>
                      <a:r>
                        <a:rPr lang="en-US" sz="1500" dirty="0"/>
                        <a:t>3</a:t>
                      </a:r>
                      <a:endParaRPr lang="he-IL" sz="1500" dirty="0"/>
                    </a:p>
                  </a:txBody>
                  <a:tcPr marL="58057" marR="58057" marT="39649" marB="39649"/>
                </a:tc>
                <a:tc>
                  <a:txBody>
                    <a:bodyPr/>
                    <a:lstStyle/>
                    <a:p>
                      <a:pPr algn="l" rtl="0"/>
                      <a:r>
                        <a:rPr lang="en-US" sz="1500" dirty="0"/>
                        <a:t>3</a:t>
                      </a:r>
                      <a:endParaRPr lang="he-IL" sz="1500" dirty="0"/>
                    </a:p>
                  </a:txBody>
                  <a:tcPr marL="58057" marR="58057" marT="39649" marB="39649"/>
                </a:tc>
                <a:tc>
                  <a:txBody>
                    <a:bodyPr/>
                    <a:lstStyle/>
                    <a:p>
                      <a:pPr algn="l" rtl="0"/>
                      <a:r>
                        <a:rPr lang="en-US" sz="1500" dirty="0"/>
                        <a:t>3</a:t>
                      </a:r>
                      <a:endParaRPr lang="he-IL" sz="1500" dirty="0"/>
                    </a:p>
                  </a:txBody>
                  <a:tcPr marL="58057" marR="58057" marT="39649" marB="39649"/>
                </a:tc>
                <a:tc>
                  <a:txBody>
                    <a:bodyPr/>
                    <a:lstStyle/>
                    <a:p>
                      <a:pPr algn="l" rtl="0"/>
                      <a:r>
                        <a:rPr lang="en-US" sz="1500" dirty="0"/>
                        <a:t>3</a:t>
                      </a:r>
                      <a:endParaRPr lang="he-IL" sz="1500" dirty="0"/>
                    </a:p>
                  </a:txBody>
                  <a:tcPr marL="58057" marR="58057" marT="39649" marB="39649"/>
                </a:tc>
                <a:extLst>
                  <a:ext uri="{0D108BD9-81ED-4DB2-BD59-A6C34878D82A}">
                    <a16:rowId xmlns:a16="http://schemas.microsoft.com/office/drawing/2014/main" val="10000"/>
                  </a:ext>
                </a:extLst>
              </a:tr>
            </a:tbl>
          </a:graphicData>
        </a:graphic>
      </p:graphicFrame>
      <p:sp>
        <p:nvSpPr>
          <p:cNvPr id="7" name="מציין מיקום של תאריך 6"/>
          <p:cNvSpPr>
            <a:spLocks noGrp="1"/>
          </p:cNvSpPr>
          <p:nvPr>
            <p:ph type="dt" sz="half" idx="10"/>
          </p:nvPr>
        </p:nvSpPr>
        <p:spPr/>
        <p:txBody>
          <a:bodyPr/>
          <a:lstStyle/>
          <a:p>
            <a:pPr>
              <a:defRPr/>
            </a:pPr>
            <a:fld id="{6BCD0B62-1974-4738-9F50-90663087DFF6}" type="datetime12">
              <a:rPr lang="he-IL" smtClean="0"/>
              <a:pPr>
                <a:defRPr/>
              </a:pPr>
              <a:t>28/01/2024 18:13</a:t>
            </a:fld>
            <a:endParaRPr lang="en-US"/>
          </a:p>
        </p:txBody>
      </p:sp>
      <p:graphicFrame>
        <p:nvGraphicFramePr>
          <p:cNvPr id="16" name="טבלה 3">
            <a:extLst>
              <a:ext uri="{FF2B5EF4-FFF2-40B4-BE49-F238E27FC236}">
                <a16:creationId xmlns:a16="http://schemas.microsoft.com/office/drawing/2014/main" id="{06434B6D-B831-17AA-ADE6-A2588AF56A63}"/>
              </a:ext>
            </a:extLst>
          </p:cNvPr>
          <p:cNvGraphicFramePr>
            <a:graphicFrameLocks noGrp="1"/>
          </p:cNvGraphicFramePr>
          <p:nvPr>
            <p:extLst>
              <p:ext uri="{D42A27DB-BD31-4B8C-83A1-F6EECF244321}">
                <p14:modId xmlns:p14="http://schemas.microsoft.com/office/powerpoint/2010/main" val="3952542579"/>
              </p:ext>
            </p:extLst>
          </p:nvPr>
        </p:nvGraphicFramePr>
        <p:xfrm>
          <a:off x="10858019" y="481207"/>
          <a:ext cx="932873" cy="5191760"/>
        </p:xfrm>
        <a:graphic>
          <a:graphicData uri="http://schemas.openxmlformats.org/drawingml/2006/table">
            <a:tbl>
              <a:tblPr rtl="1">
                <a:tableStyleId>{5C22544A-7EE6-4342-B048-85BDC9FD1C3A}</a:tableStyleId>
              </a:tblPr>
              <a:tblGrid>
                <a:gridCol w="932873">
                  <a:extLst>
                    <a:ext uri="{9D8B030D-6E8A-4147-A177-3AD203B41FA5}">
                      <a16:colId xmlns:a16="http://schemas.microsoft.com/office/drawing/2014/main" val="3920389813"/>
                    </a:ext>
                  </a:extLst>
                </a:gridCol>
              </a:tblGrid>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0911979"/>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1653856"/>
                  </a:ext>
                </a:extLst>
              </a:tr>
              <a:tr h="370840">
                <a:tc>
                  <a:txBody>
                    <a:bodyPr/>
                    <a:lstStyle/>
                    <a:p>
                      <a:pPr algn="l" rtl="0"/>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224607"/>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9592374"/>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1339206"/>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9201817"/>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9892169"/>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2158198"/>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210708"/>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11641"/>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892960"/>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3323734"/>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5784645"/>
                  </a:ext>
                </a:extLst>
              </a:tr>
              <a:tr h="370840">
                <a:tc>
                  <a:txBody>
                    <a:bodyPr/>
                    <a:lstStyle/>
                    <a:p>
                      <a:pPr rtl="1"/>
                      <a:endParaRPr lang="he-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474503"/>
                  </a:ext>
                </a:extLst>
              </a:tr>
            </a:tbl>
          </a:graphicData>
        </a:graphic>
      </p:graphicFrame>
      <p:sp>
        <p:nvSpPr>
          <p:cNvPr id="23" name="תיבת טקסט 22">
            <a:extLst>
              <a:ext uri="{FF2B5EF4-FFF2-40B4-BE49-F238E27FC236}">
                <a16:creationId xmlns:a16="http://schemas.microsoft.com/office/drawing/2014/main" id="{7FD49F46-2C6A-16BD-B7AA-EDAA3865E758}"/>
              </a:ext>
            </a:extLst>
          </p:cNvPr>
          <p:cNvSpPr txBox="1">
            <a:spLocks/>
          </p:cNvSpPr>
          <p:nvPr/>
        </p:nvSpPr>
        <p:spPr>
          <a:xfrm>
            <a:off x="10927391" y="180638"/>
            <a:ext cx="830510" cy="369332"/>
          </a:xfrm>
          <a:prstGeom prst="rect">
            <a:avLst/>
          </a:prstGeom>
          <a:noFill/>
        </p:spPr>
        <p:txBody>
          <a:bodyPr wrap="square" rtlCol="0">
            <a:spAutoFit/>
          </a:bodyPr>
          <a:lstStyle/>
          <a:p>
            <a:pPr algn="ctr"/>
            <a:r>
              <a:rPr lang="en-US" dirty="0"/>
              <a:t>RAM</a:t>
            </a:r>
            <a:endParaRPr lang="en-IL" dirty="0"/>
          </a:p>
        </p:txBody>
      </p:sp>
      <p:grpSp>
        <p:nvGrpSpPr>
          <p:cNvPr id="25" name="קבוצה 24">
            <a:extLst>
              <a:ext uri="{FF2B5EF4-FFF2-40B4-BE49-F238E27FC236}">
                <a16:creationId xmlns:a16="http://schemas.microsoft.com/office/drawing/2014/main" id="{F631712B-C329-E064-B643-54F0AE2F88FB}"/>
              </a:ext>
            </a:extLst>
          </p:cNvPr>
          <p:cNvGrpSpPr/>
          <p:nvPr/>
        </p:nvGrpSpPr>
        <p:grpSpPr>
          <a:xfrm>
            <a:off x="9201150" y="3438525"/>
            <a:ext cx="1496530" cy="3276457"/>
            <a:chOff x="9322614" y="4127383"/>
            <a:chExt cx="1390707" cy="2361774"/>
          </a:xfrm>
        </p:grpSpPr>
        <p:sp>
          <p:nvSpPr>
            <p:cNvPr id="8" name="תרשים זרימה: דיסק מגנטי 7">
              <a:extLst>
                <a:ext uri="{FF2B5EF4-FFF2-40B4-BE49-F238E27FC236}">
                  <a16:creationId xmlns:a16="http://schemas.microsoft.com/office/drawing/2014/main" id="{BB117F62-571C-4DBE-A042-5E0FF3746F97}"/>
                </a:ext>
              </a:extLst>
            </p:cNvPr>
            <p:cNvSpPr/>
            <p:nvPr/>
          </p:nvSpPr>
          <p:spPr bwMode="auto">
            <a:xfrm>
              <a:off x="9322614" y="4127383"/>
              <a:ext cx="1390707" cy="2361774"/>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1800" b="0" i="0" u="none" strike="noStrike" cap="none" normalizeH="0" baseline="0">
                <a:ln>
                  <a:noFill/>
                </a:ln>
                <a:solidFill>
                  <a:schemeClr val="tx1"/>
                </a:solidFill>
                <a:effectLst/>
                <a:latin typeface="Helvetica" pitchFamily="2" charset="0"/>
              </a:endParaRPr>
            </a:p>
          </p:txBody>
        </p:sp>
        <p:sp>
          <p:nvSpPr>
            <p:cNvPr id="24" name="תיבת טקסט 23">
              <a:extLst>
                <a:ext uri="{FF2B5EF4-FFF2-40B4-BE49-F238E27FC236}">
                  <a16:creationId xmlns:a16="http://schemas.microsoft.com/office/drawing/2014/main" id="{3EC41DE1-D295-8FE9-2C53-12B3898A3B25}"/>
                </a:ext>
              </a:extLst>
            </p:cNvPr>
            <p:cNvSpPr txBox="1"/>
            <p:nvPr/>
          </p:nvSpPr>
          <p:spPr>
            <a:xfrm>
              <a:off x="9579497" y="4281477"/>
              <a:ext cx="876940" cy="369332"/>
            </a:xfrm>
            <a:prstGeom prst="rect">
              <a:avLst/>
            </a:prstGeom>
            <a:noFill/>
          </p:spPr>
          <p:txBody>
            <a:bodyPr wrap="square" rtlCol="0">
              <a:spAutoFit/>
            </a:bodyPr>
            <a:lstStyle/>
            <a:p>
              <a:pPr algn="ctr"/>
              <a:r>
                <a:rPr lang="en-US" dirty="0"/>
                <a:t>HD</a:t>
              </a:r>
              <a:endParaRPr lang="en-IL" dirty="0"/>
            </a:p>
          </p:txBody>
        </p:sp>
      </p:grpSp>
      <p:sp>
        <p:nvSpPr>
          <p:cNvPr id="20" name="מלבן 19">
            <a:extLst>
              <a:ext uri="{FF2B5EF4-FFF2-40B4-BE49-F238E27FC236}">
                <a16:creationId xmlns:a16="http://schemas.microsoft.com/office/drawing/2014/main" id="{647F1494-8D2A-4E0E-1982-FF7BD931E694}"/>
              </a:ext>
            </a:extLst>
          </p:cNvPr>
          <p:cNvSpPr/>
          <p:nvPr/>
        </p:nvSpPr>
        <p:spPr bwMode="auto">
          <a:xfrm>
            <a:off x="10982706" y="1274810"/>
            <a:ext cx="746620"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Times New Roman" pitchFamily="18" charset="0"/>
              </a:rPr>
              <a:t>3</a:t>
            </a:r>
            <a:endParaRPr kumimoji="0" lang="he-IL" sz="1500" b="0" i="0" u="none" strike="noStrike" cap="none" normalizeH="0" baseline="0" dirty="0">
              <a:ln>
                <a:noFill/>
              </a:ln>
              <a:solidFill>
                <a:schemeClr val="tx1"/>
              </a:solidFill>
              <a:effectLst/>
              <a:latin typeface="Times New Roman" pitchFamily="18" charset="0"/>
            </a:endParaRPr>
          </a:p>
        </p:txBody>
      </p:sp>
      <p:graphicFrame>
        <p:nvGraphicFramePr>
          <p:cNvPr id="32" name="טבלה 31">
            <a:extLst>
              <a:ext uri="{FF2B5EF4-FFF2-40B4-BE49-F238E27FC236}">
                <a16:creationId xmlns:a16="http://schemas.microsoft.com/office/drawing/2014/main" id="{BBE085DE-9256-954A-0AA2-E631E32BFC66}"/>
              </a:ext>
            </a:extLst>
          </p:cNvPr>
          <p:cNvGraphicFramePr>
            <a:graphicFrameLocks noGrp="1"/>
          </p:cNvGraphicFramePr>
          <p:nvPr>
            <p:extLst>
              <p:ext uri="{D42A27DB-BD31-4B8C-83A1-F6EECF244321}">
                <p14:modId xmlns:p14="http://schemas.microsoft.com/office/powerpoint/2010/main" val="70916840"/>
              </p:ext>
            </p:extLst>
          </p:nvPr>
        </p:nvGraphicFramePr>
        <p:xfrm>
          <a:off x="9383333" y="4643029"/>
          <a:ext cx="849060" cy="1846704"/>
        </p:xfrm>
        <a:graphic>
          <a:graphicData uri="http://schemas.openxmlformats.org/drawingml/2006/table">
            <a:tbl>
              <a:tblPr rtl="1" firstRow="1" bandRow="1">
                <a:tableStyleId>{073A0DAA-6AF3-43AB-8588-CEC1D06C72B9}</a:tableStyleId>
              </a:tblPr>
              <a:tblGrid>
                <a:gridCol w="141510">
                  <a:extLst>
                    <a:ext uri="{9D8B030D-6E8A-4147-A177-3AD203B41FA5}">
                      <a16:colId xmlns:a16="http://schemas.microsoft.com/office/drawing/2014/main" val="20000"/>
                    </a:ext>
                  </a:extLst>
                </a:gridCol>
                <a:gridCol w="141510">
                  <a:extLst>
                    <a:ext uri="{9D8B030D-6E8A-4147-A177-3AD203B41FA5}">
                      <a16:colId xmlns:a16="http://schemas.microsoft.com/office/drawing/2014/main" val="20001"/>
                    </a:ext>
                  </a:extLst>
                </a:gridCol>
                <a:gridCol w="141510">
                  <a:extLst>
                    <a:ext uri="{9D8B030D-6E8A-4147-A177-3AD203B41FA5}">
                      <a16:colId xmlns:a16="http://schemas.microsoft.com/office/drawing/2014/main" val="20002"/>
                    </a:ext>
                  </a:extLst>
                </a:gridCol>
                <a:gridCol w="141510">
                  <a:extLst>
                    <a:ext uri="{9D8B030D-6E8A-4147-A177-3AD203B41FA5}">
                      <a16:colId xmlns:a16="http://schemas.microsoft.com/office/drawing/2014/main" val="20003"/>
                    </a:ext>
                  </a:extLst>
                </a:gridCol>
                <a:gridCol w="141510">
                  <a:extLst>
                    <a:ext uri="{9D8B030D-6E8A-4147-A177-3AD203B41FA5}">
                      <a16:colId xmlns:a16="http://schemas.microsoft.com/office/drawing/2014/main" val="20004"/>
                    </a:ext>
                  </a:extLst>
                </a:gridCol>
                <a:gridCol w="141510">
                  <a:extLst>
                    <a:ext uri="{9D8B030D-6E8A-4147-A177-3AD203B41FA5}">
                      <a16:colId xmlns:a16="http://schemas.microsoft.com/office/drawing/2014/main" val="20005"/>
                    </a:ext>
                  </a:extLst>
                </a:gridCol>
              </a:tblGrid>
              <a:tr h="283337">
                <a:tc>
                  <a:txBody>
                    <a:bodyPr/>
                    <a:lstStyle/>
                    <a:p>
                      <a:pPr algn="ctr" rtl="1"/>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kumimoji="0" lang="en-US" sz="1500" b="0" i="0" u="none" strike="noStrike" kern="1200" cap="none" spc="0" normalizeH="0" baseline="0" noProof="0">
                          <a:ln>
                            <a:noFill/>
                          </a:ln>
                          <a:solidFill>
                            <a:srgbClr val="000000"/>
                          </a:solidFill>
                          <a:effectLst/>
                          <a:uLnTx/>
                          <a:uFillTx/>
                          <a:latin typeface="Times New Roman"/>
                          <a:ea typeface="+mn-ea"/>
                          <a:cs typeface="+mn-cs"/>
                        </a:rPr>
                        <a:t>3</a:t>
                      </a:r>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kumimoji="0" lang="en-US" sz="1500" b="0" i="0" u="none" strike="noStrike" kern="1200" cap="none" spc="0" normalizeH="0" baseline="0" noProof="0" dirty="0">
                          <a:ln>
                            <a:noFill/>
                          </a:ln>
                          <a:solidFill>
                            <a:srgbClr val="000000"/>
                          </a:solidFill>
                          <a:effectLst/>
                          <a:uLnTx/>
                          <a:uFillTx/>
                          <a:latin typeface="Times New Roman"/>
                          <a:ea typeface="+mn-ea"/>
                          <a:cs typeface="+mn-cs"/>
                        </a:rPr>
                        <a:t>3</a:t>
                      </a:r>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3337">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3337">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3337">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3337">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500" dirty="0"/>
                        <a:t>3</a:t>
                      </a:r>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3337">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 name="מלבן 1">
            <a:extLst>
              <a:ext uri="{FF2B5EF4-FFF2-40B4-BE49-F238E27FC236}">
                <a16:creationId xmlns:a16="http://schemas.microsoft.com/office/drawing/2014/main" id="{522CA242-240C-E164-9CDA-A37CCA5A392B}"/>
              </a:ext>
            </a:extLst>
          </p:cNvPr>
          <p:cNvSpPr/>
          <p:nvPr/>
        </p:nvSpPr>
        <p:spPr bwMode="auto">
          <a:xfrm>
            <a:off x="11003591" y="1643644"/>
            <a:ext cx="746620"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r>
              <a:rPr lang="en-US" sz="1500" dirty="0">
                <a:latin typeface="Times New Roman" pitchFamily="18" charset="0"/>
              </a:rPr>
              <a:t>3</a:t>
            </a:r>
            <a:endParaRPr lang="he-IL" sz="1500" dirty="0">
              <a:latin typeface="Times New Roman" pitchFamily="18" charset="0"/>
            </a:endParaRPr>
          </a:p>
        </p:txBody>
      </p:sp>
      <p:sp>
        <p:nvSpPr>
          <p:cNvPr id="3" name="מלבן 2">
            <a:extLst>
              <a:ext uri="{FF2B5EF4-FFF2-40B4-BE49-F238E27FC236}">
                <a16:creationId xmlns:a16="http://schemas.microsoft.com/office/drawing/2014/main" id="{6C561475-992E-E070-64CF-FB6695CC67A0}"/>
              </a:ext>
            </a:extLst>
          </p:cNvPr>
          <p:cNvSpPr/>
          <p:nvPr/>
        </p:nvSpPr>
        <p:spPr bwMode="auto">
          <a:xfrm>
            <a:off x="10982706" y="1999650"/>
            <a:ext cx="746620"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Times New Roman" pitchFamily="18" charset="0"/>
              </a:rPr>
              <a:t>3</a:t>
            </a:r>
            <a:endParaRPr kumimoji="0" lang="he-IL" sz="1500" b="0" i="0" u="none" strike="noStrike" cap="none" normalizeH="0" baseline="0" dirty="0">
              <a:ln>
                <a:noFill/>
              </a:ln>
              <a:solidFill>
                <a:schemeClr val="tx1"/>
              </a:solidFill>
              <a:effectLst/>
              <a:latin typeface="Times New Roman" pitchFamily="18" charset="0"/>
            </a:endParaRPr>
          </a:p>
        </p:txBody>
      </p:sp>
      <p:sp>
        <p:nvSpPr>
          <p:cNvPr id="4" name="מלבן 3">
            <a:extLst>
              <a:ext uri="{FF2B5EF4-FFF2-40B4-BE49-F238E27FC236}">
                <a16:creationId xmlns:a16="http://schemas.microsoft.com/office/drawing/2014/main" id="{4D0CBD69-162F-C812-F5D8-E7B7290B5F88}"/>
              </a:ext>
            </a:extLst>
          </p:cNvPr>
          <p:cNvSpPr/>
          <p:nvPr/>
        </p:nvSpPr>
        <p:spPr bwMode="auto">
          <a:xfrm>
            <a:off x="10982706" y="2380883"/>
            <a:ext cx="746620"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Times New Roman" pitchFamily="18" charset="0"/>
              </a:rPr>
              <a:t>3</a:t>
            </a:r>
          </a:p>
          <a:p>
            <a:pPr marL="0" marR="0" indent="0" algn="l" defTabSz="914400" rtl="0" eaLnBrk="1" fontAlgn="base" latinLnBrk="0" hangingPunct="1">
              <a:lnSpc>
                <a:spcPct val="100000"/>
              </a:lnSpc>
              <a:spcBef>
                <a:spcPct val="0"/>
              </a:spcBef>
              <a:spcAft>
                <a:spcPct val="0"/>
              </a:spcAft>
              <a:buClrTx/>
              <a:buSzTx/>
              <a:buFontTx/>
              <a:buNone/>
              <a:tabLst/>
            </a:pPr>
            <a:endParaRPr kumimoji="0" lang="he-IL" sz="1500" b="0" i="0" u="none" strike="noStrike" cap="none" normalizeH="0" baseline="0" dirty="0">
              <a:ln>
                <a:noFill/>
              </a:ln>
              <a:solidFill>
                <a:schemeClr val="tx1"/>
              </a:solidFill>
              <a:effectLst/>
              <a:latin typeface="Times New Roman" pitchFamily="18" charset="0"/>
            </a:endParaRPr>
          </a:p>
        </p:txBody>
      </p:sp>
      <p:sp>
        <p:nvSpPr>
          <p:cNvPr id="6" name="מלבן 5">
            <a:extLst>
              <a:ext uri="{FF2B5EF4-FFF2-40B4-BE49-F238E27FC236}">
                <a16:creationId xmlns:a16="http://schemas.microsoft.com/office/drawing/2014/main" id="{98E5BACB-A31C-8FAB-C9D0-FAB1C05DE74B}"/>
              </a:ext>
            </a:extLst>
          </p:cNvPr>
          <p:cNvSpPr/>
          <p:nvPr/>
        </p:nvSpPr>
        <p:spPr bwMode="auto">
          <a:xfrm>
            <a:off x="10982706" y="2754376"/>
            <a:ext cx="746620"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Times New Roman" pitchFamily="18" charset="0"/>
              </a:rPr>
              <a:t>3</a:t>
            </a:r>
          </a:p>
        </p:txBody>
      </p:sp>
      <p:sp>
        <p:nvSpPr>
          <p:cNvPr id="9" name="מלבן 8">
            <a:extLst>
              <a:ext uri="{FF2B5EF4-FFF2-40B4-BE49-F238E27FC236}">
                <a16:creationId xmlns:a16="http://schemas.microsoft.com/office/drawing/2014/main" id="{3A7AC7DB-6EE8-9653-296C-05E37440B5D2}"/>
              </a:ext>
            </a:extLst>
          </p:cNvPr>
          <p:cNvSpPr/>
          <p:nvPr/>
        </p:nvSpPr>
        <p:spPr bwMode="auto">
          <a:xfrm>
            <a:off x="5564750" y="1346041"/>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sp>
        <p:nvSpPr>
          <p:cNvPr id="10" name="מלבן 9">
            <a:extLst>
              <a:ext uri="{FF2B5EF4-FFF2-40B4-BE49-F238E27FC236}">
                <a16:creationId xmlns:a16="http://schemas.microsoft.com/office/drawing/2014/main" id="{11388A7A-F4A7-7671-A684-5161A18F03D2}"/>
              </a:ext>
            </a:extLst>
          </p:cNvPr>
          <p:cNvSpPr/>
          <p:nvPr/>
        </p:nvSpPr>
        <p:spPr bwMode="auto">
          <a:xfrm>
            <a:off x="6306850" y="1355135"/>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sp>
        <p:nvSpPr>
          <p:cNvPr id="12" name="מלבן 11">
            <a:extLst>
              <a:ext uri="{FF2B5EF4-FFF2-40B4-BE49-F238E27FC236}">
                <a16:creationId xmlns:a16="http://schemas.microsoft.com/office/drawing/2014/main" id="{CF64F572-E951-99EA-614D-351E3487553E}"/>
              </a:ext>
            </a:extLst>
          </p:cNvPr>
          <p:cNvSpPr/>
          <p:nvPr/>
        </p:nvSpPr>
        <p:spPr bwMode="auto">
          <a:xfrm>
            <a:off x="7026165" y="1348994"/>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sp>
        <p:nvSpPr>
          <p:cNvPr id="13" name="מלבן 12">
            <a:extLst>
              <a:ext uri="{FF2B5EF4-FFF2-40B4-BE49-F238E27FC236}">
                <a16:creationId xmlns:a16="http://schemas.microsoft.com/office/drawing/2014/main" id="{088ADE71-1A09-07B8-85D4-8BD491FA2766}"/>
              </a:ext>
            </a:extLst>
          </p:cNvPr>
          <p:cNvSpPr/>
          <p:nvPr/>
        </p:nvSpPr>
        <p:spPr bwMode="auto">
          <a:xfrm>
            <a:off x="7793640" y="1351726"/>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sp>
        <p:nvSpPr>
          <p:cNvPr id="14" name="מלבן 13">
            <a:extLst>
              <a:ext uri="{FF2B5EF4-FFF2-40B4-BE49-F238E27FC236}">
                <a16:creationId xmlns:a16="http://schemas.microsoft.com/office/drawing/2014/main" id="{4FFC2FF4-1BDF-18CD-1A5A-BF0E2555E80D}"/>
              </a:ext>
            </a:extLst>
          </p:cNvPr>
          <p:cNvSpPr/>
          <p:nvPr/>
        </p:nvSpPr>
        <p:spPr bwMode="auto">
          <a:xfrm>
            <a:off x="8529451" y="1354460"/>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sp>
        <p:nvSpPr>
          <p:cNvPr id="15" name="מלבן 14">
            <a:extLst>
              <a:ext uri="{FF2B5EF4-FFF2-40B4-BE49-F238E27FC236}">
                <a16:creationId xmlns:a16="http://schemas.microsoft.com/office/drawing/2014/main" id="{42FF4A09-4421-7570-5BD0-6577E9A9BCF1}"/>
              </a:ext>
            </a:extLst>
          </p:cNvPr>
          <p:cNvSpPr/>
          <p:nvPr/>
        </p:nvSpPr>
        <p:spPr bwMode="auto">
          <a:xfrm>
            <a:off x="9250022" y="1341851"/>
            <a:ext cx="647104" cy="2560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he-IL" sz="2400" b="0" i="0" u="none" strike="noStrike" cap="none" normalizeH="0" baseline="0" dirty="0">
              <a:ln>
                <a:noFill/>
              </a:ln>
              <a:solidFill>
                <a:schemeClr val="tx1"/>
              </a:solidFill>
              <a:effectLst/>
              <a:latin typeface="Times New Roman" pitchFamily="18" charset="0"/>
            </a:endParaRPr>
          </a:p>
        </p:txBody>
      </p:sp>
      <p:graphicFrame>
        <p:nvGraphicFramePr>
          <p:cNvPr id="17" name="טבלה 16">
            <a:extLst>
              <a:ext uri="{FF2B5EF4-FFF2-40B4-BE49-F238E27FC236}">
                <a16:creationId xmlns:a16="http://schemas.microsoft.com/office/drawing/2014/main" id="{343C0181-E1B5-F21C-D83D-CFB6D355EF27}"/>
              </a:ext>
            </a:extLst>
          </p:cNvPr>
          <p:cNvGraphicFramePr>
            <a:graphicFrameLocks noGrp="1"/>
          </p:cNvGraphicFramePr>
          <p:nvPr>
            <p:extLst>
              <p:ext uri="{D42A27DB-BD31-4B8C-83A1-F6EECF244321}">
                <p14:modId xmlns:p14="http://schemas.microsoft.com/office/powerpoint/2010/main" val="2257685054"/>
              </p:ext>
            </p:extLst>
          </p:nvPr>
        </p:nvGraphicFramePr>
        <p:xfrm>
          <a:off x="8284774" y="2508899"/>
          <a:ext cx="489353" cy="2247980"/>
        </p:xfrm>
        <a:graphic>
          <a:graphicData uri="http://schemas.openxmlformats.org/drawingml/2006/table">
            <a:tbl>
              <a:tblPr rtl="1" firstRow="1" bandRow="1">
                <a:tableStyleId>{073A0DAA-6AF3-43AB-8588-CEC1D06C72B9}</a:tableStyleId>
              </a:tblPr>
              <a:tblGrid>
                <a:gridCol w="489353">
                  <a:extLst>
                    <a:ext uri="{9D8B030D-6E8A-4147-A177-3AD203B41FA5}">
                      <a16:colId xmlns:a16="http://schemas.microsoft.com/office/drawing/2014/main" val="20001"/>
                    </a:ext>
                  </a:extLst>
                </a:gridCol>
              </a:tblGrid>
              <a:tr h="321140">
                <a:tc>
                  <a:txBody>
                    <a:bodyPr/>
                    <a:lstStyle/>
                    <a:p>
                      <a:pPr marL="0" marR="0" lvl="0" indent="0" algn="ctr" defTabSz="597488" rtl="1"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P.T</a:t>
                      </a:r>
                      <a:endParaRPr lang="he-IL" sz="1500" dirty="0">
                        <a:solidFill>
                          <a:srgbClr val="FF0000"/>
                        </a:solidFill>
                      </a:endParaRPr>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21140">
                <a:tc>
                  <a:txBody>
                    <a:bodyPr/>
                    <a:lstStyle/>
                    <a:p>
                      <a:pPr algn="ctr" rtl="1"/>
                      <a:endParaRPr lang="he-IL" sz="1500" dirty="0"/>
                    </a:p>
                  </a:txBody>
                  <a:tcPr marL="58055" marR="58055" marT="39592" marB="3959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575354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2"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grpId="1"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2"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2"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ntr" presetSubtype="0" fill="hold" grpId="1"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2" nodeType="clickEffect">
                                  <p:stCondLst>
                                    <p:cond delay="0"/>
                                  </p:stCondLst>
                                  <p:childTnLst>
                                    <p:set>
                                      <p:cBhvr>
                                        <p:cTn id="32" dur="1" fill="hold">
                                          <p:stCondLst>
                                            <p:cond delay="0"/>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2" nodeType="click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50" presetClass="path" presetSubtype="0" accel="50000" decel="50000" fill="remove" grpId="1" nodeType="clickEffect">
                                  <p:stCondLst>
                                    <p:cond delay="0"/>
                                  </p:stCondLst>
                                  <p:childTnLst>
                                    <p:animMotion origin="layout" path="M -0.12786 0.49676 L -0.1013 0.49676 C -0.08919 0.49676 -0.07409 0.35949 -0.07409 0.24768 L -0.07409 -0.00209 " pathEditMode="relative" rAng="0" ptsTypes="AAAA">
                                      <p:cBhvr>
                                        <p:cTn id="78" dur="2000" spd="-100000" fill="hold"/>
                                        <p:tgtEl>
                                          <p:spTgt spid="20"/>
                                        </p:tgtEl>
                                        <p:attrNameLst>
                                          <p:attrName>ppt_x</p:attrName>
                                          <p:attrName>ppt_y</p:attrName>
                                        </p:attrNameLst>
                                      </p:cBhvr>
                                      <p:rCtr x="2682" y="-24954"/>
                                    </p:animMotion>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3" nodeType="clickEffect">
                                  <p:stCondLst>
                                    <p:cond delay="0"/>
                                  </p:stCondLst>
                                  <p:childTnLst>
                                    <p:set>
                                      <p:cBhvr>
                                        <p:cTn id="82" dur="1" fill="hold">
                                          <p:stCondLst>
                                            <p:cond delay="0"/>
                                          </p:stCondLst>
                                        </p:cTn>
                                        <p:tgtEl>
                                          <p:spTgt spid="9"/>
                                        </p:tgtEl>
                                        <p:attrNameLst>
                                          <p:attrName>style.visibility</p:attrName>
                                        </p:attrNameLst>
                                      </p:cBhvr>
                                      <p:to>
                                        <p:strVal val="hidden"/>
                                      </p:to>
                                    </p:set>
                                  </p:childTnLst>
                                </p:cTn>
                              </p:par>
                              <p:par>
                                <p:cTn id="83" presetID="1" presetClass="entr" presetSubtype="0" fill="hold" grpId="3" nodeType="withEffect">
                                  <p:stCondLst>
                                    <p:cond delay="0"/>
                                  </p:stCondLst>
                                  <p:childTnLst>
                                    <p:set>
                                      <p:cBhvr>
                                        <p:cTn id="84" dur="1" fill="hold">
                                          <p:stCondLst>
                                            <p:cond delay="0"/>
                                          </p:stCondLst>
                                        </p:cTn>
                                        <p:tgtEl>
                                          <p:spTgt spid="1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50" presetClass="path" presetSubtype="0" accel="50000" decel="50000" fill="remove" grpId="1" nodeType="clickEffect">
                                  <p:stCondLst>
                                    <p:cond delay="0"/>
                                  </p:stCondLst>
                                  <p:childTnLst>
                                    <p:animMotion origin="layout" path="M -0.12916 0.48611 L -0.10299 0.48611 C -0.09101 0.48611 -0.07604 0.34908 -0.07604 0.2375 L -0.07604 -0.01157 " pathEditMode="relative" rAng="0" ptsTypes="AAAA">
                                      <p:cBhvr>
                                        <p:cTn id="88" dur="2000" spd="-100000" fill="hold"/>
                                        <p:tgtEl>
                                          <p:spTgt spid="2"/>
                                        </p:tgtEl>
                                        <p:attrNameLst>
                                          <p:attrName>ppt_x</p:attrName>
                                          <p:attrName>ppt_y</p:attrName>
                                        </p:attrNameLst>
                                      </p:cBhvr>
                                      <p:rCtr x="2656" y="-24884"/>
                                    </p:animMotion>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3" nodeType="clickEffect">
                                  <p:stCondLst>
                                    <p:cond delay="0"/>
                                  </p:stCondLst>
                                  <p:childTnLst>
                                    <p:set>
                                      <p:cBhvr>
                                        <p:cTn id="92" dur="1" fill="hold">
                                          <p:stCondLst>
                                            <p:cond delay="0"/>
                                          </p:stCondLst>
                                        </p:cTn>
                                        <p:tgtEl>
                                          <p:spTgt spid="10"/>
                                        </p:tgtEl>
                                        <p:attrNameLst>
                                          <p:attrName>style.visibility</p:attrName>
                                        </p:attrNameLst>
                                      </p:cBhvr>
                                      <p:to>
                                        <p:strVal val="hidden"/>
                                      </p:to>
                                    </p:set>
                                  </p:childTnLst>
                                </p:cTn>
                              </p:par>
                              <p:par>
                                <p:cTn id="93" presetID="1" presetClass="entr" presetSubtype="0" fill="hold" grpId="5" nodeType="withEffect">
                                  <p:stCondLst>
                                    <p:cond delay="0"/>
                                  </p:stCondLst>
                                  <p:childTnLst>
                                    <p:set>
                                      <p:cBhvr>
                                        <p:cTn id="94" dur="1" fill="hold">
                                          <p:stCondLst>
                                            <p:cond delay="0"/>
                                          </p:stCondLst>
                                        </p:cTn>
                                        <p:tgtEl>
                                          <p:spTgt spid="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50" presetClass="path" presetSubtype="0" accel="50000" decel="50000" fill="remove" grpId="1" nodeType="clickEffect">
                                  <p:stCondLst>
                                    <p:cond delay="0"/>
                                  </p:stCondLst>
                                  <p:childTnLst>
                                    <p:animMotion origin="layout" path="M -0.12799 0.47824 L -0.10273 0.47824 C -0.09115 0.47824 -0.07604 0.34282 -0.07604 0.23333 L -0.07604 -0.01158 " pathEditMode="relative" rAng="0" ptsTypes="AAAA">
                                      <p:cBhvr>
                                        <p:cTn id="98" dur="2000" spd="-100000" fill="hold"/>
                                        <p:tgtEl>
                                          <p:spTgt spid="3"/>
                                        </p:tgtEl>
                                        <p:attrNameLst>
                                          <p:attrName>ppt_x</p:attrName>
                                          <p:attrName>ppt_y</p:attrName>
                                        </p:attrNameLst>
                                      </p:cBhvr>
                                      <p:rCtr x="2591" y="-24491"/>
                                    </p:animMotion>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3" nodeType="clickEffect">
                                  <p:stCondLst>
                                    <p:cond delay="0"/>
                                  </p:stCondLst>
                                  <p:childTnLst>
                                    <p:set>
                                      <p:cBhvr>
                                        <p:cTn id="102" dur="1" fill="hold">
                                          <p:stCondLst>
                                            <p:cond delay="0"/>
                                          </p:stCondLst>
                                        </p:cTn>
                                        <p:tgtEl>
                                          <p:spTgt spid="12"/>
                                        </p:tgtEl>
                                        <p:attrNameLst>
                                          <p:attrName>style.visibility</p:attrName>
                                        </p:attrNameLst>
                                      </p:cBhvr>
                                      <p:to>
                                        <p:strVal val="hidden"/>
                                      </p:to>
                                    </p:set>
                                  </p:childTnLst>
                                </p:cTn>
                              </p:par>
                              <p:par>
                                <p:cTn id="103" presetID="1" presetClass="entr" presetSubtype="0" fill="hold" grpId="5" nodeType="withEffect">
                                  <p:stCondLst>
                                    <p:cond delay="0"/>
                                  </p:stCondLst>
                                  <p:childTnLst>
                                    <p:set>
                                      <p:cBhvr>
                                        <p:cTn id="104" dur="1" fill="hold">
                                          <p:stCondLst>
                                            <p:cond delay="0"/>
                                          </p:stCondLst>
                                        </p:cTn>
                                        <p:tgtEl>
                                          <p:spTgt spid="1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50" presetClass="path" presetSubtype="0" accel="50000" decel="50000" fill="remove" grpId="1" nodeType="clickEffect">
                                  <p:stCondLst>
                                    <p:cond delay="0"/>
                                  </p:stCondLst>
                                  <p:childTnLst>
                                    <p:animMotion origin="layout" path="M -0.12956 0.46921 L -0.1056 0.46921 C -0.09453 0.46921 -0.08073 0.33773 -0.08073 0.23056 L -0.08073 -0.00856 " pathEditMode="relative" rAng="0" ptsTypes="AAAA">
                                      <p:cBhvr>
                                        <p:cTn id="108" dur="2000" spd="-100000" fill="hold"/>
                                        <p:tgtEl>
                                          <p:spTgt spid="4"/>
                                        </p:tgtEl>
                                        <p:attrNameLst>
                                          <p:attrName>ppt_x</p:attrName>
                                          <p:attrName>ppt_y</p:attrName>
                                        </p:attrNameLst>
                                      </p:cBhvr>
                                      <p:rCtr x="2435" y="-23889"/>
                                    </p:animMotion>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3" nodeType="clickEffect">
                                  <p:stCondLst>
                                    <p:cond delay="0"/>
                                  </p:stCondLst>
                                  <p:childTnLst>
                                    <p:set>
                                      <p:cBhvr>
                                        <p:cTn id="112" dur="1" fill="hold">
                                          <p:stCondLst>
                                            <p:cond delay="0"/>
                                          </p:stCondLst>
                                        </p:cTn>
                                        <p:tgtEl>
                                          <p:spTgt spid="13"/>
                                        </p:tgtEl>
                                        <p:attrNameLst>
                                          <p:attrName>style.visibility</p:attrName>
                                        </p:attrNameLst>
                                      </p:cBhvr>
                                      <p:to>
                                        <p:strVal val="hidden"/>
                                      </p:to>
                                    </p:set>
                                  </p:childTnLst>
                                </p:cTn>
                              </p:par>
                              <p:par>
                                <p:cTn id="113" presetID="1" presetClass="entr" presetSubtype="0" fill="hold" grpId="5" nodeType="withEffect">
                                  <p:stCondLst>
                                    <p:cond delay="0"/>
                                  </p:stCondLst>
                                  <p:childTnLst>
                                    <p:set>
                                      <p:cBhvr>
                                        <p:cTn id="114" dur="1" fill="hold">
                                          <p:stCondLst>
                                            <p:cond delay="0"/>
                                          </p:stCondLst>
                                        </p:cTn>
                                        <p:tgtEl>
                                          <p:spTgt spid="1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50" presetClass="path" presetSubtype="0" accel="50000" decel="50000" fill="remove" grpId="1" nodeType="clickEffect">
                                  <p:stCondLst>
                                    <p:cond delay="100"/>
                                  </p:stCondLst>
                                  <p:childTnLst>
                                    <p:animMotion origin="layout" path="M -0.12773 0.45856 L -0.10247 0.45856 C -0.09089 0.45856 -0.07604 0.32917 -0.07604 0.22338 L -0.07604 -0.01158 " pathEditMode="relative" rAng="0" ptsTypes="AAAA">
                                      <p:cBhvr>
                                        <p:cTn id="118" dur="1900" spd="-100000" fill="hold"/>
                                        <p:tgtEl>
                                          <p:spTgt spid="6"/>
                                        </p:tgtEl>
                                        <p:attrNameLst>
                                          <p:attrName>ppt_x</p:attrName>
                                          <p:attrName>ppt_y</p:attrName>
                                        </p:attrNameLst>
                                      </p:cBhvr>
                                      <p:rCtr x="2578" y="-23519"/>
                                    </p:animMotion>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3" nodeType="clickEffect">
                                  <p:stCondLst>
                                    <p:cond delay="0"/>
                                  </p:stCondLst>
                                  <p:childTnLst>
                                    <p:set>
                                      <p:cBhvr>
                                        <p:cTn id="122" dur="1" fill="hold">
                                          <p:stCondLst>
                                            <p:cond delay="0"/>
                                          </p:stCondLst>
                                        </p:cTn>
                                        <p:tgtEl>
                                          <p:spTgt spid="14"/>
                                        </p:tgtEl>
                                        <p:attrNameLst>
                                          <p:attrName>style.visibility</p:attrName>
                                        </p:attrNameLst>
                                      </p:cBhvr>
                                      <p:to>
                                        <p:strVal val="hidden"/>
                                      </p:to>
                                    </p:set>
                                  </p:childTnLst>
                                </p:cTn>
                              </p:par>
                              <p:par>
                                <p:cTn id="123" presetID="1" presetClass="entr" presetSubtype="0" fill="hold" grpId="6" nodeType="withEffect">
                                  <p:stCondLst>
                                    <p:cond delay="0"/>
                                  </p:stCondLst>
                                  <p:childTnLst>
                                    <p:set>
                                      <p:cBhvr>
                                        <p:cTn id="124" dur="1" fill="hold">
                                          <p:stCondLst>
                                            <p:cond delay="0"/>
                                          </p:stCondLst>
                                        </p:cTn>
                                        <p:tgtEl>
                                          <p:spTgt spid="1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2" nodeType="clickEffect">
                                  <p:stCondLst>
                                    <p:cond delay="0"/>
                                  </p:stCondLst>
                                  <p:childTnLst>
                                    <p:set>
                                      <p:cBhvr>
                                        <p:cTn id="128" dur="1" fill="hold">
                                          <p:stCondLst>
                                            <p:cond delay="0"/>
                                          </p:stCondLst>
                                        </p:cTn>
                                        <p:tgtEl>
                                          <p:spTgt spid="15"/>
                                        </p:tgtEl>
                                        <p:attrNameLst>
                                          <p:attrName>style.visibility</p:attrName>
                                        </p:attrNameLst>
                                      </p:cBhvr>
                                      <p:to>
                                        <p:strVal val="hidden"/>
                                      </p:to>
                                    </p:set>
                                  </p:childTnLst>
                                </p:cTn>
                              </p:par>
                              <p:par>
                                <p:cTn id="129" presetID="1" presetClass="entr" presetSubtype="0" fill="hold" grpId="5" nodeType="withEffect">
                                  <p:stCondLst>
                                    <p:cond delay="0"/>
                                  </p:stCondLst>
                                  <p:childTnLst>
                                    <p:set>
                                      <p:cBhvr>
                                        <p:cTn id="130" dur="1" fill="hold">
                                          <p:stCondLst>
                                            <p:cond delay="0"/>
                                          </p:stCondLst>
                                        </p:cTn>
                                        <p:tgtEl>
                                          <p:spTgt spid="1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4" nodeType="clickEffect">
                                  <p:stCondLst>
                                    <p:cond delay="0"/>
                                  </p:stCondLst>
                                  <p:childTnLst>
                                    <p:set>
                                      <p:cBhvr>
                                        <p:cTn id="134" dur="1" fill="hold">
                                          <p:stCondLst>
                                            <p:cond delay="0"/>
                                          </p:stCondLst>
                                        </p:cTn>
                                        <p:tgtEl>
                                          <p:spTgt spid="9"/>
                                        </p:tgtEl>
                                        <p:attrNameLst>
                                          <p:attrName>style.visibility</p:attrName>
                                        </p:attrNameLst>
                                      </p:cBhvr>
                                      <p:to>
                                        <p:strVal val="hidden"/>
                                      </p:to>
                                    </p:set>
                                  </p:childTnLst>
                                </p:cTn>
                              </p:par>
                              <p:par>
                                <p:cTn id="135" presetID="1" presetClass="entr" presetSubtype="0" fill="hold" grpId="4" nodeType="withEffect">
                                  <p:stCondLst>
                                    <p:cond delay="0"/>
                                  </p:stCondLst>
                                  <p:childTnLst>
                                    <p:set>
                                      <p:cBhvr>
                                        <p:cTn id="136" dur="1" fill="hold">
                                          <p:stCondLst>
                                            <p:cond delay="0"/>
                                          </p:stCondLst>
                                        </p:cTn>
                                        <p:tgtEl>
                                          <p:spTgt spid="1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4" nodeType="clickEffect">
                                  <p:stCondLst>
                                    <p:cond delay="0"/>
                                  </p:stCondLst>
                                  <p:childTnLst>
                                    <p:set>
                                      <p:cBhvr>
                                        <p:cTn id="140" dur="1" fill="hold">
                                          <p:stCondLst>
                                            <p:cond delay="0"/>
                                          </p:stCondLst>
                                        </p:cTn>
                                        <p:tgtEl>
                                          <p:spTgt spid="10"/>
                                        </p:tgtEl>
                                        <p:attrNameLst>
                                          <p:attrName>style.visibility</p:attrName>
                                        </p:attrNameLst>
                                      </p:cBhvr>
                                      <p:to>
                                        <p:strVal val="hidden"/>
                                      </p:to>
                                    </p:set>
                                  </p:childTnLst>
                                </p:cTn>
                              </p:par>
                              <p:par>
                                <p:cTn id="141" presetID="1" presetClass="entr" presetSubtype="0" fill="hold" grpId="6" nodeType="withEffect">
                                  <p:stCondLst>
                                    <p:cond delay="0"/>
                                  </p:stCondLst>
                                  <p:childTnLst>
                                    <p:set>
                                      <p:cBhvr>
                                        <p:cTn id="142" dur="1" fill="hold">
                                          <p:stCondLst>
                                            <p:cond delay="0"/>
                                          </p:stCondLst>
                                        </p:cTn>
                                        <p:tgtEl>
                                          <p:spTgt spid="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4" nodeType="clickEffect">
                                  <p:stCondLst>
                                    <p:cond delay="0"/>
                                  </p:stCondLst>
                                  <p:childTnLst>
                                    <p:set>
                                      <p:cBhvr>
                                        <p:cTn id="146" dur="1" fill="hold">
                                          <p:stCondLst>
                                            <p:cond delay="0"/>
                                          </p:stCondLst>
                                        </p:cTn>
                                        <p:tgtEl>
                                          <p:spTgt spid="12"/>
                                        </p:tgtEl>
                                        <p:attrNameLst>
                                          <p:attrName>style.visibility</p:attrName>
                                        </p:attrNameLst>
                                      </p:cBhvr>
                                      <p:to>
                                        <p:strVal val="hidden"/>
                                      </p:to>
                                    </p:set>
                                  </p:childTnLst>
                                </p:cTn>
                              </p:par>
                              <p:par>
                                <p:cTn id="147" presetID="1" presetClass="entr" presetSubtype="0" fill="hold" grpId="6" nodeType="withEffect">
                                  <p:stCondLst>
                                    <p:cond delay="0"/>
                                  </p:stCondLst>
                                  <p:childTnLst>
                                    <p:set>
                                      <p:cBhvr>
                                        <p:cTn id="148" dur="1" fill="hold">
                                          <p:stCondLst>
                                            <p:cond delay="0"/>
                                          </p:stCondLst>
                                        </p:cTn>
                                        <p:tgtEl>
                                          <p:spTgt spid="1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grpId="4" nodeType="clickEffect">
                                  <p:stCondLst>
                                    <p:cond delay="0"/>
                                  </p:stCondLst>
                                  <p:childTnLst>
                                    <p:set>
                                      <p:cBhvr>
                                        <p:cTn id="152" dur="1" fill="hold">
                                          <p:stCondLst>
                                            <p:cond delay="0"/>
                                          </p:stCondLst>
                                        </p:cTn>
                                        <p:tgtEl>
                                          <p:spTgt spid="13"/>
                                        </p:tgtEl>
                                        <p:attrNameLst>
                                          <p:attrName>style.visibility</p:attrName>
                                        </p:attrNameLst>
                                      </p:cBhvr>
                                      <p:to>
                                        <p:strVal val="hidden"/>
                                      </p:to>
                                    </p:set>
                                  </p:childTnLst>
                                </p:cTn>
                              </p:par>
                              <p:par>
                                <p:cTn id="153" presetID="1" presetClass="entr" presetSubtype="0" fill="hold" grpId="6" nodeType="withEffect">
                                  <p:stCondLst>
                                    <p:cond delay="0"/>
                                  </p:stCondLst>
                                  <p:childTnLst>
                                    <p:set>
                                      <p:cBhvr>
                                        <p:cTn id="154" dur="1" fill="hold">
                                          <p:stCondLst>
                                            <p:cond delay="0"/>
                                          </p:stCondLst>
                                        </p:cTn>
                                        <p:tgtEl>
                                          <p:spTgt spid="1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grpId="4" nodeType="clickEffect">
                                  <p:stCondLst>
                                    <p:cond delay="0"/>
                                  </p:stCondLst>
                                  <p:childTnLst>
                                    <p:set>
                                      <p:cBhvr>
                                        <p:cTn id="158" dur="1" fill="hold">
                                          <p:stCondLst>
                                            <p:cond delay="0"/>
                                          </p:stCondLst>
                                        </p:cTn>
                                        <p:tgtEl>
                                          <p:spTgt spid="14"/>
                                        </p:tgtEl>
                                        <p:attrNameLst>
                                          <p:attrName>style.visibility</p:attrName>
                                        </p:attrNameLst>
                                      </p:cBhvr>
                                      <p:to>
                                        <p:strVal val="hidden"/>
                                      </p:to>
                                    </p:set>
                                  </p:childTnLst>
                                </p:cTn>
                              </p:par>
                              <p:par>
                                <p:cTn id="159" presetID="1" presetClass="entr" presetSubtype="0" fill="hold" grpId="5" nodeType="withEffect">
                                  <p:stCondLst>
                                    <p:cond delay="0"/>
                                  </p:stCondLst>
                                  <p:childTnLst>
                                    <p:set>
                                      <p:cBhvr>
                                        <p:cTn id="16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0" grpId="0" animBg="1"/>
      <p:bldP spid="20" grpId="1" animBg="1"/>
      <p:bldP spid="2" grpId="0" animBg="1"/>
      <p:bldP spid="2" grpId="1" animBg="1"/>
      <p:bldP spid="3" grpId="0" animBg="1"/>
      <p:bldP spid="3" grpId="1" animBg="1"/>
      <p:bldP spid="4" grpId="0" animBg="1"/>
      <p:bldP spid="4" grpId="1" animBg="1"/>
      <p:bldP spid="6" grpId="0" animBg="1"/>
      <p:bldP spid="6" grpId="1" animBg="1"/>
      <p:bldP spid="9" grpId="0" animBg="1"/>
      <p:bldP spid="9" grpId="1" animBg="1"/>
      <p:bldP spid="9" grpId="2" animBg="1"/>
      <p:bldP spid="9" grpId="3" animBg="1"/>
      <p:bldP spid="9" grpId="4" animBg="1"/>
      <p:bldP spid="9" grpId="5" animBg="1"/>
      <p:bldP spid="9" grpId="6" animBg="1"/>
      <p:bldP spid="10" grpId="0" animBg="1"/>
      <p:bldP spid="10" grpId="1" animBg="1"/>
      <p:bldP spid="10" grpId="2" animBg="1"/>
      <p:bldP spid="10" grpId="3" animBg="1"/>
      <p:bldP spid="10" grpId="4" animBg="1"/>
      <p:bldP spid="10" grpId="5" animBg="1"/>
      <p:bldP spid="10" grpId="6" animBg="1"/>
      <p:bldP spid="12" grpId="0" animBg="1"/>
      <p:bldP spid="12" grpId="1" animBg="1"/>
      <p:bldP spid="12" grpId="2" animBg="1"/>
      <p:bldP spid="12" grpId="3" animBg="1"/>
      <p:bldP spid="12" grpId="4" animBg="1"/>
      <p:bldP spid="12" grpId="5" animBg="1"/>
      <p:bldP spid="12" grpId="6" animBg="1"/>
      <p:bldP spid="13" grpId="0" animBg="1"/>
      <p:bldP spid="13" grpId="1" animBg="1"/>
      <p:bldP spid="13" grpId="2" animBg="1"/>
      <p:bldP spid="13" grpId="3" animBg="1"/>
      <p:bldP spid="13" grpId="4" animBg="1"/>
      <p:bldP spid="13" grpId="5" animBg="1"/>
      <p:bldP spid="13" grpId="6" animBg="1"/>
      <p:bldP spid="14" grpId="0" animBg="1"/>
      <p:bldP spid="14" grpId="1" animBg="1"/>
      <p:bldP spid="14" grpId="2" animBg="1"/>
      <p:bldP spid="14" grpId="3" animBg="1"/>
      <p:bldP spid="14" grpId="4" animBg="1"/>
      <p:bldP spid="14" grpId="5" animBg="1"/>
      <p:bldP spid="15" grpId="0" animBg="1"/>
      <p:bldP spid="15" grpId="1" animBg="1"/>
      <p:bldP spid="15" grpId="2" animBg="1"/>
      <p:bldP spid="15" grpId="3" animBg="1"/>
      <p:bldP spid="15" grpId="4"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009833" y="1286397"/>
            <a:ext cx="8311444" cy="4957276"/>
          </a:xfrm>
          <a:prstGeom prst="rect">
            <a:avLst/>
          </a:prstGeom>
          <a:noFill/>
          <a:ln w="9525">
            <a:noFill/>
            <a:miter lim="800000"/>
            <a:headEnd/>
            <a:tailEnd/>
          </a:ln>
        </p:spPr>
        <p:txBody>
          <a:bodyPr lIns="70927" tIns="35464" rIns="70927" bIns="35464"/>
          <a:lstStyle/>
          <a:p>
            <a:pPr marL="467674" indent="-467674">
              <a:spcBef>
                <a:spcPct val="20000"/>
              </a:spcBef>
              <a:buClr>
                <a:schemeClr val="accent2"/>
              </a:buClr>
              <a:buFontTx/>
              <a:buChar char="•"/>
            </a:pPr>
            <a:r>
              <a:rPr lang="en-US" sz="1900" dirty="0">
                <a:latin typeface="Arial" pitchFamily="34" charset="0"/>
              </a:rPr>
              <a:t>Optimal page replacement algorithm</a:t>
            </a:r>
          </a:p>
          <a:p>
            <a:pPr marL="467674" indent="-467674">
              <a:spcBef>
                <a:spcPct val="20000"/>
              </a:spcBef>
              <a:buClr>
                <a:schemeClr val="accent2"/>
              </a:buClr>
              <a:buFontTx/>
              <a:buChar char="•"/>
            </a:pPr>
            <a:r>
              <a:rPr lang="en-US" sz="1900" dirty="0">
                <a:latin typeface="Arial" pitchFamily="34" charset="0"/>
              </a:rPr>
              <a:t>Not recently used page replacement</a:t>
            </a:r>
          </a:p>
          <a:p>
            <a:pPr marL="467674" indent="-467674">
              <a:spcBef>
                <a:spcPct val="20000"/>
              </a:spcBef>
              <a:buClr>
                <a:schemeClr val="accent2"/>
              </a:buClr>
              <a:buFontTx/>
              <a:buChar char="•"/>
            </a:pPr>
            <a:r>
              <a:rPr lang="en-US" sz="1900" dirty="0">
                <a:latin typeface="Arial" pitchFamily="34" charset="0"/>
              </a:rPr>
              <a:t>First-In, First-Out page replacement</a:t>
            </a:r>
          </a:p>
          <a:p>
            <a:pPr marL="467674" indent="-467674">
              <a:spcBef>
                <a:spcPct val="20000"/>
              </a:spcBef>
              <a:buClr>
                <a:schemeClr val="accent2"/>
              </a:buClr>
              <a:buFontTx/>
              <a:buChar char="•"/>
            </a:pPr>
            <a:r>
              <a:rPr lang="en-US" sz="1900" dirty="0">
                <a:latin typeface="Arial" pitchFamily="34" charset="0"/>
              </a:rPr>
              <a:t>Second chance page replacement</a:t>
            </a:r>
          </a:p>
          <a:p>
            <a:pPr marL="467674" indent="-467674">
              <a:spcBef>
                <a:spcPct val="20000"/>
              </a:spcBef>
              <a:buClr>
                <a:schemeClr val="accent2"/>
              </a:buClr>
              <a:buFontTx/>
              <a:buChar char="•"/>
            </a:pPr>
            <a:r>
              <a:rPr lang="en-US" sz="1900" dirty="0">
                <a:latin typeface="Arial" pitchFamily="34" charset="0"/>
              </a:rPr>
              <a:t>Clock page replacement </a:t>
            </a:r>
          </a:p>
          <a:p>
            <a:pPr marL="467674" indent="-467674">
              <a:spcBef>
                <a:spcPct val="20000"/>
              </a:spcBef>
              <a:buClr>
                <a:schemeClr val="accent2"/>
              </a:buClr>
              <a:buFontTx/>
              <a:buChar char="•"/>
            </a:pPr>
            <a:r>
              <a:rPr lang="en-US" sz="1900" dirty="0">
                <a:latin typeface="Arial" pitchFamily="34" charset="0"/>
              </a:rPr>
              <a:t>Least recently used page replacement</a:t>
            </a:r>
          </a:p>
          <a:p>
            <a:pPr marL="467674" indent="-467674">
              <a:spcBef>
                <a:spcPct val="20000"/>
              </a:spcBef>
              <a:buClr>
                <a:schemeClr val="accent2"/>
              </a:buClr>
              <a:buFontTx/>
              <a:buChar char="•"/>
            </a:pPr>
            <a:r>
              <a:rPr lang="en-US" sz="1900" dirty="0">
                <a:latin typeface="Arial" pitchFamily="34" charset="0"/>
              </a:rPr>
              <a:t>NFU</a:t>
            </a:r>
          </a:p>
          <a:p>
            <a:pPr marL="467674" indent="-467674">
              <a:spcBef>
                <a:spcPct val="20000"/>
              </a:spcBef>
              <a:buClr>
                <a:schemeClr val="accent2"/>
              </a:buClr>
              <a:buFontTx/>
              <a:buChar char="•"/>
            </a:pPr>
            <a:r>
              <a:rPr lang="en-US" sz="1900" dirty="0">
                <a:latin typeface="Arial" pitchFamily="34" charset="0"/>
              </a:rPr>
              <a:t>Aging</a:t>
            </a:r>
          </a:p>
          <a:p>
            <a:pPr marL="467674" indent="-467674">
              <a:spcBef>
                <a:spcPct val="20000"/>
              </a:spcBef>
              <a:buClr>
                <a:schemeClr val="accent2"/>
              </a:buClr>
              <a:buFontTx/>
              <a:buChar char="•"/>
            </a:pPr>
            <a:r>
              <a:rPr lang="en-US" sz="1900" dirty="0">
                <a:latin typeface="Arial" pitchFamily="34" charset="0"/>
              </a:rPr>
              <a:t>Working set page replacement</a:t>
            </a:r>
          </a:p>
          <a:p>
            <a:pPr marL="467674" indent="-467674">
              <a:spcBef>
                <a:spcPct val="20000"/>
              </a:spcBef>
              <a:buClr>
                <a:schemeClr val="accent2"/>
              </a:buClr>
              <a:buFontTx/>
              <a:buChar char="•"/>
            </a:pPr>
            <a:r>
              <a:rPr lang="en-US" sz="1900" dirty="0" err="1">
                <a:latin typeface="Arial" pitchFamily="34" charset="0"/>
              </a:rPr>
              <a:t>WSClock</a:t>
            </a:r>
            <a:r>
              <a:rPr lang="en-US" sz="1900" dirty="0">
                <a:latin typeface="Arial" pitchFamily="34" charset="0"/>
              </a:rPr>
              <a:t> page replacement</a:t>
            </a:r>
          </a:p>
          <a:p>
            <a:pPr marL="467674" indent="-467674">
              <a:spcBef>
                <a:spcPct val="20000"/>
              </a:spcBef>
              <a:buClr>
                <a:schemeClr val="accent2"/>
              </a:buClr>
            </a:pPr>
            <a:endParaRPr lang="en-US" sz="1900" dirty="0">
              <a:latin typeface="Arial" pitchFamily="34" charset="0"/>
            </a:endParaRPr>
          </a:p>
        </p:txBody>
      </p:sp>
      <p:sp>
        <p:nvSpPr>
          <p:cNvPr id="28675" name="Rectangle 3"/>
          <p:cNvSpPr>
            <a:spLocks noChangeArrowheads="1"/>
          </p:cNvSpPr>
          <p:nvPr/>
        </p:nvSpPr>
        <p:spPr bwMode="auto">
          <a:xfrm>
            <a:off x="1524000" y="2"/>
            <a:ext cx="9144000" cy="1143459"/>
          </a:xfrm>
          <a:prstGeom prst="rect">
            <a:avLst/>
          </a:prstGeom>
          <a:noFill/>
          <a:ln w="9525">
            <a:noFill/>
            <a:miter lim="800000"/>
            <a:headEnd/>
            <a:tailEnd/>
          </a:ln>
        </p:spPr>
        <p:txBody>
          <a:bodyPr lIns="70927" tIns="35464" rIns="70927" bIns="35464" anchor="ctr"/>
          <a:lstStyle/>
          <a:p>
            <a:r>
              <a:rPr lang="en-US" sz="2700" dirty="0">
                <a:solidFill>
                  <a:srgbClr val="FF0000"/>
                </a:solidFill>
                <a:latin typeface="Arial" pitchFamily="34" charset="0"/>
              </a:rPr>
              <a:t>Page Replacement Algorithms</a:t>
            </a:r>
          </a:p>
        </p:txBody>
      </p:sp>
      <p:sp>
        <p:nvSpPr>
          <p:cNvPr id="28677" name="TextBox 4"/>
          <p:cNvSpPr txBox="1">
            <a:spLocks noChangeArrowheads="1"/>
          </p:cNvSpPr>
          <p:nvPr/>
        </p:nvSpPr>
        <p:spPr bwMode="auto">
          <a:xfrm>
            <a:off x="6546552" y="716042"/>
            <a:ext cx="3345341" cy="2282151"/>
          </a:xfrm>
          <a:prstGeom prst="rect">
            <a:avLst/>
          </a:prstGeom>
          <a:noFill/>
          <a:ln w="9525">
            <a:noFill/>
            <a:miter lim="800000"/>
            <a:headEnd/>
            <a:tailEnd/>
          </a:ln>
        </p:spPr>
        <p:txBody>
          <a:bodyPr lIns="65520" tIns="32760" rIns="65520" bIns="32760">
            <a:spAutoFit/>
          </a:bodyPr>
          <a:lstStyle/>
          <a:p>
            <a:pPr algn="r" rtl="1"/>
            <a:r>
              <a:rPr lang="he-IL" dirty="0"/>
              <a:t>נעדיף לפנות דף שהפנייה אליו בעוד הכי הרבה פקודות, הכי הרבה זמן.</a:t>
            </a:r>
          </a:p>
          <a:p>
            <a:pPr algn="r" rtl="1"/>
            <a:endParaRPr lang="he-IL" dirty="0"/>
          </a:p>
          <a:p>
            <a:pPr algn="r" rtl="1"/>
            <a:r>
              <a:rPr lang="he-IL" dirty="0"/>
              <a:t>מחרוזת ההתייחסות (פניות לדפים בזיכרון) לא ידועה כי היא תלוית קלט (זמן ריצה) </a:t>
            </a:r>
          </a:p>
          <a:p>
            <a:endParaRPr lang="he-IL" dirty="0"/>
          </a:p>
          <a:p>
            <a:endParaRPr lang="he-IL" dirty="0"/>
          </a:p>
        </p:txBody>
      </p:sp>
      <p:sp>
        <p:nvSpPr>
          <p:cNvPr id="6" name="מציין מיקום של תאריך 5"/>
          <p:cNvSpPr>
            <a:spLocks noGrp="1"/>
          </p:cNvSpPr>
          <p:nvPr>
            <p:ph type="dt" sz="half" idx="10"/>
          </p:nvPr>
        </p:nvSpPr>
        <p:spPr/>
        <p:txBody>
          <a:bodyPr/>
          <a:lstStyle/>
          <a:p>
            <a:pPr>
              <a:defRPr/>
            </a:pPr>
            <a:fld id="{8E10C034-F534-49E8-90ED-20A36B4BBA41}" type="datetime12">
              <a:rPr lang="he-IL" smtClean="0"/>
              <a:pPr>
                <a:defRPr/>
              </a:pPr>
              <a:t>28/01/2024 18:13</a:t>
            </a:fld>
            <a:endParaRPr lang="en-US"/>
          </a:p>
        </p:txBody>
      </p:sp>
      <p:sp>
        <p:nvSpPr>
          <p:cNvPr id="7" name="מציין מיקום של מספר שקופית 6"/>
          <p:cNvSpPr>
            <a:spLocks noGrp="1"/>
          </p:cNvSpPr>
          <p:nvPr>
            <p:ph type="sldNum" sz="quarter" idx="12"/>
          </p:nvPr>
        </p:nvSpPr>
        <p:spPr/>
        <p:txBody>
          <a:bodyPr/>
          <a:lstStyle/>
          <a:p>
            <a:pPr>
              <a:defRPr/>
            </a:pPr>
            <a:fld id="{3061DC7B-53AB-4EA6-B431-9AA39A66E421}" type="slidenum">
              <a:rPr lang="he-IL" smtClean="0"/>
              <a:pPr>
                <a:defRPr/>
              </a:pPr>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מציין מיקום של מספר שקופית 5"/>
          <p:cNvSpPr>
            <a:spLocks noGrp="1"/>
          </p:cNvSpPr>
          <p:nvPr>
            <p:ph type="sldNum" sz="quarter" idx="12"/>
          </p:nvPr>
        </p:nvSpPr>
        <p:spPr>
          <a:noFill/>
        </p:spPr>
        <p:txBody>
          <a:bodyPr/>
          <a:lstStyle/>
          <a:p>
            <a:fld id="{94D94077-92DB-4212-BDA2-836E0EDEE085}" type="slidenum">
              <a:rPr lang="he-IL" smtClean="0"/>
              <a:pPr/>
              <a:t>37</a:t>
            </a:fld>
            <a:endParaRPr lang="en-US"/>
          </a:p>
        </p:txBody>
      </p:sp>
      <p:sp>
        <p:nvSpPr>
          <p:cNvPr id="29699" name="Rectangle 2"/>
          <p:cNvSpPr>
            <a:spLocks noGrp="1" noChangeArrowheads="1"/>
          </p:cNvSpPr>
          <p:nvPr>
            <p:ph type="title"/>
          </p:nvPr>
        </p:nvSpPr>
        <p:spPr/>
        <p:txBody>
          <a:bodyPr/>
          <a:lstStyle/>
          <a:p>
            <a:pPr eaLnBrk="1" hangingPunct="1"/>
            <a:r>
              <a:rPr lang="en-US" dirty="0"/>
              <a:t>Page Replacement Algorithms</a:t>
            </a:r>
            <a:endParaRPr lang="en-US" sz="2600" dirty="0"/>
          </a:p>
        </p:txBody>
      </p:sp>
      <p:sp>
        <p:nvSpPr>
          <p:cNvPr id="29700" name="Rectangle 3"/>
          <p:cNvSpPr>
            <a:spLocks noGrp="1" noChangeArrowheads="1"/>
          </p:cNvSpPr>
          <p:nvPr>
            <p:ph type="body" idx="1"/>
          </p:nvPr>
        </p:nvSpPr>
        <p:spPr>
          <a:xfrm>
            <a:off x="2209405" y="1324875"/>
            <a:ext cx="7773207" cy="4771739"/>
          </a:xfrm>
        </p:spPr>
        <p:txBody>
          <a:bodyPr/>
          <a:lstStyle/>
          <a:p>
            <a:pPr eaLnBrk="1" hangingPunct="1"/>
            <a:r>
              <a:rPr lang="en-US" dirty="0"/>
              <a:t>Page fault forces choice</a:t>
            </a:r>
            <a:r>
              <a:rPr lang="en-US" sz="2400" dirty="0"/>
              <a:t> </a:t>
            </a:r>
          </a:p>
          <a:p>
            <a:pPr lvl="1" eaLnBrk="1" hangingPunct="1"/>
            <a:r>
              <a:rPr lang="en-US" dirty="0"/>
              <a:t>which page must be removed</a:t>
            </a:r>
          </a:p>
          <a:p>
            <a:pPr lvl="1" eaLnBrk="1" hangingPunct="1"/>
            <a:r>
              <a:rPr lang="en-US" dirty="0"/>
              <a:t>make room for incoming page</a:t>
            </a:r>
          </a:p>
          <a:p>
            <a:pPr lvl="1" eaLnBrk="1" hangingPunct="1">
              <a:lnSpc>
                <a:spcPct val="90000"/>
              </a:lnSpc>
            </a:pPr>
            <a:endParaRPr lang="en-US" dirty="0"/>
          </a:p>
          <a:p>
            <a:pPr eaLnBrk="1" hangingPunct="1">
              <a:lnSpc>
                <a:spcPct val="90000"/>
              </a:lnSpc>
            </a:pPr>
            <a:r>
              <a:rPr lang="en-US" dirty="0"/>
              <a:t>Modified page must first be saved</a:t>
            </a:r>
            <a:endParaRPr lang="en-US" sz="2400" dirty="0"/>
          </a:p>
          <a:p>
            <a:pPr lvl="1" eaLnBrk="1" hangingPunct="1">
              <a:lnSpc>
                <a:spcPct val="90000"/>
              </a:lnSpc>
            </a:pPr>
            <a:r>
              <a:rPr lang="en-US" dirty="0"/>
              <a:t>unmodified just overwritten</a:t>
            </a:r>
          </a:p>
          <a:p>
            <a:pPr lvl="1" eaLnBrk="1" hangingPunct="1">
              <a:lnSpc>
                <a:spcPct val="90000"/>
              </a:lnSpc>
            </a:pPr>
            <a:endParaRPr lang="en-US" sz="2100" dirty="0"/>
          </a:p>
          <a:p>
            <a:pPr eaLnBrk="1" hangingPunct="1">
              <a:lnSpc>
                <a:spcPct val="90000"/>
              </a:lnSpc>
            </a:pPr>
            <a:r>
              <a:rPr lang="en-US" dirty="0"/>
              <a:t>Better not to choose an often used page</a:t>
            </a:r>
            <a:endParaRPr lang="en-US" sz="2400" dirty="0"/>
          </a:p>
          <a:p>
            <a:pPr lvl="1" eaLnBrk="1" hangingPunct="1">
              <a:lnSpc>
                <a:spcPct val="90000"/>
              </a:lnSpc>
            </a:pPr>
            <a:r>
              <a:rPr lang="en-US" dirty="0"/>
              <a:t>will probably need to be brought back in soon</a:t>
            </a:r>
          </a:p>
        </p:txBody>
      </p:sp>
      <p:sp>
        <p:nvSpPr>
          <p:cNvPr id="5" name="מציין מיקום של תאריך 4"/>
          <p:cNvSpPr>
            <a:spLocks noGrp="1"/>
          </p:cNvSpPr>
          <p:nvPr>
            <p:ph type="dt" sz="half" idx="10"/>
          </p:nvPr>
        </p:nvSpPr>
        <p:spPr/>
        <p:txBody>
          <a:bodyPr/>
          <a:lstStyle/>
          <a:p>
            <a:pPr>
              <a:defRPr/>
            </a:pPr>
            <a:fld id="{582D4525-D0CF-4389-846D-C8368791888D}" type="datetime12">
              <a:rPr lang="he-IL" smtClean="0"/>
              <a:pPr>
                <a:defRPr/>
              </a:pPr>
              <a:t>28/01/2024 18:13</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מציין מיקום של מספר שקופית 5"/>
          <p:cNvSpPr>
            <a:spLocks noGrp="1"/>
          </p:cNvSpPr>
          <p:nvPr>
            <p:ph type="sldNum" sz="quarter" idx="12"/>
          </p:nvPr>
        </p:nvSpPr>
        <p:spPr>
          <a:noFill/>
        </p:spPr>
        <p:txBody>
          <a:bodyPr/>
          <a:lstStyle/>
          <a:p>
            <a:fld id="{E830EEE0-186F-4FD9-BB59-78FC76987C49}" type="slidenum">
              <a:rPr lang="he-IL" smtClean="0"/>
              <a:pPr/>
              <a:t>38</a:t>
            </a:fld>
            <a:endParaRPr lang="en-US"/>
          </a:p>
        </p:txBody>
      </p:sp>
      <p:sp>
        <p:nvSpPr>
          <p:cNvPr id="30723" name="Rectangle 2"/>
          <p:cNvSpPr>
            <a:spLocks noGrp="1" noChangeArrowheads="1"/>
          </p:cNvSpPr>
          <p:nvPr>
            <p:ph type="title"/>
          </p:nvPr>
        </p:nvSpPr>
        <p:spPr>
          <a:xfrm>
            <a:off x="1524003" y="2"/>
            <a:ext cx="8458603" cy="1143459"/>
          </a:xfrm>
        </p:spPr>
        <p:txBody>
          <a:bodyPr/>
          <a:lstStyle/>
          <a:p>
            <a:pPr eaLnBrk="1" hangingPunct="1"/>
            <a:r>
              <a:rPr lang="en-US" sz="2600" dirty="0"/>
              <a:t>Optimal Page Replacement Algorithm</a:t>
            </a:r>
            <a:endParaRPr lang="en-US" sz="2400" dirty="0"/>
          </a:p>
        </p:txBody>
      </p:sp>
      <p:sp>
        <p:nvSpPr>
          <p:cNvPr id="30724" name="Rectangle 3"/>
          <p:cNvSpPr>
            <a:spLocks noGrp="1" noChangeArrowheads="1"/>
          </p:cNvSpPr>
          <p:nvPr>
            <p:ph type="body" idx="1"/>
          </p:nvPr>
        </p:nvSpPr>
        <p:spPr>
          <a:xfrm>
            <a:off x="1701405" y="1352365"/>
            <a:ext cx="8789207" cy="4744252"/>
          </a:xfrm>
        </p:spPr>
        <p:txBody>
          <a:bodyPr/>
          <a:lstStyle/>
          <a:p>
            <a:pPr eaLnBrk="1" hangingPunct="1"/>
            <a:r>
              <a:rPr lang="en-US" dirty="0"/>
              <a:t>Replace page needed at the farthest point in future</a:t>
            </a:r>
            <a:endParaRPr lang="en-US" sz="2400" dirty="0"/>
          </a:p>
          <a:p>
            <a:pPr lvl="1" eaLnBrk="1" hangingPunct="1"/>
            <a:r>
              <a:rPr lang="en-US" dirty="0"/>
              <a:t>Optimal but unrealizable</a:t>
            </a:r>
          </a:p>
          <a:p>
            <a:pPr lvl="1" eaLnBrk="1" hangingPunct="1"/>
            <a:endParaRPr lang="en-US" sz="2100" dirty="0"/>
          </a:p>
          <a:p>
            <a:pPr eaLnBrk="1" hangingPunct="1"/>
            <a:r>
              <a:rPr lang="en-US" dirty="0"/>
              <a:t>Estimate by …</a:t>
            </a:r>
          </a:p>
          <a:p>
            <a:pPr lvl="1" eaLnBrk="1" hangingPunct="1"/>
            <a:r>
              <a:rPr lang="en-US" dirty="0"/>
              <a:t>logging page use on previous runs of  process</a:t>
            </a:r>
          </a:p>
          <a:p>
            <a:pPr lvl="1" eaLnBrk="1" hangingPunct="1"/>
            <a:r>
              <a:rPr lang="en-US" dirty="0"/>
              <a:t>although this is impractical</a:t>
            </a:r>
            <a:endParaRPr lang="en-US" sz="2100" dirty="0"/>
          </a:p>
        </p:txBody>
      </p:sp>
      <p:sp>
        <p:nvSpPr>
          <p:cNvPr id="5" name="מציין מיקום של תאריך 4"/>
          <p:cNvSpPr>
            <a:spLocks noGrp="1"/>
          </p:cNvSpPr>
          <p:nvPr>
            <p:ph type="dt" sz="half" idx="10"/>
          </p:nvPr>
        </p:nvSpPr>
        <p:spPr/>
        <p:txBody>
          <a:bodyPr/>
          <a:lstStyle/>
          <a:p>
            <a:pPr>
              <a:defRPr/>
            </a:pPr>
            <a:fld id="{AB037CC6-90B7-478E-BCCC-F2AB3E16135E}" type="datetime12">
              <a:rPr lang="he-IL" smtClean="0"/>
              <a:pPr>
                <a:defRPr/>
              </a:pPr>
              <a:t>28/01/2024 18:13</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מציין מיקום של מספר שקופית 5"/>
          <p:cNvSpPr>
            <a:spLocks noGrp="1"/>
          </p:cNvSpPr>
          <p:nvPr>
            <p:ph type="sldNum" sz="quarter" idx="12"/>
          </p:nvPr>
        </p:nvSpPr>
        <p:spPr>
          <a:noFill/>
        </p:spPr>
        <p:txBody>
          <a:bodyPr/>
          <a:lstStyle/>
          <a:p>
            <a:fld id="{6FB0691A-945B-4406-953C-19531E059E9B}" type="slidenum">
              <a:rPr lang="he-IL" smtClean="0"/>
              <a:pPr/>
              <a:t>39</a:t>
            </a:fld>
            <a:endParaRPr lang="en-US"/>
          </a:p>
        </p:txBody>
      </p:sp>
      <p:sp>
        <p:nvSpPr>
          <p:cNvPr id="31747" name="Rectangle 2"/>
          <p:cNvSpPr>
            <a:spLocks noGrp="1" noChangeArrowheads="1"/>
          </p:cNvSpPr>
          <p:nvPr>
            <p:ph type="title"/>
          </p:nvPr>
        </p:nvSpPr>
        <p:spPr>
          <a:xfrm>
            <a:off x="1524000" y="2"/>
            <a:ext cx="9144000" cy="1143459"/>
          </a:xfrm>
        </p:spPr>
        <p:txBody>
          <a:bodyPr/>
          <a:lstStyle/>
          <a:p>
            <a:pPr eaLnBrk="1" hangingPunct="1"/>
            <a:r>
              <a:rPr lang="en-US" sz="2100" dirty="0"/>
              <a:t>Not Recently Used Page Replacement Algorithm</a:t>
            </a:r>
          </a:p>
        </p:txBody>
      </p:sp>
      <p:sp>
        <p:nvSpPr>
          <p:cNvPr id="31748" name="Rectangle 3"/>
          <p:cNvSpPr>
            <a:spLocks noGrp="1" noChangeArrowheads="1"/>
          </p:cNvSpPr>
          <p:nvPr>
            <p:ph type="body" idx="1"/>
          </p:nvPr>
        </p:nvSpPr>
        <p:spPr>
          <a:xfrm>
            <a:off x="2209405" y="1361986"/>
            <a:ext cx="7773207" cy="5496020"/>
          </a:xfrm>
        </p:spPr>
        <p:txBody>
          <a:bodyPr/>
          <a:lstStyle/>
          <a:p>
            <a:pPr marL="347058" indent="-347058" eaLnBrk="1" hangingPunct="1"/>
            <a:r>
              <a:rPr lang="en-US" dirty="0"/>
              <a:t>Each page has Reference bit, Modified bit</a:t>
            </a:r>
          </a:p>
          <a:p>
            <a:pPr marL="596256" lvl="1" indent="-296990" eaLnBrk="1" hangingPunct="1"/>
            <a:r>
              <a:rPr lang="en-US" dirty="0"/>
              <a:t>bits are set when page is referenced, modified</a:t>
            </a:r>
          </a:p>
          <a:p>
            <a:pPr marL="347058" indent="-347058" eaLnBrk="1" hangingPunct="1"/>
            <a:r>
              <a:rPr lang="en-US" dirty="0"/>
              <a:t>Pages are classified</a:t>
            </a:r>
          </a:p>
          <a:p>
            <a:pPr marL="596256" lvl="1" indent="-296990" eaLnBrk="1" hangingPunct="1">
              <a:buClr>
                <a:schemeClr val="tx1"/>
              </a:buClr>
              <a:buSzPct val="50000"/>
              <a:buFont typeface="Symbol" pitchFamily="18" charset="2"/>
              <a:buAutoNum type="arabicPeriod"/>
            </a:pPr>
            <a:r>
              <a:rPr lang="en-US" dirty="0"/>
              <a:t>not referenced, not modified</a:t>
            </a:r>
          </a:p>
          <a:p>
            <a:pPr marL="596256" lvl="1" indent="-296990" eaLnBrk="1" hangingPunct="1">
              <a:buClr>
                <a:schemeClr val="tx1"/>
              </a:buClr>
              <a:buSzPct val="50000"/>
              <a:buFont typeface="Symbol" pitchFamily="18" charset="2"/>
              <a:buAutoNum type="arabicPeriod"/>
            </a:pPr>
            <a:r>
              <a:rPr lang="en-US" dirty="0"/>
              <a:t>not referenced, modified</a:t>
            </a:r>
          </a:p>
          <a:p>
            <a:pPr marL="596256" lvl="1" indent="-296990" eaLnBrk="1" hangingPunct="1">
              <a:buClr>
                <a:schemeClr val="tx1"/>
              </a:buClr>
              <a:buSzPct val="50000"/>
              <a:buFont typeface="Symbol" pitchFamily="18" charset="2"/>
              <a:buAutoNum type="arabicPeriod"/>
            </a:pPr>
            <a:r>
              <a:rPr lang="en-US" dirty="0"/>
              <a:t>referenced, not modified</a:t>
            </a:r>
          </a:p>
          <a:p>
            <a:pPr marL="596256" lvl="1" indent="-296990" eaLnBrk="1" hangingPunct="1">
              <a:buClr>
                <a:schemeClr val="tx1"/>
              </a:buClr>
              <a:buSzPct val="50000"/>
              <a:buFont typeface="Symbol" pitchFamily="18" charset="2"/>
              <a:buAutoNum type="arabicPeriod"/>
            </a:pPr>
            <a:r>
              <a:rPr lang="en-US" dirty="0"/>
              <a:t>referenced, modified</a:t>
            </a:r>
          </a:p>
          <a:p>
            <a:pPr marL="347058" indent="-347058" eaLnBrk="1" hangingPunct="1"/>
            <a:r>
              <a:rPr lang="en-US" dirty="0"/>
              <a:t>NRU removes page at random</a:t>
            </a:r>
          </a:p>
          <a:p>
            <a:pPr marL="596256" lvl="1" indent="-296990" eaLnBrk="1" hangingPunct="1"/>
            <a:r>
              <a:rPr lang="en-US" dirty="0"/>
              <a:t>from lowest numbered non empty class</a:t>
            </a:r>
          </a:p>
        </p:txBody>
      </p:sp>
      <p:sp>
        <p:nvSpPr>
          <p:cNvPr id="31749" name="TextBox 4"/>
          <p:cNvSpPr txBox="1">
            <a:spLocks noChangeArrowheads="1"/>
          </p:cNvSpPr>
          <p:nvPr/>
        </p:nvSpPr>
        <p:spPr bwMode="auto">
          <a:xfrm>
            <a:off x="7356937" y="1180570"/>
            <a:ext cx="1228271" cy="343159"/>
          </a:xfrm>
          <a:prstGeom prst="rect">
            <a:avLst/>
          </a:prstGeom>
          <a:noFill/>
          <a:ln w="9525">
            <a:noFill/>
            <a:miter lim="800000"/>
            <a:headEnd/>
            <a:tailEnd/>
          </a:ln>
        </p:spPr>
        <p:txBody>
          <a:bodyPr wrap="square" lIns="65520" tIns="32760" rIns="65520" bIns="32760">
            <a:spAutoFit/>
          </a:bodyPr>
          <a:lstStyle/>
          <a:p>
            <a:r>
              <a:rPr lang="he-IL" dirty="0"/>
              <a:t>הדף העתיק</a:t>
            </a:r>
          </a:p>
        </p:txBody>
      </p:sp>
      <p:sp>
        <p:nvSpPr>
          <p:cNvPr id="6" name="מציין מיקום של תאריך 5"/>
          <p:cNvSpPr>
            <a:spLocks noGrp="1"/>
          </p:cNvSpPr>
          <p:nvPr>
            <p:ph type="dt" sz="half" idx="10"/>
          </p:nvPr>
        </p:nvSpPr>
        <p:spPr/>
        <p:txBody>
          <a:bodyPr/>
          <a:lstStyle/>
          <a:p>
            <a:pPr>
              <a:defRPr/>
            </a:pPr>
            <a:fld id="{616D2390-5603-4327-A9ED-233D0F287109}" type="datetime12">
              <a:rPr lang="he-IL" smtClean="0"/>
              <a:pPr>
                <a:defRPr/>
              </a:pPr>
              <a:t>28/01/2024 18:13</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מציין מיקום של מספר שקופית 5"/>
          <p:cNvSpPr>
            <a:spLocks noGrp="1"/>
          </p:cNvSpPr>
          <p:nvPr>
            <p:ph type="sldNum" sz="quarter" idx="12"/>
          </p:nvPr>
        </p:nvSpPr>
        <p:spPr>
          <a:noFill/>
        </p:spPr>
        <p:txBody>
          <a:bodyPr/>
          <a:lstStyle/>
          <a:p>
            <a:fld id="{C2A45561-0D70-4002-95C1-A10CDF5CB609}" type="slidenum">
              <a:rPr lang="he-IL" smtClean="0"/>
              <a:pPr/>
              <a:t>40</a:t>
            </a:fld>
            <a:endParaRPr lang="en-US"/>
          </a:p>
        </p:txBody>
      </p:sp>
      <p:sp>
        <p:nvSpPr>
          <p:cNvPr id="32771" name="Rectangle 2"/>
          <p:cNvSpPr>
            <a:spLocks noGrp="1" noChangeArrowheads="1"/>
          </p:cNvSpPr>
          <p:nvPr>
            <p:ph type="title"/>
          </p:nvPr>
        </p:nvSpPr>
        <p:spPr>
          <a:xfrm>
            <a:off x="1622779" y="2"/>
            <a:ext cx="8890000" cy="1143459"/>
          </a:xfrm>
        </p:spPr>
        <p:txBody>
          <a:bodyPr/>
          <a:lstStyle/>
          <a:p>
            <a:pPr eaLnBrk="1" hangingPunct="1"/>
            <a:r>
              <a:rPr lang="en-US" dirty="0"/>
              <a:t>FIFO Page Replacement Algorithm</a:t>
            </a:r>
            <a:endParaRPr lang="en-US" sz="2600" dirty="0"/>
          </a:p>
        </p:txBody>
      </p:sp>
      <p:sp>
        <p:nvSpPr>
          <p:cNvPr id="32772" name="Rectangle 3"/>
          <p:cNvSpPr>
            <a:spLocks noGrp="1" noChangeArrowheads="1"/>
          </p:cNvSpPr>
          <p:nvPr>
            <p:ph type="body" idx="1"/>
          </p:nvPr>
        </p:nvSpPr>
        <p:spPr>
          <a:xfrm>
            <a:off x="1816306" y="1437571"/>
            <a:ext cx="8559397" cy="4659043"/>
          </a:xfrm>
        </p:spPr>
        <p:txBody>
          <a:bodyPr/>
          <a:lstStyle/>
          <a:p>
            <a:pPr eaLnBrk="1" hangingPunct="1"/>
            <a:r>
              <a:rPr lang="en-US" dirty="0"/>
              <a:t>Maintain a linked list of all pages</a:t>
            </a:r>
            <a:r>
              <a:rPr lang="en-US" sz="2400" dirty="0"/>
              <a:t> </a:t>
            </a:r>
          </a:p>
          <a:p>
            <a:pPr lvl="1" eaLnBrk="1" hangingPunct="1"/>
            <a:r>
              <a:rPr lang="en-US" dirty="0"/>
              <a:t>in order they came into memory</a:t>
            </a:r>
            <a:endParaRPr lang="en-US" sz="2100" dirty="0"/>
          </a:p>
          <a:p>
            <a:pPr lvl="1" eaLnBrk="1" hangingPunct="1"/>
            <a:endParaRPr lang="en-US" sz="2100" dirty="0"/>
          </a:p>
          <a:p>
            <a:pPr eaLnBrk="1" hangingPunct="1"/>
            <a:r>
              <a:rPr lang="en-US" dirty="0"/>
              <a:t>Page at beginning of list replaced</a:t>
            </a:r>
            <a:endParaRPr lang="en-US" sz="2400" dirty="0"/>
          </a:p>
          <a:p>
            <a:pPr eaLnBrk="1" hangingPunct="1"/>
            <a:endParaRPr lang="en-US" sz="2400" dirty="0"/>
          </a:p>
          <a:p>
            <a:pPr eaLnBrk="1" hangingPunct="1"/>
            <a:r>
              <a:rPr lang="en-US" dirty="0"/>
              <a:t>Disadvantage</a:t>
            </a:r>
            <a:endParaRPr lang="en-US" sz="2400" dirty="0"/>
          </a:p>
          <a:p>
            <a:pPr lvl="1" eaLnBrk="1" hangingPunct="1"/>
            <a:r>
              <a:rPr lang="en-US" dirty="0"/>
              <a:t>page in memory the longest may be often used</a:t>
            </a:r>
          </a:p>
        </p:txBody>
      </p:sp>
      <p:sp>
        <p:nvSpPr>
          <p:cNvPr id="5" name="מציין מיקום של תאריך 4"/>
          <p:cNvSpPr>
            <a:spLocks noGrp="1"/>
          </p:cNvSpPr>
          <p:nvPr>
            <p:ph type="dt" sz="half" idx="10"/>
          </p:nvPr>
        </p:nvSpPr>
        <p:spPr/>
        <p:txBody>
          <a:bodyPr/>
          <a:lstStyle/>
          <a:p>
            <a:pPr>
              <a:defRPr/>
            </a:pPr>
            <a:fld id="{5FEB6293-9701-4B82-A687-77EAA84726E9}" type="datetime12">
              <a:rPr lang="he-IL" smtClean="0"/>
              <a:pPr>
                <a:defRPr/>
              </a:pPr>
              <a:t>28/01/2024 18:13</a:t>
            </a:fld>
            <a:endParaRPr lang="en-US"/>
          </a:p>
        </p:txBody>
      </p:sp>
      <p:sp>
        <p:nvSpPr>
          <p:cNvPr id="20" name="תיבת טקסט 19">
            <a:extLst>
              <a:ext uri="{FF2B5EF4-FFF2-40B4-BE49-F238E27FC236}">
                <a16:creationId xmlns:a16="http://schemas.microsoft.com/office/drawing/2014/main" id="{47721DA4-E3D6-8C72-0F0B-0ECF7CC0B408}"/>
              </a:ext>
            </a:extLst>
          </p:cNvPr>
          <p:cNvSpPr txBox="1"/>
          <p:nvPr/>
        </p:nvSpPr>
        <p:spPr>
          <a:xfrm>
            <a:off x="6752126" y="2881223"/>
            <a:ext cx="329966" cy="504909"/>
          </a:xfrm>
          <a:prstGeom prst="rect">
            <a:avLst/>
          </a:prstGeom>
          <a:noFill/>
          <a:ln w="19050">
            <a:solidFill>
              <a:schemeClr val="tx1"/>
            </a:solidFill>
          </a:ln>
        </p:spPr>
        <p:txBody>
          <a:bodyPr wrap="square" rtlCol="0">
            <a:spAutoFit/>
          </a:bodyPr>
          <a:lstStyle/>
          <a:p>
            <a:endParaRPr lang="en-IL" sz="1200" dirty="0"/>
          </a:p>
        </p:txBody>
      </p:sp>
      <p:cxnSp>
        <p:nvCxnSpPr>
          <p:cNvPr id="21" name="מחבר חץ ישר 20">
            <a:extLst>
              <a:ext uri="{FF2B5EF4-FFF2-40B4-BE49-F238E27FC236}">
                <a16:creationId xmlns:a16="http://schemas.microsoft.com/office/drawing/2014/main" id="{A6873050-B66B-D3BE-E8A9-6BC211D40F06}"/>
              </a:ext>
            </a:extLst>
          </p:cNvPr>
          <p:cNvCxnSpPr>
            <a:stCxn id="20" idx="3"/>
          </p:cNvCxnSpPr>
          <p:nvPr/>
        </p:nvCxnSpPr>
        <p:spPr bwMode="auto">
          <a:xfrm flipV="1">
            <a:off x="7082092" y="3131236"/>
            <a:ext cx="322717" cy="2443"/>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22" name="תיבת טקסט 21">
            <a:extLst>
              <a:ext uri="{FF2B5EF4-FFF2-40B4-BE49-F238E27FC236}">
                <a16:creationId xmlns:a16="http://schemas.microsoft.com/office/drawing/2014/main" id="{702868F8-339A-04B5-7AAA-3AD416471166}"/>
              </a:ext>
            </a:extLst>
          </p:cNvPr>
          <p:cNvSpPr txBox="1"/>
          <p:nvPr/>
        </p:nvSpPr>
        <p:spPr>
          <a:xfrm>
            <a:off x="7378552" y="2916789"/>
            <a:ext cx="329966" cy="461665"/>
          </a:xfrm>
          <a:prstGeom prst="rect">
            <a:avLst/>
          </a:prstGeom>
          <a:noFill/>
          <a:ln w="19050">
            <a:solidFill>
              <a:schemeClr val="tx1"/>
            </a:solidFill>
          </a:ln>
        </p:spPr>
        <p:txBody>
          <a:bodyPr wrap="square" rtlCol="0">
            <a:spAutoFit/>
          </a:bodyPr>
          <a:lstStyle/>
          <a:p>
            <a:endParaRPr lang="he-IL" sz="1200" dirty="0"/>
          </a:p>
          <a:p>
            <a:endParaRPr lang="en-IL" sz="1200" dirty="0"/>
          </a:p>
        </p:txBody>
      </p:sp>
      <p:cxnSp>
        <p:nvCxnSpPr>
          <p:cNvPr id="23" name="מחבר חץ ישר 22">
            <a:extLst>
              <a:ext uri="{FF2B5EF4-FFF2-40B4-BE49-F238E27FC236}">
                <a16:creationId xmlns:a16="http://schemas.microsoft.com/office/drawing/2014/main" id="{7219E53C-77C9-2587-8CE9-69D1C109F765}"/>
              </a:ext>
            </a:extLst>
          </p:cNvPr>
          <p:cNvCxnSpPr>
            <a:cxnSpLocks/>
            <a:stCxn id="22" idx="3"/>
          </p:cNvCxnSpPr>
          <p:nvPr/>
        </p:nvCxnSpPr>
        <p:spPr bwMode="auto">
          <a:xfrm>
            <a:off x="7708518" y="3147622"/>
            <a:ext cx="322717" cy="1918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24" name="תיבת טקסט 23">
            <a:extLst>
              <a:ext uri="{FF2B5EF4-FFF2-40B4-BE49-F238E27FC236}">
                <a16:creationId xmlns:a16="http://schemas.microsoft.com/office/drawing/2014/main" id="{C4A2DEDB-1793-0C2B-09E1-9E806F88DBEA}"/>
              </a:ext>
            </a:extLst>
          </p:cNvPr>
          <p:cNvSpPr txBox="1"/>
          <p:nvPr/>
        </p:nvSpPr>
        <p:spPr>
          <a:xfrm>
            <a:off x="8008982" y="2916789"/>
            <a:ext cx="329966" cy="504909"/>
          </a:xfrm>
          <a:prstGeom prst="rect">
            <a:avLst/>
          </a:prstGeom>
          <a:noFill/>
          <a:ln w="19050">
            <a:solidFill>
              <a:schemeClr val="tx1"/>
            </a:solidFill>
          </a:ln>
        </p:spPr>
        <p:txBody>
          <a:bodyPr wrap="square" rtlCol="0">
            <a:spAutoFit/>
          </a:bodyPr>
          <a:lstStyle/>
          <a:p>
            <a:endParaRPr lang="en-IL" sz="1200" dirty="0"/>
          </a:p>
        </p:txBody>
      </p:sp>
      <p:cxnSp>
        <p:nvCxnSpPr>
          <p:cNvPr id="25" name="מחבר חץ ישר 24">
            <a:extLst>
              <a:ext uri="{FF2B5EF4-FFF2-40B4-BE49-F238E27FC236}">
                <a16:creationId xmlns:a16="http://schemas.microsoft.com/office/drawing/2014/main" id="{08703D7F-7D88-B4B1-BE54-78F13283AC4A}"/>
              </a:ext>
            </a:extLst>
          </p:cNvPr>
          <p:cNvCxnSpPr>
            <a:stCxn id="24" idx="3"/>
          </p:cNvCxnSpPr>
          <p:nvPr/>
        </p:nvCxnSpPr>
        <p:spPr bwMode="auto">
          <a:xfrm flipV="1">
            <a:off x="8338948" y="3166802"/>
            <a:ext cx="322717" cy="2443"/>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26" name="תיבת טקסט 25">
            <a:extLst>
              <a:ext uri="{FF2B5EF4-FFF2-40B4-BE49-F238E27FC236}">
                <a16:creationId xmlns:a16="http://schemas.microsoft.com/office/drawing/2014/main" id="{D1706EE9-5222-512B-76A2-57220653ECEC}"/>
              </a:ext>
            </a:extLst>
          </p:cNvPr>
          <p:cNvSpPr txBox="1"/>
          <p:nvPr/>
        </p:nvSpPr>
        <p:spPr>
          <a:xfrm>
            <a:off x="8643037" y="2918978"/>
            <a:ext cx="329966" cy="461665"/>
          </a:xfrm>
          <a:prstGeom prst="rect">
            <a:avLst/>
          </a:prstGeom>
          <a:noFill/>
          <a:ln w="19050">
            <a:solidFill>
              <a:schemeClr val="tx1"/>
            </a:solidFill>
          </a:ln>
        </p:spPr>
        <p:txBody>
          <a:bodyPr wrap="square" rtlCol="0">
            <a:spAutoFit/>
          </a:bodyPr>
          <a:lstStyle/>
          <a:p>
            <a:r>
              <a:rPr lang="he-IL" sz="1200" dirty="0"/>
              <a:t> </a:t>
            </a:r>
          </a:p>
          <a:p>
            <a:endParaRPr lang="en-IL" sz="1200" dirty="0"/>
          </a:p>
        </p:txBody>
      </p:sp>
      <p:cxnSp>
        <p:nvCxnSpPr>
          <p:cNvPr id="27" name="מחבר חץ ישר 26">
            <a:extLst>
              <a:ext uri="{FF2B5EF4-FFF2-40B4-BE49-F238E27FC236}">
                <a16:creationId xmlns:a16="http://schemas.microsoft.com/office/drawing/2014/main" id="{578FB6D6-5358-7EC9-1FD6-D069C429E200}"/>
              </a:ext>
            </a:extLst>
          </p:cNvPr>
          <p:cNvCxnSpPr>
            <a:cxnSpLocks/>
            <a:stCxn id="26" idx="3"/>
          </p:cNvCxnSpPr>
          <p:nvPr/>
        </p:nvCxnSpPr>
        <p:spPr bwMode="auto">
          <a:xfrm>
            <a:off x="8973003" y="3149811"/>
            <a:ext cx="322717" cy="1918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28" name="תיבת טקסט 27">
            <a:extLst>
              <a:ext uri="{FF2B5EF4-FFF2-40B4-BE49-F238E27FC236}">
                <a16:creationId xmlns:a16="http://schemas.microsoft.com/office/drawing/2014/main" id="{1338CD95-7EEA-804C-91F4-E4B43399058C}"/>
              </a:ext>
            </a:extLst>
          </p:cNvPr>
          <p:cNvSpPr txBox="1"/>
          <p:nvPr/>
        </p:nvSpPr>
        <p:spPr>
          <a:xfrm>
            <a:off x="9289062" y="2918262"/>
            <a:ext cx="329966" cy="504909"/>
          </a:xfrm>
          <a:prstGeom prst="rect">
            <a:avLst/>
          </a:prstGeom>
          <a:noFill/>
          <a:ln w="19050">
            <a:solidFill>
              <a:schemeClr val="tx1"/>
            </a:solidFill>
          </a:ln>
        </p:spPr>
        <p:txBody>
          <a:bodyPr wrap="square" rtlCol="0">
            <a:spAutoFit/>
          </a:bodyPr>
          <a:lstStyle/>
          <a:p>
            <a:endParaRPr lang="en-IL" sz="1200" dirty="0"/>
          </a:p>
        </p:txBody>
      </p:sp>
      <p:cxnSp>
        <p:nvCxnSpPr>
          <p:cNvPr id="29" name="מחבר חץ ישר 28">
            <a:extLst>
              <a:ext uri="{FF2B5EF4-FFF2-40B4-BE49-F238E27FC236}">
                <a16:creationId xmlns:a16="http://schemas.microsoft.com/office/drawing/2014/main" id="{143486E2-A1FB-20D3-2BEE-8F8499C4D672}"/>
              </a:ext>
            </a:extLst>
          </p:cNvPr>
          <p:cNvCxnSpPr>
            <a:stCxn id="28" idx="3"/>
          </p:cNvCxnSpPr>
          <p:nvPr/>
        </p:nvCxnSpPr>
        <p:spPr bwMode="auto">
          <a:xfrm flipV="1">
            <a:off x="9619028" y="3168275"/>
            <a:ext cx="322717" cy="2443"/>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30" name="תיבת טקסט 29">
            <a:extLst>
              <a:ext uri="{FF2B5EF4-FFF2-40B4-BE49-F238E27FC236}">
                <a16:creationId xmlns:a16="http://schemas.microsoft.com/office/drawing/2014/main" id="{8E04BA43-3BAF-90FC-D16D-A0FFCF5ED068}"/>
              </a:ext>
            </a:extLst>
          </p:cNvPr>
          <p:cNvSpPr txBox="1"/>
          <p:nvPr/>
        </p:nvSpPr>
        <p:spPr>
          <a:xfrm>
            <a:off x="9948994" y="2924091"/>
            <a:ext cx="329966" cy="461665"/>
          </a:xfrm>
          <a:prstGeom prst="rect">
            <a:avLst/>
          </a:prstGeom>
          <a:noFill/>
          <a:ln w="19050">
            <a:solidFill>
              <a:schemeClr val="tx1"/>
            </a:solidFill>
          </a:ln>
        </p:spPr>
        <p:txBody>
          <a:bodyPr wrap="square" rtlCol="0">
            <a:spAutoFit/>
          </a:bodyPr>
          <a:lstStyle/>
          <a:p>
            <a:r>
              <a:rPr lang="he-IL" sz="1200" dirty="0"/>
              <a:t> </a:t>
            </a:r>
          </a:p>
          <a:p>
            <a:endParaRPr lang="en-IL" sz="1200" dirty="0"/>
          </a:p>
        </p:txBody>
      </p:sp>
      <p:cxnSp>
        <p:nvCxnSpPr>
          <p:cNvPr id="31" name="מחבר חץ ישר 30">
            <a:extLst>
              <a:ext uri="{FF2B5EF4-FFF2-40B4-BE49-F238E27FC236}">
                <a16:creationId xmlns:a16="http://schemas.microsoft.com/office/drawing/2014/main" id="{893C9D7F-79ED-266F-6659-F9E973D1143B}"/>
              </a:ext>
            </a:extLst>
          </p:cNvPr>
          <p:cNvCxnSpPr>
            <a:cxnSpLocks/>
            <a:stCxn id="30" idx="3"/>
          </p:cNvCxnSpPr>
          <p:nvPr/>
        </p:nvCxnSpPr>
        <p:spPr bwMode="auto">
          <a:xfrm>
            <a:off x="10278960" y="3154924"/>
            <a:ext cx="322717" cy="1918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32" name="תיבת טקסט 31">
            <a:extLst>
              <a:ext uri="{FF2B5EF4-FFF2-40B4-BE49-F238E27FC236}">
                <a16:creationId xmlns:a16="http://schemas.microsoft.com/office/drawing/2014/main" id="{BEB067CA-0D8D-A4E6-E5E2-6C4D1BC741E0}"/>
              </a:ext>
            </a:extLst>
          </p:cNvPr>
          <p:cNvSpPr txBox="1"/>
          <p:nvPr/>
        </p:nvSpPr>
        <p:spPr>
          <a:xfrm>
            <a:off x="10569142" y="2916789"/>
            <a:ext cx="329966" cy="504909"/>
          </a:xfrm>
          <a:prstGeom prst="rect">
            <a:avLst/>
          </a:prstGeom>
          <a:noFill/>
          <a:ln w="19050">
            <a:solidFill>
              <a:schemeClr val="tx1"/>
            </a:solidFill>
          </a:ln>
        </p:spPr>
        <p:txBody>
          <a:bodyPr wrap="square" rtlCol="0">
            <a:spAutoFit/>
          </a:bodyPr>
          <a:lstStyle/>
          <a:p>
            <a:endParaRPr lang="en-IL" sz="1200" dirty="0"/>
          </a:p>
        </p:txBody>
      </p:sp>
      <p:cxnSp>
        <p:nvCxnSpPr>
          <p:cNvPr id="33" name="מחבר חץ ישר 32">
            <a:extLst>
              <a:ext uri="{FF2B5EF4-FFF2-40B4-BE49-F238E27FC236}">
                <a16:creationId xmlns:a16="http://schemas.microsoft.com/office/drawing/2014/main" id="{0303A9AF-339E-D652-3A4E-03224205C336}"/>
              </a:ext>
            </a:extLst>
          </p:cNvPr>
          <p:cNvCxnSpPr>
            <a:cxnSpLocks/>
            <a:stCxn id="32" idx="3"/>
          </p:cNvCxnSpPr>
          <p:nvPr/>
        </p:nvCxnSpPr>
        <p:spPr bwMode="auto">
          <a:xfrm flipV="1">
            <a:off x="10899108" y="3166802"/>
            <a:ext cx="322717" cy="2443"/>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34" name="תיבת טקסט 33">
            <a:extLst>
              <a:ext uri="{FF2B5EF4-FFF2-40B4-BE49-F238E27FC236}">
                <a16:creationId xmlns:a16="http://schemas.microsoft.com/office/drawing/2014/main" id="{695D6263-D4D1-D333-41CD-E16926F44831}"/>
              </a:ext>
            </a:extLst>
          </p:cNvPr>
          <p:cNvSpPr txBox="1"/>
          <p:nvPr/>
        </p:nvSpPr>
        <p:spPr>
          <a:xfrm>
            <a:off x="11182759" y="2914347"/>
            <a:ext cx="329966" cy="504909"/>
          </a:xfrm>
          <a:prstGeom prst="rect">
            <a:avLst/>
          </a:prstGeom>
          <a:noFill/>
          <a:ln w="19050">
            <a:solidFill>
              <a:schemeClr val="tx1"/>
            </a:solidFill>
          </a:ln>
        </p:spPr>
        <p:txBody>
          <a:bodyPr wrap="square" rtlCol="0">
            <a:spAutoFit/>
          </a:bodyPr>
          <a:lstStyle/>
          <a:p>
            <a:endParaRPr lang="en-IL" sz="1200" dirty="0"/>
          </a:p>
        </p:txBody>
      </p:sp>
      <p:cxnSp>
        <p:nvCxnSpPr>
          <p:cNvPr id="35" name="מחבר חץ ישר 34">
            <a:extLst>
              <a:ext uri="{FF2B5EF4-FFF2-40B4-BE49-F238E27FC236}">
                <a16:creationId xmlns:a16="http://schemas.microsoft.com/office/drawing/2014/main" id="{AC50A838-CB7E-F8BB-A774-84D910F053A5}"/>
              </a:ext>
            </a:extLst>
          </p:cNvPr>
          <p:cNvCxnSpPr>
            <a:stCxn id="34" idx="3"/>
          </p:cNvCxnSpPr>
          <p:nvPr/>
        </p:nvCxnSpPr>
        <p:spPr bwMode="auto">
          <a:xfrm flipV="1">
            <a:off x="11512725" y="3164359"/>
            <a:ext cx="322717" cy="2443"/>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מציין מיקום של מספר שקופית 5"/>
          <p:cNvSpPr>
            <a:spLocks noGrp="1"/>
          </p:cNvSpPr>
          <p:nvPr>
            <p:ph type="sldNum" sz="quarter" idx="12"/>
          </p:nvPr>
        </p:nvSpPr>
        <p:spPr>
          <a:noFill/>
        </p:spPr>
        <p:txBody>
          <a:bodyPr/>
          <a:lstStyle/>
          <a:p>
            <a:fld id="{F251D407-5C61-4DF0-9D58-76C91DF65286}" type="slidenum">
              <a:rPr lang="he-IL" smtClean="0"/>
              <a:pPr/>
              <a:t>41</a:t>
            </a:fld>
            <a:endParaRPr lang="en-US"/>
          </a:p>
        </p:txBody>
      </p:sp>
      <p:sp>
        <p:nvSpPr>
          <p:cNvPr id="33795" name="Rectangle 2"/>
          <p:cNvSpPr>
            <a:spLocks noGrp="1" noChangeArrowheads="1"/>
          </p:cNvSpPr>
          <p:nvPr>
            <p:ph type="title"/>
          </p:nvPr>
        </p:nvSpPr>
        <p:spPr>
          <a:xfrm>
            <a:off x="1524000" y="2"/>
            <a:ext cx="9144000" cy="1143459"/>
          </a:xfrm>
        </p:spPr>
        <p:txBody>
          <a:bodyPr/>
          <a:lstStyle/>
          <a:p>
            <a:pPr eaLnBrk="1" hangingPunct="1"/>
            <a:r>
              <a:rPr lang="en-US" sz="2400" dirty="0"/>
              <a:t>Second Chance Page Replacement Algorithm</a:t>
            </a:r>
          </a:p>
        </p:txBody>
      </p:sp>
      <p:sp>
        <p:nvSpPr>
          <p:cNvPr id="33796" name="Rectangle 3"/>
          <p:cNvSpPr>
            <a:spLocks noGrp="1" noChangeArrowheads="1"/>
          </p:cNvSpPr>
          <p:nvPr>
            <p:ph type="body" idx="1"/>
          </p:nvPr>
        </p:nvSpPr>
        <p:spPr>
          <a:xfrm>
            <a:off x="2209401" y="4876197"/>
            <a:ext cx="8458603" cy="762764"/>
          </a:xfrm>
        </p:spPr>
        <p:txBody>
          <a:bodyPr/>
          <a:lstStyle/>
          <a:p>
            <a:pPr eaLnBrk="1" hangingPunct="1">
              <a:lnSpc>
                <a:spcPct val="90000"/>
              </a:lnSpc>
            </a:pPr>
            <a:r>
              <a:rPr lang="en-US" dirty="0"/>
              <a:t>Operation of a second chance</a:t>
            </a:r>
            <a:endParaRPr lang="en-US" sz="1900" dirty="0"/>
          </a:p>
          <a:p>
            <a:pPr lvl="1" eaLnBrk="1" hangingPunct="1">
              <a:lnSpc>
                <a:spcPct val="90000"/>
              </a:lnSpc>
            </a:pPr>
            <a:r>
              <a:rPr lang="en-US" sz="1600" dirty="0"/>
              <a:t>pages sorted in FIFO order</a:t>
            </a:r>
          </a:p>
          <a:p>
            <a:pPr lvl="1" eaLnBrk="1" hangingPunct="1">
              <a:lnSpc>
                <a:spcPct val="90000"/>
              </a:lnSpc>
            </a:pPr>
            <a:r>
              <a:rPr lang="en-US" sz="1600" dirty="0"/>
              <a:t>Page list if fault occurs at time 20, </a:t>
            </a:r>
            <a:r>
              <a:rPr lang="en-US" sz="1600" i="1" u="sng" dirty="0"/>
              <a:t>A</a:t>
            </a:r>
            <a:r>
              <a:rPr lang="en-US" sz="1600" dirty="0"/>
              <a:t> has </a:t>
            </a:r>
            <a:r>
              <a:rPr lang="en-US" sz="1600" i="1" dirty="0"/>
              <a:t>R</a:t>
            </a:r>
            <a:r>
              <a:rPr lang="en-US" sz="1600" dirty="0"/>
              <a:t> bit set</a:t>
            </a:r>
            <a:br>
              <a:rPr lang="en-US" sz="1600" dirty="0"/>
            </a:br>
            <a:r>
              <a:rPr lang="en-US" sz="1600" dirty="0"/>
              <a:t>(numbers above pages are loading times)</a:t>
            </a:r>
          </a:p>
        </p:txBody>
      </p:sp>
      <p:pic>
        <p:nvPicPr>
          <p:cNvPr id="33797" name="Picture 5"/>
          <p:cNvPicPr>
            <a:picLocks noChangeAspect="1" noChangeArrowheads="1"/>
          </p:cNvPicPr>
          <p:nvPr/>
        </p:nvPicPr>
        <p:blipFill>
          <a:blip r:embed="rId3" cstate="print"/>
          <a:srcRect/>
          <a:stretch>
            <a:fillRect/>
          </a:stretch>
        </p:blipFill>
        <p:spPr bwMode="auto">
          <a:xfrm>
            <a:off x="1896940" y="1224549"/>
            <a:ext cx="8314469" cy="3253083"/>
          </a:xfrm>
          <a:prstGeom prst="rect">
            <a:avLst/>
          </a:prstGeom>
          <a:noFill/>
          <a:ln w="9525">
            <a:noFill/>
            <a:miter lim="800000"/>
            <a:headEnd/>
            <a:tailEnd/>
          </a:ln>
        </p:spPr>
      </p:pic>
      <p:sp>
        <p:nvSpPr>
          <p:cNvPr id="33798" name="TextBox 5"/>
          <p:cNvSpPr txBox="1">
            <a:spLocks noChangeArrowheads="1"/>
          </p:cNvSpPr>
          <p:nvPr/>
        </p:nvSpPr>
        <p:spPr bwMode="auto">
          <a:xfrm>
            <a:off x="7356935" y="4461142"/>
            <a:ext cx="1843516" cy="620158"/>
          </a:xfrm>
          <a:prstGeom prst="rect">
            <a:avLst/>
          </a:prstGeom>
          <a:noFill/>
          <a:ln w="9525">
            <a:noFill/>
            <a:miter lim="800000"/>
            <a:headEnd/>
            <a:tailEnd/>
          </a:ln>
        </p:spPr>
        <p:txBody>
          <a:bodyPr lIns="65520" tIns="32760" rIns="65520" bIns="32760">
            <a:spAutoFit/>
          </a:bodyPr>
          <a:lstStyle/>
          <a:p>
            <a:r>
              <a:rPr lang="he-IL"/>
              <a:t>בהנחה שנדיר שנגיע לסיבוב השני</a:t>
            </a:r>
          </a:p>
        </p:txBody>
      </p:sp>
      <p:sp>
        <p:nvSpPr>
          <p:cNvPr id="7" name="מציין מיקום של תאריך 6"/>
          <p:cNvSpPr>
            <a:spLocks noGrp="1"/>
          </p:cNvSpPr>
          <p:nvPr>
            <p:ph type="dt" sz="half" idx="10"/>
          </p:nvPr>
        </p:nvSpPr>
        <p:spPr/>
        <p:txBody>
          <a:bodyPr/>
          <a:lstStyle/>
          <a:p>
            <a:pPr>
              <a:defRPr/>
            </a:pPr>
            <a:fld id="{101D7382-A350-48CF-AC9D-C47EB61684B4}" type="datetime12">
              <a:rPr lang="he-IL" smtClean="0"/>
              <a:pPr>
                <a:defRPr/>
              </a:pPr>
              <a:t>28/01/2024 18:13</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מציין מיקום של מספר שקופית 5"/>
          <p:cNvSpPr>
            <a:spLocks noGrp="1"/>
          </p:cNvSpPr>
          <p:nvPr>
            <p:ph type="sldNum" sz="quarter" idx="12"/>
          </p:nvPr>
        </p:nvSpPr>
        <p:spPr>
          <a:noFill/>
        </p:spPr>
        <p:txBody>
          <a:bodyPr/>
          <a:lstStyle/>
          <a:p>
            <a:fld id="{5494AD0A-AA17-4779-B8FC-D34C913F78D8}" type="slidenum">
              <a:rPr lang="he-IL" smtClean="0"/>
              <a:pPr/>
              <a:t>42</a:t>
            </a:fld>
            <a:endParaRPr lang="en-US"/>
          </a:p>
        </p:txBody>
      </p:sp>
      <p:sp>
        <p:nvSpPr>
          <p:cNvPr id="34819" name="Rectangle 2"/>
          <p:cNvSpPr>
            <a:spLocks noGrp="1" noChangeArrowheads="1"/>
          </p:cNvSpPr>
          <p:nvPr>
            <p:ph type="title"/>
          </p:nvPr>
        </p:nvSpPr>
        <p:spPr>
          <a:xfrm>
            <a:off x="1524000" y="2"/>
            <a:ext cx="9144000" cy="1143459"/>
          </a:xfrm>
        </p:spPr>
        <p:txBody>
          <a:bodyPr/>
          <a:lstStyle/>
          <a:p>
            <a:pPr eaLnBrk="1" hangingPunct="1"/>
            <a:r>
              <a:rPr lang="en-US" sz="2600" dirty="0"/>
              <a:t>The Clock Page Replacement Algorithm</a:t>
            </a:r>
          </a:p>
        </p:txBody>
      </p:sp>
      <p:pic>
        <p:nvPicPr>
          <p:cNvPr id="34820" name="Picture 5" descr="C:\B\b4\JPG\foo\4-17.jpg"/>
          <p:cNvPicPr>
            <a:picLocks noChangeAspect="1" noChangeArrowheads="1"/>
          </p:cNvPicPr>
          <p:nvPr/>
        </p:nvPicPr>
        <p:blipFill>
          <a:blip r:embed="rId3" cstate="print"/>
          <a:srcRect/>
          <a:stretch>
            <a:fillRect/>
          </a:stretch>
        </p:blipFill>
        <p:spPr bwMode="auto">
          <a:xfrm>
            <a:off x="2260812" y="1412835"/>
            <a:ext cx="7756071" cy="4032339"/>
          </a:xfrm>
          <a:prstGeom prst="rect">
            <a:avLst/>
          </a:prstGeom>
          <a:noFill/>
          <a:ln w="9525">
            <a:noFill/>
            <a:miter lim="800000"/>
            <a:headEnd/>
            <a:tailEnd/>
          </a:ln>
        </p:spPr>
      </p:pic>
      <p:cxnSp>
        <p:nvCxnSpPr>
          <p:cNvPr id="34821" name="מחבר חץ ישר 5"/>
          <p:cNvCxnSpPr>
            <a:cxnSpLocks noChangeShapeType="1"/>
          </p:cNvCxnSpPr>
          <p:nvPr/>
        </p:nvCxnSpPr>
        <p:spPr bwMode="auto">
          <a:xfrm flipV="1">
            <a:off x="4260552" y="3342419"/>
            <a:ext cx="1447397" cy="125067"/>
          </a:xfrm>
          <a:prstGeom prst="straightConnector1">
            <a:avLst/>
          </a:prstGeom>
          <a:noFill/>
          <a:ln w="9525" algn="ctr">
            <a:solidFill>
              <a:schemeClr val="tx1"/>
            </a:solidFill>
            <a:round/>
            <a:headEnd/>
            <a:tailEnd type="arrow" w="med" len="med"/>
          </a:ln>
        </p:spPr>
      </p:cxnSp>
      <p:sp>
        <p:nvSpPr>
          <p:cNvPr id="6" name="מציין מיקום של תאריך 5"/>
          <p:cNvSpPr>
            <a:spLocks noGrp="1"/>
          </p:cNvSpPr>
          <p:nvPr>
            <p:ph type="dt" sz="half" idx="10"/>
          </p:nvPr>
        </p:nvSpPr>
        <p:spPr/>
        <p:txBody>
          <a:bodyPr/>
          <a:lstStyle/>
          <a:p>
            <a:pPr>
              <a:defRPr/>
            </a:pPr>
            <a:fld id="{1B237374-F413-4411-848A-C82CB873E7F4}" type="datetime12">
              <a:rPr lang="he-IL" smtClean="0"/>
              <a:pPr>
                <a:defRPr/>
              </a:pPr>
              <a:t>28/01/2024 18:13</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מציין מיקום של מספר שקופית 5"/>
          <p:cNvSpPr>
            <a:spLocks noGrp="1"/>
          </p:cNvSpPr>
          <p:nvPr>
            <p:ph type="sldNum" sz="quarter" idx="12"/>
          </p:nvPr>
        </p:nvSpPr>
        <p:spPr>
          <a:noFill/>
        </p:spPr>
        <p:txBody>
          <a:bodyPr/>
          <a:lstStyle/>
          <a:p>
            <a:fld id="{7F1F8517-9007-443F-A87A-0AC0C6714431}" type="slidenum">
              <a:rPr lang="he-IL" smtClean="0"/>
              <a:pPr/>
              <a:t>43</a:t>
            </a:fld>
            <a:endParaRPr lang="en-US"/>
          </a:p>
        </p:txBody>
      </p:sp>
      <p:sp>
        <p:nvSpPr>
          <p:cNvPr id="35843" name="Rectangle 2"/>
          <p:cNvSpPr>
            <a:spLocks noGrp="1" noChangeArrowheads="1"/>
          </p:cNvSpPr>
          <p:nvPr>
            <p:ph type="title"/>
          </p:nvPr>
        </p:nvSpPr>
        <p:spPr/>
        <p:txBody>
          <a:bodyPr/>
          <a:lstStyle/>
          <a:p>
            <a:pPr eaLnBrk="1" hangingPunct="1"/>
            <a:r>
              <a:rPr lang="en-US"/>
              <a:t>Least Recently Used (LRU)</a:t>
            </a:r>
          </a:p>
        </p:txBody>
      </p:sp>
      <p:sp>
        <p:nvSpPr>
          <p:cNvPr id="35844" name="Rectangle 3"/>
          <p:cNvSpPr>
            <a:spLocks noGrp="1" noChangeArrowheads="1"/>
          </p:cNvSpPr>
          <p:nvPr>
            <p:ph type="body" idx="1"/>
          </p:nvPr>
        </p:nvSpPr>
        <p:spPr>
          <a:xfrm>
            <a:off x="1701397" y="1437569"/>
            <a:ext cx="9017000" cy="4800600"/>
          </a:xfrm>
        </p:spPr>
        <p:txBody>
          <a:bodyPr/>
          <a:lstStyle/>
          <a:p>
            <a:pPr eaLnBrk="1" hangingPunct="1">
              <a:lnSpc>
                <a:spcPct val="90000"/>
              </a:lnSpc>
            </a:pPr>
            <a:r>
              <a:rPr lang="en-US" dirty="0"/>
              <a:t>Assume pages used recently will used again soon</a:t>
            </a:r>
          </a:p>
          <a:p>
            <a:pPr lvl="1" eaLnBrk="1" hangingPunct="1">
              <a:lnSpc>
                <a:spcPct val="90000"/>
              </a:lnSpc>
            </a:pPr>
            <a:r>
              <a:rPr lang="en-US" dirty="0"/>
              <a:t>throw out page that has been unused for longest time</a:t>
            </a:r>
          </a:p>
          <a:p>
            <a:pPr lvl="1" eaLnBrk="1" hangingPunct="1">
              <a:lnSpc>
                <a:spcPct val="90000"/>
              </a:lnSpc>
            </a:pPr>
            <a:endParaRPr lang="en-US" dirty="0"/>
          </a:p>
          <a:p>
            <a:pPr eaLnBrk="1" hangingPunct="1">
              <a:lnSpc>
                <a:spcPct val="90000"/>
              </a:lnSpc>
            </a:pPr>
            <a:r>
              <a:rPr lang="en-US" dirty="0"/>
              <a:t>Must keep a linked list of pages</a:t>
            </a:r>
          </a:p>
          <a:p>
            <a:pPr lvl="1" eaLnBrk="1" hangingPunct="1">
              <a:lnSpc>
                <a:spcPct val="90000"/>
              </a:lnSpc>
            </a:pPr>
            <a:r>
              <a:rPr lang="en-US" dirty="0"/>
              <a:t>most recently used at front, least at rear</a:t>
            </a:r>
          </a:p>
          <a:p>
            <a:pPr lvl="1" eaLnBrk="1" hangingPunct="1">
              <a:lnSpc>
                <a:spcPct val="90000"/>
              </a:lnSpc>
            </a:pPr>
            <a:r>
              <a:rPr lang="en-US" dirty="0"/>
              <a:t>update this list </a:t>
            </a:r>
            <a:r>
              <a:rPr lang="en-US" u="sng" dirty="0"/>
              <a:t>every memory reference</a:t>
            </a:r>
            <a:r>
              <a:rPr lang="en-US" dirty="0"/>
              <a:t> !!</a:t>
            </a:r>
          </a:p>
          <a:p>
            <a:pPr lvl="1" eaLnBrk="1" hangingPunct="1">
              <a:lnSpc>
                <a:spcPct val="90000"/>
              </a:lnSpc>
            </a:pPr>
            <a:endParaRPr lang="en-US" dirty="0"/>
          </a:p>
          <a:p>
            <a:pPr eaLnBrk="1" hangingPunct="1">
              <a:lnSpc>
                <a:spcPct val="90000"/>
              </a:lnSpc>
            </a:pPr>
            <a:r>
              <a:rPr lang="en-US" dirty="0"/>
              <a:t>Alternatively keep counter in each page table entry (NFU)</a:t>
            </a:r>
          </a:p>
          <a:p>
            <a:pPr lvl="1" eaLnBrk="1" hangingPunct="1">
              <a:lnSpc>
                <a:spcPct val="90000"/>
              </a:lnSpc>
            </a:pPr>
            <a:r>
              <a:rPr lang="en-US" dirty="0"/>
              <a:t>choose page with lowest value counter</a:t>
            </a:r>
          </a:p>
          <a:p>
            <a:pPr lvl="1" eaLnBrk="1" hangingPunct="1">
              <a:lnSpc>
                <a:spcPct val="90000"/>
              </a:lnSpc>
            </a:pPr>
            <a:r>
              <a:rPr lang="en-US" dirty="0"/>
              <a:t>periodically zero the counter</a:t>
            </a:r>
          </a:p>
          <a:p>
            <a:pPr lvl="1" eaLnBrk="1" hangingPunct="1">
              <a:lnSpc>
                <a:spcPct val="90000"/>
              </a:lnSpc>
            </a:pPr>
            <a:endParaRPr lang="en-US" dirty="0"/>
          </a:p>
        </p:txBody>
      </p:sp>
      <p:sp>
        <p:nvSpPr>
          <p:cNvPr id="35845" name="TextBox 4"/>
          <p:cNvSpPr txBox="1">
            <a:spLocks noChangeArrowheads="1"/>
          </p:cNvSpPr>
          <p:nvPr/>
        </p:nvSpPr>
        <p:spPr bwMode="auto">
          <a:xfrm>
            <a:off x="8504562" y="1437569"/>
            <a:ext cx="1704420" cy="3667146"/>
          </a:xfrm>
          <a:prstGeom prst="rect">
            <a:avLst/>
          </a:prstGeom>
          <a:noFill/>
          <a:ln w="9525">
            <a:noFill/>
            <a:miter lim="800000"/>
            <a:headEnd/>
            <a:tailEnd/>
          </a:ln>
        </p:spPr>
        <p:txBody>
          <a:bodyPr lIns="65520" tIns="32760" rIns="65520" bIns="32760">
            <a:spAutoFit/>
          </a:bodyPr>
          <a:lstStyle/>
          <a:p>
            <a:pPr algn="r" rtl="1"/>
            <a:r>
              <a:rPr lang="he-IL" dirty="0"/>
              <a:t>הדף הוותיק</a:t>
            </a:r>
          </a:p>
          <a:p>
            <a:pPr algn="r" rtl="1"/>
            <a:r>
              <a:rPr lang="he-IL" dirty="0"/>
              <a:t>רזולוציה מקסימלית</a:t>
            </a:r>
          </a:p>
          <a:p>
            <a:pPr algn="r" rtl="1"/>
            <a:r>
              <a:rPr lang="he-IL" dirty="0"/>
              <a:t>רשימת </a:t>
            </a:r>
            <a:r>
              <a:rPr lang="he-IL" dirty="0" err="1"/>
              <a:t>ההתיחסות</a:t>
            </a:r>
            <a:r>
              <a:rPr lang="he-IL" dirty="0"/>
              <a:t> </a:t>
            </a:r>
          </a:p>
          <a:p>
            <a:pPr algn="r" rtl="1"/>
            <a:r>
              <a:rPr lang="he-IL" dirty="0"/>
              <a:t>מתעדכנת כל התייחסות</a:t>
            </a:r>
          </a:p>
          <a:p>
            <a:pPr algn="r" rtl="1"/>
            <a:r>
              <a:rPr lang="he-IL" dirty="0"/>
              <a:t>יתרון – קרוב לאופטימאלי</a:t>
            </a:r>
          </a:p>
          <a:p>
            <a:pPr algn="r" rtl="1"/>
            <a:r>
              <a:rPr lang="he-IL" dirty="0"/>
              <a:t>חיסרון – המון </a:t>
            </a:r>
            <a:r>
              <a:rPr lang="he-IL" dirty="0" err="1"/>
              <a:t>עידכונים</a:t>
            </a:r>
            <a:r>
              <a:rPr lang="he-IL" dirty="0"/>
              <a:t> של הרשימה כל פנייה לזיכרון.</a:t>
            </a:r>
          </a:p>
        </p:txBody>
      </p:sp>
      <p:sp>
        <p:nvSpPr>
          <p:cNvPr id="6" name="מציין מיקום של תאריך 5"/>
          <p:cNvSpPr>
            <a:spLocks noGrp="1"/>
          </p:cNvSpPr>
          <p:nvPr>
            <p:ph type="dt" sz="half" idx="10"/>
          </p:nvPr>
        </p:nvSpPr>
        <p:spPr/>
        <p:txBody>
          <a:bodyPr/>
          <a:lstStyle/>
          <a:p>
            <a:pPr>
              <a:defRPr/>
            </a:pPr>
            <a:fld id="{1091F65B-5052-4182-A1CD-7BE5029EDE1E}" type="datetime12">
              <a:rPr lang="he-IL" smtClean="0"/>
              <a:pPr>
                <a:defRPr/>
              </a:pPr>
              <a:t>28/01/2024 18:13</a:t>
            </a:fld>
            <a:endParaRPr lang="en-US"/>
          </a:p>
        </p:txBody>
      </p:sp>
      <p:sp>
        <p:nvSpPr>
          <p:cNvPr id="2" name="תיבת טקסט 1">
            <a:extLst>
              <a:ext uri="{FF2B5EF4-FFF2-40B4-BE49-F238E27FC236}">
                <a16:creationId xmlns:a16="http://schemas.microsoft.com/office/drawing/2014/main" id="{D01F2341-4FD0-D76B-B848-FD77019547B1}"/>
              </a:ext>
            </a:extLst>
          </p:cNvPr>
          <p:cNvSpPr txBox="1"/>
          <p:nvPr/>
        </p:nvSpPr>
        <p:spPr>
          <a:xfrm>
            <a:off x="1193533" y="3429000"/>
            <a:ext cx="280070" cy="276999"/>
          </a:xfrm>
          <a:prstGeom prst="rect">
            <a:avLst/>
          </a:prstGeom>
          <a:noFill/>
          <a:ln w="19050">
            <a:solidFill>
              <a:schemeClr val="tx1"/>
            </a:solidFill>
          </a:ln>
        </p:spPr>
        <p:txBody>
          <a:bodyPr wrap="square" rtlCol="0">
            <a:spAutoFit/>
          </a:bodyPr>
          <a:lstStyle/>
          <a:p>
            <a:endParaRPr lang="en-IL" sz="1200" dirty="0"/>
          </a:p>
        </p:txBody>
      </p:sp>
      <p:cxnSp>
        <p:nvCxnSpPr>
          <p:cNvPr id="4" name="מחבר חץ ישר 3">
            <a:extLst>
              <a:ext uri="{FF2B5EF4-FFF2-40B4-BE49-F238E27FC236}">
                <a16:creationId xmlns:a16="http://schemas.microsoft.com/office/drawing/2014/main" id="{C33D5E7F-9D9D-7830-1A75-99A5BDF1EEF2}"/>
              </a:ext>
            </a:extLst>
          </p:cNvPr>
          <p:cNvCxnSpPr>
            <a:stCxn id="2" idx="3"/>
          </p:cNvCxnSpPr>
          <p:nvPr/>
        </p:nvCxnSpPr>
        <p:spPr bwMode="auto">
          <a:xfrm flipV="1">
            <a:off x="1473603" y="3566160"/>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5" name="תיבת טקסט 4">
            <a:extLst>
              <a:ext uri="{FF2B5EF4-FFF2-40B4-BE49-F238E27FC236}">
                <a16:creationId xmlns:a16="http://schemas.microsoft.com/office/drawing/2014/main" id="{5CC22AE3-EA7B-B708-3812-D624ACDE22DA}"/>
              </a:ext>
            </a:extLst>
          </p:cNvPr>
          <p:cNvSpPr txBox="1"/>
          <p:nvPr/>
        </p:nvSpPr>
        <p:spPr>
          <a:xfrm>
            <a:off x="1725234" y="3448512"/>
            <a:ext cx="280070" cy="276999"/>
          </a:xfrm>
          <a:prstGeom prst="rect">
            <a:avLst/>
          </a:prstGeom>
          <a:noFill/>
          <a:ln w="19050">
            <a:solidFill>
              <a:schemeClr val="tx1"/>
            </a:solidFill>
          </a:ln>
        </p:spPr>
        <p:txBody>
          <a:bodyPr wrap="square" rtlCol="0">
            <a:spAutoFit/>
          </a:bodyPr>
          <a:lstStyle/>
          <a:p>
            <a:r>
              <a:rPr lang="en-US" sz="1200" dirty="0"/>
              <a:t>Y</a:t>
            </a:r>
            <a:endParaRPr lang="en-IL" sz="1200" dirty="0"/>
          </a:p>
        </p:txBody>
      </p:sp>
      <p:cxnSp>
        <p:nvCxnSpPr>
          <p:cNvPr id="7" name="מחבר חץ ישר 6">
            <a:extLst>
              <a:ext uri="{FF2B5EF4-FFF2-40B4-BE49-F238E27FC236}">
                <a16:creationId xmlns:a16="http://schemas.microsoft.com/office/drawing/2014/main" id="{ABBB25F9-E40C-8860-BD94-2AA30601D5A0}"/>
              </a:ext>
            </a:extLst>
          </p:cNvPr>
          <p:cNvCxnSpPr>
            <a:stCxn id="5" idx="3"/>
          </p:cNvCxnSpPr>
          <p:nvPr/>
        </p:nvCxnSpPr>
        <p:spPr bwMode="auto">
          <a:xfrm flipV="1">
            <a:off x="2005304" y="3585672"/>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8" name="תיבת טקסט 7">
            <a:extLst>
              <a:ext uri="{FF2B5EF4-FFF2-40B4-BE49-F238E27FC236}">
                <a16:creationId xmlns:a16="http://schemas.microsoft.com/office/drawing/2014/main" id="{C3111BC8-C45C-5666-E7D9-85C004143589}"/>
              </a:ext>
            </a:extLst>
          </p:cNvPr>
          <p:cNvSpPr txBox="1"/>
          <p:nvPr/>
        </p:nvSpPr>
        <p:spPr>
          <a:xfrm>
            <a:off x="2260333" y="3448512"/>
            <a:ext cx="280070" cy="276999"/>
          </a:xfrm>
          <a:prstGeom prst="rect">
            <a:avLst/>
          </a:prstGeom>
          <a:noFill/>
          <a:ln w="19050">
            <a:solidFill>
              <a:schemeClr val="tx1"/>
            </a:solidFill>
          </a:ln>
        </p:spPr>
        <p:txBody>
          <a:bodyPr wrap="square" rtlCol="0">
            <a:spAutoFit/>
          </a:bodyPr>
          <a:lstStyle/>
          <a:p>
            <a:endParaRPr lang="en-IL" sz="1200" dirty="0"/>
          </a:p>
        </p:txBody>
      </p:sp>
      <p:cxnSp>
        <p:nvCxnSpPr>
          <p:cNvPr id="9" name="מחבר חץ ישר 8">
            <a:extLst>
              <a:ext uri="{FF2B5EF4-FFF2-40B4-BE49-F238E27FC236}">
                <a16:creationId xmlns:a16="http://schemas.microsoft.com/office/drawing/2014/main" id="{11E8E73D-8236-B827-5E9C-B210304FFC39}"/>
              </a:ext>
            </a:extLst>
          </p:cNvPr>
          <p:cNvCxnSpPr>
            <a:stCxn id="8" idx="3"/>
          </p:cNvCxnSpPr>
          <p:nvPr/>
        </p:nvCxnSpPr>
        <p:spPr bwMode="auto">
          <a:xfrm flipV="1">
            <a:off x="2540403" y="3585672"/>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10" name="תיבת טקסט 9">
            <a:extLst>
              <a:ext uri="{FF2B5EF4-FFF2-40B4-BE49-F238E27FC236}">
                <a16:creationId xmlns:a16="http://schemas.microsoft.com/office/drawing/2014/main" id="{4209D25F-BFF4-B439-1F22-57F89226D95C}"/>
              </a:ext>
            </a:extLst>
          </p:cNvPr>
          <p:cNvSpPr txBox="1"/>
          <p:nvPr/>
        </p:nvSpPr>
        <p:spPr>
          <a:xfrm>
            <a:off x="2798509" y="3449713"/>
            <a:ext cx="280070" cy="276999"/>
          </a:xfrm>
          <a:prstGeom prst="rect">
            <a:avLst/>
          </a:prstGeom>
          <a:noFill/>
          <a:ln w="19050">
            <a:solidFill>
              <a:schemeClr val="tx1"/>
            </a:solidFill>
          </a:ln>
        </p:spPr>
        <p:txBody>
          <a:bodyPr wrap="square" rtlCol="0">
            <a:spAutoFit/>
          </a:bodyPr>
          <a:lstStyle/>
          <a:p>
            <a:r>
              <a:rPr lang="en-US" sz="1200" dirty="0"/>
              <a:t>M</a:t>
            </a:r>
            <a:endParaRPr lang="en-IL" sz="1200" dirty="0"/>
          </a:p>
        </p:txBody>
      </p:sp>
      <p:cxnSp>
        <p:nvCxnSpPr>
          <p:cNvPr id="11" name="מחבר חץ ישר 10">
            <a:extLst>
              <a:ext uri="{FF2B5EF4-FFF2-40B4-BE49-F238E27FC236}">
                <a16:creationId xmlns:a16="http://schemas.microsoft.com/office/drawing/2014/main" id="{97EEC059-5ECC-E2C1-72AE-330CF471CE5E}"/>
              </a:ext>
            </a:extLst>
          </p:cNvPr>
          <p:cNvCxnSpPr>
            <a:stCxn id="10" idx="3"/>
          </p:cNvCxnSpPr>
          <p:nvPr/>
        </p:nvCxnSpPr>
        <p:spPr bwMode="auto">
          <a:xfrm flipV="1">
            <a:off x="3078579" y="3586873"/>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12" name="תיבת טקסט 11">
            <a:extLst>
              <a:ext uri="{FF2B5EF4-FFF2-40B4-BE49-F238E27FC236}">
                <a16:creationId xmlns:a16="http://schemas.microsoft.com/office/drawing/2014/main" id="{348D7F6E-BFD3-78E2-958C-BE7939DCD876}"/>
              </a:ext>
            </a:extLst>
          </p:cNvPr>
          <p:cNvSpPr txBox="1"/>
          <p:nvPr/>
        </p:nvSpPr>
        <p:spPr>
          <a:xfrm>
            <a:off x="3346845" y="3449320"/>
            <a:ext cx="280070" cy="276999"/>
          </a:xfrm>
          <a:prstGeom prst="rect">
            <a:avLst/>
          </a:prstGeom>
          <a:noFill/>
          <a:ln w="19050">
            <a:solidFill>
              <a:schemeClr val="tx1"/>
            </a:solidFill>
          </a:ln>
        </p:spPr>
        <p:txBody>
          <a:bodyPr wrap="square" rtlCol="0">
            <a:spAutoFit/>
          </a:bodyPr>
          <a:lstStyle/>
          <a:p>
            <a:endParaRPr lang="en-IL" sz="1200" dirty="0"/>
          </a:p>
        </p:txBody>
      </p:sp>
      <p:cxnSp>
        <p:nvCxnSpPr>
          <p:cNvPr id="13" name="מחבר חץ ישר 12">
            <a:extLst>
              <a:ext uri="{FF2B5EF4-FFF2-40B4-BE49-F238E27FC236}">
                <a16:creationId xmlns:a16="http://schemas.microsoft.com/office/drawing/2014/main" id="{EB06C78F-6FE6-9F36-2705-0A88F695F05F}"/>
              </a:ext>
            </a:extLst>
          </p:cNvPr>
          <p:cNvCxnSpPr>
            <a:stCxn id="12" idx="3"/>
          </p:cNvCxnSpPr>
          <p:nvPr/>
        </p:nvCxnSpPr>
        <p:spPr bwMode="auto">
          <a:xfrm flipV="1">
            <a:off x="3626915" y="3586480"/>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14" name="תיבת טקסט 13">
            <a:extLst>
              <a:ext uri="{FF2B5EF4-FFF2-40B4-BE49-F238E27FC236}">
                <a16:creationId xmlns:a16="http://schemas.microsoft.com/office/drawing/2014/main" id="{BA4A305A-FC67-D604-F443-20921861E93F}"/>
              </a:ext>
            </a:extLst>
          </p:cNvPr>
          <p:cNvSpPr txBox="1"/>
          <p:nvPr/>
        </p:nvSpPr>
        <p:spPr>
          <a:xfrm>
            <a:off x="3906985" y="3452518"/>
            <a:ext cx="280070" cy="276999"/>
          </a:xfrm>
          <a:prstGeom prst="rect">
            <a:avLst/>
          </a:prstGeom>
          <a:noFill/>
          <a:ln w="19050">
            <a:solidFill>
              <a:schemeClr val="tx1"/>
            </a:solidFill>
          </a:ln>
        </p:spPr>
        <p:txBody>
          <a:bodyPr wrap="square" rtlCol="0">
            <a:spAutoFit/>
          </a:bodyPr>
          <a:lstStyle/>
          <a:p>
            <a:r>
              <a:rPr lang="en-US" sz="1200" dirty="0"/>
              <a:t>X</a:t>
            </a:r>
            <a:endParaRPr lang="en-IL" sz="1200" dirty="0"/>
          </a:p>
        </p:txBody>
      </p:sp>
      <p:cxnSp>
        <p:nvCxnSpPr>
          <p:cNvPr id="15" name="מחבר חץ ישר 14">
            <a:extLst>
              <a:ext uri="{FF2B5EF4-FFF2-40B4-BE49-F238E27FC236}">
                <a16:creationId xmlns:a16="http://schemas.microsoft.com/office/drawing/2014/main" id="{EF28C874-32DC-7E69-C8EC-C30E090CB32C}"/>
              </a:ext>
            </a:extLst>
          </p:cNvPr>
          <p:cNvCxnSpPr>
            <a:stCxn id="14" idx="3"/>
          </p:cNvCxnSpPr>
          <p:nvPr/>
        </p:nvCxnSpPr>
        <p:spPr bwMode="auto">
          <a:xfrm flipV="1">
            <a:off x="4187055" y="3589678"/>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16" name="תיבת טקסט 15">
            <a:extLst>
              <a:ext uri="{FF2B5EF4-FFF2-40B4-BE49-F238E27FC236}">
                <a16:creationId xmlns:a16="http://schemas.microsoft.com/office/drawing/2014/main" id="{4A163439-BFD0-E821-44F5-EA50C0243F81}"/>
              </a:ext>
            </a:extLst>
          </p:cNvPr>
          <p:cNvSpPr txBox="1"/>
          <p:nvPr/>
        </p:nvSpPr>
        <p:spPr>
          <a:xfrm>
            <a:off x="4433357" y="3448512"/>
            <a:ext cx="280070" cy="276999"/>
          </a:xfrm>
          <a:prstGeom prst="rect">
            <a:avLst/>
          </a:prstGeom>
          <a:noFill/>
          <a:ln w="19050">
            <a:solidFill>
              <a:schemeClr val="tx1"/>
            </a:solidFill>
          </a:ln>
        </p:spPr>
        <p:txBody>
          <a:bodyPr wrap="square" rtlCol="0">
            <a:spAutoFit/>
          </a:bodyPr>
          <a:lstStyle/>
          <a:p>
            <a:endParaRPr lang="en-IL" sz="1200" dirty="0"/>
          </a:p>
        </p:txBody>
      </p:sp>
      <p:cxnSp>
        <p:nvCxnSpPr>
          <p:cNvPr id="17" name="מחבר חץ ישר 16">
            <a:extLst>
              <a:ext uri="{FF2B5EF4-FFF2-40B4-BE49-F238E27FC236}">
                <a16:creationId xmlns:a16="http://schemas.microsoft.com/office/drawing/2014/main" id="{71C48877-EE6B-0522-B494-A3F4979E56C1}"/>
              </a:ext>
            </a:extLst>
          </p:cNvPr>
          <p:cNvCxnSpPr>
            <a:cxnSpLocks/>
            <a:stCxn id="16" idx="3"/>
          </p:cNvCxnSpPr>
          <p:nvPr/>
        </p:nvCxnSpPr>
        <p:spPr bwMode="auto">
          <a:xfrm flipV="1">
            <a:off x="4713427" y="3585672"/>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
        <p:nvSpPr>
          <p:cNvPr id="18" name="תיבת טקסט 17">
            <a:extLst>
              <a:ext uri="{FF2B5EF4-FFF2-40B4-BE49-F238E27FC236}">
                <a16:creationId xmlns:a16="http://schemas.microsoft.com/office/drawing/2014/main" id="{DA1A0E25-7350-259F-CD20-B6DC6AD3C916}"/>
              </a:ext>
            </a:extLst>
          </p:cNvPr>
          <p:cNvSpPr txBox="1"/>
          <p:nvPr/>
        </p:nvSpPr>
        <p:spPr>
          <a:xfrm>
            <a:off x="4954186" y="3447172"/>
            <a:ext cx="280070" cy="276999"/>
          </a:xfrm>
          <a:prstGeom prst="rect">
            <a:avLst/>
          </a:prstGeom>
          <a:noFill/>
          <a:ln w="19050">
            <a:solidFill>
              <a:schemeClr val="tx1"/>
            </a:solidFill>
          </a:ln>
        </p:spPr>
        <p:txBody>
          <a:bodyPr wrap="square" rtlCol="0">
            <a:spAutoFit/>
          </a:bodyPr>
          <a:lstStyle/>
          <a:p>
            <a:endParaRPr lang="en-IL" sz="1200" dirty="0"/>
          </a:p>
        </p:txBody>
      </p:sp>
      <p:cxnSp>
        <p:nvCxnSpPr>
          <p:cNvPr id="19" name="מחבר חץ ישר 18">
            <a:extLst>
              <a:ext uri="{FF2B5EF4-FFF2-40B4-BE49-F238E27FC236}">
                <a16:creationId xmlns:a16="http://schemas.microsoft.com/office/drawing/2014/main" id="{73140595-13AC-3258-7191-73CDB3DF54B7}"/>
              </a:ext>
            </a:extLst>
          </p:cNvPr>
          <p:cNvCxnSpPr>
            <a:stCxn id="18" idx="3"/>
          </p:cNvCxnSpPr>
          <p:nvPr/>
        </p:nvCxnSpPr>
        <p:spPr bwMode="auto">
          <a:xfrm flipV="1">
            <a:off x="5234256" y="3584332"/>
            <a:ext cx="273917" cy="1340"/>
          </a:xfrm>
          <a:prstGeom prst="straightConnector1">
            <a:avLst/>
          </a:prstGeom>
          <a:solidFill>
            <a:schemeClr val="bg1"/>
          </a:solidFill>
          <a:ln w="19050"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4" presetClass="path" presetSubtype="0" accel="50000" decel="50000" fill="hold" grpId="1" nodeType="clickEffect">
                                  <p:stCondLst>
                                    <p:cond delay="0"/>
                                  </p:stCondLst>
                                  <p:childTnLst>
                                    <p:animMotion origin="layout" path="M 4.375E-6 1.85185E-6 L 0.05963 -0.0544 C 0.07213 -0.06667 0.09075 -0.07315 0.11041 -0.07315 C 0.13268 -0.07315 0.15052 -0.06667 0.16302 -0.0544 L 0.22278 1.85185E-6 " pathEditMode="relative" rAng="0" ptsTypes="AAAAA">
                                      <p:cBhvr>
                                        <p:cTn id="40" dur="2000" fill="hold"/>
                                        <p:tgtEl>
                                          <p:spTgt spid="10"/>
                                        </p:tgtEl>
                                        <p:attrNameLst>
                                          <p:attrName>ppt_x</p:attrName>
                                          <p:attrName>ppt_y</p:attrName>
                                        </p:attrNameLst>
                                      </p:cBhvr>
                                      <p:rCtr x="11133" y="-3657"/>
                                    </p:animMotion>
                                  </p:childTnLst>
                                </p:cTn>
                              </p:par>
                              <p:par>
                                <p:cTn id="41" presetID="44" presetClass="path" presetSubtype="0" accel="50000" decel="50000" fill="hold" nodeType="withEffect">
                                  <p:stCondLst>
                                    <p:cond delay="0"/>
                                  </p:stCondLst>
                                  <p:childTnLst>
                                    <p:animMotion origin="layout" path="M -1.875E-6 3.33333E-6 L 0.05964 -0.0544 C 0.07214 -0.06667 0.09076 -0.07315 0.11042 -0.07315 C 0.13268 -0.07315 0.15052 -0.06667 0.16302 -0.0544 L 0.22279 3.33333E-6 " pathEditMode="relative" rAng="0" ptsTypes="AAAAA">
                                      <p:cBhvr>
                                        <p:cTn id="42" dur="2000" fill="hold"/>
                                        <p:tgtEl>
                                          <p:spTgt spid="11"/>
                                        </p:tgtEl>
                                        <p:attrNameLst>
                                          <p:attrName>ppt_x</p:attrName>
                                          <p:attrName>ppt_y</p:attrName>
                                        </p:attrNameLst>
                                      </p:cBhvr>
                                      <p:rCtr x="11133" y="-3657"/>
                                    </p:animMotion>
                                  </p:childTnLst>
                                </p:cTn>
                              </p:par>
                            </p:childTnLst>
                          </p:cTn>
                        </p:par>
                      </p:childTnLst>
                    </p:cTn>
                  </p:par>
                  <p:par>
                    <p:cTn id="43" fill="hold">
                      <p:stCondLst>
                        <p:cond delay="indefinite"/>
                      </p:stCondLst>
                      <p:childTnLst>
                        <p:par>
                          <p:cTn id="44" fill="hold">
                            <p:stCondLst>
                              <p:cond delay="0"/>
                            </p:stCondLst>
                            <p:childTnLst>
                              <p:par>
                                <p:cTn id="45" presetID="44" presetClass="path" presetSubtype="0" accel="50000" decel="50000" fill="hold" grpId="1" nodeType="clickEffect">
                                  <p:stCondLst>
                                    <p:cond delay="0"/>
                                  </p:stCondLst>
                                  <p:childTnLst>
                                    <p:animMotion origin="layout" path="M -4.79167E-6 0.00069 L 0.09519 -0.07223 C 0.11485 -0.08843 0.14467 -0.09699 0.17592 -0.09699 C 0.21146 -0.09699 0.23998 -0.08843 0.25964 -0.07223 L 0.35508 0.00069 " pathEditMode="relative" rAng="0" ptsTypes="AAAAA">
                                      <p:cBhvr>
                                        <p:cTn id="46" dur="2000" fill="hold"/>
                                        <p:tgtEl>
                                          <p:spTgt spid="5"/>
                                        </p:tgtEl>
                                        <p:attrNameLst>
                                          <p:attrName>ppt_x</p:attrName>
                                          <p:attrName>ppt_y</p:attrName>
                                        </p:attrNameLst>
                                      </p:cBhvr>
                                      <p:rCtr x="17747" y="-4884"/>
                                    </p:animMotion>
                                  </p:childTnLst>
                                </p:cTn>
                              </p:par>
                              <p:par>
                                <p:cTn id="47" presetID="44" presetClass="path" presetSubtype="0" accel="50000" decel="50000" fill="hold" nodeType="withEffect">
                                  <p:stCondLst>
                                    <p:cond delay="0"/>
                                  </p:stCondLst>
                                  <p:childTnLst>
                                    <p:animMotion origin="layout" path="M -1.04167E-6 0.00069 L 0.09518 -0.07223 C 0.11484 -0.08843 0.14466 -0.09699 0.17591 -0.09699 C 0.21146 -0.09699 0.23998 -0.08843 0.25964 -0.07223 L 0.35508 0.00069 " pathEditMode="relative" rAng="0" ptsTypes="AAAAA">
                                      <p:cBhvr>
                                        <p:cTn id="48" dur="2000" fill="hold"/>
                                        <p:tgtEl>
                                          <p:spTgt spid="7"/>
                                        </p:tgtEl>
                                        <p:attrNameLst>
                                          <p:attrName>ppt_x</p:attrName>
                                          <p:attrName>ppt_y</p:attrName>
                                        </p:attrNameLst>
                                      </p:cBhvr>
                                      <p:rCtr x="17747" y="-4884"/>
                                    </p:animMotion>
                                  </p:childTnLst>
                                </p:cTn>
                              </p:par>
                            </p:childTnLst>
                          </p:cTn>
                        </p:par>
                      </p:childTnLst>
                    </p:cTn>
                  </p:par>
                  <p:par>
                    <p:cTn id="49" fill="hold">
                      <p:stCondLst>
                        <p:cond delay="indefinite"/>
                      </p:stCondLst>
                      <p:childTnLst>
                        <p:par>
                          <p:cTn id="50" fill="hold">
                            <p:stCondLst>
                              <p:cond delay="0"/>
                            </p:stCondLst>
                            <p:childTnLst>
                              <p:par>
                                <p:cTn id="51" presetID="44" presetClass="path" presetSubtype="0" accel="50000" decel="50000" fill="hold" grpId="1" nodeType="clickEffect">
                                  <p:stCondLst>
                                    <p:cond delay="0"/>
                                  </p:stCondLst>
                                  <p:childTnLst>
                                    <p:animMotion origin="layout" path="M -1.04167E-6 -1.11111E-6 L 0.05912 -0.06389 C 0.07136 -0.07824 0.08998 -0.08588 0.10964 -0.08588 C 0.13164 -0.08588 0.14948 -0.07824 0.16172 -0.06389 L 0.22136 -1.11111E-6 " pathEditMode="relative" rAng="0" ptsTypes="AAAAA">
                                      <p:cBhvr>
                                        <p:cTn id="52" dur="2000" fill="hold"/>
                                        <p:tgtEl>
                                          <p:spTgt spid="14"/>
                                        </p:tgtEl>
                                        <p:attrNameLst>
                                          <p:attrName>ppt_x</p:attrName>
                                          <p:attrName>ppt_y</p:attrName>
                                        </p:attrNameLst>
                                      </p:cBhvr>
                                      <p:rCtr x="11068" y="-4306"/>
                                    </p:animMotion>
                                  </p:childTnLst>
                                </p:cTn>
                              </p:par>
                              <p:par>
                                <p:cTn id="53" presetID="44" presetClass="path" presetSubtype="0" accel="50000" decel="50000" fill="hold" nodeType="withEffect">
                                  <p:stCondLst>
                                    <p:cond delay="0"/>
                                  </p:stCondLst>
                                  <p:childTnLst>
                                    <p:animMotion origin="layout" path="M 2.5E-6 3.7037E-7 L 0.05911 -0.06389 C 0.07135 -0.07824 0.08997 -0.08588 0.10963 -0.08588 C 0.13164 -0.08588 0.14948 -0.07824 0.16172 -0.06389 L 0.22135 3.7037E-7 " pathEditMode="relative" rAng="0" ptsTypes="AAAAA">
                                      <p:cBhvr>
                                        <p:cTn id="54" dur="2000" fill="hold"/>
                                        <p:tgtEl>
                                          <p:spTgt spid="15"/>
                                        </p:tgtEl>
                                        <p:attrNameLst>
                                          <p:attrName>ppt_x</p:attrName>
                                          <p:attrName>ppt_y</p:attrName>
                                        </p:attrNameLst>
                                      </p:cBhvr>
                                      <p:rCtr x="11068" y="-43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5" grpId="1" animBg="1"/>
      <p:bldP spid="8" grpId="0" animBg="1"/>
      <p:bldP spid="10" grpId="0" animBg="1"/>
      <p:bldP spid="10" grpId="1" animBg="1"/>
      <p:bldP spid="12" grpId="0" animBg="1"/>
      <p:bldP spid="14" grpId="0" animBg="1"/>
      <p:bldP spid="14" grpId="1" animBg="1"/>
      <p:bldP spid="16" grpId="0" animBg="1"/>
      <p:bldP spid="1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מציין מיקום של מספר שקופית 5"/>
          <p:cNvSpPr>
            <a:spLocks noGrp="1"/>
          </p:cNvSpPr>
          <p:nvPr>
            <p:ph type="sldNum" sz="quarter" idx="12"/>
          </p:nvPr>
        </p:nvSpPr>
        <p:spPr>
          <a:noFill/>
        </p:spPr>
        <p:txBody>
          <a:bodyPr/>
          <a:lstStyle/>
          <a:p>
            <a:fld id="{F4B207C9-8F2A-4253-9EED-356AE44E90E7}" type="slidenum">
              <a:rPr lang="he-IL" smtClean="0"/>
              <a:pPr/>
              <a:t>44</a:t>
            </a:fld>
            <a:endParaRPr lang="en-US"/>
          </a:p>
        </p:txBody>
      </p:sp>
      <p:sp>
        <p:nvSpPr>
          <p:cNvPr id="36867" name="Rectangle 2"/>
          <p:cNvSpPr>
            <a:spLocks noGrp="1" noChangeArrowheads="1"/>
          </p:cNvSpPr>
          <p:nvPr>
            <p:ph type="title"/>
          </p:nvPr>
        </p:nvSpPr>
        <p:spPr>
          <a:xfrm>
            <a:off x="2209405" y="2"/>
            <a:ext cx="7773207" cy="1143459"/>
          </a:xfrm>
        </p:spPr>
        <p:txBody>
          <a:bodyPr/>
          <a:lstStyle/>
          <a:p>
            <a:pPr eaLnBrk="1" hangingPunct="1"/>
            <a:r>
              <a:rPr lang="en-US" dirty="0"/>
              <a:t>Simulating LRU in Software (1)</a:t>
            </a:r>
            <a:endParaRPr lang="en-US" sz="2600" dirty="0"/>
          </a:p>
        </p:txBody>
      </p:sp>
      <p:sp>
        <p:nvSpPr>
          <p:cNvPr id="36868" name="Rectangle 3"/>
          <p:cNvSpPr>
            <a:spLocks noGrp="1" noChangeArrowheads="1"/>
          </p:cNvSpPr>
          <p:nvPr>
            <p:ph type="body" idx="1"/>
          </p:nvPr>
        </p:nvSpPr>
        <p:spPr>
          <a:xfrm>
            <a:off x="1956409" y="5944062"/>
            <a:ext cx="8432397" cy="761389"/>
          </a:xfrm>
        </p:spPr>
        <p:txBody>
          <a:bodyPr/>
          <a:lstStyle/>
          <a:p>
            <a:pPr algn="ctr" eaLnBrk="1" hangingPunct="1">
              <a:lnSpc>
                <a:spcPct val="90000"/>
              </a:lnSpc>
              <a:buFontTx/>
              <a:buNone/>
            </a:pPr>
            <a:r>
              <a:rPr lang="en-US" dirty="0"/>
              <a:t>LRU using a matrix – FRAMES referenced in order</a:t>
            </a:r>
            <a:r>
              <a:rPr lang="en-US" sz="1600" dirty="0"/>
              <a:t> 0,1,2,3,2,1,0,3,2,3</a:t>
            </a:r>
          </a:p>
        </p:txBody>
      </p:sp>
      <p:pic>
        <p:nvPicPr>
          <p:cNvPr id="36869" name="Picture 5" descr="C:\B\b4\JPG\foo\4-18.jpg"/>
          <p:cNvPicPr>
            <a:picLocks noChangeAspect="1" noChangeArrowheads="1"/>
          </p:cNvPicPr>
          <p:nvPr/>
        </p:nvPicPr>
        <p:blipFill>
          <a:blip r:embed="rId3" cstate="print"/>
          <a:srcRect/>
          <a:stretch>
            <a:fillRect/>
          </a:stretch>
        </p:blipFill>
        <p:spPr bwMode="auto">
          <a:xfrm>
            <a:off x="2351518" y="1265776"/>
            <a:ext cx="7711723" cy="4161528"/>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9916FC8D-A545-4642-A325-24F691CA7C55}" type="datetime12">
              <a:rPr lang="he-IL" smtClean="0"/>
              <a:pPr>
                <a:defRPr/>
              </a:pPr>
              <a:t>28/01/2024 18:13</a:t>
            </a:fld>
            <a:endParaRPr lang="en-US"/>
          </a:p>
        </p:txBody>
      </p:sp>
      <p:sp>
        <p:nvSpPr>
          <p:cNvPr id="2" name="TextBox 1"/>
          <p:cNvSpPr txBox="1"/>
          <p:nvPr/>
        </p:nvSpPr>
        <p:spPr>
          <a:xfrm>
            <a:off x="2669228" y="1208758"/>
            <a:ext cx="941033" cy="307777"/>
          </a:xfrm>
          <a:prstGeom prst="rect">
            <a:avLst/>
          </a:prstGeom>
          <a:solidFill>
            <a:schemeClr val="bg1"/>
          </a:solidFill>
        </p:spPr>
        <p:txBody>
          <a:bodyPr wrap="square" rtlCol="1">
            <a:spAutoFit/>
          </a:bodyPr>
          <a:lstStyle/>
          <a:p>
            <a:r>
              <a:rPr lang="en-US" sz="1400" dirty="0"/>
              <a:t>FRAME</a:t>
            </a:r>
            <a:endParaRPr lang="he-IL" sz="1400" dirty="0"/>
          </a:p>
        </p:txBody>
      </p:sp>
      <p:sp>
        <p:nvSpPr>
          <p:cNvPr id="8" name="TextBox 7"/>
          <p:cNvSpPr txBox="1"/>
          <p:nvPr/>
        </p:nvSpPr>
        <p:spPr>
          <a:xfrm>
            <a:off x="4196188" y="1208757"/>
            <a:ext cx="941033" cy="307777"/>
          </a:xfrm>
          <a:prstGeom prst="rect">
            <a:avLst/>
          </a:prstGeom>
          <a:solidFill>
            <a:schemeClr val="bg1"/>
          </a:solidFill>
        </p:spPr>
        <p:txBody>
          <a:bodyPr wrap="square" rtlCol="1">
            <a:spAutoFit/>
          </a:bodyPr>
          <a:lstStyle/>
          <a:p>
            <a:r>
              <a:rPr lang="en-US" sz="1400" dirty="0"/>
              <a:t>FRAME</a:t>
            </a:r>
            <a:endParaRPr lang="he-IL" sz="1400" dirty="0"/>
          </a:p>
        </p:txBody>
      </p:sp>
      <p:sp>
        <p:nvSpPr>
          <p:cNvPr id="9" name="TextBox 8"/>
          <p:cNvSpPr txBox="1"/>
          <p:nvPr/>
        </p:nvSpPr>
        <p:spPr>
          <a:xfrm>
            <a:off x="5825646" y="1256901"/>
            <a:ext cx="941033" cy="307777"/>
          </a:xfrm>
          <a:prstGeom prst="rect">
            <a:avLst/>
          </a:prstGeom>
          <a:solidFill>
            <a:schemeClr val="bg1"/>
          </a:solidFill>
        </p:spPr>
        <p:txBody>
          <a:bodyPr wrap="square" rtlCol="1">
            <a:spAutoFit/>
          </a:bodyPr>
          <a:lstStyle/>
          <a:p>
            <a:r>
              <a:rPr lang="en-US" sz="1400"/>
              <a:t>FRAME</a:t>
            </a:r>
            <a:endParaRPr lang="he-IL" sz="1400" dirty="0"/>
          </a:p>
        </p:txBody>
      </p:sp>
      <p:sp>
        <p:nvSpPr>
          <p:cNvPr id="10" name="TextBox 9"/>
          <p:cNvSpPr txBox="1"/>
          <p:nvPr/>
        </p:nvSpPr>
        <p:spPr>
          <a:xfrm>
            <a:off x="7290460" y="1287893"/>
            <a:ext cx="941033" cy="307777"/>
          </a:xfrm>
          <a:prstGeom prst="rect">
            <a:avLst/>
          </a:prstGeom>
          <a:solidFill>
            <a:schemeClr val="bg1"/>
          </a:solidFill>
        </p:spPr>
        <p:txBody>
          <a:bodyPr wrap="square" rtlCol="1">
            <a:spAutoFit/>
          </a:bodyPr>
          <a:lstStyle/>
          <a:p>
            <a:r>
              <a:rPr lang="en-US" sz="1400"/>
              <a:t>FRAME</a:t>
            </a:r>
            <a:endParaRPr lang="he-IL" sz="1400" dirty="0"/>
          </a:p>
        </p:txBody>
      </p:sp>
      <p:sp>
        <p:nvSpPr>
          <p:cNvPr id="11" name="TextBox 10"/>
          <p:cNvSpPr txBox="1"/>
          <p:nvPr/>
        </p:nvSpPr>
        <p:spPr>
          <a:xfrm>
            <a:off x="8898799" y="1262049"/>
            <a:ext cx="941033" cy="307777"/>
          </a:xfrm>
          <a:prstGeom prst="rect">
            <a:avLst/>
          </a:prstGeom>
          <a:solidFill>
            <a:schemeClr val="bg1"/>
          </a:solidFill>
        </p:spPr>
        <p:txBody>
          <a:bodyPr wrap="square" rtlCol="1">
            <a:spAutoFit/>
          </a:bodyPr>
          <a:lstStyle/>
          <a:p>
            <a:r>
              <a:rPr lang="en-US" sz="1400"/>
              <a:t>FRAME</a:t>
            </a:r>
            <a:endParaRPr lang="he-IL"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מציין מיקום של מספר שקופית 5"/>
          <p:cNvSpPr>
            <a:spLocks noGrp="1"/>
          </p:cNvSpPr>
          <p:nvPr>
            <p:ph type="sldNum" sz="quarter" idx="12"/>
          </p:nvPr>
        </p:nvSpPr>
        <p:spPr>
          <a:noFill/>
        </p:spPr>
        <p:txBody>
          <a:bodyPr/>
          <a:lstStyle/>
          <a:p>
            <a:fld id="{53C550EF-211B-463A-9F8E-7855CD8EDCF0}" type="slidenum">
              <a:rPr lang="he-IL" smtClean="0"/>
              <a:pPr/>
              <a:t>45</a:t>
            </a:fld>
            <a:endParaRPr lang="en-US"/>
          </a:p>
        </p:txBody>
      </p:sp>
      <p:sp>
        <p:nvSpPr>
          <p:cNvPr id="37891" name="Rectangle 2"/>
          <p:cNvSpPr>
            <a:spLocks noGrp="1" noChangeArrowheads="1"/>
          </p:cNvSpPr>
          <p:nvPr>
            <p:ph type="title"/>
          </p:nvPr>
        </p:nvSpPr>
        <p:spPr>
          <a:xfrm>
            <a:off x="2209405" y="2"/>
            <a:ext cx="7773207" cy="1143459"/>
          </a:xfrm>
        </p:spPr>
        <p:txBody>
          <a:bodyPr/>
          <a:lstStyle/>
          <a:p>
            <a:pPr eaLnBrk="1" hangingPunct="1"/>
            <a:r>
              <a:rPr lang="en-US" dirty="0"/>
              <a:t>Simulating LRU in Software (2)</a:t>
            </a:r>
            <a:endParaRPr lang="en-US" sz="2600" dirty="0"/>
          </a:p>
        </p:txBody>
      </p:sp>
      <p:sp>
        <p:nvSpPr>
          <p:cNvPr id="37892" name="Rectangle 3"/>
          <p:cNvSpPr>
            <a:spLocks noGrp="1" noChangeArrowheads="1"/>
          </p:cNvSpPr>
          <p:nvPr>
            <p:ph type="body" idx="1"/>
          </p:nvPr>
        </p:nvSpPr>
        <p:spPr>
          <a:xfrm>
            <a:off x="2209405" y="5410811"/>
            <a:ext cx="7773207" cy="685800"/>
          </a:xfrm>
        </p:spPr>
        <p:txBody>
          <a:bodyPr/>
          <a:lstStyle/>
          <a:p>
            <a:pPr eaLnBrk="1" hangingPunct="1">
              <a:lnSpc>
                <a:spcPct val="90000"/>
              </a:lnSpc>
            </a:pPr>
            <a:r>
              <a:rPr lang="en-US" sz="1900" dirty="0"/>
              <a:t>The aging algorithm simulates LRU in software</a:t>
            </a:r>
          </a:p>
          <a:p>
            <a:pPr eaLnBrk="1" hangingPunct="1">
              <a:lnSpc>
                <a:spcPct val="90000"/>
              </a:lnSpc>
            </a:pPr>
            <a:r>
              <a:rPr lang="en-US" sz="1900" dirty="0"/>
              <a:t>Note 6 pages for 5 clock ticks, (a) – (e)</a:t>
            </a:r>
          </a:p>
        </p:txBody>
      </p:sp>
      <p:pic>
        <p:nvPicPr>
          <p:cNvPr id="37893" name="Picture 5" descr="C:\B\b4\JPG\foo\4-19.jpg"/>
          <p:cNvPicPr>
            <a:picLocks noChangeAspect="1" noChangeArrowheads="1"/>
          </p:cNvPicPr>
          <p:nvPr/>
        </p:nvPicPr>
        <p:blipFill>
          <a:blip r:embed="rId3" cstate="print"/>
          <a:srcRect/>
          <a:stretch>
            <a:fillRect/>
          </a:stretch>
        </p:blipFill>
        <p:spPr bwMode="auto">
          <a:xfrm>
            <a:off x="2445255" y="1260282"/>
            <a:ext cx="6838851" cy="3930637"/>
          </a:xfrm>
          <a:prstGeom prst="rect">
            <a:avLst/>
          </a:prstGeom>
          <a:noFill/>
          <a:ln w="9525">
            <a:noFill/>
            <a:miter lim="800000"/>
            <a:headEnd/>
            <a:tailEnd/>
          </a:ln>
        </p:spPr>
      </p:pic>
      <p:sp>
        <p:nvSpPr>
          <p:cNvPr id="37894" name="TextBox 5"/>
          <p:cNvSpPr txBox="1">
            <a:spLocks noChangeArrowheads="1"/>
          </p:cNvSpPr>
          <p:nvPr/>
        </p:nvSpPr>
        <p:spPr bwMode="auto">
          <a:xfrm>
            <a:off x="9163160" y="339465"/>
            <a:ext cx="995841" cy="620158"/>
          </a:xfrm>
          <a:prstGeom prst="rect">
            <a:avLst/>
          </a:prstGeom>
          <a:noFill/>
          <a:ln w="9525">
            <a:noFill/>
            <a:miter lim="800000"/>
            <a:headEnd/>
            <a:tailEnd/>
          </a:ln>
        </p:spPr>
        <p:txBody>
          <a:bodyPr lIns="65520" tIns="32760" rIns="65520" bIns="32760">
            <a:spAutoFit/>
          </a:bodyPr>
          <a:lstStyle/>
          <a:p>
            <a:r>
              <a:rPr lang="en-US"/>
              <a:t>AGING</a:t>
            </a:r>
          </a:p>
          <a:p>
            <a:r>
              <a:rPr lang="he-IL"/>
              <a:t>הזדקנות</a:t>
            </a:r>
          </a:p>
        </p:txBody>
      </p:sp>
      <p:sp>
        <p:nvSpPr>
          <p:cNvPr id="37895" name="TextBox 6"/>
          <p:cNvSpPr txBox="1">
            <a:spLocks noChangeArrowheads="1"/>
          </p:cNvSpPr>
          <p:nvPr/>
        </p:nvSpPr>
        <p:spPr bwMode="auto">
          <a:xfrm>
            <a:off x="9522984" y="1708325"/>
            <a:ext cx="1145016" cy="2543761"/>
          </a:xfrm>
          <a:prstGeom prst="rect">
            <a:avLst/>
          </a:prstGeom>
          <a:noFill/>
          <a:ln w="9525">
            <a:noFill/>
            <a:miter lim="800000"/>
            <a:headEnd/>
            <a:tailEnd/>
          </a:ln>
        </p:spPr>
        <p:txBody>
          <a:bodyPr lIns="65520" tIns="32760" rIns="65520" bIns="32760">
            <a:spAutoFit/>
          </a:bodyPr>
          <a:lstStyle/>
          <a:p>
            <a:pPr algn="r" rtl="1"/>
            <a:r>
              <a:rPr lang="he-IL" dirty="0"/>
              <a:t>הקטנת </a:t>
            </a:r>
            <a:endParaRPr lang="en-US" dirty="0"/>
          </a:p>
          <a:p>
            <a:pPr algn="r" rtl="1"/>
            <a:r>
              <a:rPr lang="he-IL" dirty="0"/>
              <a:t>רזולוציה</a:t>
            </a:r>
          </a:p>
          <a:p>
            <a:pPr algn="r" rtl="1"/>
            <a:r>
              <a:rPr lang="he-IL" dirty="0"/>
              <a:t>חסרון: רזולוציה נמוכה, גם בתוך </a:t>
            </a:r>
            <a:r>
              <a:rPr lang="he-IL" sz="1700" b="1" u="sng" dirty="0" err="1"/>
              <a:t>הקוונטום</a:t>
            </a:r>
            <a:r>
              <a:rPr lang="he-IL" sz="1700" dirty="0"/>
              <a:t> </a:t>
            </a:r>
            <a:r>
              <a:rPr lang="he-IL" dirty="0"/>
              <a:t>וגם כמספר הסיביות.</a:t>
            </a:r>
          </a:p>
        </p:txBody>
      </p:sp>
      <p:sp>
        <p:nvSpPr>
          <p:cNvPr id="33800" name="TextBox 7"/>
          <p:cNvSpPr txBox="1">
            <a:spLocks noChangeArrowheads="1"/>
          </p:cNvSpPr>
          <p:nvPr/>
        </p:nvSpPr>
        <p:spPr bwMode="auto">
          <a:xfrm>
            <a:off x="2113645" y="2587899"/>
            <a:ext cx="221747" cy="2559150"/>
          </a:xfrm>
          <a:prstGeom prst="rect">
            <a:avLst/>
          </a:prstGeom>
          <a:noFill/>
          <a:ln w="9525">
            <a:solidFill>
              <a:schemeClr val="accent1"/>
            </a:solidFill>
            <a:miter lim="800000"/>
            <a:headEnd/>
            <a:tailEnd/>
          </a:ln>
        </p:spPr>
        <p:txBody>
          <a:bodyPr lIns="65520" tIns="32760" rIns="65520" bIns="32760">
            <a:spAutoFit/>
          </a:bodyPr>
          <a:lstStyle/>
          <a:p>
            <a:r>
              <a:rPr lang="en-US"/>
              <a:t>1</a:t>
            </a:r>
          </a:p>
          <a:p>
            <a:r>
              <a:rPr lang="en-US"/>
              <a:t>0</a:t>
            </a:r>
          </a:p>
          <a:p>
            <a:endParaRPr lang="en-US"/>
          </a:p>
          <a:p>
            <a:r>
              <a:rPr lang="en-US"/>
              <a:t>1</a:t>
            </a:r>
          </a:p>
          <a:p>
            <a:endParaRPr lang="en-US"/>
          </a:p>
          <a:p>
            <a:r>
              <a:rPr lang="en-US"/>
              <a:t>0</a:t>
            </a:r>
          </a:p>
          <a:p>
            <a:endParaRPr lang="en-US"/>
          </a:p>
          <a:p>
            <a:r>
              <a:rPr lang="en-US"/>
              <a:t>1</a:t>
            </a:r>
          </a:p>
          <a:p>
            <a:r>
              <a:rPr lang="en-US"/>
              <a:t>1</a:t>
            </a:r>
          </a:p>
        </p:txBody>
      </p:sp>
      <p:sp>
        <p:nvSpPr>
          <p:cNvPr id="37897" name="מלבן 8"/>
          <p:cNvSpPr>
            <a:spLocks noChangeArrowheads="1"/>
          </p:cNvSpPr>
          <p:nvPr/>
        </p:nvSpPr>
        <p:spPr bwMode="auto">
          <a:xfrm>
            <a:off x="2086439" y="2626391"/>
            <a:ext cx="248961" cy="2324023"/>
          </a:xfrm>
          <a:prstGeom prst="rect">
            <a:avLst/>
          </a:prstGeom>
          <a:noFill/>
          <a:ln w="9525" algn="ctr">
            <a:noFill/>
            <a:round/>
            <a:headEnd/>
            <a:tailEnd/>
          </a:ln>
        </p:spPr>
        <p:txBody>
          <a:bodyPr lIns="65520" tIns="32760" rIns="65520" bIns="32760"/>
          <a:lstStyle/>
          <a:p>
            <a:endParaRPr lang="he-IL"/>
          </a:p>
        </p:txBody>
      </p:sp>
      <p:cxnSp>
        <p:nvCxnSpPr>
          <p:cNvPr id="37898" name="מחבר חץ ישר 10"/>
          <p:cNvCxnSpPr>
            <a:cxnSpLocks noChangeShapeType="1"/>
          </p:cNvCxnSpPr>
          <p:nvPr/>
        </p:nvCxnSpPr>
        <p:spPr bwMode="auto">
          <a:xfrm rot="10800000">
            <a:off x="9504851" y="3958129"/>
            <a:ext cx="487841" cy="288613"/>
          </a:xfrm>
          <a:prstGeom prst="straightConnector1">
            <a:avLst/>
          </a:prstGeom>
          <a:noFill/>
          <a:ln w="9525" algn="ctr">
            <a:solidFill>
              <a:schemeClr val="tx1"/>
            </a:solidFill>
            <a:round/>
            <a:headEnd/>
            <a:tailEnd type="arrow" w="med" len="med"/>
          </a:ln>
        </p:spPr>
      </p:cxnSp>
      <p:cxnSp>
        <p:nvCxnSpPr>
          <p:cNvPr id="37899" name="מחבר חץ ישר 12"/>
          <p:cNvCxnSpPr>
            <a:cxnSpLocks noChangeShapeType="1"/>
          </p:cNvCxnSpPr>
          <p:nvPr/>
        </p:nvCxnSpPr>
        <p:spPr bwMode="auto">
          <a:xfrm rot="10800000" flipV="1">
            <a:off x="9393978" y="4334704"/>
            <a:ext cx="617865" cy="314727"/>
          </a:xfrm>
          <a:prstGeom prst="straightConnector1">
            <a:avLst/>
          </a:prstGeom>
          <a:noFill/>
          <a:ln w="9525" algn="ctr">
            <a:solidFill>
              <a:schemeClr val="tx1"/>
            </a:solidFill>
            <a:round/>
            <a:headEnd/>
            <a:tailEnd type="arrow" w="med" len="med"/>
          </a:ln>
        </p:spPr>
      </p:cxnSp>
      <p:cxnSp>
        <p:nvCxnSpPr>
          <p:cNvPr id="37900" name="מחבר חץ ישר 14"/>
          <p:cNvCxnSpPr>
            <a:cxnSpLocks noChangeShapeType="1"/>
          </p:cNvCxnSpPr>
          <p:nvPr/>
        </p:nvCxnSpPr>
        <p:spPr bwMode="auto">
          <a:xfrm rot="16200000" flipV="1">
            <a:off x="6030221" y="2308815"/>
            <a:ext cx="175917" cy="82651"/>
          </a:xfrm>
          <a:prstGeom prst="straightConnector1">
            <a:avLst/>
          </a:prstGeom>
          <a:noFill/>
          <a:ln w="9525" algn="ctr">
            <a:solidFill>
              <a:schemeClr val="tx1"/>
            </a:solidFill>
            <a:round/>
            <a:headEnd/>
            <a:tailEnd type="arrow" w="med" len="med"/>
          </a:ln>
        </p:spPr>
      </p:cxnSp>
      <p:cxnSp>
        <p:nvCxnSpPr>
          <p:cNvPr id="37901" name="מחבר חץ ישר 16"/>
          <p:cNvCxnSpPr>
            <a:cxnSpLocks noChangeShapeType="1"/>
          </p:cNvCxnSpPr>
          <p:nvPr/>
        </p:nvCxnSpPr>
        <p:spPr bwMode="auto">
          <a:xfrm flipV="1">
            <a:off x="6233090" y="2299296"/>
            <a:ext cx="248961" cy="200655"/>
          </a:xfrm>
          <a:prstGeom prst="straightConnector1">
            <a:avLst/>
          </a:prstGeom>
          <a:noFill/>
          <a:ln w="9525" algn="ctr">
            <a:solidFill>
              <a:schemeClr val="tx1"/>
            </a:solidFill>
            <a:round/>
            <a:headEnd/>
            <a:tailEnd type="arrow" w="med" len="med"/>
          </a:ln>
        </p:spPr>
      </p:cxnSp>
      <p:cxnSp>
        <p:nvCxnSpPr>
          <p:cNvPr id="37902" name="מחבר ישר 18"/>
          <p:cNvCxnSpPr>
            <a:cxnSpLocks noChangeShapeType="1"/>
          </p:cNvCxnSpPr>
          <p:nvPr/>
        </p:nvCxnSpPr>
        <p:spPr bwMode="auto">
          <a:xfrm rot="5400000" flipH="1" flipV="1">
            <a:off x="3749406" y="2389580"/>
            <a:ext cx="239137" cy="9072"/>
          </a:xfrm>
          <a:prstGeom prst="line">
            <a:avLst/>
          </a:prstGeom>
          <a:noFill/>
          <a:ln w="9525" algn="ctr">
            <a:solidFill>
              <a:schemeClr val="tx1"/>
            </a:solidFill>
            <a:round/>
            <a:headEnd/>
            <a:tailEnd type="arrow" w="med" len="med"/>
          </a:ln>
        </p:spPr>
      </p:cxnSp>
      <p:sp>
        <p:nvSpPr>
          <p:cNvPr id="15" name="מציין מיקום של תאריך 14"/>
          <p:cNvSpPr>
            <a:spLocks noGrp="1"/>
          </p:cNvSpPr>
          <p:nvPr>
            <p:ph type="dt" sz="half" idx="10"/>
          </p:nvPr>
        </p:nvSpPr>
        <p:spPr/>
        <p:txBody>
          <a:bodyPr/>
          <a:lstStyle/>
          <a:p>
            <a:pPr>
              <a:defRPr/>
            </a:pPr>
            <a:fld id="{6219A0A1-C408-4F37-8893-A40215520F9A}"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800"/>
                                        </p:tgtEl>
                                        <p:attrNameLst>
                                          <p:attrName>style.visibility</p:attrName>
                                        </p:attrNameLst>
                                      </p:cBhvr>
                                      <p:to>
                                        <p:strVal val="visible"/>
                                      </p:to>
                                    </p:set>
                                    <p:animEffect transition="in" filter="wipe(down)">
                                      <p:cBhvr>
                                        <p:cTn id="7" dur="5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מציין מיקום של מספר שקופית 5"/>
          <p:cNvSpPr>
            <a:spLocks noGrp="1"/>
          </p:cNvSpPr>
          <p:nvPr>
            <p:ph type="sldNum" sz="quarter" idx="12"/>
          </p:nvPr>
        </p:nvSpPr>
        <p:spPr>
          <a:noFill/>
        </p:spPr>
        <p:txBody>
          <a:bodyPr/>
          <a:lstStyle/>
          <a:p>
            <a:fld id="{E762DA27-6513-40C9-8DC8-98480272EF69}" type="slidenum">
              <a:rPr lang="he-IL" smtClean="0"/>
              <a:pPr/>
              <a:t>46</a:t>
            </a:fld>
            <a:endParaRPr lang="en-US"/>
          </a:p>
        </p:txBody>
      </p:sp>
      <p:sp>
        <p:nvSpPr>
          <p:cNvPr id="38915" name="Rectangle 2"/>
          <p:cNvSpPr>
            <a:spLocks noGrp="1" noChangeArrowheads="1"/>
          </p:cNvSpPr>
          <p:nvPr>
            <p:ph type="title"/>
          </p:nvPr>
        </p:nvSpPr>
        <p:spPr>
          <a:xfrm>
            <a:off x="1524000" y="2"/>
            <a:ext cx="9144000" cy="1143459"/>
          </a:xfrm>
        </p:spPr>
        <p:txBody>
          <a:bodyPr/>
          <a:lstStyle/>
          <a:p>
            <a:pPr eaLnBrk="1" hangingPunct="1"/>
            <a:r>
              <a:rPr lang="en-US" sz="2100" dirty="0"/>
              <a:t>The Working Set Page Replacement Algorithm (1)</a:t>
            </a:r>
          </a:p>
        </p:txBody>
      </p:sp>
      <p:sp>
        <p:nvSpPr>
          <p:cNvPr id="38916" name="Rectangle 3"/>
          <p:cNvSpPr>
            <a:spLocks noGrp="1" noChangeArrowheads="1"/>
          </p:cNvSpPr>
          <p:nvPr>
            <p:ph type="body" idx="1"/>
          </p:nvPr>
        </p:nvSpPr>
        <p:spPr>
          <a:xfrm>
            <a:off x="2209405" y="5181299"/>
            <a:ext cx="7773207" cy="610211"/>
          </a:xfrm>
        </p:spPr>
        <p:txBody>
          <a:bodyPr/>
          <a:lstStyle/>
          <a:p>
            <a:pPr eaLnBrk="1" hangingPunct="1">
              <a:lnSpc>
                <a:spcPct val="90000"/>
              </a:lnSpc>
            </a:pPr>
            <a:r>
              <a:rPr lang="en-US" sz="1900" dirty="0"/>
              <a:t>The working set is the set of pages used by the </a:t>
            </a:r>
            <a:r>
              <a:rPr lang="en-US" sz="1900" i="1" dirty="0"/>
              <a:t>k</a:t>
            </a:r>
            <a:r>
              <a:rPr lang="en-US" sz="1900" dirty="0"/>
              <a:t> most recent memory references</a:t>
            </a:r>
          </a:p>
          <a:p>
            <a:pPr eaLnBrk="1" hangingPunct="1">
              <a:lnSpc>
                <a:spcPct val="90000"/>
              </a:lnSpc>
            </a:pPr>
            <a:r>
              <a:rPr lang="en-US" sz="1900" dirty="0"/>
              <a:t>w(</a:t>
            </a:r>
            <a:r>
              <a:rPr lang="en-US" sz="1900" dirty="0" err="1"/>
              <a:t>k,t</a:t>
            </a:r>
            <a:r>
              <a:rPr lang="en-US" sz="1900" dirty="0"/>
              <a:t>) is the size of the working set at time, </a:t>
            </a:r>
            <a:r>
              <a:rPr lang="en-US" sz="1900" i="1" dirty="0"/>
              <a:t>t</a:t>
            </a:r>
            <a:endParaRPr lang="en-US" sz="1900" dirty="0"/>
          </a:p>
        </p:txBody>
      </p:sp>
      <p:pic>
        <p:nvPicPr>
          <p:cNvPr id="38917" name="Picture 5" descr="C:\B\b4\JPG\foo\4-20.jpg"/>
          <p:cNvPicPr>
            <a:picLocks noChangeAspect="1" noChangeArrowheads="1"/>
          </p:cNvPicPr>
          <p:nvPr/>
        </p:nvPicPr>
        <p:blipFill>
          <a:blip r:embed="rId3" cstate="print"/>
          <a:srcRect/>
          <a:stretch>
            <a:fillRect/>
          </a:stretch>
        </p:blipFill>
        <p:spPr bwMode="auto">
          <a:xfrm>
            <a:off x="1892905" y="1421085"/>
            <a:ext cx="8003016" cy="3257207"/>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E88940D0-0504-4ACE-9E68-A54BA845C000}" type="datetime12">
              <a:rPr lang="he-IL" smtClean="0"/>
              <a:pPr>
                <a:defRPr/>
              </a:pPr>
              <a:t>28/01/2024 18:13</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מציין מיקום של מספר שקופית 5"/>
          <p:cNvSpPr>
            <a:spLocks noGrp="1"/>
          </p:cNvSpPr>
          <p:nvPr>
            <p:ph type="sldNum" sz="quarter" idx="12"/>
          </p:nvPr>
        </p:nvSpPr>
        <p:spPr>
          <a:noFill/>
        </p:spPr>
        <p:txBody>
          <a:bodyPr/>
          <a:lstStyle/>
          <a:p>
            <a:fld id="{3C66918F-B06F-4D00-86D5-74910C66DDCE}" type="slidenum">
              <a:rPr lang="he-IL" smtClean="0"/>
              <a:pPr/>
              <a:t>47</a:t>
            </a:fld>
            <a:endParaRPr lang="en-US"/>
          </a:p>
        </p:txBody>
      </p:sp>
      <p:sp>
        <p:nvSpPr>
          <p:cNvPr id="39939" name="Rectangle 2"/>
          <p:cNvSpPr>
            <a:spLocks noGrp="1" noChangeArrowheads="1"/>
          </p:cNvSpPr>
          <p:nvPr>
            <p:ph type="title"/>
          </p:nvPr>
        </p:nvSpPr>
        <p:spPr>
          <a:xfrm>
            <a:off x="1524000" y="2"/>
            <a:ext cx="9144000" cy="1143459"/>
          </a:xfrm>
        </p:spPr>
        <p:txBody>
          <a:bodyPr/>
          <a:lstStyle/>
          <a:p>
            <a:pPr eaLnBrk="1" hangingPunct="1"/>
            <a:r>
              <a:rPr lang="en-US" sz="2100" dirty="0"/>
              <a:t>The Working Set Page Replacement Algorithm (2)</a:t>
            </a:r>
          </a:p>
        </p:txBody>
      </p:sp>
      <p:sp>
        <p:nvSpPr>
          <p:cNvPr id="39940" name="Rectangle 3"/>
          <p:cNvSpPr>
            <a:spLocks noGrp="1" noChangeArrowheads="1"/>
          </p:cNvSpPr>
          <p:nvPr>
            <p:ph type="body" idx="1"/>
          </p:nvPr>
        </p:nvSpPr>
        <p:spPr>
          <a:xfrm>
            <a:off x="2267865" y="5667815"/>
            <a:ext cx="7771191" cy="685800"/>
          </a:xfrm>
        </p:spPr>
        <p:txBody>
          <a:bodyPr/>
          <a:lstStyle/>
          <a:p>
            <a:pPr algn="ctr" eaLnBrk="1" hangingPunct="1">
              <a:buFontTx/>
              <a:buNone/>
            </a:pPr>
            <a:r>
              <a:rPr lang="en-US"/>
              <a:t>The working set algorithm</a:t>
            </a:r>
          </a:p>
        </p:txBody>
      </p:sp>
      <p:pic>
        <p:nvPicPr>
          <p:cNvPr id="39941" name="Picture 6" descr="C:\B\b4\JPG\foo\4-21.jpg"/>
          <p:cNvPicPr>
            <a:picLocks noChangeAspect="1" noChangeArrowheads="1"/>
          </p:cNvPicPr>
          <p:nvPr/>
        </p:nvPicPr>
        <p:blipFill>
          <a:blip r:embed="rId3" cstate="print"/>
          <a:srcRect/>
          <a:stretch>
            <a:fillRect/>
          </a:stretch>
        </p:blipFill>
        <p:spPr bwMode="auto">
          <a:xfrm>
            <a:off x="2399908" y="1203931"/>
            <a:ext cx="7126111" cy="4239867"/>
          </a:xfrm>
          <a:prstGeom prst="rect">
            <a:avLst/>
          </a:prstGeom>
          <a:noFill/>
          <a:ln w="9525">
            <a:noFill/>
            <a:miter lim="800000"/>
            <a:headEnd/>
            <a:tailEnd/>
          </a:ln>
        </p:spPr>
      </p:pic>
      <p:sp>
        <p:nvSpPr>
          <p:cNvPr id="39942" name="TextBox 5"/>
          <p:cNvSpPr txBox="1">
            <a:spLocks noChangeArrowheads="1"/>
          </p:cNvSpPr>
          <p:nvPr/>
        </p:nvSpPr>
        <p:spPr bwMode="auto">
          <a:xfrm>
            <a:off x="8690832" y="3644064"/>
            <a:ext cx="1138968" cy="312381"/>
          </a:xfrm>
          <a:prstGeom prst="rect">
            <a:avLst/>
          </a:prstGeom>
          <a:noFill/>
          <a:ln w="9525">
            <a:noFill/>
            <a:miter lim="800000"/>
            <a:headEnd/>
            <a:tailEnd/>
          </a:ln>
        </p:spPr>
        <p:txBody>
          <a:bodyPr wrap="square" lIns="65520" tIns="32760" rIns="65520" bIns="32760">
            <a:spAutoFit/>
          </a:bodyPr>
          <a:lstStyle/>
          <a:p>
            <a:r>
              <a:rPr lang="en-US" sz="1600"/>
              <a:t>Set R=</a:t>
            </a:r>
            <a:r>
              <a:rPr lang="en-US" sz="1600" dirty="0"/>
              <a:t>0</a:t>
            </a:r>
            <a:endParaRPr lang="he-IL" sz="1600" dirty="0"/>
          </a:p>
        </p:txBody>
      </p:sp>
      <p:sp>
        <p:nvSpPr>
          <p:cNvPr id="7" name="מציין מיקום של תאריך 6"/>
          <p:cNvSpPr>
            <a:spLocks noGrp="1"/>
          </p:cNvSpPr>
          <p:nvPr>
            <p:ph type="dt" sz="half" idx="10"/>
          </p:nvPr>
        </p:nvSpPr>
        <p:spPr/>
        <p:txBody>
          <a:bodyPr/>
          <a:lstStyle/>
          <a:p>
            <a:pPr>
              <a:defRPr/>
            </a:pPr>
            <a:fld id="{787C64A1-E4A0-4705-809C-6DF1BECCE401}" type="datetime12">
              <a:rPr lang="he-IL" smtClean="0"/>
              <a:pPr>
                <a:defRPr/>
              </a:pPr>
              <a:t>28/01/2024 18:13</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מציין מיקום של מספר שקופית 5"/>
          <p:cNvSpPr>
            <a:spLocks noGrp="1"/>
          </p:cNvSpPr>
          <p:nvPr>
            <p:ph type="sldNum" sz="quarter" idx="12"/>
          </p:nvPr>
        </p:nvSpPr>
        <p:spPr>
          <a:noFill/>
        </p:spPr>
        <p:txBody>
          <a:bodyPr/>
          <a:lstStyle/>
          <a:p>
            <a:fld id="{9443618E-5E97-4AA1-B315-C38544081FC4}" type="slidenum">
              <a:rPr lang="he-IL" smtClean="0"/>
              <a:pPr/>
              <a:t>48</a:t>
            </a:fld>
            <a:endParaRPr lang="en-US"/>
          </a:p>
        </p:txBody>
      </p:sp>
      <p:sp>
        <p:nvSpPr>
          <p:cNvPr id="40963" name="Rectangle 2"/>
          <p:cNvSpPr>
            <a:spLocks noGrp="1" noChangeArrowheads="1"/>
          </p:cNvSpPr>
          <p:nvPr>
            <p:ph type="title"/>
          </p:nvPr>
        </p:nvSpPr>
        <p:spPr>
          <a:xfrm>
            <a:off x="1524000" y="2"/>
            <a:ext cx="9144000" cy="1143459"/>
          </a:xfrm>
        </p:spPr>
        <p:txBody>
          <a:bodyPr/>
          <a:lstStyle/>
          <a:p>
            <a:pPr eaLnBrk="1" hangingPunct="1"/>
            <a:r>
              <a:rPr lang="en-US" sz="2100" dirty="0"/>
              <a:t>The </a:t>
            </a:r>
            <a:r>
              <a:rPr lang="en-US" sz="2100" dirty="0" err="1"/>
              <a:t>WSClock</a:t>
            </a:r>
            <a:r>
              <a:rPr lang="en-US" sz="2100" dirty="0"/>
              <a:t> Page Replacement Algorithm</a:t>
            </a:r>
          </a:p>
        </p:txBody>
      </p:sp>
      <p:sp>
        <p:nvSpPr>
          <p:cNvPr id="40964" name="Rectangle 3"/>
          <p:cNvSpPr>
            <a:spLocks noGrp="1" noChangeArrowheads="1"/>
          </p:cNvSpPr>
          <p:nvPr>
            <p:ph type="body" idx="1"/>
          </p:nvPr>
        </p:nvSpPr>
        <p:spPr>
          <a:xfrm>
            <a:off x="3099407" y="6172211"/>
            <a:ext cx="6450795" cy="533247"/>
          </a:xfrm>
        </p:spPr>
        <p:txBody>
          <a:bodyPr/>
          <a:lstStyle/>
          <a:p>
            <a:pPr algn="ctr" eaLnBrk="1" hangingPunct="1">
              <a:buFontTx/>
              <a:buNone/>
            </a:pPr>
            <a:r>
              <a:rPr lang="en-US"/>
              <a:t>Operation of the WSClock algorithm</a:t>
            </a:r>
          </a:p>
        </p:txBody>
      </p:sp>
      <p:pic>
        <p:nvPicPr>
          <p:cNvPr id="40965" name="Picture 4"/>
          <p:cNvPicPr>
            <a:picLocks noChangeAspect="1" noChangeArrowheads="1"/>
          </p:cNvPicPr>
          <p:nvPr/>
        </p:nvPicPr>
        <p:blipFill>
          <a:blip r:embed="rId3" cstate="print"/>
          <a:srcRect l="19443" t="27631" r="17609" b="20993"/>
          <a:stretch>
            <a:fillRect/>
          </a:stretch>
        </p:blipFill>
        <p:spPr bwMode="auto">
          <a:xfrm>
            <a:off x="2399897" y="1072000"/>
            <a:ext cx="7237992" cy="4949031"/>
          </a:xfrm>
          <a:prstGeom prst="rect">
            <a:avLst/>
          </a:prstGeom>
          <a:noFill/>
          <a:ln w="9525">
            <a:noFill/>
            <a:miter lim="800000"/>
            <a:headEnd/>
            <a:tailEnd/>
          </a:ln>
        </p:spPr>
      </p:pic>
      <p:sp>
        <p:nvSpPr>
          <p:cNvPr id="40966" name="TextBox 6"/>
          <p:cNvSpPr txBox="1">
            <a:spLocks noChangeArrowheads="1"/>
          </p:cNvSpPr>
          <p:nvPr/>
        </p:nvSpPr>
        <p:spPr bwMode="auto">
          <a:xfrm>
            <a:off x="8689623" y="5208712"/>
            <a:ext cx="243921" cy="244999"/>
          </a:xfrm>
          <a:prstGeom prst="rect">
            <a:avLst/>
          </a:prstGeom>
          <a:noFill/>
          <a:ln w="9525">
            <a:noFill/>
            <a:miter lim="800000"/>
            <a:headEnd/>
            <a:tailEnd/>
          </a:ln>
        </p:spPr>
        <p:txBody>
          <a:bodyPr lIns="59751" tIns="29875" rIns="59751" bIns="29875">
            <a:spAutoFit/>
          </a:bodyPr>
          <a:lstStyle/>
          <a:p>
            <a:r>
              <a:rPr lang="en-US" sz="1200" dirty="0"/>
              <a:t>1</a:t>
            </a:r>
            <a:endParaRPr lang="he-IL" sz="1200" dirty="0"/>
          </a:p>
        </p:txBody>
      </p:sp>
      <p:sp>
        <p:nvSpPr>
          <p:cNvPr id="40967" name="TextBox 7"/>
          <p:cNvSpPr txBox="1">
            <a:spLocks noChangeArrowheads="1"/>
          </p:cNvSpPr>
          <p:nvPr/>
        </p:nvSpPr>
        <p:spPr bwMode="auto">
          <a:xfrm>
            <a:off x="7900216" y="5421812"/>
            <a:ext cx="243921" cy="337332"/>
          </a:xfrm>
          <a:prstGeom prst="rect">
            <a:avLst/>
          </a:prstGeom>
          <a:noFill/>
          <a:ln w="9525">
            <a:noFill/>
            <a:miter lim="800000"/>
            <a:headEnd/>
            <a:tailEnd/>
          </a:ln>
        </p:spPr>
        <p:txBody>
          <a:bodyPr lIns="59751" tIns="29875" rIns="59751" bIns="29875">
            <a:spAutoFit/>
          </a:bodyPr>
          <a:lstStyle/>
          <a:p>
            <a:r>
              <a:rPr lang="en-US"/>
              <a:t>4</a:t>
            </a:r>
            <a:endParaRPr lang="he-IL"/>
          </a:p>
        </p:txBody>
      </p:sp>
      <p:sp>
        <p:nvSpPr>
          <p:cNvPr id="8" name="מציין מיקום של תאריך 7"/>
          <p:cNvSpPr>
            <a:spLocks noGrp="1"/>
          </p:cNvSpPr>
          <p:nvPr>
            <p:ph type="dt" sz="half" idx="10"/>
          </p:nvPr>
        </p:nvSpPr>
        <p:spPr/>
        <p:txBody>
          <a:bodyPr/>
          <a:lstStyle/>
          <a:p>
            <a:pPr>
              <a:defRPr/>
            </a:pPr>
            <a:fld id="{8A72DCFB-3304-46FE-A412-B01A9241F4D5}" type="datetime12">
              <a:rPr lang="he-IL" smtClean="0"/>
              <a:pPr>
                <a:defRPr/>
              </a:pPr>
              <a:t>28/01/2024 18:13</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מציין מיקום של מספר שקופית 5"/>
          <p:cNvSpPr>
            <a:spLocks noGrp="1"/>
          </p:cNvSpPr>
          <p:nvPr>
            <p:ph type="sldNum" sz="quarter" idx="12"/>
          </p:nvPr>
        </p:nvSpPr>
        <p:spPr>
          <a:noFill/>
        </p:spPr>
        <p:txBody>
          <a:bodyPr/>
          <a:lstStyle/>
          <a:p>
            <a:fld id="{EC2237C1-2581-4490-866A-34743014623D}" type="slidenum">
              <a:rPr lang="he-IL" smtClean="0"/>
              <a:pPr/>
              <a:t>49</a:t>
            </a:fld>
            <a:endParaRPr lang="en-US"/>
          </a:p>
        </p:txBody>
      </p:sp>
      <p:sp>
        <p:nvSpPr>
          <p:cNvPr id="41987" name="Rectangle 2"/>
          <p:cNvSpPr>
            <a:spLocks noGrp="1" noChangeArrowheads="1"/>
          </p:cNvSpPr>
          <p:nvPr>
            <p:ph type="title"/>
          </p:nvPr>
        </p:nvSpPr>
        <p:spPr>
          <a:xfrm>
            <a:off x="1524000" y="2"/>
            <a:ext cx="9144000" cy="1143459"/>
          </a:xfrm>
        </p:spPr>
        <p:txBody>
          <a:bodyPr/>
          <a:lstStyle/>
          <a:p>
            <a:pPr eaLnBrk="1" hangingPunct="1"/>
            <a:r>
              <a:rPr lang="en-US" sz="2600" dirty="0"/>
              <a:t>Review of Page Replacement Algorithms</a:t>
            </a:r>
          </a:p>
        </p:txBody>
      </p:sp>
      <p:pic>
        <p:nvPicPr>
          <p:cNvPr id="41988" name="Picture 6"/>
          <p:cNvPicPr>
            <a:picLocks noChangeAspect="1" noChangeArrowheads="1"/>
          </p:cNvPicPr>
          <p:nvPr/>
        </p:nvPicPr>
        <p:blipFill>
          <a:blip r:embed="rId3" cstate="print"/>
          <a:srcRect/>
          <a:stretch>
            <a:fillRect/>
          </a:stretch>
        </p:blipFill>
        <p:spPr bwMode="auto">
          <a:xfrm>
            <a:off x="1924154" y="1907605"/>
            <a:ext cx="8302373" cy="3503215"/>
          </a:xfrm>
          <a:prstGeom prst="rect">
            <a:avLst/>
          </a:prstGeom>
          <a:noFill/>
          <a:ln w="9525">
            <a:noFill/>
            <a:miter lim="800000"/>
            <a:headEnd/>
            <a:tailEnd/>
          </a:ln>
        </p:spPr>
      </p:pic>
      <p:sp>
        <p:nvSpPr>
          <p:cNvPr id="41989" name="TextBox 4"/>
          <p:cNvSpPr txBox="1">
            <a:spLocks noChangeArrowheads="1"/>
          </p:cNvSpPr>
          <p:nvPr/>
        </p:nvSpPr>
        <p:spPr bwMode="auto">
          <a:xfrm>
            <a:off x="4687921" y="5586734"/>
            <a:ext cx="2824239" cy="337332"/>
          </a:xfrm>
          <a:prstGeom prst="rect">
            <a:avLst/>
          </a:prstGeom>
          <a:noFill/>
          <a:ln w="9525">
            <a:noFill/>
            <a:miter lim="800000"/>
            <a:headEnd/>
            <a:tailEnd/>
          </a:ln>
        </p:spPr>
        <p:txBody>
          <a:bodyPr lIns="59751" tIns="29875" rIns="59751" bIns="29875">
            <a:spAutoFit/>
          </a:bodyPr>
          <a:lstStyle/>
          <a:p>
            <a:r>
              <a:rPr lang="he-IL" dirty="0">
                <a:hlinkClick r:id="rId4" action="ppaction://hlinksldjump"/>
              </a:rPr>
              <a:t>לעבור לשקף </a:t>
            </a:r>
            <a:endParaRPr lang="he-IL" dirty="0"/>
          </a:p>
        </p:txBody>
      </p:sp>
      <p:sp>
        <p:nvSpPr>
          <p:cNvPr id="37894" name="סוגר מסולסל שמאלי 5"/>
          <p:cNvSpPr>
            <a:spLocks/>
          </p:cNvSpPr>
          <p:nvPr/>
        </p:nvSpPr>
        <p:spPr bwMode="auto">
          <a:xfrm>
            <a:off x="1699391" y="3002962"/>
            <a:ext cx="147159" cy="791625"/>
          </a:xfrm>
          <a:prstGeom prst="leftBrace">
            <a:avLst>
              <a:gd name="adj1" fmla="val 8347"/>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37895" name="סוגר מסולסל שמאלי 6"/>
          <p:cNvSpPr>
            <a:spLocks/>
          </p:cNvSpPr>
          <p:nvPr/>
        </p:nvSpPr>
        <p:spPr bwMode="auto">
          <a:xfrm>
            <a:off x="1726604" y="4033723"/>
            <a:ext cx="157239" cy="640447"/>
          </a:xfrm>
          <a:prstGeom prst="leftBrace">
            <a:avLst>
              <a:gd name="adj1" fmla="val 8298"/>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37896" name="סוגר מסולסל שמאלי 7"/>
          <p:cNvSpPr>
            <a:spLocks/>
          </p:cNvSpPr>
          <p:nvPr/>
        </p:nvSpPr>
        <p:spPr bwMode="auto">
          <a:xfrm>
            <a:off x="1524010" y="4925676"/>
            <a:ext cx="368905" cy="339465"/>
          </a:xfrm>
          <a:prstGeom prst="leftBrace">
            <a:avLst>
              <a:gd name="adj1" fmla="val 8333"/>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9" name="מציין מיקום של תאריך 8"/>
          <p:cNvSpPr>
            <a:spLocks noGrp="1"/>
          </p:cNvSpPr>
          <p:nvPr>
            <p:ph type="dt" sz="half" idx="10"/>
          </p:nvPr>
        </p:nvSpPr>
        <p:spPr/>
        <p:txBody>
          <a:bodyPr/>
          <a:lstStyle/>
          <a:p>
            <a:pPr>
              <a:defRPr/>
            </a:pPr>
            <a:fld id="{D173F9D5-FC83-4CB0-BDD1-091CA2F629E4}"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Effect transition="in" filter="fade">
                                      <p:cBhvr>
                                        <p:cTn id="7" dur="1000"/>
                                        <p:tgtEl>
                                          <p:spTgt spid="37894"/>
                                        </p:tgtEl>
                                      </p:cBhvr>
                                    </p:animEffect>
                                    <p:anim calcmode="lin" valueType="num">
                                      <p:cBhvr>
                                        <p:cTn id="8" dur="1000" fill="hold"/>
                                        <p:tgtEl>
                                          <p:spTgt spid="37894"/>
                                        </p:tgtEl>
                                        <p:attrNameLst>
                                          <p:attrName>ppt_x</p:attrName>
                                        </p:attrNameLst>
                                      </p:cBhvr>
                                      <p:tavLst>
                                        <p:tav tm="0">
                                          <p:val>
                                            <p:strVal val="#ppt_x"/>
                                          </p:val>
                                        </p:tav>
                                        <p:tav tm="100000">
                                          <p:val>
                                            <p:strVal val="#ppt_x"/>
                                          </p:val>
                                        </p:tav>
                                      </p:tavLst>
                                    </p:anim>
                                    <p:anim calcmode="lin" valueType="num">
                                      <p:cBhvr>
                                        <p:cTn id="9" dur="1000" fill="hold"/>
                                        <p:tgtEl>
                                          <p:spTgt spid="3789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895"/>
                                        </p:tgtEl>
                                        <p:attrNameLst>
                                          <p:attrName>style.visibility</p:attrName>
                                        </p:attrNameLst>
                                      </p:cBhvr>
                                      <p:to>
                                        <p:strVal val="visible"/>
                                      </p:to>
                                    </p:set>
                                    <p:animEffect transition="in" filter="fade">
                                      <p:cBhvr>
                                        <p:cTn id="12" dur="1000"/>
                                        <p:tgtEl>
                                          <p:spTgt spid="37895"/>
                                        </p:tgtEl>
                                      </p:cBhvr>
                                    </p:animEffect>
                                    <p:anim calcmode="lin" valueType="num">
                                      <p:cBhvr>
                                        <p:cTn id="13" dur="1000" fill="hold"/>
                                        <p:tgtEl>
                                          <p:spTgt spid="37895"/>
                                        </p:tgtEl>
                                        <p:attrNameLst>
                                          <p:attrName>ppt_x</p:attrName>
                                        </p:attrNameLst>
                                      </p:cBhvr>
                                      <p:tavLst>
                                        <p:tav tm="0">
                                          <p:val>
                                            <p:strVal val="#ppt_x"/>
                                          </p:val>
                                        </p:tav>
                                        <p:tav tm="100000">
                                          <p:val>
                                            <p:strVal val="#ppt_x"/>
                                          </p:val>
                                        </p:tav>
                                      </p:tavLst>
                                    </p:anim>
                                    <p:anim calcmode="lin" valueType="num">
                                      <p:cBhvr>
                                        <p:cTn id="14" dur="1000" fill="hold"/>
                                        <p:tgtEl>
                                          <p:spTgt spid="3789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896"/>
                                        </p:tgtEl>
                                        <p:attrNameLst>
                                          <p:attrName>style.visibility</p:attrName>
                                        </p:attrNameLst>
                                      </p:cBhvr>
                                      <p:to>
                                        <p:strVal val="visible"/>
                                      </p:to>
                                    </p:set>
                                    <p:animEffect transition="in" filter="fade">
                                      <p:cBhvr>
                                        <p:cTn id="17" dur="1000"/>
                                        <p:tgtEl>
                                          <p:spTgt spid="37896"/>
                                        </p:tgtEl>
                                      </p:cBhvr>
                                    </p:animEffect>
                                    <p:anim calcmode="lin" valueType="num">
                                      <p:cBhvr>
                                        <p:cTn id="18" dur="1000" fill="hold"/>
                                        <p:tgtEl>
                                          <p:spTgt spid="37896"/>
                                        </p:tgtEl>
                                        <p:attrNameLst>
                                          <p:attrName>ppt_x</p:attrName>
                                        </p:attrNameLst>
                                      </p:cBhvr>
                                      <p:tavLst>
                                        <p:tav tm="0">
                                          <p:val>
                                            <p:strVal val="#ppt_x"/>
                                          </p:val>
                                        </p:tav>
                                        <p:tav tm="100000">
                                          <p:val>
                                            <p:strVal val="#ppt_x"/>
                                          </p:val>
                                        </p:tav>
                                      </p:tavLst>
                                    </p:anim>
                                    <p:anim calcmode="lin" valueType="num">
                                      <p:cBhvr>
                                        <p:cTn id="19" dur="1000" fill="hold"/>
                                        <p:tgtEl>
                                          <p:spTgt spid="378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animBg="1"/>
      <p:bldP spid="37895" grpId="0" animBg="1"/>
      <p:bldP spid="3789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מציין מיקום של מספר שקופית 5"/>
          <p:cNvSpPr>
            <a:spLocks noGrp="1"/>
          </p:cNvSpPr>
          <p:nvPr>
            <p:ph type="sldNum" sz="quarter" idx="12"/>
          </p:nvPr>
        </p:nvSpPr>
        <p:spPr>
          <a:noFill/>
        </p:spPr>
        <p:txBody>
          <a:bodyPr/>
          <a:lstStyle/>
          <a:p>
            <a:fld id="{4274022C-169B-425A-8562-6A69F53BBE57}" type="slidenum">
              <a:rPr lang="he-IL" smtClean="0"/>
              <a:pPr/>
              <a:t>50</a:t>
            </a:fld>
            <a:endParaRPr lang="en-US"/>
          </a:p>
        </p:txBody>
      </p:sp>
      <p:sp>
        <p:nvSpPr>
          <p:cNvPr id="47107" name="Rectangle 2"/>
          <p:cNvSpPr>
            <a:spLocks noGrp="1" noChangeArrowheads="1"/>
          </p:cNvSpPr>
          <p:nvPr>
            <p:ph type="title"/>
          </p:nvPr>
        </p:nvSpPr>
        <p:spPr>
          <a:xfrm>
            <a:off x="1524000" y="2"/>
            <a:ext cx="9144000" cy="1143459"/>
          </a:xfrm>
        </p:spPr>
        <p:txBody>
          <a:bodyPr/>
          <a:lstStyle/>
          <a:p>
            <a:pPr eaLnBrk="1" hangingPunct="1"/>
            <a:r>
              <a:rPr lang="en-US" sz="2600" dirty="0"/>
              <a:t>Design Issues for Paging Systems</a:t>
            </a:r>
            <a:br>
              <a:rPr lang="en-US" sz="2600" dirty="0"/>
            </a:br>
            <a:r>
              <a:rPr lang="en-US" sz="2100" dirty="0"/>
              <a:t>Local versus Global Allocation Policies (1)</a:t>
            </a:r>
            <a:endParaRPr lang="en-US" sz="2600" dirty="0"/>
          </a:p>
        </p:txBody>
      </p:sp>
      <p:sp>
        <p:nvSpPr>
          <p:cNvPr id="47108" name="Rectangle 3"/>
          <p:cNvSpPr>
            <a:spLocks noGrp="1" noChangeArrowheads="1"/>
          </p:cNvSpPr>
          <p:nvPr>
            <p:ph type="body" idx="1"/>
          </p:nvPr>
        </p:nvSpPr>
        <p:spPr>
          <a:xfrm>
            <a:off x="3717280" y="5320115"/>
            <a:ext cx="5469063" cy="1344113"/>
          </a:xfrm>
        </p:spPr>
        <p:txBody>
          <a:bodyPr/>
          <a:lstStyle/>
          <a:p>
            <a:pPr eaLnBrk="1" hangingPunct="1">
              <a:lnSpc>
                <a:spcPct val="70000"/>
              </a:lnSpc>
            </a:pPr>
            <a:r>
              <a:rPr lang="en-US" dirty="0"/>
              <a:t>Original configuration</a:t>
            </a:r>
          </a:p>
          <a:p>
            <a:pPr eaLnBrk="1" hangingPunct="1">
              <a:lnSpc>
                <a:spcPct val="70000"/>
              </a:lnSpc>
            </a:pPr>
            <a:r>
              <a:rPr lang="en-US" dirty="0"/>
              <a:t>Local page replacement</a:t>
            </a:r>
          </a:p>
          <a:p>
            <a:pPr eaLnBrk="1" hangingPunct="1">
              <a:lnSpc>
                <a:spcPct val="70000"/>
              </a:lnSpc>
            </a:pPr>
            <a:r>
              <a:rPr lang="en-US" dirty="0"/>
              <a:t>Global page replacement</a:t>
            </a:r>
            <a:endParaRPr lang="en-US" sz="1600" dirty="0"/>
          </a:p>
        </p:txBody>
      </p:sp>
      <p:pic>
        <p:nvPicPr>
          <p:cNvPr id="47109" name="Picture 5" descr="C:\B\b4\JPG\foo\4-28.jpg"/>
          <p:cNvPicPr>
            <a:picLocks noChangeAspect="1" noChangeArrowheads="1"/>
          </p:cNvPicPr>
          <p:nvPr/>
        </p:nvPicPr>
        <p:blipFill>
          <a:blip r:embed="rId3" cstate="print"/>
          <a:srcRect/>
          <a:stretch>
            <a:fillRect/>
          </a:stretch>
        </p:blipFill>
        <p:spPr bwMode="auto">
          <a:xfrm>
            <a:off x="2988536" y="1278151"/>
            <a:ext cx="6018389" cy="3971868"/>
          </a:xfrm>
          <a:prstGeom prst="rect">
            <a:avLst/>
          </a:prstGeom>
          <a:noFill/>
          <a:ln w="9525">
            <a:noFill/>
            <a:miter lim="800000"/>
            <a:headEnd/>
            <a:tailEnd/>
          </a:ln>
        </p:spPr>
      </p:pic>
      <p:sp>
        <p:nvSpPr>
          <p:cNvPr id="47110" name="סוגר מסולסל שמאלי 5"/>
          <p:cNvSpPr>
            <a:spLocks/>
          </p:cNvSpPr>
          <p:nvPr/>
        </p:nvSpPr>
        <p:spPr bwMode="auto">
          <a:xfrm>
            <a:off x="2518833" y="1507672"/>
            <a:ext cx="387048" cy="1331743"/>
          </a:xfrm>
          <a:prstGeom prst="leftBrace">
            <a:avLst>
              <a:gd name="adj1" fmla="val 8330"/>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47111" name="סוגר מסולסל שמאלי 6"/>
          <p:cNvSpPr>
            <a:spLocks/>
          </p:cNvSpPr>
          <p:nvPr/>
        </p:nvSpPr>
        <p:spPr bwMode="auto">
          <a:xfrm>
            <a:off x="2473486" y="3066181"/>
            <a:ext cx="367897" cy="1192935"/>
          </a:xfrm>
          <a:prstGeom prst="leftBrace">
            <a:avLst>
              <a:gd name="adj1" fmla="val 8345"/>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8" name="מציין מיקום של תאריך 7"/>
          <p:cNvSpPr>
            <a:spLocks noGrp="1"/>
          </p:cNvSpPr>
          <p:nvPr>
            <p:ph type="dt" sz="half" idx="10"/>
          </p:nvPr>
        </p:nvSpPr>
        <p:spPr/>
        <p:txBody>
          <a:bodyPr/>
          <a:lstStyle/>
          <a:p>
            <a:pPr>
              <a:defRPr/>
            </a:pPr>
            <a:fld id="{86A189F1-8E7E-47F4-B892-C5FA13853D0B}" type="datetime12">
              <a:rPr lang="he-IL" smtClean="0"/>
              <a:pPr>
                <a:defRPr/>
              </a:pPr>
              <a:t>28/01/2024 18:13</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מציין מיקום של מספר שקופית 5"/>
          <p:cNvSpPr>
            <a:spLocks noGrp="1"/>
          </p:cNvSpPr>
          <p:nvPr>
            <p:ph type="sldNum" sz="quarter" idx="12"/>
          </p:nvPr>
        </p:nvSpPr>
        <p:spPr>
          <a:noFill/>
        </p:spPr>
        <p:txBody>
          <a:bodyPr/>
          <a:lstStyle/>
          <a:p>
            <a:fld id="{64EAAC88-78FF-49B7-807C-55AA4E5C6973}" type="slidenum">
              <a:rPr lang="he-IL" smtClean="0"/>
              <a:pPr/>
              <a:t>51</a:t>
            </a:fld>
            <a:endParaRPr lang="en-US"/>
          </a:p>
        </p:txBody>
      </p:sp>
      <p:sp>
        <p:nvSpPr>
          <p:cNvPr id="48131" name="Rectangle 2"/>
          <p:cNvSpPr>
            <a:spLocks noGrp="1" noChangeArrowheads="1"/>
          </p:cNvSpPr>
          <p:nvPr>
            <p:ph type="title"/>
          </p:nvPr>
        </p:nvSpPr>
        <p:spPr>
          <a:xfrm>
            <a:off x="1524000" y="2"/>
            <a:ext cx="9144000" cy="1143459"/>
          </a:xfrm>
        </p:spPr>
        <p:txBody>
          <a:bodyPr/>
          <a:lstStyle/>
          <a:p>
            <a:pPr eaLnBrk="1" hangingPunct="1"/>
            <a:r>
              <a:rPr lang="en-US" sz="2400" dirty="0"/>
              <a:t>Local versus Global Allocation Policies (2)</a:t>
            </a:r>
          </a:p>
        </p:txBody>
      </p:sp>
      <p:sp>
        <p:nvSpPr>
          <p:cNvPr id="48132" name="Rectangle 3"/>
          <p:cNvSpPr>
            <a:spLocks noGrp="1" noChangeArrowheads="1"/>
          </p:cNvSpPr>
          <p:nvPr>
            <p:ph type="body" idx="1"/>
          </p:nvPr>
        </p:nvSpPr>
        <p:spPr>
          <a:xfrm>
            <a:off x="2296089" y="5601853"/>
            <a:ext cx="7772199" cy="827359"/>
          </a:xfrm>
        </p:spPr>
        <p:txBody>
          <a:bodyPr/>
          <a:lstStyle/>
          <a:p>
            <a:pPr algn="ctr" eaLnBrk="1" hangingPunct="1">
              <a:lnSpc>
                <a:spcPct val="90000"/>
              </a:lnSpc>
              <a:buFontTx/>
              <a:buNone/>
            </a:pPr>
            <a:r>
              <a:rPr lang="en-US"/>
              <a:t>Page fault rate as a function of the number of page frames assigned</a:t>
            </a:r>
          </a:p>
        </p:txBody>
      </p:sp>
      <p:pic>
        <p:nvPicPr>
          <p:cNvPr id="48133" name="Picture 5" descr="C:\B\b4\JPG\foo\4-29.jpg"/>
          <p:cNvPicPr>
            <a:picLocks noChangeAspect="1" noChangeArrowheads="1"/>
          </p:cNvPicPr>
          <p:nvPr/>
        </p:nvPicPr>
        <p:blipFill>
          <a:blip r:embed="rId3" cstate="print"/>
          <a:srcRect/>
          <a:stretch>
            <a:fillRect/>
          </a:stretch>
        </p:blipFill>
        <p:spPr bwMode="auto">
          <a:xfrm>
            <a:off x="2545049" y="1383971"/>
            <a:ext cx="7381119" cy="3721736"/>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CD9261D0-4D01-4D48-8279-1074F642D363}" type="datetime12">
              <a:rPr lang="he-IL" smtClean="0"/>
              <a:pPr>
                <a:defRPr/>
              </a:pPr>
              <a:t>28/01/2024 18:13</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מציין מיקום של מספר שקופית 5"/>
          <p:cNvSpPr>
            <a:spLocks noGrp="1"/>
          </p:cNvSpPr>
          <p:nvPr>
            <p:ph type="sldNum" sz="quarter" idx="12"/>
          </p:nvPr>
        </p:nvSpPr>
        <p:spPr>
          <a:noFill/>
        </p:spPr>
        <p:txBody>
          <a:bodyPr/>
          <a:lstStyle/>
          <a:p>
            <a:fld id="{5F349793-C18C-48E7-BD05-07435E3CAEA5}" type="slidenum">
              <a:rPr lang="he-IL" smtClean="0"/>
              <a:pPr/>
              <a:t>52</a:t>
            </a:fld>
            <a:endParaRPr lang="en-US"/>
          </a:p>
        </p:txBody>
      </p:sp>
      <p:sp>
        <p:nvSpPr>
          <p:cNvPr id="49155" name="Rectangle 2"/>
          <p:cNvSpPr>
            <a:spLocks noGrp="1" noChangeArrowheads="1"/>
          </p:cNvSpPr>
          <p:nvPr>
            <p:ph type="title"/>
          </p:nvPr>
        </p:nvSpPr>
        <p:spPr/>
        <p:txBody>
          <a:bodyPr/>
          <a:lstStyle/>
          <a:p>
            <a:pPr eaLnBrk="1" hangingPunct="1"/>
            <a:r>
              <a:rPr lang="en-US"/>
              <a:t>Load Control</a:t>
            </a:r>
          </a:p>
        </p:txBody>
      </p:sp>
      <p:sp>
        <p:nvSpPr>
          <p:cNvPr id="49156" name="Rectangle 3"/>
          <p:cNvSpPr>
            <a:spLocks noGrp="1" noChangeArrowheads="1"/>
          </p:cNvSpPr>
          <p:nvPr>
            <p:ph type="body" idx="1"/>
          </p:nvPr>
        </p:nvSpPr>
        <p:spPr>
          <a:xfrm>
            <a:off x="1524000" y="1345496"/>
            <a:ext cx="9144000" cy="4116175"/>
          </a:xfrm>
        </p:spPr>
        <p:txBody>
          <a:bodyPr/>
          <a:lstStyle/>
          <a:p>
            <a:pPr eaLnBrk="1" hangingPunct="1">
              <a:lnSpc>
                <a:spcPct val="90000"/>
              </a:lnSpc>
            </a:pPr>
            <a:r>
              <a:rPr lang="en-US"/>
              <a:t>Despite good designs, system may still thrash</a:t>
            </a:r>
          </a:p>
          <a:p>
            <a:pPr eaLnBrk="1" hangingPunct="1">
              <a:lnSpc>
                <a:spcPct val="90000"/>
              </a:lnSpc>
            </a:pPr>
            <a:endParaRPr lang="en-US"/>
          </a:p>
          <a:p>
            <a:pPr eaLnBrk="1" hangingPunct="1">
              <a:lnSpc>
                <a:spcPct val="90000"/>
              </a:lnSpc>
            </a:pPr>
            <a:r>
              <a:rPr lang="en-US"/>
              <a:t>When PFF algorithm indicates </a:t>
            </a:r>
          </a:p>
          <a:p>
            <a:pPr lvl="1" eaLnBrk="1" hangingPunct="1">
              <a:lnSpc>
                <a:spcPct val="90000"/>
              </a:lnSpc>
            </a:pPr>
            <a:r>
              <a:rPr lang="en-US"/>
              <a:t>some processes need more memory </a:t>
            </a:r>
          </a:p>
          <a:p>
            <a:pPr lvl="1" eaLnBrk="1" hangingPunct="1">
              <a:lnSpc>
                <a:spcPct val="90000"/>
              </a:lnSpc>
            </a:pPr>
            <a:r>
              <a:rPr lang="en-US"/>
              <a:t>but </a:t>
            </a:r>
            <a:r>
              <a:rPr lang="en-US" u="sng"/>
              <a:t>no</a:t>
            </a:r>
            <a:r>
              <a:rPr lang="en-US"/>
              <a:t> processes need less</a:t>
            </a:r>
          </a:p>
          <a:p>
            <a:pPr lvl="1" eaLnBrk="1" hangingPunct="1">
              <a:lnSpc>
                <a:spcPct val="90000"/>
              </a:lnSpc>
            </a:pPr>
            <a:endParaRPr lang="en-US"/>
          </a:p>
          <a:p>
            <a:pPr eaLnBrk="1" hangingPunct="1">
              <a:lnSpc>
                <a:spcPct val="90000"/>
              </a:lnSpc>
            </a:pPr>
            <a:r>
              <a:rPr lang="en-US"/>
              <a:t>Solution :</a:t>
            </a:r>
            <a:br>
              <a:rPr lang="en-US"/>
            </a:br>
            <a:r>
              <a:rPr lang="en-US">
                <a:solidFill>
                  <a:srgbClr val="FF9900"/>
                </a:solidFill>
              </a:rPr>
              <a:t>Reduce number of processes competing for memory</a:t>
            </a:r>
          </a:p>
          <a:p>
            <a:pPr lvl="1" eaLnBrk="1" hangingPunct="1">
              <a:lnSpc>
                <a:spcPct val="90000"/>
              </a:lnSpc>
            </a:pPr>
            <a:r>
              <a:rPr lang="en-US"/>
              <a:t>swap one or more to disk, divide up pages they held</a:t>
            </a:r>
          </a:p>
          <a:p>
            <a:pPr lvl="1" eaLnBrk="1" hangingPunct="1">
              <a:lnSpc>
                <a:spcPct val="90000"/>
              </a:lnSpc>
            </a:pPr>
            <a:r>
              <a:rPr lang="en-US"/>
              <a:t>reconsider degree of multiprogramming</a:t>
            </a:r>
          </a:p>
        </p:txBody>
      </p:sp>
      <p:sp>
        <p:nvSpPr>
          <p:cNvPr id="5" name="מציין מיקום של תאריך 4"/>
          <p:cNvSpPr>
            <a:spLocks noGrp="1"/>
          </p:cNvSpPr>
          <p:nvPr>
            <p:ph type="dt" sz="half" idx="10"/>
          </p:nvPr>
        </p:nvSpPr>
        <p:spPr/>
        <p:txBody>
          <a:bodyPr/>
          <a:lstStyle/>
          <a:p>
            <a:pPr>
              <a:defRPr/>
            </a:pPr>
            <a:fld id="{A627B669-D2D3-4BF8-8CD6-5B48460358DB}" type="datetime12">
              <a:rPr lang="he-IL" smtClean="0"/>
              <a:pPr>
                <a:defRPr/>
              </a:pPr>
              <a:t>28/01/2024 18:13</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מציין מיקום של מספר שקופית 5"/>
          <p:cNvSpPr>
            <a:spLocks noGrp="1"/>
          </p:cNvSpPr>
          <p:nvPr>
            <p:ph type="sldNum" sz="quarter" idx="12"/>
          </p:nvPr>
        </p:nvSpPr>
        <p:spPr>
          <a:noFill/>
        </p:spPr>
        <p:txBody>
          <a:bodyPr/>
          <a:lstStyle/>
          <a:p>
            <a:fld id="{CEBBFCA5-B094-4326-85F8-145878EC00B9}" type="slidenum">
              <a:rPr lang="he-IL" smtClean="0"/>
              <a:pPr/>
              <a:t>53</a:t>
            </a:fld>
            <a:endParaRPr lang="en-US"/>
          </a:p>
        </p:txBody>
      </p:sp>
      <p:sp>
        <p:nvSpPr>
          <p:cNvPr id="1029" name="Rectangle 2"/>
          <p:cNvSpPr>
            <a:spLocks noGrp="1" noChangeArrowheads="1"/>
          </p:cNvSpPr>
          <p:nvPr>
            <p:ph type="title"/>
          </p:nvPr>
        </p:nvSpPr>
        <p:spPr/>
        <p:txBody>
          <a:bodyPr/>
          <a:lstStyle/>
          <a:p>
            <a:pPr eaLnBrk="1" hangingPunct="1"/>
            <a:r>
              <a:rPr lang="en-US"/>
              <a:t>Page Size (2)</a:t>
            </a:r>
          </a:p>
        </p:txBody>
      </p:sp>
      <p:sp>
        <p:nvSpPr>
          <p:cNvPr id="1030" name="Rectangle 3"/>
          <p:cNvSpPr>
            <a:spLocks noGrp="1" noChangeArrowheads="1"/>
          </p:cNvSpPr>
          <p:nvPr>
            <p:ph type="body" idx="1"/>
          </p:nvPr>
        </p:nvSpPr>
        <p:spPr>
          <a:xfrm>
            <a:off x="2209405" y="1423011"/>
            <a:ext cx="7773207" cy="4114800"/>
          </a:xfrm>
        </p:spPr>
        <p:txBody>
          <a:bodyPr/>
          <a:lstStyle/>
          <a:p>
            <a:pPr eaLnBrk="1" hangingPunct="1"/>
            <a:r>
              <a:rPr lang="en-US" dirty="0"/>
              <a:t>Overhead due to page table and internal fragmentation</a:t>
            </a:r>
          </a:p>
          <a:p>
            <a:pPr eaLnBrk="1" hangingPunct="1"/>
            <a:endParaRPr lang="en-US" dirty="0"/>
          </a:p>
          <a:p>
            <a:pPr eaLnBrk="1" hangingPunct="1"/>
            <a:endParaRPr lang="en-US" dirty="0"/>
          </a:p>
          <a:p>
            <a:pPr eaLnBrk="1" hangingPunct="1"/>
            <a:r>
              <a:rPr lang="en-US" dirty="0"/>
              <a:t>Where</a:t>
            </a:r>
          </a:p>
          <a:p>
            <a:pPr lvl="1" eaLnBrk="1" hangingPunct="1"/>
            <a:r>
              <a:rPr lang="en-US" sz="1800" dirty="0"/>
              <a:t>s = average process size in bytes</a:t>
            </a:r>
          </a:p>
          <a:p>
            <a:pPr lvl="1" eaLnBrk="1" hangingPunct="1"/>
            <a:r>
              <a:rPr lang="en-US" sz="1800" dirty="0"/>
              <a:t>p = page size in bytes</a:t>
            </a:r>
          </a:p>
          <a:p>
            <a:pPr lvl="1" eaLnBrk="1" hangingPunct="1"/>
            <a:r>
              <a:rPr lang="en-US" sz="1800" dirty="0"/>
              <a:t>e = page entry</a:t>
            </a:r>
          </a:p>
          <a:p>
            <a:pPr eaLnBrk="1" hangingPunct="1"/>
            <a:endParaRPr lang="en-US" sz="2400" dirty="0"/>
          </a:p>
        </p:txBody>
      </p:sp>
      <p:graphicFrame>
        <p:nvGraphicFramePr>
          <p:cNvPr id="1026" name="Object 4"/>
          <p:cNvGraphicFramePr>
            <a:graphicFrameLocks noChangeAspect="1"/>
          </p:cNvGraphicFramePr>
          <p:nvPr/>
        </p:nvGraphicFramePr>
        <p:xfrm>
          <a:off x="4160763" y="3225503"/>
          <a:ext cx="3553984" cy="1173695"/>
        </p:xfrm>
        <a:graphic>
          <a:graphicData uri="http://schemas.openxmlformats.org/presentationml/2006/ole">
            <mc:AlternateContent xmlns:mc="http://schemas.openxmlformats.org/markup-compatibility/2006">
              <mc:Choice xmlns:v="urn:schemas-microsoft-com:vml" Requires="v">
                <p:oleObj name="Equation" r:id="rId3" imgW="1270000" imgH="419100" progId="">
                  <p:embed/>
                </p:oleObj>
              </mc:Choice>
              <mc:Fallback>
                <p:oleObj name="Equation" r:id="rId3" imgW="1270000" imgH="419100" progId="">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0763" y="3225503"/>
                        <a:ext cx="3553984" cy="1173695"/>
                      </a:xfrm>
                      <a:prstGeom prst="rect">
                        <a:avLst/>
                      </a:prstGeom>
                      <a:noFill/>
                      <a:extLst>
                        <a:ext uri="{909E8E84-426E-40DD-AFC4-6F175D3DCCD1}">
                          <a14:hiddenFill xmlns:a14="http://schemas.microsoft.com/office/drawing/2010/main">
                            <a:solidFill>
                              <a:srgbClr val="CC0099"/>
                            </a:solidFill>
                          </a14:hiddenFill>
                        </a:ext>
                      </a:extLst>
                    </p:spPr>
                  </p:pic>
                </p:oleObj>
              </mc:Fallback>
            </mc:AlternateContent>
          </a:graphicData>
        </a:graphic>
      </p:graphicFrame>
      <p:grpSp>
        <p:nvGrpSpPr>
          <p:cNvPr id="2" name="Group 5"/>
          <p:cNvGrpSpPr>
            <a:grpSpLocks/>
          </p:cNvGrpSpPr>
          <p:nvPr/>
        </p:nvGrpSpPr>
        <p:grpSpPr bwMode="auto">
          <a:xfrm>
            <a:off x="6096002" y="2667615"/>
            <a:ext cx="3275795" cy="1675331"/>
            <a:chOff x="2880" y="1680"/>
            <a:chExt cx="2064" cy="1056"/>
          </a:xfrm>
        </p:grpSpPr>
        <p:sp>
          <p:nvSpPr>
            <p:cNvPr id="1038" name="Oval 6"/>
            <p:cNvSpPr>
              <a:spLocks noChangeArrowheads="1"/>
            </p:cNvSpPr>
            <p:nvPr/>
          </p:nvSpPr>
          <p:spPr bwMode="auto">
            <a:xfrm>
              <a:off x="2880" y="1968"/>
              <a:ext cx="576" cy="768"/>
            </a:xfrm>
            <a:prstGeom prst="ellipse">
              <a:avLst/>
            </a:prstGeom>
            <a:noFill/>
            <a:ln w="9525">
              <a:solidFill>
                <a:schemeClr val="tx1"/>
              </a:solidFill>
              <a:miter lim="800000"/>
              <a:headEnd/>
              <a:tailEnd/>
            </a:ln>
          </p:spPr>
          <p:txBody>
            <a:bodyPr wrap="none" anchor="ctr"/>
            <a:lstStyle/>
            <a:p>
              <a:endParaRPr lang="he-IL"/>
            </a:p>
          </p:txBody>
        </p:sp>
        <p:sp>
          <p:nvSpPr>
            <p:cNvPr id="1039" name="Text Box 7"/>
            <p:cNvSpPr txBox="1">
              <a:spLocks noChangeArrowheads="1"/>
            </p:cNvSpPr>
            <p:nvPr/>
          </p:nvSpPr>
          <p:spPr bwMode="auto">
            <a:xfrm>
              <a:off x="3504" y="1680"/>
              <a:ext cx="1440" cy="233"/>
            </a:xfrm>
            <a:prstGeom prst="rect">
              <a:avLst/>
            </a:prstGeom>
            <a:solidFill>
              <a:schemeClr val="bg1"/>
            </a:solidFill>
            <a:ln w="9525">
              <a:solidFill>
                <a:srgbClr val="000000"/>
              </a:solidFill>
              <a:miter lim="800000"/>
              <a:headEnd/>
              <a:tailEnd/>
            </a:ln>
          </p:spPr>
          <p:txBody>
            <a:bodyPr>
              <a:spAutoFit/>
            </a:bodyPr>
            <a:lstStyle/>
            <a:p>
              <a:pPr algn="ctr">
                <a:spcBef>
                  <a:spcPct val="50000"/>
                </a:spcBef>
              </a:pPr>
              <a:r>
                <a:rPr lang="en-US">
                  <a:latin typeface="Tahoma" pitchFamily="34" charset="0"/>
                </a:rPr>
                <a:t>page table space</a:t>
              </a:r>
            </a:p>
          </p:txBody>
        </p:sp>
        <p:sp>
          <p:nvSpPr>
            <p:cNvPr id="1040" name="Line 8"/>
            <p:cNvSpPr>
              <a:spLocks noChangeShapeType="1"/>
            </p:cNvSpPr>
            <p:nvPr/>
          </p:nvSpPr>
          <p:spPr bwMode="auto">
            <a:xfrm flipH="1">
              <a:off x="3264" y="1824"/>
              <a:ext cx="240" cy="192"/>
            </a:xfrm>
            <a:prstGeom prst="line">
              <a:avLst/>
            </a:prstGeom>
            <a:noFill/>
            <a:ln w="9525">
              <a:solidFill>
                <a:schemeClr val="tx1"/>
              </a:solidFill>
              <a:miter lim="800000"/>
              <a:headEnd/>
              <a:tailEnd type="triangle" w="med" len="med"/>
            </a:ln>
          </p:spPr>
          <p:txBody>
            <a:bodyPr wrap="none"/>
            <a:lstStyle/>
            <a:p>
              <a:endParaRPr lang="he-IL"/>
            </a:p>
          </p:txBody>
        </p:sp>
      </p:grpSp>
      <p:grpSp>
        <p:nvGrpSpPr>
          <p:cNvPr id="3" name="Group 9"/>
          <p:cNvGrpSpPr>
            <a:grpSpLocks/>
          </p:cNvGrpSpPr>
          <p:nvPr/>
        </p:nvGrpSpPr>
        <p:grpSpPr bwMode="auto">
          <a:xfrm>
            <a:off x="7085795" y="3123899"/>
            <a:ext cx="3048000" cy="1219047"/>
            <a:chOff x="3504" y="1968"/>
            <a:chExt cx="1920" cy="768"/>
          </a:xfrm>
        </p:grpSpPr>
        <p:sp>
          <p:nvSpPr>
            <p:cNvPr id="1035" name="Oval 10"/>
            <p:cNvSpPr>
              <a:spLocks noChangeArrowheads="1"/>
            </p:cNvSpPr>
            <p:nvPr/>
          </p:nvSpPr>
          <p:spPr bwMode="auto">
            <a:xfrm>
              <a:off x="3504" y="1968"/>
              <a:ext cx="480" cy="768"/>
            </a:xfrm>
            <a:prstGeom prst="ellipse">
              <a:avLst/>
            </a:prstGeom>
            <a:noFill/>
            <a:ln w="9525">
              <a:solidFill>
                <a:schemeClr val="tx1"/>
              </a:solidFill>
              <a:miter lim="800000"/>
              <a:headEnd/>
              <a:tailEnd/>
            </a:ln>
          </p:spPr>
          <p:txBody>
            <a:bodyPr wrap="none" anchor="ctr"/>
            <a:lstStyle/>
            <a:p>
              <a:endParaRPr lang="he-IL"/>
            </a:p>
          </p:txBody>
        </p:sp>
        <p:sp>
          <p:nvSpPr>
            <p:cNvPr id="1036" name="Text Box 11"/>
            <p:cNvSpPr txBox="1">
              <a:spLocks noChangeArrowheads="1"/>
            </p:cNvSpPr>
            <p:nvPr/>
          </p:nvSpPr>
          <p:spPr bwMode="auto">
            <a:xfrm>
              <a:off x="4224" y="2160"/>
              <a:ext cx="1200" cy="407"/>
            </a:xfrm>
            <a:prstGeom prst="rect">
              <a:avLst/>
            </a:prstGeom>
            <a:solidFill>
              <a:schemeClr val="bg1"/>
            </a:solidFill>
            <a:ln w="9525">
              <a:solidFill>
                <a:srgbClr val="000000"/>
              </a:solidFill>
              <a:miter lim="800000"/>
              <a:headEnd/>
              <a:tailEnd/>
            </a:ln>
          </p:spPr>
          <p:txBody>
            <a:bodyPr>
              <a:spAutoFit/>
            </a:bodyPr>
            <a:lstStyle/>
            <a:p>
              <a:pPr algn="ctr">
                <a:spcBef>
                  <a:spcPct val="50000"/>
                </a:spcBef>
              </a:pPr>
              <a:r>
                <a:rPr lang="en-US">
                  <a:latin typeface="Tahoma" pitchFamily="34" charset="0"/>
                </a:rPr>
                <a:t>internal fragmentation</a:t>
              </a:r>
            </a:p>
          </p:txBody>
        </p:sp>
        <p:sp>
          <p:nvSpPr>
            <p:cNvPr id="1037" name="Line 12"/>
            <p:cNvSpPr>
              <a:spLocks noChangeShapeType="1"/>
            </p:cNvSpPr>
            <p:nvPr/>
          </p:nvSpPr>
          <p:spPr bwMode="auto">
            <a:xfrm flipH="1" flipV="1">
              <a:off x="3984" y="2496"/>
              <a:ext cx="192" cy="48"/>
            </a:xfrm>
            <a:prstGeom prst="line">
              <a:avLst/>
            </a:prstGeom>
            <a:noFill/>
            <a:ln w="9525">
              <a:solidFill>
                <a:schemeClr val="tx1"/>
              </a:solidFill>
              <a:miter lim="800000"/>
              <a:headEnd/>
              <a:tailEnd type="triangle" w="med" len="med"/>
            </a:ln>
          </p:spPr>
          <p:txBody>
            <a:bodyPr wrap="none"/>
            <a:lstStyle/>
            <a:p>
              <a:endParaRPr lang="he-IL"/>
            </a:p>
          </p:txBody>
        </p:sp>
      </p:grpSp>
      <p:grpSp>
        <p:nvGrpSpPr>
          <p:cNvPr id="4" name="Group 13"/>
          <p:cNvGrpSpPr>
            <a:grpSpLocks/>
          </p:cNvGrpSpPr>
          <p:nvPr/>
        </p:nvGrpSpPr>
        <p:grpSpPr bwMode="auto">
          <a:xfrm>
            <a:off x="7162405" y="4953159"/>
            <a:ext cx="3201207" cy="1052750"/>
            <a:chOff x="3024" y="3072"/>
            <a:chExt cx="2016" cy="663"/>
          </a:xfrm>
        </p:grpSpPr>
        <p:sp>
          <p:nvSpPr>
            <p:cNvPr id="1034" name="Text Box 14"/>
            <p:cNvSpPr txBox="1">
              <a:spLocks noChangeArrowheads="1"/>
            </p:cNvSpPr>
            <p:nvPr/>
          </p:nvSpPr>
          <p:spPr bwMode="auto">
            <a:xfrm>
              <a:off x="3024" y="3072"/>
              <a:ext cx="2016" cy="523"/>
            </a:xfrm>
            <a:prstGeom prst="rect">
              <a:avLst/>
            </a:prstGeom>
            <a:solidFill>
              <a:schemeClr val="bg1"/>
            </a:solidFill>
            <a:ln w="9525">
              <a:noFill/>
              <a:miter lim="800000"/>
              <a:headEnd/>
              <a:tailEnd/>
            </a:ln>
          </p:spPr>
          <p:txBody>
            <a:bodyPr>
              <a:spAutoFit/>
            </a:bodyPr>
            <a:lstStyle/>
            <a:p>
              <a:pPr algn="ctr">
                <a:spcBef>
                  <a:spcPct val="50000"/>
                </a:spcBef>
              </a:pPr>
              <a:r>
                <a:rPr lang="en-US" sz="1600" dirty="0">
                  <a:latin typeface="Tahoma" pitchFamily="34" charset="0"/>
                </a:rPr>
                <a:t>Optimized when</a:t>
              </a:r>
              <a:br>
                <a:rPr lang="en-US" sz="1600" dirty="0">
                  <a:latin typeface="Tahoma" pitchFamily="34" charset="0"/>
                </a:rPr>
              </a:br>
              <a:br>
                <a:rPr lang="en-US" sz="1600" dirty="0">
                  <a:latin typeface="Tahoma" pitchFamily="34" charset="0"/>
                </a:rPr>
              </a:br>
              <a:endParaRPr lang="en-US" sz="1600" dirty="0">
                <a:latin typeface="Tahoma" pitchFamily="34" charset="0"/>
              </a:endParaRPr>
            </a:p>
          </p:txBody>
        </p:sp>
        <p:graphicFrame>
          <p:nvGraphicFramePr>
            <p:cNvPr id="1027" name="Object 15"/>
            <p:cNvGraphicFramePr>
              <a:graphicFrameLocks noChangeAspect="1"/>
            </p:cNvGraphicFramePr>
            <p:nvPr/>
          </p:nvGraphicFramePr>
          <p:xfrm>
            <a:off x="3456" y="3360"/>
            <a:ext cx="968" cy="375"/>
          </p:xfrm>
          <a:graphic>
            <a:graphicData uri="http://schemas.openxmlformats.org/presentationml/2006/ole">
              <mc:AlternateContent xmlns:mc="http://schemas.openxmlformats.org/markup-compatibility/2006">
                <mc:Choice xmlns:v="urn:schemas-microsoft-com:vml" Requires="v">
                  <p:oleObj name="Equation" r:id="rId5" imgW="622030" imgH="241195" progId="">
                    <p:embed/>
                  </p:oleObj>
                </mc:Choice>
                <mc:Fallback>
                  <p:oleObj name="Equation" r:id="rId5" imgW="622030" imgH="241195" progId="">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6" y="3360"/>
                          <a:ext cx="968" cy="375"/>
                        </a:xfrm>
                        <a:prstGeom prst="rect">
                          <a:avLst/>
                        </a:prstGeom>
                        <a:solidFill>
                          <a:schemeClr val="bg1"/>
                        </a:solidFill>
                      </p:spPr>
                    </p:pic>
                  </p:oleObj>
                </mc:Fallback>
              </mc:AlternateContent>
            </a:graphicData>
          </a:graphic>
        </p:graphicFrame>
      </p:grpSp>
      <p:sp>
        <p:nvSpPr>
          <p:cNvPr id="17" name="מציין מיקום של תאריך 16"/>
          <p:cNvSpPr>
            <a:spLocks noGrp="1"/>
          </p:cNvSpPr>
          <p:nvPr>
            <p:ph type="dt" sz="half" idx="10"/>
          </p:nvPr>
        </p:nvSpPr>
        <p:spPr/>
        <p:txBody>
          <a:bodyPr/>
          <a:lstStyle/>
          <a:p>
            <a:pPr>
              <a:defRPr/>
            </a:pPr>
            <a:fld id="{3650E988-B823-40D2-9864-412B2547233E}"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right)">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מציין מיקום של מספר שקופית 5"/>
          <p:cNvSpPr>
            <a:spLocks noGrp="1"/>
          </p:cNvSpPr>
          <p:nvPr>
            <p:ph type="sldNum" sz="quarter" idx="12"/>
          </p:nvPr>
        </p:nvSpPr>
        <p:spPr>
          <a:noFill/>
        </p:spPr>
        <p:txBody>
          <a:bodyPr/>
          <a:lstStyle/>
          <a:p>
            <a:fld id="{58514F84-6262-4549-84B3-AB2E914F78E9}" type="slidenum">
              <a:rPr lang="he-IL" smtClean="0"/>
              <a:pPr/>
              <a:t>54</a:t>
            </a:fld>
            <a:endParaRPr lang="en-US"/>
          </a:p>
        </p:txBody>
      </p:sp>
      <p:sp>
        <p:nvSpPr>
          <p:cNvPr id="51203" name="Rectangle 2"/>
          <p:cNvSpPr>
            <a:spLocks noGrp="1" noChangeArrowheads="1"/>
          </p:cNvSpPr>
          <p:nvPr>
            <p:ph type="title"/>
          </p:nvPr>
        </p:nvSpPr>
        <p:spPr>
          <a:xfrm>
            <a:off x="1524000" y="2"/>
            <a:ext cx="9144000" cy="1143459"/>
          </a:xfrm>
        </p:spPr>
        <p:txBody>
          <a:bodyPr/>
          <a:lstStyle/>
          <a:p>
            <a:pPr eaLnBrk="1" hangingPunct="1"/>
            <a:r>
              <a:rPr lang="en-US"/>
              <a:t>Separate Instruction and Data Spaces</a:t>
            </a:r>
          </a:p>
        </p:txBody>
      </p:sp>
      <p:sp>
        <p:nvSpPr>
          <p:cNvPr id="51204" name="Rectangle 3"/>
          <p:cNvSpPr>
            <a:spLocks noGrp="1" noChangeArrowheads="1"/>
          </p:cNvSpPr>
          <p:nvPr>
            <p:ph type="body" idx="1"/>
          </p:nvPr>
        </p:nvSpPr>
        <p:spPr>
          <a:xfrm>
            <a:off x="3867453" y="5428679"/>
            <a:ext cx="4572000" cy="857595"/>
          </a:xfrm>
        </p:spPr>
        <p:txBody>
          <a:bodyPr/>
          <a:lstStyle/>
          <a:p>
            <a:pPr eaLnBrk="1" hangingPunct="1">
              <a:lnSpc>
                <a:spcPct val="90000"/>
              </a:lnSpc>
            </a:pPr>
            <a:r>
              <a:rPr lang="en-US"/>
              <a:t>One address space</a:t>
            </a:r>
          </a:p>
          <a:p>
            <a:pPr eaLnBrk="1" hangingPunct="1">
              <a:lnSpc>
                <a:spcPct val="90000"/>
              </a:lnSpc>
            </a:pPr>
            <a:r>
              <a:rPr lang="en-US"/>
              <a:t>Separate I and D spaces</a:t>
            </a:r>
          </a:p>
        </p:txBody>
      </p:sp>
      <p:pic>
        <p:nvPicPr>
          <p:cNvPr id="51205" name="Picture 7"/>
          <p:cNvPicPr>
            <a:picLocks noChangeAspect="1" noChangeArrowheads="1"/>
          </p:cNvPicPr>
          <p:nvPr/>
        </p:nvPicPr>
        <p:blipFill>
          <a:blip r:embed="rId3" cstate="print"/>
          <a:srcRect/>
          <a:stretch>
            <a:fillRect/>
          </a:stretch>
        </p:blipFill>
        <p:spPr bwMode="auto">
          <a:xfrm>
            <a:off x="1892911" y="1573634"/>
            <a:ext cx="8575524" cy="3464733"/>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616C33CF-F7D4-4BFA-B8F5-F91B6693E7A0}" type="datetime12">
              <a:rPr lang="he-IL" smtClean="0"/>
              <a:pPr>
                <a:defRPr/>
              </a:pPr>
              <a:t>28/01/2024 18:13</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מציין מיקום של מספר שקופית 5"/>
          <p:cNvSpPr>
            <a:spLocks noGrp="1"/>
          </p:cNvSpPr>
          <p:nvPr>
            <p:ph type="sldNum" sz="quarter" idx="12"/>
          </p:nvPr>
        </p:nvSpPr>
        <p:spPr>
          <a:noFill/>
        </p:spPr>
        <p:txBody>
          <a:bodyPr/>
          <a:lstStyle/>
          <a:p>
            <a:fld id="{9B3925AE-DC75-4E8A-8A6F-A5F1C5491D16}" type="slidenum">
              <a:rPr lang="he-IL" smtClean="0"/>
              <a:pPr/>
              <a:t>55</a:t>
            </a:fld>
            <a:endParaRPr lang="en-US"/>
          </a:p>
        </p:txBody>
      </p:sp>
      <p:pic>
        <p:nvPicPr>
          <p:cNvPr id="52227" name="Picture 6"/>
          <p:cNvPicPr>
            <a:picLocks noChangeAspect="1" noChangeArrowheads="1"/>
          </p:cNvPicPr>
          <p:nvPr/>
        </p:nvPicPr>
        <p:blipFill>
          <a:blip r:embed="rId3" cstate="print"/>
          <a:srcRect/>
          <a:stretch>
            <a:fillRect/>
          </a:stretch>
        </p:blipFill>
        <p:spPr bwMode="auto">
          <a:xfrm>
            <a:off x="3180042" y="716040"/>
            <a:ext cx="5558771" cy="4656293"/>
          </a:xfrm>
          <a:prstGeom prst="rect">
            <a:avLst/>
          </a:prstGeom>
          <a:noFill/>
          <a:ln w="9525">
            <a:noFill/>
            <a:miter lim="800000"/>
            <a:headEnd/>
            <a:tailEnd/>
          </a:ln>
        </p:spPr>
      </p:pic>
      <p:sp>
        <p:nvSpPr>
          <p:cNvPr id="52228" name="Rectangle 2"/>
          <p:cNvSpPr>
            <a:spLocks noGrp="1" noChangeArrowheads="1"/>
          </p:cNvSpPr>
          <p:nvPr>
            <p:ph type="title"/>
          </p:nvPr>
        </p:nvSpPr>
        <p:spPr/>
        <p:txBody>
          <a:bodyPr/>
          <a:lstStyle/>
          <a:p>
            <a:pPr eaLnBrk="1" hangingPunct="1"/>
            <a:r>
              <a:rPr lang="en-US"/>
              <a:t>Shared Pages</a:t>
            </a:r>
          </a:p>
        </p:txBody>
      </p:sp>
      <p:sp>
        <p:nvSpPr>
          <p:cNvPr id="52229" name="Rectangle 3"/>
          <p:cNvSpPr>
            <a:spLocks noGrp="1" noChangeArrowheads="1"/>
          </p:cNvSpPr>
          <p:nvPr>
            <p:ph type="body" idx="1"/>
          </p:nvPr>
        </p:nvSpPr>
        <p:spPr>
          <a:xfrm>
            <a:off x="1809256" y="5724169"/>
            <a:ext cx="8743849" cy="629452"/>
          </a:xfrm>
        </p:spPr>
        <p:txBody>
          <a:bodyPr/>
          <a:lstStyle/>
          <a:p>
            <a:pPr algn="ctr" eaLnBrk="1" hangingPunct="1">
              <a:buFontTx/>
              <a:buNone/>
            </a:pPr>
            <a:r>
              <a:rPr lang="en-US" sz="1900" dirty="0"/>
              <a:t>Two processes sharing same program sharing its page table</a:t>
            </a:r>
          </a:p>
        </p:txBody>
      </p:sp>
      <p:sp>
        <p:nvSpPr>
          <p:cNvPr id="52230" name="TextBox 5"/>
          <p:cNvSpPr txBox="1">
            <a:spLocks noChangeArrowheads="1"/>
          </p:cNvSpPr>
          <p:nvPr/>
        </p:nvSpPr>
        <p:spPr bwMode="auto">
          <a:xfrm>
            <a:off x="3376594" y="3845431"/>
            <a:ext cx="829532" cy="897157"/>
          </a:xfrm>
          <a:prstGeom prst="rect">
            <a:avLst/>
          </a:prstGeom>
          <a:noFill/>
          <a:ln w="9525">
            <a:noFill/>
            <a:miter lim="800000"/>
            <a:headEnd/>
            <a:tailEnd/>
          </a:ln>
        </p:spPr>
        <p:txBody>
          <a:bodyPr lIns="65520" tIns="32760" rIns="65520" bIns="32760">
            <a:spAutoFit/>
          </a:bodyPr>
          <a:lstStyle/>
          <a:p>
            <a:r>
              <a:rPr lang="he-IL"/>
              <a:t>דפים לקריאה בלבד</a:t>
            </a:r>
          </a:p>
        </p:txBody>
      </p:sp>
      <p:cxnSp>
        <p:nvCxnSpPr>
          <p:cNvPr id="52231" name="מחבר חץ ישר 9"/>
          <p:cNvCxnSpPr>
            <a:cxnSpLocks noChangeShapeType="1"/>
          </p:cNvCxnSpPr>
          <p:nvPr/>
        </p:nvCxnSpPr>
        <p:spPr bwMode="auto">
          <a:xfrm flipV="1">
            <a:off x="4002526" y="3945758"/>
            <a:ext cx="617865" cy="151179"/>
          </a:xfrm>
          <a:prstGeom prst="straightConnector1">
            <a:avLst/>
          </a:prstGeom>
          <a:noFill/>
          <a:ln w="9525" algn="ctr">
            <a:solidFill>
              <a:schemeClr val="tx1"/>
            </a:solidFill>
            <a:round/>
            <a:headEnd/>
            <a:tailEnd type="arrow" w="med" len="med"/>
          </a:ln>
        </p:spPr>
      </p:cxnSp>
      <p:sp>
        <p:nvSpPr>
          <p:cNvPr id="8" name="מציין מיקום של תאריך 7"/>
          <p:cNvSpPr>
            <a:spLocks noGrp="1"/>
          </p:cNvSpPr>
          <p:nvPr>
            <p:ph type="dt" sz="half" idx="10"/>
          </p:nvPr>
        </p:nvSpPr>
        <p:spPr/>
        <p:txBody>
          <a:bodyPr/>
          <a:lstStyle/>
          <a:p>
            <a:pPr>
              <a:defRPr/>
            </a:pPr>
            <a:fld id="{F3EF0361-995A-404E-ACB6-872DBD0F8FFB}" type="datetime12">
              <a:rPr lang="he-IL" smtClean="0"/>
              <a:pPr>
                <a:defRPr/>
              </a:pPr>
              <a:t>28/01/2024 18:13</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1"/>
          </p:nvPr>
        </p:nvSpPr>
        <p:spPr>
          <a:xfrm>
            <a:off x="1752806" y="1267154"/>
            <a:ext cx="8686397" cy="4829461"/>
          </a:xfrm>
        </p:spPr>
        <p:txBody>
          <a:bodyPr/>
          <a:lstStyle/>
          <a:p>
            <a:pPr eaLnBrk="1" hangingPunct="1"/>
            <a:r>
              <a:rPr lang="en-US"/>
              <a:t>Need for a background process, paging daemon</a:t>
            </a:r>
          </a:p>
          <a:p>
            <a:pPr lvl="1" eaLnBrk="1" hangingPunct="1"/>
            <a:r>
              <a:rPr lang="en-US"/>
              <a:t>periodically inspects state of memory</a:t>
            </a:r>
          </a:p>
          <a:p>
            <a:pPr lvl="1" eaLnBrk="1" hangingPunct="1"/>
            <a:endParaRPr lang="en-US"/>
          </a:p>
          <a:p>
            <a:pPr eaLnBrk="1" hangingPunct="1"/>
            <a:r>
              <a:rPr lang="en-US"/>
              <a:t>When too few frames are free</a:t>
            </a:r>
          </a:p>
          <a:p>
            <a:pPr lvl="1" eaLnBrk="1" hangingPunct="1"/>
            <a:r>
              <a:rPr lang="en-US"/>
              <a:t>selects pages to evict using a replacement algorithm</a:t>
            </a:r>
          </a:p>
          <a:p>
            <a:pPr lvl="1" eaLnBrk="1" hangingPunct="1"/>
            <a:endParaRPr lang="en-US"/>
          </a:p>
          <a:p>
            <a:pPr eaLnBrk="1" hangingPunct="1"/>
            <a:r>
              <a:rPr lang="en-US"/>
              <a:t>It can use same circular list (clock) </a:t>
            </a:r>
          </a:p>
          <a:p>
            <a:pPr lvl="1" eaLnBrk="1" hangingPunct="1"/>
            <a:r>
              <a:rPr lang="en-US"/>
              <a:t>as regular page replacement algorithmbut with diff ptr</a:t>
            </a:r>
          </a:p>
        </p:txBody>
      </p:sp>
      <p:sp>
        <p:nvSpPr>
          <p:cNvPr id="53251" name="מציין מיקום של מספר שקופית 5"/>
          <p:cNvSpPr>
            <a:spLocks noGrp="1"/>
          </p:cNvSpPr>
          <p:nvPr>
            <p:ph type="sldNum" sz="quarter" idx="12"/>
          </p:nvPr>
        </p:nvSpPr>
        <p:spPr>
          <a:noFill/>
        </p:spPr>
        <p:txBody>
          <a:bodyPr/>
          <a:lstStyle/>
          <a:p>
            <a:fld id="{01352D69-3D7C-470E-A8BA-F4CF647B948D}" type="slidenum">
              <a:rPr lang="he-IL" smtClean="0"/>
              <a:pPr/>
              <a:t>56</a:t>
            </a:fld>
            <a:endParaRPr lang="en-US"/>
          </a:p>
        </p:txBody>
      </p:sp>
      <p:sp>
        <p:nvSpPr>
          <p:cNvPr id="53252" name="Rectangle 2"/>
          <p:cNvSpPr>
            <a:spLocks noGrp="1" noChangeArrowheads="1"/>
          </p:cNvSpPr>
          <p:nvPr>
            <p:ph type="title"/>
          </p:nvPr>
        </p:nvSpPr>
        <p:spPr/>
        <p:txBody>
          <a:bodyPr/>
          <a:lstStyle/>
          <a:p>
            <a:pPr eaLnBrk="1" hangingPunct="1"/>
            <a:r>
              <a:rPr lang="en-US"/>
              <a:t>Cleaning Policy</a:t>
            </a:r>
          </a:p>
        </p:txBody>
      </p:sp>
      <p:sp>
        <p:nvSpPr>
          <p:cNvPr id="53253" name="מלבן 4"/>
          <p:cNvSpPr>
            <a:spLocks noChangeArrowheads="1"/>
          </p:cNvSpPr>
          <p:nvPr/>
        </p:nvSpPr>
        <p:spPr bwMode="auto">
          <a:xfrm>
            <a:off x="4905637" y="1307007"/>
            <a:ext cx="1788079" cy="577227"/>
          </a:xfrm>
          <a:prstGeom prst="rect">
            <a:avLst/>
          </a:prstGeom>
          <a:noFill/>
          <a:ln w="9525" algn="ctr">
            <a:noFill/>
            <a:round/>
            <a:headEnd/>
            <a:tailEnd/>
          </a:ln>
        </p:spPr>
        <p:txBody>
          <a:bodyPr lIns="65520" tIns="32760" rIns="65520" bIns="32760"/>
          <a:lstStyle/>
          <a:p>
            <a:endParaRPr lang="he-IL"/>
          </a:p>
        </p:txBody>
      </p:sp>
      <p:sp>
        <p:nvSpPr>
          <p:cNvPr id="6" name="מציין מיקום של תאריך 5"/>
          <p:cNvSpPr>
            <a:spLocks noGrp="1"/>
          </p:cNvSpPr>
          <p:nvPr>
            <p:ph type="dt" sz="half" idx="10"/>
          </p:nvPr>
        </p:nvSpPr>
        <p:spPr/>
        <p:txBody>
          <a:bodyPr/>
          <a:lstStyle/>
          <a:p>
            <a:pPr>
              <a:defRPr/>
            </a:pPr>
            <a:fld id="{54A4C1BF-4291-4356-9DE1-056A0C3047BF}" type="datetime12">
              <a:rPr lang="he-IL" smtClean="0"/>
              <a:pPr>
                <a:defRPr/>
              </a:pPr>
              <a:t>28/01/2024 18:13</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מציין מיקום של מספר שקופית 5"/>
          <p:cNvSpPr>
            <a:spLocks noGrp="1"/>
          </p:cNvSpPr>
          <p:nvPr>
            <p:ph type="sldNum" sz="quarter" idx="12"/>
          </p:nvPr>
        </p:nvSpPr>
        <p:spPr>
          <a:noFill/>
        </p:spPr>
        <p:txBody>
          <a:bodyPr/>
          <a:lstStyle/>
          <a:p>
            <a:fld id="{480741B8-6B98-4022-8F50-F54074A22CB1}" type="slidenum">
              <a:rPr lang="he-IL" smtClean="0"/>
              <a:pPr/>
              <a:t>57</a:t>
            </a:fld>
            <a:endParaRPr lang="en-US"/>
          </a:p>
        </p:txBody>
      </p:sp>
      <p:sp>
        <p:nvSpPr>
          <p:cNvPr id="54275" name="Rectangle 2"/>
          <p:cNvSpPr>
            <a:spLocks noGrp="1" noChangeArrowheads="1"/>
          </p:cNvSpPr>
          <p:nvPr>
            <p:ph type="title"/>
          </p:nvPr>
        </p:nvSpPr>
        <p:spPr/>
        <p:txBody>
          <a:bodyPr/>
          <a:lstStyle/>
          <a:p>
            <a:pPr eaLnBrk="1" hangingPunct="1"/>
            <a:r>
              <a:rPr lang="en-US" dirty="0"/>
              <a:t>Implementation Issues</a:t>
            </a:r>
            <a:br>
              <a:rPr lang="en-US" dirty="0"/>
            </a:br>
            <a:r>
              <a:rPr lang="en-US" sz="1600" dirty="0"/>
              <a:t>Operating System Involvement with Paging</a:t>
            </a:r>
          </a:p>
        </p:txBody>
      </p:sp>
      <p:sp>
        <p:nvSpPr>
          <p:cNvPr id="54276" name="Rectangle 3"/>
          <p:cNvSpPr>
            <a:spLocks noGrp="1" noChangeArrowheads="1"/>
          </p:cNvSpPr>
          <p:nvPr>
            <p:ph type="body" idx="1"/>
          </p:nvPr>
        </p:nvSpPr>
        <p:spPr>
          <a:xfrm>
            <a:off x="2009827" y="1324875"/>
            <a:ext cx="8010072" cy="4771739"/>
          </a:xfrm>
        </p:spPr>
        <p:txBody>
          <a:bodyPr/>
          <a:lstStyle/>
          <a:p>
            <a:pPr marL="397125" indent="-397125" eaLnBrk="1" hangingPunct="1">
              <a:lnSpc>
                <a:spcPct val="90000"/>
              </a:lnSpc>
              <a:buNone/>
            </a:pPr>
            <a:r>
              <a:rPr lang="en-US" sz="1900" dirty="0"/>
              <a:t>Four times when OS involved with paging</a:t>
            </a:r>
            <a:endParaRPr lang="en-US" dirty="0"/>
          </a:p>
          <a:p>
            <a:pPr marL="397125" indent="-397125" eaLnBrk="1" hangingPunct="1">
              <a:lnSpc>
                <a:spcPct val="90000"/>
              </a:lnSpc>
              <a:buSzPct val="75000"/>
              <a:buFont typeface="Symbol" pitchFamily="18" charset="2"/>
              <a:buAutoNum type="arabicPeriod"/>
            </a:pPr>
            <a:r>
              <a:rPr lang="en-US" sz="1900" dirty="0"/>
              <a:t>Process creation</a:t>
            </a:r>
          </a:p>
          <a:p>
            <a:pPr marL="646323" lvl="1" indent="-347058" eaLnBrk="1" hangingPunct="1">
              <a:lnSpc>
                <a:spcPct val="90000"/>
              </a:lnSpc>
              <a:buSzPct val="50000"/>
              <a:buFont typeface="Symbol" pitchFamily="18" charset="2"/>
              <a:buChar char="-"/>
            </a:pPr>
            <a:r>
              <a:rPr lang="en-US" sz="1600" dirty="0"/>
              <a:t>determine program size</a:t>
            </a:r>
          </a:p>
          <a:p>
            <a:pPr marL="646323" lvl="1" indent="-347058" eaLnBrk="1" hangingPunct="1">
              <a:lnSpc>
                <a:spcPct val="90000"/>
              </a:lnSpc>
              <a:buSzPct val="50000"/>
              <a:buFont typeface="Symbol" pitchFamily="18" charset="2"/>
              <a:buChar char="-"/>
            </a:pPr>
            <a:r>
              <a:rPr lang="en-US" sz="1600" dirty="0"/>
              <a:t>create page table</a:t>
            </a:r>
          </a:p>
          <a:p>
            <a:pPr marL="397125" indent="-397125" eaLnBrk="1" hangingPunct="1">
              <a:lnSpc>
                <a:spcPct val="90000"/>
              </a:lnSpc>
              <a:buSzPct val="75000"/>
              <a:buFont typeface="Symbol" pitchFamily="18" charset="2"/>
              <a:buAutoNum type="arabicPeriod"/>
            </a:pPr>
            <a:r>
              <a:rPr lang="en-US" sz="1900" dirty="0"/>
              <a:t>Process execution</a:t>
            </a:r>
          </a:p>
          <a:p>
            <a:pPr marL="646323" lvl="1" indent="-347058" eaLnBrk="1" hangingPunct="1">
              <a:lnSpc>
                <a:spcPct val="90000"/>
              </a:lnSpc>
              <a:buSzPct val="50000"/>
              <a:buFont typeface="Symbol" pitchFamily="18" charset="2"/>
              <a:buChar char="-"/>
            </a:pPr>
            <a:r>
              <a:rPr lang="en-US" sz="1600" dirty="0"/>
              <a:t>MMU reset for new process</a:t>
            </a:r>
          </a:p>
          <a:p>
            <a:pPr marL="646323" lvl="1" indent="-347058" eaLnBrk="1" hangingPunct="1">
              <a:lnSpc>
                <a:spcPct val="90000"/>
              </a:lnSpc>
              <a:buSzPct val="50000"/>
              <a:buFont typeface="Symbol" pitchFamily="18" charset="2"/>
              <a:buChar char="-"/>
            </a:pPr>
            <a:r>
              <a:rPr lang="en-US" sz="1600" dirty="0"/>
              <a:t>TLB flushed</a:t>
            </a:r>
          </a:p>
          <a:p>
            <a:pPr marL="397125" indent="-397125" eaLnBrk="1" hangingPunct="1">
              <a:lnSpc>
                <a:spcPct val="90000"/>
              </a:lnSpc>
              <a:buSzPct val="75000"/>
              <a:buFont typeface="Symbol" pitchFamily="18" charset="2"/>
              <a:buAutoNum type="arabicPeriod"/>
            </a:pPr>
            <a:r>
              <a:rPr lang="en-US" sz="1900" dirty="0"/>
              <a:t>Page fault time</a:t>
            </a:r>
          </a:p>
          <a:p>
            <a:pPr marL="646323" lvl="1" indent="-347058" eaLnBrk="1" hangingPunct="1">
              <a:lnSpc>
                <a:spcPct val="90000"/>
              </a:lnSpc>
              <a:buSzPct val="50000"/>
              <a:buFont typeface="Symbol" pitchFamily="18" charset="2"/>
              <a:buChar char="-"/>
            </a:pPr>
            <a:r>
              <a:rPr lang="en-US" sz="1600" dirty="0"/>
              <a:t>determine virtual address causing fault</a:t>
            </a:r>
          </a:p>
          <a:p>
            <a:pPr marL="646323" lvl="1" indent="-347058" eaLnBrk="1" hangingPunct="1">
              <a:lnSpc>
                <a:spcPct val="90000"/>
              </a:lnSpc>
              <a:buSzPct val="50000"/>
              <a:buFont typeface="Symbol" pitchFamily="18" charset="2"/>
              <a:buChar char="-"/>
            </a:pPr>
            <a:r>
              <a:rPr lang="en-US" sz="1600" dirty="0"/>
              <a:t>swap target page out, needed page in</a:t>
            </a:r>
          </a:p>
          <a:p>
            <a:pPr marL="397125" indent="-397125" eaLnBrk="1" hangingPunct="1">
              <a:lnSpc>
                <a:spcPct val="90000"/>
              </a:lnSpc>
              <a:buSzPct val="75000"/>
              <a:buFont typeface="Symbol" pitchFamily="18" charset="2"/>
              <a:buAutoNum type="arabicPeriod"/>
            </a:pPr>
            <a:r>
              <a:rPr lang="en-US" sz="1900" dirty="0"/>
              <a:t>Process termination time</a:t>
            </a:r>
          </a:p>
          <a:p>
            <a:pPr marL="646323" lvl="1" indent="-347058" eaLnBrk="1" hangingPunct="1">
              <a:lnSpc>
                <a:spcPct val="90000"/>
              </a:lnSpc>
              <a:buSzPct val="50000"/>
              <a:buFont typeface="Symbol" pitchFamily="18" charset="2"/>
              <a:buChar char="-"/>
            </a:pPr>
            <a:r>
              <a:rPr lang="en-US" sz="1600" dirty="0"/>
              <a:t>release page table, pages</a:t>
            </a:r>
          </a:p>
        </p:txBody>
      </p:sp>
      <p:sp>
        <p:nvSpPr>
          <p:cNvPr id="5" name="מציין מיקום של תאריך 4"/>
          <p:cNvSpPr>
            <a:spLocks noGrp="1"/>
          </p:cNvSpPr>
          <p:nvPr>
            <p:ph type="dt" sz="half" idx="10"/>
          </p:nvPr>
        </p:nvSpPr>
        <p:spPr/>
        <p:txBody>
          <a:bodyPr/>
          <a:lstStyle/>
          <a:p>
            <a:pPr>
              <a:defRPr/>
            </a:pPr>
            <a:fld id="{9F9D3258-8959-40EB-8E1C-B042A3A8D8CA}" type="datetime12">
              <a:rPr lang="he-IL" smtClean="0"/>
              <a:pPr>
                <a:defRPr/>
              </a:pPr>
              <a:t>28/01/2024 18:13</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מציין מיקום של מספר שקופית 5"/>
          <p:cNvSpPr>
            <a:spLocks noGrp="1"/>
          </p:cNvSpPr>
          <p:nvPr>
            <p:ph type="sldNum" sz="quarter" idx="12"/>
          </p:nvPr>
        </p:nvSpPr>
        <p:spPr>
          <a:noFill/>
        </p:spPr>
        <p:txBody>
          <a:bodyPr/>
          <a:lstStyle/>
          <a:p>
            <a:fld id="{2B5A4219-C2E6-474F-A595-7DAE04B22B47}" type="slidenum">
              <a:rPr lang="he-IL" smtClean="0"/>
              <a:pPr/>
              <a:t>58</a:t>
            </a:fld>
            <a:endParaRPr lang="en-US"/>
          </a:p>
        </p:txBody>
      </p:sp>
      <p:sp>
        <p:nvSpPr>
          <p:cNvPr id="55299" name="Rectangle 2"/>
          <p:cNvSpPr>
            <a:spLocks noGrp="1" noChangeArrowheads="1"/>
          </p:cNvSpPr>
          <p:nvPr>
            <p:ph type="title"/>
          </p:nvPr>
        </p:nvSpPr>
        <p:spPr/>
        <p:txBody>
          <a:bodyPr/>
          <a:lstStyle/>
          <a:p>
            <a:pPr eaLnBrk="1" hangingPunct="1"/>
            <a:r>
              <a:rPr lang="en-US"/>
              <a:t>Page Fault Handling (1)</a:t>
            </a:r>
          </a:p>
        </p:txBody>
      </p:sp>
      <p:sp>
        <p:nvSpPr>
          <p:cNvPr id="55300" name="Rectangle 3"/>
          <p:cNvSpPr>
            <a:spLocks noGrp="1" noChangeArrowheads="1"/>
          </p:cNvSpPr>
          <p:nvPr>
            <p:ph type="body" idx="1"/>
          </p:nvPr>
        </p:nvSpPr>
        <p:spPr>
          <a:xfrm>
            <a:off x="1524009" y="1324874"/>
            <a:ext cx="8902095" cy="3387771"/>
          </a:xfrm>
        </p:spPr>
        <p:txBody>
          <a:bodyPr/>
          <a:lstStyle/>
          <a:p>
            <a:pPr marL="397125" indent="-397125" eaLnBrk="1" hangingPunct="1">
              <a:buSzPct val="50000"/>
              <a:buFont typeface="Wingdings" pitchFamily="2" charset="2"/>
              <a:buAutoNum type="arabicPeriod"/>
            </a:pPr>
            <a:r>
              <a:rPr lang="en-US" dirty="0"/>
              <a:t>Hardware traps to kernel</a:t>
            </a:r>
          </a:p>
          <a:p>
            <a:pPr marL="397125" indent="-397125" eaLnBrk="1" hangingPunct="1">
              <a:buSzPct val="50000"/>
              <a:buFont typeface="Wingdings" pitchFamily="2" charset="2"/>
              <a:buAutoNum type="arabicPeriod"/>
            </a:pPr>
            <a:r>
              <a:rPr lang="en-US" dirty="0"/>
              <a:t>General registers saved</a:t>
            </a:r>
          </a:p>
          <a:p>
            <a:pPr marL="397125" indent="-397125" eaLnBrk="1" hangingPunct="1">
              <a:buSzPct val="50000"/>
              <a:buFont typeface="Wingdings" pitchFamily="2" charset="2"/>
              <a:buAutoNum type="arabicPeriod"/>
            </a:pPr>
            <a:r>
              <a:rPr lang="en-US" dirty="0"/>
              <a:t>OS determines which virtual page needed</a:t>
            </a:r>
          </a:p>
          <a:p>
            <a:pPr marL="397125" indent="-397125" eaLnBrk="1" hangingPunct="1">
              <a:buSzPct val="50000"/>
              <a:buFont typeface="Wingdings" pitchFamily="2" charset="2"/>
              <a:buAutoNum type="arabicPeriod"/>
            </a:pPr>
            <a:r>
              <a:rPr lang="en-US" dirty="0"/>
              <a:t>OS checks validity of address, seeks page frame</a:t>
            </a:r>
          </a:p>
          <a:p>
            <a:pPr marL="397125" indent="-397125" eaLnBrk="1" hangingPunct="1">
              <a:buSzPct val="50000"/>
              <a:buFont typeface="Wingdings" pitchFamily="2" charset="2"/>
              <a:buAutoNum type="arabicPeriod"/>
            </a:pPr>
            <a:r>
              <a:rPr lang="en-US" dirty="0"/>
              <a:t>If selected frame is dirty, write it to disk</a:t>
            </a:r>
          </a:p>
        </p:txBody>
      </p:sp>
      <p:sp>
        <p:nvSpPr>
          <p:cNvPr id="5" name="מציין מיקום של תאריך 4"/>
          <p:cNvSpPr>
            <a:spLocks noGrp="1"/>
          </p:cNvSpPr>
          <p:nvPr>
            <p:ph type="dt" sz="half" idx="10"/>
          </p:nvPr>
        </p:nvSpPr>
        <p:spPr/>
        <p:txBody>
          <a:bodyPr/>
          <a:lstStyle/>
          <a:p>
            <a:pPr>
              <a:defRPr/>
            </a:pPr>
            <a:fld id="{F1007F5A-36AF-4C71-B64D-3941A9A15F4D}" type="datetime12">
              <a:rPr lang="he-IL" smtClean="0"/>
              <a:pPr>
                <a:defRPr/>
              </a:pPr>
              <a:t>28/01/2024 18:13</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מציין מיקום של מספר שקופית 5"/>
          <p:cNvSpPr>
            <a:spLocks noGrp="1"/>
          </p:cNvSpPr>
          <p:nvPr>
            <p:ph type="sldNum" sz="quarter" idx="12"/>
          </p:nvPr>
        </p:nvSpPr>
        <p:spPr>
          <a:noFill/>
        </p:spPr>
        <p:txBody>
          <a:bodyPr/>
          <a:lstStyle/>
          <a:p>
            <a:fld id="{2C65FCC7-3654-4670-8C11-3291468389A1}" type="slidenum">
              <a:rPr lang="he-IL" smtClean="0"/>
              <a:pPr/>
              <a:t>59</a:t>
            </a:fld>
            <a:endParaRPr lang="en-US"/>
          </a:p>
        </p:txBody>
      </p:sp>
      <p:sp>
        <p:nvSpPr>
          <p:cNvPr id="56323" name="Rectangle 2"/>
          <p:cNvSpPr>
            <a:spLocks noGrp="1" noChangeArrowheads="1"/>
          </p:cNvSpPr>
          <p:nvPr>
            <p:ph type="title"/>
          </p:nvPr>
        </p:nvSpPr>
        <p:spPr/>
        <p:txBody>
          <a:bodyPr/>
          <a:lstStyle/>
          <a:p>
            <a:pPr eaLnBrk="1" hangingPunct="1"/>
            <a:r>
              <a:rPr lang="en-US"/>
              <a:t>Page Fault Handling (2)</a:t>
            </a:r>
          </a:p>
        </p:txBody>
      </p:sp>
      <p:sp>
        <p:nvSpPr>
          <p:cNvPr id="56324" name="Rectangle 3"/>
          <p:cNvSpPr>
            <a:spLocks noGrp="1" noChangeArrowheads="1"/>
          </p:cNvSpPr>
          <p:nvPr>
            <p:ph type="body" idx="1"/>
          </p:nvPr>
        </p:nvSpPr>
        <p:spPr>
          <a:xfrm>
            <a:off x="1809247" y="1521415"/>
            <a:ext cx="8858755" cy="4015847"/>
          </a:xfrm>
        </p:spPr>
        <p:txBody>
          <a:bodyPr/>
          <a:lstStyle/>
          <a:p>
            <a:pPr marL="397125" indent="-397125" eaLnBrk="1" hangingPunct="1">
              <a:buSzPct val="50000"/>
              <a:buFont typeface="Wingdings" pitchFamily="2" charset="2"/>
              <a:buAutoNum type="arabicPeriod" startAt="6"/>
            </a:pPr>
            <a:r>
              <a:rPr lang="en-US" dirty="0"/>
              <a:t>OS brings schedules new page in from disk</a:t>
            </a:r>
          </a:p>
          <a:p>
            <a:pPr marL="397125" indent="-397125" eaLnBrk="1" hangingPunct="1">
              <a:buSzPct val="50000"/>
              <a:buFont typeface="Wingdings" pitchFamily="2" charset="2"/>
              <a:buAutoNum type="arabicPeriod" startAt="6"/>
            </a:pPr>
            <a:r>
              <a:rPr lang="en-US" dirty="0"/>
              <a:t>Page tables updated</a:t>
            </a:r>
          </a:p>
          <a:p>
            <a:pPr marL="397125" indent="-397125" eaLnBrk="1" hangingPunct="1">
              <a:buSzPct val="50000"/>
              <a:buFont typeface="Wingdings" pitchFamily="2" charset="2"/>
              <a:buChar char="l"/>
            </a:pPr>
            <a:r>
              <a:rPr lang="en-US" dirty="0"/>
              <a:t>Faulting instruction backed up to when it began </a:t>
            </a:r>
          </a:p>
          <a:p>
            <a:pPr marL="397125" indent="-397125" eaLnBrk="1" hangingPunct="1">
              <a:buSzPct val="50000"/>
              <a:buFont typeface="Wingdings" pitchFamily="2" charset="2"/>
              <a:buAutoNum type="arabicPeriod" startAt="6"/>
            </a:pPr>
            <a:r>
              <a:rPr lang="en-US" dirty="0"/>
              <a:t>Faulting process scheduled</a:t>
            </a:r>
          </a:p>
          <a:p>
            <a:pPr marL="397125" indent="-397125" eaLnBrk="1" hangingPunct="1">
              <a:buSzPct val="50000"/>
              <a:buFont typeface="Wingdings" pitchFamily="2" charset="2"/>
              <a:buAutoNum type="arabicPeriod" startAt="6"/>
            </a:pPr>
            <a:r>
              <a:rPr lang="en-US" dirty="0"/>
              <a:t>Registers restored</a:t>
            </a:r>
          </a:p>
          <a:p>
            <a:pPr marL="397125" indent="-397125" eaLnBrk="1" hangingPunct="1">
              <a:buSzPct val="50000"/>
              <a:buFont typeface="Wingdings" pitchFamily="2" charset="2"/>
              <a:buChar char="l"/>
            </a:pPr>
            <a:r>
              <a:rPr lang="en-US" dirty="0"/>
              <a:t>Program continues</a:t>
            </a:r>
          </a:p>
        </p:txBody>
      </p:sp>
      <p:sp>
        <p:nvSpPr>
          <p:cNvPr id="5" name="מציין מיקום של תאריך 4"/>
          <p:cNvSpPr>
            <a:spLocks noGrp="1"/>
          </p:cNvSpPr>
          <p:nvPr>
            <p:ph type="dt" sz="half" idx="10"/>
          </p:nvPr>
        </p:nvSpPr>
        <p:spPr/>
        <p:txBody>
          <a:bodyPr/>
          <a:lstStyle/>
          <a:p>
            <a:pPr>
              <a:defRPr/>
            </a:pPr>
            <a:fld id="{98932AE7-FF91-4814-844F-E2D8E202454B}" type="datetime12">
              <a:rPr lang="he-IL" smtClean="0"/>
              <a:pPr>
                <a:defRPr/>
              </a:pPr>
              <a:t>28/01/2024 18:13</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מציין מיקום של מספר שקופית 5"/>
          <p:cNvSpPr>
            <a:spLocks noGrp="1"/>
          </p:cNvSpPr>
          <p:nvPr>
            <p:ph type="sldNum" sz="quarter" idx="12"/>
          </p:nvPr>
        </p:nvSpPr>
        <p:spPr>
          <a:noFill/>
        </p:spPr>
        <p:txBody>
          <a:bodyPr/>
          <a:lstStyle/>
          <a:p>
            <a:fld id="{AE43C710-669D-4172-A46F-0DAFC8485EE3}" type="slidenum">
              <a:rPr lang="he-IL" smtClean="0"/>
              <a:pPr/>
              <a:t>60</a:t>
            </a:fld>
            <a:endParaRPr lang="en-US"/>
          </a:p>
        </p:txBody>
      </p:sp>
      <p:sp>
        <p:nvSpPr>
          <p:cNvPr id="57347" name="Rectangle 2"/>
          <p:cNvSpPr>
            <a:spLocks noGrp="1" noChangeArrowheads="1"/>
          </p:cNvSpPr>
          <p:nvPr>
            <p:ph type="title"/>
          </p:nvPr>
        </p:nvSpPr>
        <p:spPr/>
        <p:txBody>
          <a:bodyPr/>
          <a:lstStyle/>
          <a:p>
            <a:pPr eaLnBrk="1" hangingPunct="1"/>
            <a:r>
              <a:rPr lang="en-US"/>
              <a:t>Instruction Backup</a:t>
            </a:r>
          </a:p>
        </p:txBody>
      </p:sp>
      <p:sp>
        <p:nvSpPr>
          <p:cNvPr id="57348" name="Rectangle 3"/>
          <p:cNvSpPr>
            <a:spLocks noGrp="1" noChangeArrowheads="1"/>
          </p:cNvSpPr>
          <p:nvPr>
            <p:ph type="body" idx="1"/>
          </p:nvPr>
        </p:nvSpPr>
        <p:spPr>
          <a:xfrm>
            <a:off x="2209405" y="5010885"/>
            <a:ext cx="7773207" cy="1085735"/>
          </a:xfrm>
        </p:spPr>
        <p:txBody>
          <a:bodyPr/>
          <a:lstStyle/>
          <a:p>
            <a:pPr algn="ctr" eaLnBrk="1" hangingPunct="1">
              <a:buFontTx/>
              <a:buNone/>
            </a:pPr>
            <a:r>
              <a:rPr lang="en-US"/>
              <a:t>An instruction causing a page fault</a:t>
            </a:r>
          </a:p>
        </p:txBody>
      </p:sp>
      <p:pic>
        <p:nvPicPr>
          <p:cNvPr id="57349" name="Picture 5"/>
          <p:cNvPicPr>
            <a:picLocks noChangeAspect="1" noChangeArrowheads="1"/>
          </p:cNvPicPr>
          <p:nvPr/>
        </p:nvPicPr>
        <p:blipFill>
          <a:blip r:embed="rId3" cstate="print"/>
          <a:srcRect/>
          <a:stretch>
            <a:fillRect/>
          </a:stretch>
        </p:blipFill>
        <p:spPr bwMode="auto">
          <a:xfrm>
            <a:off x="3033889" y="1843009"/>
            <a:ext cx="6354032" cy="2372127"/>
          </a:xfrm>
          <a:prstGeom prst="rect">
            <a:avLst/>
          </a:prstGeom>
          <a:noFill/>
          <a:ln w="9525">
            <a:noFill/>
            <a:miter lim="800000"/>
            <a:headEnd/>
            <a:tailEnd/>
          </a:ln>
        </p:spPr>
      </p:pic>
      <p:sp>
        <p:nvSpPr>
          <p:cNvPr id="57350" name="TextBox 7"/>
          <p:cNvSpPr txBox="1">
            <a:spLocks noChangeArrowheads="1"/>
          </p:cNvSpPr>
          <p:nvPr/>
        </p:nvSpPr>
        <p:spPr bwMode="auto">
          <a:xfrm>
            <a:off x="2657931" y="4725015"/>
            <a:ext cx="856747" cy="1174155"/>
          </a:xfrm>
          <a:prstGeom prst="rect">
            <a:avLst/>
          </a:prstGeom>
          <a:noFill/>
          <a:ln w="9525">
            <a:noFill/>
            <a:miter lim="800000"/>
            <a:headEnd/>
            <a:tailEnd/>
          </a:ln>
        </p:spPr>
        <p:txBody>
          <a:bodyPr lIns="65520" tIns="32760" rIns="65520" bIns="32760">
            <a:spAutoFit/>
          </a:bodyPr>
          <a:lstStyle/>
          <a:p>
            <a:r>
              <a:rPr lang="en-US"/>
              <a:t>PC</a:t>
            </a:r>
          </a:p>
          <a:p>
            <a:r>
              <a:rPr lang="en-US"/>
              <a:t>-</a:t>
            </a:r>
            <a:r>
              <a:rPr lang="he-IL"/>
              <a:t>מצביע לפקודה הבאה</a:t>
            </a:r>
          </a:p>
        </p:txBody>
      </p:sp>
      <p:cxnSp>
        <p:nvCxnSpPr>
          <p:cNvPr id="57351" name="מחבר חץ ישר 9"/>
          <p:cNvCxnSpPr>
            <a:cxnSpLocks noChangeShapeType="1"/>
          </p:cNvCxnSpPr>
          <p:nvPr/>
        </p:nvCxnSpPr>
        <p:spPr bwMode="auto">
          <a:xfrm>
            <a:off x="2758733" y="2411992"/>
            <a:ext cx="1023055" cy="691297"/>
          </a:xfrm>
          <a:prstGeom prst="straightConnector1">
            <a:avLst/>
          </a:prstGeom>
          <a:noFill/>
          <a:ln w="9525" algn="ctr">
            <a:solidFill>
              <a:schemeClr val="tx1"/>
            </a:solidFill>
            <a:round/>
            <a:headEnd/>
            <a:tailEnd type="arrow" w="med" len="med"/>
          </a:ln>
        </p:spPr>
      </p:cxnSp>
      <p:sp>
        <p:nvSpPr>
          <p:cNvPr id="57352" name="TextBox 11"/>
          <p:cNvSpPr txBox="1">
            <a:spLocks noChangeArrowheads="1"/>
          </p:cNvSpPr>
          <p:nvPr/>
        </p:nvSpPr>
        <p:spPr bwMode="auto">
          <a:xfrm>
            <a:off x="2169082" y="1985938"/>
            <a:ext cx="856747" cy="1174155"/>
          </a:xfrm>
          <a:prstGeom prst="rect">
            <a:avLst/>
          </a:prstGeom>
          <a:noFill/>
          <a:ln w="9525">
            <a:noFill/>
            <a:miter lim="800000"/>
            <a:headEnd/>
            <a:tailEnd/>
          </a:ln>
        </p:spPr>
        <p:txBody>
          <a:bodyPr lIns="65520" tIns="32760" rIns="65520" bIns="32760">
            <a:spAutoFit/>
          </a:bodyPr>
          <a:lstStyle/>
          <a:p>
            <a:r>
              <a:rPr lang="en-US"/>
              <a:t>PC</a:t>
            </a:r>
          </a:p>
          <a:p>
            <a:r>
              <a:rPr lang="en-US"/>
              <a:t>-</a:t>
            </a:r>
            <a:r>
              <a:rPr lang="he-IL"/>
              <a:t>מצביע לפקודה הבאה</a:t>
            </a:r>
          </a:p>
        </p:txBody>
      </p:sp>
      <p:sp>
        <p:nvSpPr>
          <p:cNvPr id="57353" name="מלבן 13"/>
          <p:cNvSpPr>
            <a:spLocks noChangeArrowheads="1"/>
          </p:cNvSpPr>
          <p:nvPr/>
        </p:nvSpPr>
        <p:spPr bwMode="auto">
          <a:xfrm>
            <a:off x="3541897" y="754522"/>
            <a:ext cx="3594303" cy="2487571"/>
          </a:xfrm>
          <a:prstGeom prst="rect">
            <a:avLst/>
          </a:prstGeom>
          <a:noFill/>
          <a:ln w="19050" algn="ctr">
            <a:solidFill>
              <a:schemeClr val="tx1"/>
            </a:solidFill>
            <a:round/>
            <a:headEnd/>
            <a:tailEnd/>
          </a:ln>
        </p:spPr>
        <p:txBody>
          <a:bodyPr lIns="65520" tIns="32760" rIns="65520" bIns="32760"/>
          <a:lstStyle/>
          <a:p>
            <a:endParaRPr lang="he-IL"/>
          </a:p>
        </p:txBody>
      </p:sp>
      <p:sp>
        <p:nvSpPr>
          <p:cNvPr id="57354" name="מלבן 14"/>
          <p:cNvSpPr>
            <a:spLocks noChangeArrowheads="1"/>
          </p:cNvSpPr>
          <p:nvPr/>
        </p:nvSpPr>
        <p:spPr bwMode="auto">
          <a:xfrm>
            <a:off x="3523756" y="3330051"/>
            <a:ext cx="3953127" cy="1834755"/>
          </a:xfrm>
          <a:prstGeom prst="rect">
            <a:avLst/>
          </a:prstGeom>
          <a:noFill/>
          <a:ln w="9525" algn="ctr">
            <a:noFill/>
            <a:round/>
            <a:headEnd/>
            <a:tailEnd/>
          </a:ln>
        </p:spPr>
        <p:txBody>
          <a:bodyPr lIns="65520" tIns="32760" rIns="65520" bIns="32760"/>
          <a:lstStyle/>
          <a:p>
            <a:endParaRPr lang="he-IL"/>
          </a:p>
        </p:txBody>
      </p:sp>
      <p:sp>
        <p:nvSpPr>
          <p:cNvPr id="57355" name="מלבן 15"/>
          <p:cNvSpPr>
            <a:spLocks noChangeArrowheads="1"/>
          </p:cNvSpPr>
          <p:nvPr/>
        </p:nvSpPr>
        <p:spPr bwMode="auto">
          <a:xfrm>
            <a:off x="3561044" y="3279198"/>
            <a:ext cx="3593293" cy="2488947"/>
          </a:xfrm>
          <a:prstGeom prst="rect">
            <a:avLst/>
          </a:prstGeom>
          <a:noFill/>
          <a:ln w="19050" algn="ctr">
            <a:solidFill>
              <a:schemeClr val="tx1"/>
            </a:solidFill>
            <a:round/>
            <a:headEnd/>
            <a:tailEnd/>
          </a:ln>
        </p:spPr>
        <p:txBody>
          <a:bodyPr lIns="65520" tIns="32760" rIns="65520" bIns="32760"/>
          <a:lstStyle/>
          <a:p>
            <a:endParaRPr lang="he-IL"/>
          </a:p>
        </p:txBody>
      </p:sp>
      <p:sp>
        <p:nvSpPr>
          <p:cNvPr id="12" name="מציין מיקום של תאריך 11"/>
          <p:cNvSpPr>
            <a:spLocks noGrp="1"/>
          </p:cNvSpPr>
          <p:nvPr>
            <p:ph type="dt" sz="half" idx="10"/>
          </p:nvPr>
        </p:nvSpPr>
        <p:spPr/>
        <p:txBody>
          <a:bodyPr/>
          <a:lstStyle/>
          <a:p>
            <a:pPr>
              <a:defRPr/>
            </a:pPr>
            <a:fld id="{3617D31A-9E2F-4886-AB06-FB578BF3C6CA}" type="datetime12">
              <a:rPr lang="he-IL" smtClean="0"/>
              <a:pPr>
                <a:defRPr/>
              </a:pPr>
              <a:t>28/01/2024 18:13</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מציין מיקום של מספר שקופית 5"/>
          <p:cNvSpPr>
            <a:spLocks noGrp="1"/>
          </p:cNvSpPr>
          <p:nvPr>
            <p:ph type="sldNum" sz="quarter" idx="12"/>
          </p:nvPr>
        </p:nvSpPr>
        <p:spPr>
          <a:noFill/>
        </p:spPr>
        <p:txBody>
          <a:bodyPr/>
          <a:lstStyle/>
          <a:p>
            <a:fld id="{D202034D-9135-408D-9A2B-8D50CE56C03D}" type="slidenum">
              <a:rPr lang="he-IL" smtClean="0"/>
              <a:pPr/>
              <a:t>61</a:t>
            </a:fld>
            <a:endParaRPr lang="en-US"/>
          </a:p>
        </p:txBody>
      </p:sp>
      <p:sp>
        <p:nvSpPr>
          <p:cNvPr id="58371" name="Rectangle 2"/>
          <p:cNvSpPr>
            <a:spLocks noGrp="1" noChangeArrowheads="1"/>
          </p:cNvSpPr>
          <p:nvPr>
            <p:ph type="title"/>
          </p:nvPr>
        </p:nvSpPr>
        <p:spPr/>
        <p:txBody>
          <a:bodyPr/>
          <a:lstStyle/>
          <a:p>
            <a:pPr eaLnBrk="1" hangingPunct="1"/>
            <a:r>
              <a:rPr lang="en-US" sz="2600" dirty="0"/>
              <a:t>Locking Pages in Memory</a:t>
            </a:r>
          </a:p>
        </p:txBody>
      </p:sp>
      <p:sp>
        <p:nvSpPr>
          <p:cNvPr id="58372" name="Rectangle 3"/>
          <p:cNvSpPr>
            <a:spLocks noGrp="1" noChangeArrowheads="1"/>
          </p:cNvSpPr>
          <p:nvPr>
            <p:ph type="body" idx="1"/>
          </p:nvPr>
        </p:nvSpPr>
        <p:spPr>
          <a:xfrm>
            <a:off x="1896947" y="1551643"/>
            <a:ext cx="8771063" cy="4544971"/>
          </a:xfrm>
        </p:spPr>
        <p:txBody>
          <a:bodyPr/>
          <a:lstStyle/>
          <a:p>
            <a:pPr eaLnBrk="1" hangingPunct="1">
              <a:lnSpc>
                <a:spcPct val="90000"/>
              </a:lnSpc>
            </a:pPr>
            <a:r>
              <a:rPr lang="en-US"/>
              <a:t>Virtual memory and I/O occasionally interact</a:t>
            </a:r>
          </a:p>
          <a:p>
            <a:pPr eaLnBrk="1" hangingPunct="1">
              <a:lnSpc>
                <a:spcPct val="90000"/>
              </a:lnSpc>
            </a:pPr>
            <a:r>
              <a:rPr lang="en-US"/>
              <a:t>Proc issues call for read from device into buffer</a:t>
            </a:r>
          </a:p>
          <a:p>
            <a:pPr lvl="1" eaLnBrk="1" hangingPunct="1">
              <a:lnSpc>
                <a:spcPct val="90000"/>
              </a:lnSpc>
            </a:pPr>
            <a:r>
              <a:rPr lang="en-US"/>
              <a:t>while waiting for  I/O, another processes starts up</a:t>
            </a:r>
          </a:p>
          <a:p>
            <a:pPr lvl="1" eaLnBrk="1" hangingPunct="1">
              <a:lnSpc>
                <a:spcPct val="90000"/>
              </a:lnSpc>
            </a:pPr>
            <a:r>
              <a:rPr lang="en-US"/>
              <a:t>has a page fault</a:t>
            </a:r>
          </a:p>
          <a:p>
            <a:pPr lvl="1" eaLnBrk="1" hangingPunct="1">
              <a:lnSpc>
                <a:spcPct val="90000"/>
              </a:lnSpc>
            </a:pPr>
            <a:r>
              <a:rPr lang="en-US"/>
              <a:t>buffer for the first proc may be chosen to be paged out</a:t>
            </a:r>
          </a:p>
          <a:p>
            <a:pPr eaLnBrk="1" hangingPunct="1">
              <a:lnSpc>
                <a:spcPct val="90000"/>
              </a:lnSpc>
            </a:pPr>
            <a:r>
              <a:rPr lang="en-US"/>
              <a:t>Need to specify some pages locked</a:t>
            </a:r>
          </a:p>
          <a:p>
            <a:pPr lvl="1" eaLnBrk="1" hangingPunct="1">
              <a:lnSpc>
                <a:spcPct val="90000"/>
              </a:lnSpc>
            </a:pPr>
            <a:r>
              <a:rPr lang="en-US"/>
              <a:t>exempted from being target pages</a:t>
            </a:r>
          </a:p>
        </p:txBody>
      </p:sp>
      <p:sp>
        <p:nvSpPr>
          <p:cNvPr id="5" name="מציין מיקום של תאריך 4"/>
          <p:cNvSpPr>
            <a:spLocks noGrp="1"/>
          </p:cNvSpPr>
          <p:nvPr>
            <p:ph type="dt" sz="half" idx="10"/>
          </p:nvPr>
        </p:nvSpPr>
        <p:spPr/>
        <p:txBody>
          <a:bodyPr/>
          <a:lstStyle/>
          <a:p>
            <a:pPr>
              <a:defRPr/>
            </a:pPr>
            <a:fld id="{E046C9AC-5C58-4D64-B92F-6998DAD46E1B}" type="datetime12">
              <a:rPr lang="he-IL" smtClean="0"/>
              <a:pPr>
                <a:defRPr/>
              </a:pPr>
              <a:t>28/01/2024 18:13</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מציין מיקום של מספר שקופית 5"/>
          <p:cNvSpPr>
            <a:spLocks noGrp="1"/>
          </p:cNvSpPr>
          <p:nvPr>
            <p:ph type="sldNum" sz="quarter" idx="12"/>
          </p:nvPr>
        </p:nvSpPr>
        <p:spPr>
          <a:noFill/>
        </p:spPr>
        <p:txBody>
          <a:bodyPr/>
          <a:lstStyle/>
          <a:p>
            <a:fld id="{7219EFF3-C93C-4F39-B7BE-48BB077E028C}" type="slidenum">
              <a:rPr lang="he-IL" smtClean="0"/>
              <a:pPr/>
              <a:t>62</a:t>
            </a:fld>
            <a:endParaRPr lang="en-US"/>
          </a:p>
        </p:txBody>
      </p:sp>
      <p:sp>
        <p:nvSpPr>
          <p:cNvPr id="59395" name="Rectangle 2"/>
          <p:cNvSpPr>
            <a:spLocks noGrp="1" noChangeArrowheads="1"/>
          </p:cNvSpPr>
          <p:nvPr>
            <p:ph type="title"/>
          </p:nvPr>
        </p:nvSpPr>
        <p:spPr>
          <a:xfrm>
            <a:off x="2209405" y="114075"/>
            <a:ext cx="7773207" cy="656939"/>
          </a:xfrm>
        </p:spPr>
        <p:txBody>
          <a:bodyPr/>
          <a:lstStyle/>
          <a:p>
            <a:pPr eaLnBrk="1" hangingPunct="1"/>
            <a:r>
              <a:rPr lang="en-US"/>
              <a:t>Backing Store</a:t>
            </a:r>
          </a:p>
        </p:txBody>
      </p:sp>
      <p:sp>
        <p:nvSpPr>
          <p:cNvPr id="59396" name="Rectangle 3"/>
          <p:cNvSpPr>
            <a:spLocks noGrp="1" noChangeArrowheads="1"/>
          </p:cNvSpPr>
          <p:nvPr>
            <p:ph type="body" idx="1"/>
          </p:nvPr>
        </p:nvSpPr>
        <p:spPr>
          <a:xfrm>
            <a:off x="3238508" y="5496021"/>
            <a:ext cx="6257271" cy="685800"/>
          </a:xfrm>
        </p:spPr>
        <p:txBody>
          <a:bodyPr/>
          <a:lstStyle/>
          <a:p>
            <a:pPr eaLnBrk="1" hangingPunct="1">
              <a:lnSpc>
                <a:spcPct val="90000"/>
              </a:lnSpc>
              <a:buFontTx/>
              <a:buNone/>
            </a:pPr>
            <a:r>
              <a:rPr lang="en-US" dirty="0"/>
              <a:t>(a) Paging to static swap area</a:t>
            </a:r>
          </a:p>
          <a:p>
            <a:pPr eaLnBrk="1" hangingPunct="1">
              <a:lnSpc>
                <a:spcPct val="90000"/>
              </a:lnSpc>
              <a:buFontTx/>
              <a:buNone/>
            </a:pPr>
            <a:r>
              <a:rPr lang="en-US" dirty="0"/>
              <a:t>(b) Backing up pages dynamically</a:t>
            </a:r>
            <a:endParaRPr lang="en-US" sz="1900" dirty="0"/>
          </a:p>
        </p:txBody>
      </p:sp>
      <p:pic>
        <p:nvPicPr>
          <p:cNvPr id="59397" name="Picture 5"/>
          <p:cNvPicPr>
            <a:picLocks noChangeAspect="1" noChangeArrowheads="1"/>
          </p:cNvPicPr>
          <p:nvPr/>
        </p:nvPicPr>
        <p:blipFill>
          <a:blip r:embed="rId3" cstate="print"/>
          <a:srcRect/>
          <a:stretch>
            <a:fillRect/>
          </a:stretch>
        </p:blipFill>
        <p:spPr bwMode="auto">
          <a:xfrm>
            <a:off x="2088449" y="1067879"/>
            <a:ext cx="8179405" cy="4055703"/>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E19AC75F-D9FA-45C5-BBC8-50A695C19077}" type="datetime12">
              <a:rPr lang="he-IL" smtClean="0"/>
              <a:pPr>
                <a:defRPr/>
              </a:pPr>
              <a:t>28/01/2024 18:13</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932219" y="1764673"/>
            <a:ext cx="8203595" cy="4348439"/>
          </a:xfrm>
          <a:prstGeom prst="rect">
            <a:avLst/>
          </a:prstGeom>
          <a:noFill/>
          <a:ln w="9525">
            <a:noFill/>
            <a:miter lim="800000"/>
            <a:headEnd/>
            <a:tailEnd/>
          </a:ln>
        </p:spPr>
        <p:txBody>
          <a:bodyPr lIns="77161" tIns="38580" rIns="77161" bIns="38580"/>
          <a:lstStyle/>
          <a:p>
            <a:pPr marL="508638" indent="-508638">
              <a:spcBef>
                <a:spcPct val="20000"/>
              </a:spcBef>
            </a:pPr>
            <a:r>
              <a:rPr lang="en-US" dirty="0">
                <a:latin typeface="Arial" pitchFamily="34" charset="0"/>
              </a:rPr>
              <a:t>Memory management system is divided into </a:t>
            </a:r>
          </a:p>
          <a:p>
            <a:pPr marL="508638" indent="-508638">
              <a:spcBef>
                <a:spcPct val="20000"/>
              </a:spcBef>
            </a:pPr>
            <a:r>
              <a:rPr lang="en-US" dirty="0">
                <a:latin typeface="Arial" pitchFamily="34" charset="0"/>
              </a:rPr>
              <a:t>three parts:</a:t>
            </a:r>
          </a:p>
          <a:p>
            <a:pPr marL="508638" indent="-508638">
              <a:spcBef>
                <a:spcPct val="20000"/>
              </a:spcBef>
            </a:pPr>
            <a:endParaRPr lang="en-US" dirty="0">
              <a:latin typeface="Arial" pitchFamily="34" charset="0"/>
            </a:endParaRPr>
          </a:p>
          <a:p>
            <a:pPr marL="508638" indent="-508638">
              <a:spcBef>
                <a:spcPct val="20000"/>
              </a:spcBef>
              <a:buClr>
                <a:schemeClr val="accent2"/>
              </a:buClr>
              <a:buFontTx/>
              <a:buChar char="•"/>
            </a:pPr>
            <a:r>
              <a:rPr lang="en-US" sz="2000" dirty="0">
                <a:latin typeface="Arial" pitchFamily="34" charset="0"/>
              </a:rPr>
              <a:t>A low-level MMU handler.</a:t>
            </a:r>
          </a:p>
          <a:p>
            <a:pPr marL="508638" indent="-508638">
              <a:spcBef>
                <a:spcPct val="20000"/>
              </a:spcBef>
              <a:buClr>
                <a:schemeClr val="accent2"/>
              </a:buClr>
              <a:buFontTx/>
              <a:buChar char="•"/>
            </a:pPr>
            <a:r>
              <a:rPr lang="en-US" sz="2000" dirty="0">
                <a:latin typeface="Arial" pitchFamily="34" charset="0"/>
              </a:rPr>
              <a:t>A page fault handler that is part of the kernel.</a:t>
            </a:r>
          </a:p>
          <a:p>
            <a:pPr marL="508638" indent="-508638">
              <a:spcBef>
                <a:spcPct val="20000"/>
              </a:spcBef>
              <a:buClr>
                <a:schemeClr val="accent2"/>
              </a:buClr>
              <a:buFontTx/>
              <a:buChar char="•"/>
            </a:pPr>
            <a:r>
              <a:rPr lang="en-US" sz="2000" dirty="0">
                <a:latin typeface="Arial" pitchFamily="34" charset="0"/>
              </a:rPr>
              <a:t>An external pager running in user space.</a:t>
            </a:r>
          </a:p>
        </p:txBody>
      </p:sp>
      <p:sp>
        <p:nvSpPr>
          <p:cNvPr id="60419" name="Rectangle 3"/>
          <p:cNvSpPr>
            <a:spLocks noChangeArrowheads="1"/>
          </p:cNvSpPr>
          <p:nvPr/>
        </p:nvSpPr>
        <p:spPr bwMode="auto">
          <a:xfrm>
            <a:off x="1524000" y="0"/>
            <a:ext cx="9144000" cy="1338616"/>
          </a:xfrm>
          <a:prstGeom prst="rect">
            <a:avLst/>
          </a:prstGeom>
          <a:noFill/>
          <a:ln w="9525">
            <a:noFill/>
            <a:miter lim="800000"/>
            <a:headEnd/>
            <a:tailEnd/>
          </a:ln>
        </p:spPr>
        <p:txBody>
          <a:bodyPr lIns="77161" tIns="38580" rIns="77161" bIns="38580" anchor="ctr"/>
          <a:lstStyle/>
          <a:p>
            <a:r>
              <a:rPr lang="en-US" sz="3000" dirty="0">
                <a:solidFill>
                  <a:srgbClr val="FF0000"/>
                </a:solidFill>
                <a:latin typeface="Arial" pitchFamily="34" charset="0"/>
              </a:rPr>
              <a:t>Separation of Policy and Mechanism (1)</a:t>
            </a:r>
          </a:p>
        </p:txBody>
      </p:sp>
      <p:sp>
        <p:nvSpPr>
          <p:cNvPr id="60420" name="Rectangle 4"/>
          <p:cNvSpPr>
            <a:spLocks noChangeArrowheads="1"/>
          </p:cNvSpPr>
          <p:nvPr/>
        </p:nvSpPr>
        <p:spPr bwMode="auto">
          <a:xfrm>
            <a:off x="1701401" y="6565267"/>
            <a:ext cx="8713611" cy="257003"/>
          </a:xfrm>
          <a:prstGeom prst="rect">
            <a:avLst/>
          </a:prstGeom>
          <a:noFill/>
          <a:ln w="9525">
            <a:noFill/>
            <a:miter lim="800000"/>
            <a:headEnd/>
            <a:tailEnd/>
          </a:ln>
        </p:spPr>
        <p:txBody>
          <a:bodyPr lIns="77161" tIns="38580" rIns="77161" bIns="38580" anchor="ctr"/>
          <a:lstStyle/>
          <a:p>
            <a:r>
              <a:rPr lang="en-US" sz="1000" dirty="0" err="1">
                <a:solidFill>
                  <a:srgbClr val="898989"/>
                </a:solidFill>
              </a:rPr>
              <a:t>Tanenbaum</a:t>
            </a:r>
            <a:r>
              <a:rPr lang="en-US" sz="1000" dirty="0">
                <a:solidFill>
                  <a:srgbClr val="898989"/>
                </a:solidFill>
              </a:rPr>
              <a:t>, Modern Operating Systems 3 e, (c) 2008 Prentice-Hall, Inc. All rights reserved. 0-13-</a:t>
            </a:r>
            <a:r>
              <a:rPr lang="en-US" sz="1000" b="1" dirty="0">
                <a:solidFill>
                  <a:srgbClr val="898989"/>
                </a:solidFill>
              </a:rPr>
              <a:t>6006639</a:t>
            </a:r>
          </a:p>
        </p:txBody>
      </p:sp>
      <p:sp>
        <p:nvSpPr>
          <p:cNvPr id="5" name="מציין מיקום של תאריך 4"/>
          <p:cNvSpPr>
            <a:spLocks noGrp="1"/>
          </p:cNvSpPr>
          <p:nvPr>
            <p:ph type="dt" sz="half" idx="10"/>
          </p:nvPr>
        </p:nvSpPr>
        <p:spPr/>
        <p:txBody>
          <a:bodyPr/>
          <a:lstStyle/>
          <a:p>
            <a:pPr>
              <a:defRPr/>
            </a:pPr>
            <a:fld id="{C27B8881-ECDE-47FD-A397-2951647D4EF2}" type="datetime12">
              <a:rPr lang="he-IL" smtClean="0"/>
              <a:pPr>
                <a:defRPr/>
              </a:pPr>
              <a:t>28/01/2024 18:13</a:t>
            </a:fld>
            <a:endParaRPr lang="en-US"/>
          </a:p>
        </p:txBody>
      </p:sp>
      <p:sp>
        <p:nvSpPr>
          <p:cNvPr id="6" name="מציין מיקום של מספר שקופית 5"/>
          <p:cNvSpPr>
            <a:spLocks noGrp="1"/>
          </p:cNvSpPr>
          <p:nvPr>
            <p:ph type="sldNum" sz="quarter" idx="12"/>
          </p:nvPr>
        </p:nvSpPr>
        <p:spPr/>
        <p:txBody>
          <a:bodyPr/>
          <a:lstStyle/>
          <a:p>
            <a:pPr>
              <a:defRPr/>
            </a:pPr>
            <a:fld id="{3061DC7B-53AB-4EA6-B431-9AA39A66E421}" type="slidenum">
              <a:rPr lang="he-IL" smtClean="0"/>
              <a:pPr>
                <a:defRPr/>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מציין מיקום של מספר שקופית 5"/>
          <p:cNvSpPr>
            <a:spLocks noGrp="1"/>
          </p:cNvSpPr>
          <p:nvPr>
            <p:ph type="sldNum" sz="quarter" idx="12"/>
          </p:nvPr>
        </p:nvSpPr>
        <p:spPr>
          <a:noFill/>
        </p:spPr>
        <p:txBody>
          <a:bodyPr/>
          <a:lstStyle/>
          <a:p>
            <a:fld id="{B1044AA6-1473-43C0-A42E-8B3D28F0738B}" type="slidenum">
              <a:rPr lang="he-IL" smtClean="0"/>
              <a:pPr/>
              <a:t>64</a:t>
            </a:fld>
            <a:endParaRPr lang="en-US"/>
          </a:p>
        </p:txBody>
      </p:sp>
      <p:sp>
        <p:nvSpPr>
          <p:cNvPr id="61443" name="Rectangle 2"/>
          <p:cNvSpPr>
            <a:spLocks noGrp="1" noChangeArrowheads="1"/>
          </p:cNvSpPr>
          <p:nvPr>
            <p:ph type="title"/>
          </p:nvPr>
        </p:nvSpPr>
        <p:spPr>
          <a:xfrm>
            <a:off x="1524000" y="2"/>
            <a:ext cx="9144000" cy="1143459"/>
          </a:xfrm>
        </p:spPr>
        <p:txBody>
          <a:bodyPr/>
          <a:lstStyle/>
          <a:p>
            <a:pPr eaLnBrk="1" hangingPunct="1"/>
            <a:r>
              <a:rPr lang="en-US" sz="2600" dirty="0"/>
              <a:t>Separation of Policy and Mechanism</a:t>
            </a:r>
          </a:p>
        </p:txBody>
      </p:sp>
      <p:sp>
        <p:nvSpPr>
          <p:cNvPr id="61444" name="Rectangle 3"/>
          <p:cNvSpPr>
            <a:spLocks noGrp="1" noChangeArrowheads="1"/>
          </p:cNvSpPr>
          <p:nvPr>
            <p:ph type="body" idx="1"/>
          </p:nvPr>
        </p:nvSpPr>
        <p:spPr>
          <a:xfrm>
            <a:off x="2238635" y="5582605"/>
            <a:ext cx="7773207" cy="685800"/>
          </a:xfrm>
        </p:spPr>
        <p:txBody>
          <a:bodyPr/>
          <a:lstStyle/>
          <a:p>
            <a:pPr algn="ctr" eaLnBrk="1" hangingPunct="1">
              <a:buFontTx/>
              <a:buNone/>
            </a:pPr>
            <a:r>
              <a:rPr lang="en-US"/>
              <a:t>Page fault handling with an external pager</a:t>
            </a:r>
          </a:p>
        </p:txBody>
      </p:sp>
      <p:pic>
        <p:nvPicPr>
          <p:cNvPr id="61445" name="Picture 5" descr="C:\B\b4\JPG\foo\4-34.jpg"/>
          <p:cNvPicPr>
            <a:picLocks noChangeAspect="1" noChangeArrowheads="1"/>
          </p:cNvPicPr>
          <p:nvPr/>
        </p:nvPicPr>
        <p:blipFill>
          <a:blip r:embed="rId3" cstate="print"/>
          <a:srcRect/>
          <a:stretch>
            <a:fillRect/>
          </a:stretch>
        </p:blipFill>
        <p:spPr bwMode="auto">
          <a:xfrm>
            <a:off x="2333381" y="1092618"/>
            <a:ext cx="7802436" cy="4127169"/>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19A9A725-F654-47B1-B2CA-4011533A122C}" type="datetime12">
              <a:rPr lang="he-IL" smtClean="0"/>
              <a:pPr>
                <a:defRPr/>
              </a:pPr>
              <a:t>28/01/2024 18:13</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מציין מיקום של מספר שקופית 5"/>
          <p:cNvSpPr>
            <a:spLocks noGrp="1"/>
          </p:cNvSpPr>
          <p:nvPr>
            <p:ph type="sldNum" sz="quarter" idx="12"/>
          </p:nvPr>
        </p:nvSpPr>
        <p:spPr>
          <a:noFill/>
        </p:spPr>
        <p:txBody>
          <a:bodyPr/>
          <a:lstStyle/>
          <a:p>
            <a:fld id="{4EB2387E-85CB-4EC4-BCAF-DD810AFD9CDD}" type="slidenum">
              <a:rPr lang="he-IL" smtClean="0"/>
              <a:pPr/>
              <a:t>65</a:t>
            </a:fld>
            <a:endParaRPr lang="en-US"/>
          </a:p>
        </p:txBody>
      </p:sp>
      <p:sp>
        <p:nvSpPr>
          <p:cNvPr id="62467" name="Rectangle 2"/>
          <p:cNvSpPr>
            <a:spLocks noGrp="1" noChangeArrowheads="1"/>
          </p:cNvSpPr>
          <p:nvPr>
            <p:ph type="title"/>
          </p:nvPr>
        </p:nvSpPr>
        <p:spPr>
          <a:xfrm>
            <a:off x="2070312" y="2"/>
            <a:ext cx="7772199" cy="1143459"/>
          </a:xfrm>
        </p:spPr>
        <p:txBody>
          <a:bodyPr/>
          <a:lstStyle/>
          <a:p>
            <a:pPr eaLnBrk="1" hangingPunct="1"/>
            <a:r>
              <a:rPr lang="en-US"/>
              <a:t>Segmentation (1)</a:t>
            </a:r>
          </a:p>
        </p:txBody>
      </p:sp>
      <p:sp>
        <p:nvSpPr>
          <p:cNvPr id="62468" name="Rectangle 3"/>
          <p:cNvSpPr>
            <a:spLocks noGrp="1" noChangeArrowheads="1"/>
          </p:cNvSpPr>
          <p:nvPr>
            <p:ph type="body" idx="1"/>
          </p:nvPr>
        </p:nvSpPr>
        <p:spPr>
          <a:xfrm>
            <a:off x="2058216" y="5810753"/>
            <a:ext cx="8394095" cy="628079"/>
          </a:xfrm>
        </p:spPr>
        <p:txBody>
          <a:bodyPr/>
          <a:lstStyle/>
          <a:p>
            <a:pPr eaLnBrk="1" hangingPunct="1">
              <a:lnSpc>
                <a:spcPct val="90000"/>
              </a:lnSpc>
            </a:pPr>
            <a:r>
              <a:rPr lang="en-US" sz="1900" dirty="0"/>
              <a:t>One-dimensional address space with growing tables</a:t>
            </a:r>
          </a:p>
          <a:p>
            <a:pPr eaLnBrk="1" hangingPunct="1">
              <a:lnSpc>
                <a:spcPct val="90000"/>
              </a:lnSpc>
            </a:pPr>
            <a:r>
              <a:rPr lang="en-US" sz="1900" dirty="0"/>
              <a:t>One table may bump into another</a:t>
            </a:r>
          </a:p>
          <a:p>
            <a:pPr eaLnBrk="1" hangingPunct="1">
              <a:lnSpc>
                <a:spcPct val="90000"/>
              </a:lnSpc>
              <a:buFontTx/>
              <a:buNone/>
            </a:pPr>
            <a:endParaRPr lang="en-US" sz="1900" dirty="0"/>
          </a:p>
        </p:txBody>
      </p:sp>
      <p:pic>
        <p:nvPicPr>
          <p:cNvPr id="62469" name="Picture 5" descr="C:\B\b4\JPG\foo\4-35.jpg"/>
          <p:cNvPicPr>
            <a:picLocks noChangeAspect="1" noChangeArrowheads="1"/>
          </p:cNvPicPr>
          <p:nvPr/>
        </p:nvPicPr>
        <p:blipFill>
          <a:blip r:embed="rId3" cstate="print"/>
          <a:srcRect/>
          <a:stretch>
            <a:fillRect/>
          </a:stretch>
        </p:blipFill>
        <p:spPr bwMode="auto">
          <a:xfrm>
            <a:off x="3687038" y="1041767"/>
            <a:ext cx="5015492" cy="4488623"/>
          </a:xfrm>
          <a:prstGeom prst="rect">
            <a:avLst/>
          </a:prstGeom>
          <a:noFill/>
          <a:ln w="9525">
            <a:noFill/>
            <a:miter lim="800000"/>
            <a:headEnd/>
            <a:tailEnd/>
          </a:ln>
        </p:spPr>
      </p:pic>
      <p:cxnSp>
        <p:nvCxnSpPr>
          <p:cNvPr id="62470" name="מחבר ישר 7"/>
          <p:cNvCxnSpPr>
            <a:cxnSpLocks noChangeShapeType="1"/>
          </p:cNvCxnSpPr>
          <p:nvPr/>
        </p:nvCxnSpPr>
        <p:spPr bwMode="auto">
          <a:xfrm>
            <a:off x="5099153" y="4422655"/>
            <a:ext cx="1493763" cy="38483"/>
          </a:xfrm>
          <a:prstGeom prst="line">
            <a:avLst/>
          </a:prstGeom>
          <a:noFill/>
          <a:ln w="9525" algn="ctr">
            <a:solidFill>
              <a:schemeClr val="tx1"/>
            </a:solidFill>
            <a:round/>
            <a:headEnd/>
            <a:tailEnd type="arrow" w="med" len="med"/>
          </a:ln>
        </p:spPr>
      </p:cxnSp>
      <p:cxnSp>
        <p:nvCxnSpPr>
          <p:cNvPr id="62471" name="מחבר ישר 8"/>
          <p:cNvCxnSpPr>
            <a:cxnSpLocks noChangeShapeType="1"/>
          </p:cNvCxnSpPr>
          <p:nvPr/>
        </p:nvCxnSpPr>
        <p:spPr bwMode="auto">
          <a:xfrm>
            <a:off x="5053795" y="4209634"/>
            <a:ext cx="1492755" cy="37107"/>
          </a:xfrm>
          <a:prstGeom prst="line">
            <a:avLst/>
          </a:prstGeom>
          <a:noFill/>
          <a:ln w="9525" algn="ctr">
            <a:solidFill>
              <a:schemeClr val="tx1"/>
            </a:solidFill>
            <a:round/>
            <a:headEnd/>
            <a:tailEnd type="arrow" w="med" len="med"/>
          </a:ln>
        </p:spPr>
      </p:cxnSp>
      <p:cxnSp>
        <p:nvCxnSpPr>
          <p:cNvPr id="62472" name="מחבר ישר 9"/>
          <p:cNvCxnSpPr>
            <a:cxnSpLocks noChangeShapeType="1"/>
          </p:cNvCxnSpPr>
          <p:nvPr/>
        </p:nvCxnSpPr>
        <p:spPr bwMode="auto">
          <a:xfrm>
            <a:off x="5099153" y="4021351"/>
            <a:ext cx="1493763" cy="37108"/>
          </a:xfrm>
          <a:prstGeom prst="line">
            <a:avLst/>
          </a:prstGeom>
          <a:noFill/>
          <a:ln w="9525" algn="ctr">
            <a:solidFill>
              <a:schemeClr val="tx1"/>
            </a:solidFill>
            <a:round/>
            <a:headEnd/>
            <a:tailEnd type="arrow" w="med" len="med"/>
          </a:ln>
        </p:spPr>
      </p:cxnSp>
      <p:sp>
        <p:nvSpPr>
          <p:cNvPr id="9" name="מציין מיקום של תאריך 8"/>
          <p:cNvSpPr>
            <a:spLocks noGrp="1"/>
          </p:cNvSpPr>
          <p:nvPr>
            <p:ph type="dt" sz="half" idx="10"/>
          </p:nvPr>
        </p:nvSpPr>
        <p:spPr/>
        <p:txBody>
          <a:bodyPr/>
          <a:lstStyle/>
          <a:p>
            <a:pPr>
              <a:defRPr/>
            </a:pPr>
            <a:fld id="{FF2DD1C8-FAE5-45E5-A081-D1CA841529F5}" type="datetime12">
              <a:rPr lang="he-IL" smtClean="0"/>
              <a:pPr>
                <a:defRPr/>
              </a:pPr>
              <a:t>28/01/2024 18:13</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מציין מיקום של מספר שקופית 5"/>
          <p:cNvSpPr>
            <a:spLocks noGrp="1"/>
          </p:cNvSpPr>
          <p:nvPr>
            <p:ph type="sldNum" sz="quarter" idx="12"/>
          </p:nvPr>
        </p:nvSpPr>
        <p:spPr>
          <a:noFill/>
        </p:spPr>
        <p:txBody>
          <a:bodyPr/>
          <a:lstStyle/>
          <a:p>
            <a:fld id="{A29344D5-C8FE-4E8D-88C4-1F6E480D4E6F}" type="slidenum">
              <a:rPr lang="he-IL" smtClean="0"/>
              <a:pPr/>
              <a:t>66</a:t>
            </a:fld>
            <a:endParaRPr lang="en-US"/>
          </a:p>
        </p:txBody>
      </p:sp>
      <p:sp>
        <p:nvSpPr>
          <p:cNvPr id="63491" name="Rectangle 2"/>
          <p:cNvSpPr>
            <a:spLocks noGrp="1" noChangeArrowheads="1"/>
          </p:cNvSpPr>
          <p:nvPr>
            <p:ph type="title"/>
          </p:nvPr>
        </p:nvSpPr>
        <p:spPr>
          <a:xfrm>
            <a:off x="2126756" y="2"/>
            <a:ext cx="7772199" cy="1143459"/>
          </a:xfrm>
        </p:spPr>
        <p:txBody>
          <a:bodyPr/>
          <a:lstStyle/>
          <a:p>
            <a:pPr eaLnBrk="1" hangingPunct="1"/>
            <a:r>
              <a:rPr lang="en-US"/>
              <a:t>Segmentation (2)</a:t>
            </a:r>
          </a:p>
        </p:txBody>
      </p:sp>
      <p:sp>
        <p:nvSpPr>
          <p:cNvPr id="63492" name="Rectangle 3"/>
          <p:cNvSpPr>
            <a:spLocks noGrp="1" noChangeArrowheads="1"/>
          </p:cNvSpPr>
          <p:nvPr>
            <p:ph type="body" idx="1"/>
          </p:nvPr>
        </p:nvSpPr>
        <p:spPr>
          <a:xfrm>
            <a:off x="1580450" y="5895967"/>
            <a:ext cx="9087556" cy="486519"/>
          </a:xfrm>
        </p:spPr>
        <p:txBody>
          <a:bodyPr/>
          <a:lstStyle/>
          <a:p>
            <a:pPr algn="ctr" eaLnBrk="1" hangingPunct="1">
              <a:lnSpc>
                <a:spcPct val="90000"/>
              </a:lnSpc>
              <a:buFontTx/>
              <a:buNone/>
            </a:pPr>
            <a:r>
              <a:rPr lang="en-US" dirty="0"/>
              <a:t>Allows each table to grow or shrink, independently</a:t>
            </a:r>
            <a:endParaRPr lang="en-US" sz="1900" dirty="0"/>
          </a:p>
        </p:txBody>
      </p:sp>
      <p:pic>
        <p:nvPicPr>
          <p:cNvPr id="63493" name="Picture 5" descr="C:\B\b4\JPG\foo\4-36.jpg"/>
          <p:cNvPicPr>
            <a:picLocks noChangeAspect="1" noChangeArrowheads="1"/>
          </p:cNvPicPr>
          <p:nvPr/>
        </p:nvPicPr>
        <p:blipFill>
          <a:blip r:embed="rId3" cstate="print"/>
          <a:srcRect/>
          <a:stretch>
            <a:fillRect/>
          </a:stretch>
        </p:blipFill>
        <p:spPr bwMode="auto">
          <a:xfrm>
            <a:off x="2288019" y="1214928"/>
            <a:ext cx="7829651" cy="4030965"/>
          </a:xfrm>
          <a:prstGeom prst="rect">
            <a:avLst/>
          </a:prstGeom>
          <a:noFill/>
          <a:ln w="9525">
            <a:noFill/>
            <a:miter lim="800000"/>
            <a:headEnd/>
            <a:tailEnd/>
          </a:ln>
        </p:spPr>
      </p:pic>
      <p:sp>
        <p:nvSpPr>
          <p:cNvPr id="63494" name="TextBox 5"/>
          <p:cNvSpPr txBox="1">
            <a:spLocks noChangeArrowheads="1"/>
          </p:cNvSpPr>
          <p:nvPr/>
        </p:nvSpPr>
        <p:spPr bwMode="auto">
          <a:xfrm>
            <a:off x="3136705" y="415057"/>
            <a:ext cx="1232103" cy="343159"/>
          </a:xfrm>
          <a:prstGeom prst="rect">
            <a:avLst/>
          </a:prstGeom>
          <a:noFill/>
          <a:ln w="9525">
            <a:noFill/>
            <a:miter lim="800000"/>
            <a:headEnd/>
            <a:tailEnd/>
          </a:ln>
        </p:spPr>
        <p:txBody>
          <a:bodyPr wrap="square" lIns="65520" tIns="32760" rIns="65520" bIns="32760">
            <a:spAutoFit/>
          </a:bodyPr>
          <a:lstStyle/>
          <a:p>
            <a:r>
              <a:rPr lang="en-US" dirty="0"/>
              <a:t>A[0..10k]</a:t>
            </a:r>
            <a:endParaRPr lang="he-IL" dirty="0"/>
          </a:p>
        </p:txBody>
      </p:sp>
      <p:sp>
        <p:nvSpPr>
          <p:cNvPr id="7" name="מציין מיקום של תאריך 6"/>
          <p:cNvSpPr>
            <a:spLocks noGrp="1"/>
          </p:cNvSpPr>
          <p:nvPr>
            <p:ph type="dt" sz="half" idx="10"/>
          </p:nvPr>
        </p:nvSpPr>
        <p:spPr/>
        <p:txBody>
          <a:bodyPr/>
          <a:lstStyle/>
          <a:p>
            <a:pPr>
              <a:defRPr/>
            </a:pPr>
            <a:fld id="{DD559236-49EC-4676-B0E1-FF67D84B0D6B}" type="datetime12">
              <a:rPr lang="he-IL" smtClean="0"/>
              <a:pPr>
                <a:defRPr/>
              </a:pPr>
              <a:t>28/01/2024 18:13</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מציין מיקום של מספר שקופית 5"/>
          <p:cNvSpPr>
            <a:spLocks noGrp="1"/>
          </p:cNvSpPr>
          <p:nvPr>
            <p:ph type="sldNum" sz="quarter" idx="12"/>
          </p:nvPr>
        </p:nvSpPr>
        <p:spPr>
          <a:noFill/>
        </p:spPr>
        <p:txBody>
          <a:bodyPr/>
          <a:lstStyle/>
          <a:p>
            <a:fld id="{12B4E23E-C477-4C49-BD2B-1B1D2B611FE4}" type="slidenum">
              <a:rPr lang="he-IL" smtClean="0"/>
              <a:pPr/>
              <a:t>67</a:t>
            </a:fld>
            <a:endParaRPr lang="en-US"/>
          </a:p>
        </p:txBody>
      </p:sp>
      <p:sp>
        <p:nvSpPr>
          <p:cNvPr id="64515" name="Rectangle 2"/>
          <p:cNvSpPr>
            <a:spLocks noGrp="1" noChangeArrowheads="1"/>
          </p:cNvSpPr>
          <p:nvPr>
            <p:ph type="title"/>
          </p:nvPr>
        </p:nvSpPr>
        <p:spPr/>
        <p:txBody>
          <a:bodyPr/>
          <a:lstStyle/>
          <a:p>
            <a:pPr eaLnBrk="1" hangingPunct="1"/>
            <a:r>
              <a:rPr lang="en-US"/>
              <a:t>Segmentation (3)</a:t>
            </a:r>
          </a:p>
        </p:txBody>
      </p:sp>
      <p:sp>
        <p:nvSpPr>
          <p:cNvPr id="64516" name="Rectangle 3"/>
          <p:cNvSpPr>
            <a:spLocks noGrp="1" noChangeArrowheads="1"/>
          </p:cNvSpPr>
          <p:nvPr>
            <p:ph type="body" idx="1"/>
          </p:nvPr>
        </p:nvSpPr>
        <p:spPr>
          <a:xfrm>
            <a:off x="2865572" y="5971553"/>
            <a:ext cx="6888239" cy="886455"/>
          </a:xfrm>
        </p:spPr>
        <p:txBody>
          <a:bodyPr/>
          <a:lstStyle/>
          <a:p>
            <a:pPr algn="ctr" eaLnBrk="1" hangingPunct="1">
              <a:buFontTx/>
              <a:buNone/>
            </a:pPr>
            <a:r>
              <a:rPr lang="en-US" dirty="0"/>
              <a:t>Comparison of paging and segmentation</a:t>
            </a:r>
            <a:endParaRPr lang="en-US" sz="1900" dirty="0"/>
          </a:p>
        </p:txBody>
      </p:sp>
      <p:pic>
        <p:nvPicPr>
          <p:cNvPr id="64517" name="Picture 5"/>
          <p:cNvPicPr>
            <a:picLocks noChangeAspect="1" noChangeArrowheads="1"/>
          </p:cNvPicPr>
          <p:nvPr/>
        </p:nvPicPr>
        <p:blipFill>
          <a:blip r:embed="rId3" cstate="print"/>
          <a:srcRect/>
          <a:stretch>
            <a:fillRect/>
          </a:stretch>
        </p:blipFill>
        <p:spPr bwMode="auto">
          <a:xfrm>
            <a:off x="3352401" y="968919"/>
            <a:ext cx="5630333" cy="4938035"/>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525C659E-3D25-461D-91F5-53E7540B950E}" type="datetime12">
              <a:rPr lang="he-IL" smtClean="0"/>
              <a:pPr>
                <a:defRPr/>
              </a:pPr>
              <a:t>28/01/2024 18:13</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מציין מיקום של מספר שקופית 5"/>
          <p:cNvSpPr>
            <a:spLocks noGrp="1"/>
          </p:cNvSpPr>
          <p:nvPr>
            <p:ph type="sldNum" sz="quarter" idx="12"/>
          </p:nvPr>
        </p:nvSpPr>
        <p:spPr>
          <a:noFill/>
        </p:spPr>
        <p:txBody>
          <a:bodyPr/>
          <a:lstStyle/>
          <a:p>
            <a:fld id="{08C2F750-E29E-4620-9F82-BAA1AE75E773}" type="slidenum">
              <a:rPr lang="he-IL" smtClean="0"/>
              <a:pPr/>
              <a:t>68</a:t>
            </a:fld>
            <a:endParaRPr lang="en-US"/>
          </a:p>
        </p:txBody>
      </p:sp>
      <p:sp>
        <p:nvSpPr>
          <p:cNvPr id="65539" name="Rectangle 2"/>
          <p:cNvSpPr>
            <a:spLocks noGrp="1" noChangeArrowheads="1"/>
          </p:cNvSpPr>
          <p:nvPr>
            <p:ph type="title"/>
          </p:nvPr>
        </p:nvSpPr>
        <p:spPr>
          <a:xfrm>
            <a:off x="1524000" y="2"/>
            <a:ext cx="9144000" cy="1143459"/>
          </a:xfrm>
        </p:spPr>
        <p:txBody>
          <a:bodyPr/>
          <a:lstStyle/>
          <a:p>
            <a:pPr eaLnBrk="1" hangingPunct="1"/>
            <a:r>
              <a:rPr lang="en-US" dirty="0"/>
              <a:t>Implementation of Pure Segmentation</a:t>
            </a:r>
            <a:endParaRPr lang="en-US" sz="2600" dirty="0"/>
          </a:p>
        </p:txBody>
      </p:sp>
      <p:sp>
        <p:nvSpPr>
          <p:cNvPr id="65540" name="Rectangle 3"/>
          <p:cNvSpPr>
            <a:spLocks noGrp="1" noChangeArrowheads="1"/>
          </p:cNvSpPr>
          <p:nvPr>
            <p:ph type="body" idx="1"/>
          </p:nvPr>
        </p:nvSpPr>
        <p:spPr>
          <a:xfrm>
            <a:off x="1905000" y="5610096"/>
            <a:ext cx="8763000" cy="714661"/>
          </a:xfrm>
        </p:spPr>
        <p:txBody>
          <a:bodyPr/>
          <a:lstStyle/>
          <a:p>
            <a:pPr eaLnBrk="1" hangingPunct="1">
              <a:lnSpc>
                <a:spcPct val="90000"/>
              </a:lnSpc>
              <a:buFontTx/>
              <a:buNone/>
            </a:pPr>
            <a:r>
              <a:rPr lang="en-US" dirty="0"/>
              <a:t>(a)-(d) Development of </a:t>
            </a:r>
            <a:r>
              <a:rPr lang="en-US" dirty="0" err="1"/>
              <a:t>checkerboarding</a:t>
            </a:r>
            <a:endParaRPr lang="en-US" dirty="0"/>
          </a:p>
          <a:p>
            <a:pPr eaLnBrk="1" hangingPunct="1">
              <a:lnSpc>
                <a:spcPct val="90000"/>
              </a:lnSpc>
              <a:buFontTx/>
              <a:buNone/>
            </a:pPr>
            <a:r>
              <a:rPr lang="en-US" dirty="0"/>
              <a:t>(e) Removal of the </a:t>
            </a:r>
            <a:r>
              <a:rPr lang="en-US" dirty="0" err="1"/>
              <a:t>checkerboarding</a:t>
            </a:r>
            <a:r>
              <a:rPr lang="en-US" dirty="0"/>
              <a:t> by compaction</a:t>
            </a:r>
            <a:endParaRPr lang="en-US" sz="1600" dirty="0"/>
          </a:p>
        </p:txBody>
      </p:sp>
      <p:pic>
        <p:nvPicPr>
          <p:cNvPr id="65541" name="Picture 6"/>
          <p:cNvPicPr>
            <a:picLocks noChangeAspect="1" noChangeArrowheads="1"/>
          </p:cNvPicPr>
          <p:nvPr/>
        </p:nvPicPr>
        <p:blipFill>
          <a:blip r:embed="rId3" cstate="print"/>
          <a:srcRect/>
          <a:stretch>
            <a:fillRect/>
          </a:stretch>
        </p:blipFill>
        <p:spPr bwMode="auto">
          <a:xfrm>
            <a:off x="2219476" y="1076116"/>
            <a:ext cx="7874000" cy="4014472"/>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0DFE311E-908D-45B0-A358-D2A2080AC1B7}" type="datetime12">
              <a:rPr lang="he-IL" smtClean="0"/>
              <a:pPr>
                <a:defRPr/>
              </a:pPr>
              <a:t>28/01/2024 18:13</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מציין מיקום של מספר שקופית 5"/>
          <p:cNvSpPr>
            <a:spLocks noGrp="1"/>
          </p:cNvSpPr>
          <p:nvPr>
            <p:ph type="sldNum" sz="quarter" idx="12"/>
          </p:nvPr>
        </p:nvSpPr>
        <p:spPr>
          <a:noFill/>
        </p:spPr>
        <p:txBody>
          <a:bodyPr/>
          <a:lstStyle/>
          <a:p>
            <a:fld id="{004B42B7-FF2D-4AA2-9F21-1B441FCFB8E1}" type="slidenum">
              <a:rPr lang="he-IL" smtClean="0"/>
              <a:pPr/>
              <a:t>69</a:t>
            </a:fld>
            <a:endParaRPr lang="en-US"/>
          </a:p>
        </p:txBody>
      </p:sp>
      <p:sp>
        <p:nvSpPr>
          <p:cNvPr id="66563" name="Rectangle 2"/>
          <p:cNvSpPr>
            <a:spLocks noGrp="1" noChangeArrowheads="1"/>
          </p:cNvSpPr>
          <p:nvPr>
            <p:ph type="title"/>
          </p:nvPr>
        </p:nvSpPr>
        <p:spPr>
          <a:xfrm>
            <a:off x="1524000" y="2"/>
            <a:ext cx="9144000" cy="1143459"/>
          </a:xfrm>
        </p:spPr>
        <p:txBody>
          <a:bodyPr/>
          <a:lstStyle/>
          <a:p>
            <a:pPr eaLnBrk="1" hangingPunct="1"/>
            <a:r>
              <a:rPr lang="en-US" sz="2600" dirty="0"/>
              <a:t>Segmentation with Paging: MULTICS (1)</a:t>
            </a:r>
          </a:p>
        </p:txBody>
      </p:sp>
      <p:sp>
        <p:nvSpPr>
          <p:cNvPr id="66564" name="Rectangle 3"/>
          <p:cNvSpPr>
            <a:spLocks noGrp="1" noChangeArrowheads="1"/>
          </p:cNvSpPr>
          <p:nvPr>
            <p:ph type="body" idx="1"/>
          </p:nvPr>
        </p:nvSpPr>
        <p:spPr>
          <a:xfrm>
            <a:off x="2107599" y="5610102"/>
            <a:ext cx="9347603" cy="658313"/>
          </a:xfrm>
        </p:spPr>
        <p:txBody>
          <a:bodyPr/>
          <a:lstStyle/>
          <a:p>
            <a:pPr eaLnBrk="1" hangingPunct="1">
              <a:lnSpc>
                <a:spcPct val="90000"/>
              </a:lnSpc>
            </a:pPr>
            <a:r>
              <a:rPr lang="en-US" dirty="0"/>
              <a:t>Descriptor segment points to page tables</a:t>
            </a:r>
          </a:p>
          <a:p>
            <a:pPr eaLnBrk="1" hangingPunct="1">
              <a:lnSpc>
                <a:spcPct val="90000"/>
              </a:lnSpc>
            </a:pPr>
            <a:r>
              <a:rPr lang="en-US" dirty="0"/>
              <a:t>Segment descriptor – numbers are field lengths</a:t>
            </a:r>
            <a:endParaRPr lang="en-US" sz="1600" dirty="0"/>
          </a:p>
        </p:txBody>
      </p:sp>
      <p:pic>
        <p:nvPicPr>
          <p:cNvPr id="66565" name="Picture 6"/>
          <p:cNvPicPr>
            <a:picLocks noChangeAspect="1" noChangeArrowheads="1"/>
          </p:cNvPicPr>
          <p:nvPr/>
        </p:nvPicPr>
        <p:blipFill>
          <a:blip r:embed="rId3" cstate="print"/>
          <a:srcRect b="46497"/>
          <a:stretch>
            <a:fillRect/>
          </a:stretch>
        </p:blipFill>
        <p:spPr bwMode="auto">
          <a:xfrm>
            <a:off x="1524002" y="1256164"/>
            <a:ext cx="4671787" cy="3881161"/>
          </a:xfrm>
          <a:prstGeom prst="rect">
            <a:avLst/>
          </a:prstGeom>
          <a:noFill/>
          <a:ln w="9525">
            <a:noFill/>
            <a:miter lim="800000"/>
            <a:headEnd/>
            <a:tailEnd/>
          </a:ln>
        </p:spPr>
      </p:pic>
      <p:pic>
        <p:nvPicPr>
          <p:cNvPr id="66566" name="Picture 7"/>
          <p:cNvPicPr>
            <a:picLocks noChangeAspect="1" noChangeArrowheads="1"/>
          </p:cNvPicPr>
          <p:nvPr/>
        </p:nvPicPr>
        <p:blipFill>
          <a:blip r:embed="rId3" cstate="print"/>
          <a:srcRect t="60074" b="2759"/>
          <a:stretch>
            <a:fillRect/>
          </a:stretch>
        </p:blipFill>
        <p:spPr bwMode="auto">
          <a:xfrm>
            <a:off x="6134306" y="2053285"/>
            <a:ext cx="3990421" cy="2545295"/>
          </a:xfrm>
          <a:prstGeom prst="rect">
            <a:avLst/>
          </a:prstGeom>
          <a:noFill/>
          <a:ln w="9525">
            <a:noFill/>
            <a:miter lim="800000"/>
            <a:headEnd/>
            <a:tailEnd/>
          </a:ln>
        </p:spPr>
      </p:pic>
      <p:sp>
        <p:nvSpPr>
          <p:cNvPr id="8" name="מציין מיקום של תאריך 7"/>
          <p:cNvSpPr>
            <a:spLocks noGrp="1"/>
          </p:cNvSpPr>
          <p:nvPr>
            <p:ph type="dt" sz="half" idx="10"/>
          </p:nvPr>
        </p:nvSpPr>
        <p:spPr/>
        <p:txBody>
          <a:bodyPr/>
          <a:lstStyle/>
          <a:p>
            <a:pPr>
              <a:defRPr/>
            </a:pPr>
            <a:fld id="{8921AD45-C04D-46B2-B90D-007546D20792}" type="datetime12">
              <a:rPr lang="he-IL" smtClean="0"/>
              <a:pPr>
                <a:defRPr/>
              </a:pPr>
              <a:t>28/01/2024 18:13</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מציין מיקום של מספר שקופית 5"/>
          <p:cNvSpPr>
            <a:spLocks noGrp="1"/>
          </p:cNvSpPr>
          <p:nvPr>
            <p:ph type="sldNum" sz="quarter" idx="12"/>
          </p:nvPr>
        </p:nvSpPr>
        <p:spPr>
          <a:noFill/>
        </p:spPr>
        <p:txBody>
          <a:bodyPr/>
          <a:lstStyle/>
          <a:p>
            <a:fld id="{AABB0922-B5A6-4339-89BD-1FA4DBBDFBCF}" type="slidenum">
              <a:rPr lang="he-IL" smtClean="0"/>
              <a:pPr/>
              <a:t>70</a:t>
            </a:fld>
            <a:endParaRPr lang="en-US"/>
          </a:p>
        </p:txBody>
      </p:sp>
      <p:sp>
        <p:nvSpPr>
          <p:cNvPr id="67587" name="Rectangle 2"/>
          <p:cNvSpPr>
            <a:spLocks noGrp="1" noChangeArrowheads="1"/>
          </p:cNvSpPr>
          <p:nvPr>
            <p:ph type="title"/>
          </p:nvPr>
        </p:nvSpPr>
        <p:spPr>
          <a:xfrm>
            <a:off x="1524000" y="2"/>
            <a:ext cx="9144000" cy="1143459"/>
          </a:xfrm>
        </p:spPr>
        <p:txBody>
          <a:bodyPr/>
          <a:lstStyle/>
          <a:p>
            <a:pPr eaLnBrk="1" hangingPunct="1"/>
            <a:r>
              <a:rPr lang="en-US" sz="2600" dirty="0"/>
              <a:t>Segmentation with Paging: MULTICS (2)</a:t>
            </a:r>
          </a:p>
        </p:txBody>
      </p:sp>
      <p:sp>
        <p:nvSpPr>
          <p:cNvPr id="67588" name="Rectangle 3"/>
          <p:cNvSpPr>
            <a:spLocks noGrp="1" noChangeArrowheads="1"/>
          </p:cNvSpPr>
          <p:nvPr>
            <p:ph type="body" idx="1"/>
          </p:nvPr>
        </p:nvSpPr>
        <p:spPr>
          <a:xfrm>
            <a:off x="2209405" y="4925676"/>
            <a:ext cx="7773207" cy="1170945"/>
          </a:xfrm>
        </p:spPr>
        <p:txBody>
          <a:bodyPr/>
          <a:lstStyle/>
          <a:p>
            <a:pPr algn="ctr" eaLnBrk="1" hangingPunct="1">
              <a:buFontTx/>
              <a:buNone/>
            </a:pPr>
            <a:r>
              <a:rPr lang="en-US"/>
              <a:t>A 34-bit MULTICS virtual address</a:t>
            </a:r>
          </a:p>
        </p:txBody>
      </p:sp>
      <p:pic>
        <p:nvPicPr>
          <p:cNvPr id="67589" name="Picture 4"/>
          <p:cNvPicPr>
            <a:picLocks noChangeAspect="1" noChangeArrowheads="1"/>
          </p:cNvPicPr>
          <p:nvPr/>
        </p:nvPicPr>
        <p:blipFill>
          <a:blip r:embed="rId3" cstate="print"/>
          <a:srcRect l="24065" t="48247" r="21313" b="40150"/>
          <a:stretch>
            <a:fillRect/>
          </a:stretch>
        </p:blipFill>
        <p:spPr bwMode="auto">
          <a:xfrm>
            <a:off x="1977576" y="1723443"/>
            <a:ext cx="8045349" cy="2849025"/>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C1BFDA51-9EFF-40B2-907A-4E9BE71DBD62}" type="datetime12">
              <a:rPr lang="he-IL" smtClean="0"/>
              <a:pPr>
                <a:defRPr/>
              </a:pPr>
              <a:t>28/01/2024 18:13</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מציין מיקום של מספר שקופית 5"/>
          <p:cNvSpPr>
            <a:spLocks noGrp="1"/>
          </p:cNvSpPr>
          <p:nvPr>
            <p:ph type="sldNum" sz="quarter" idx="12"/>
          </p:nvPr>
        </p:nvSpPr>
        <p:spPr>
          <a:noFill/>
        </p:spPr>
        <p:txBody>
          <a:bodyPr/>
          <a:lstStyle/>
          <a:p>
            <a:fld id="{D050149E-A82E-44DF-B5CE-F27B29C9F3FE}" type="slidenum">
              <a:rPr lang="he-IL" smtClean="0"/>
              <a:pPr/>
              <a:t>71</a:t>
            </a:fld>
            <a:endParaRPr lang="en-US"/>
          </a:p>
        </p:txBody>
      </p:sp>
      <p:sp>
        <p:nvSpPr>
          <p:cNvPr id="68611" name="Rectangle 2"/>
          <p:cNvSpPr>
            <a:spLocks noGrp="1" noChangeArrowheads="1"/>
          </p:cNvSpPr>
          <p:nvPr>
            <p:ph type="title"/>
          </p:nvPr>
        </p:nvSpPr>
        <p:spPr>
          <a:xfrm>
            <a:off x="1524000" y="2"/>
            <a:ext cx="9144000" cy="1143459"/>
          </a:xfrm>
        </p:spPr>
        <p:txBody>
          <a:bodyPr/>
          <a:lstStyle/>
          <a:p>
            <a:pPr eaLnBrk="1" hangingPunct="1"/>
            <a:r>
              <a:rPr lang="en-US" sz="2600" dirty="0"/>
              <a:t>Segmentation with Paging: MULTICS (3)</a:t>
            </a:r>
          </a:p>
        </p:txBody>
      </p:sp>
      <p:sp>
        <p:nvSpPr>
          <p:cNvPr id="68612" name="Rectangle 3"/>
          <p:cNvSpPr>
            <a:spLocks noGrp="1" noChangeArrowheads="1"/>
          </p:cNvSpPr>
          <p:nvPr>
            <p:ph type="body" idx="1"/>
          </p:nvPr>
        </p:nvSpPr>
        <p:spPr>
          <a:xfrm>
            <a:off x="2238635" y="6086995"/>
            <a:ext cx="7773207" cy="656939"/>
          </a:xfrm>
        </p:spPr>
        <p:txBody>
          <a:bodyPr/>
          <a:lstStyle/>
          <a:p>
            <a:pPr eaLnBrk="1" hangingPunct="1">
              <a:buFontTx/>
              <a:buNone/>
            </a:pPr>
            <a:r>
              <a:rPr lang="en-US" sz="1300" dirty="0"/>
              <a:t>Conversion of a 2-part MULTICS address into a main memory address</a:t>
            </a:r>
          </a:p>
        </p:txBody>
      </p:sp>
      <p:pic>
        <p:nvPicPr>
          <p:cNvPr id="68613" name="Picture 5" descr="C:\B\b4\JPG\foo\4-41.jpg"/>
          <p:cNvPicPr>
            <a:picLocks noChangeAspect="1" noChangeArrowheads="1"/>
          </p:cNvPicPr>
          <p:nvPr/>
        </p:nvPicPr>
        <p:blipFill>
          <a:blip r:embed="rId3" cstate="print"/>
          <a:srcRect/>
          <a:stretch>
            <a:fillRect/>
          </a:stretch>
        </p:blipFill>
        <p:spPr bwMode="auto">
          <a:xfrm>
            <a:off x="2783923" y="1175079"/>
            <a:ext cx="6956779" cy="4779985"/>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CABAF821-CFD7-4A7E-8826-C61EFFDF994F}" type="datetime12">
              <a:rPr lang="he-IL" smtClean="0"/>
              <a:pPr>
                <a:defRPr/>
              </a:pPr>
              <a:t>28/01/2024 18:13</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מציין מיקום של מספר שקופית 5"/>
          <p:cNvSpPr>
            <a:spLocks noGrp="1"/>
          </p:cNvSpPr>
          <p:nvPr>
            <p:ph type="sldNum" sz="quarter" idx="12"/>
          </p:nvPr>
        </p:nvSpPr>
        <p:spPr>
          <a:noFill/>
        </p:spPr>
        <p:txBody>
          <a:bodyPr/>
          <a:lstStyle/>
          <a:p>
            <a:fld id="{0800DE86-F421-4AF3-918A-41BC33B42863}" type="slidenum">
              <a:rPr lang="he-IL" smtClean="0"/>
              <a:pPr/>
              <a:t>72</a:t>
            </a:fld>
            <a:endParaRPr lang="en-US"/>
          </a:p>
        </p:txBody>
      </p:sp>
      <p:sp>
        <p:nvSpPr>
          <p:cNvPr id="69635" name="Rectangle 2"/>
          <p:cNvSpPr>
            <a:spLocks noGrp="1" noChangeArrowheads="1"/>
          </p:cNvSpPr>
          <p:nvPr>
            <p:ph type="title"/>
          </p:nvPr>
        </p:nvSpPr>
        <p:spPr>
          <a:xfrm>
            <a:off x="1524000" y="26117"/>
            <a:ext cx="9144000" cy="1142083"/>
          </a:xfrm>
        </p:spPr>
        <p:txBody>
          <a:bodyPr/>
          <a:lstStyle/>
          <a:p>
            <a:pPr eaLnBrk="1" hangingPunct="1"/>
            <a:r>
              <a:rPr lang="en-US" sz="2600" dirty="0"/>
              <a:t>Segmentation with Paging: MULTICS (4)</a:t>
            </a:r>
          </a:p>
        </p:txBody>
      </p:sp>
      <p:sp>
        <p:nvSpPr>
          <p:cNvPr id="69636" name="Rectangle 3"/>
          <p:cNvSpPr>
            <a:spLocks noGrp="1" noChangeArrowheads="1"/>
          </p:cNvSpPr>
          <p:nvPr>
            <p:ph type="body" idx="1"/>
          </p:nvPr>
        </p:nvSpPr>
        <p:spPr>
          <a:xfrm>
            <a:off x="1723571" y="5886338"/>
            <a:ext cx="9144000" cy="857595"/>
          </a:xfrm>
        </p:spPr>
        <p:txBody>
          <a:bodyPr/>
          <a:lstStyle/>
          <a:p>
            <a:pPr eaLnBrk="1" hangingPunct="1">
              <a:lnSpc>
                <a:spcPct val="90000"/>
              </a:lnSpc>
            </a:pPr>
            <a:r>
              <a:rPr lang="en-US" sz="1600" dirty="0"/>
              <a:t>Simplified version of the </a:t>
            </a:r>
            <a:r>
              <a:rPr lang="en-US" sz="1100" dirty="0"/>
              <a:t>MULTICS</a:t>
            </a:r>
            <a:r>
              <a:rPr lang="en-US" sz="1600" dirty="0"/>
              <a:t> TLB</a:t>
            </a:r>
          </a:p>
          <a:p>
            <a:pPr eaLnBrk="1" hangingPunct="1">
              <a:lnSpc>
                <a:spcPct val="90000"/>
              </a:lnSpc>
            </a:pPr>
            <a:r>
              <a:rPr lang="en-US" sz="1600" dirty="0"/>
              <a:t>Existence of 2 page sizes makes actual TLB more complicated</a:t>
            </a:r>
          </a:p>
        </p:txBody>
      </p:sp>
      <p:pic>
        <p:nvPicPr>
          <p:cNvPr id="69637" name="Picture 5" descr="C:\B\b4\JPG\foo\4-42.jpg"/>
          <p:cNvPicPr>
            <a:picLocks noChangeAspect="1" noChangeArrowheads="1"/>
          </p:cNvPicPr>
          <p:nvPr/>
        </p:nvPicPr>
        <p:blipFill>
          <a:blip r:embed="rId3" cstate="print"/>
          <a:srcRect/>
          <a:stretch>
            <a:fillRect/>
          </a:stretch>
        </p:blipFill>
        <p:spPr bwMode="auto">
          <a:xfrm>
            <a:off x="2907907" y="1118728"/>
            <a:ext cx="6082897" cy="4502367"/>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36A0FCE4-7A5B-4DD5-84B2-8668B5E54F98}" type="datetime12">
              <a:rPr lang="he-IL" smtClean="0"/>
              <a:pPr>
                <a:defRPr/>
              </a:pPr>
              <a:t>28/01/2024 18:13</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מציין מיקום של מספר שקופית 5"/>
          <p:cNvSpPr>
            <a:spLocks noGrp="1"/>
          </p:cNvSpPr>
          <p:nvPr>
            <p:ph type="sldNum" sz="quarter" idx="12"/>
          </p:nvPr>
        </p:nvSpPr>
        <p:spPr>
          <a:noFill/>
        </p:spPr>
        <p:txBody>
          <a:bodyPr/>
          <a:lstStyle/>
          <a:p>
            <a:fld id="{C70BB871-1660-47E3-8A5E-B861B36415A2}" type="slidenum">
              <a:rPr lang="he-IL" smtClean="0"/>
              <a:pPr/>
              <a:t>73</a:t>
            </a:fld>
            <a:endParaRPr lang="en-US"/>
          </a:p>
        </p:txBody>
      </p:sp>
      <p:sp>
        <p:nvSpPr>
          <p:cNvPr id="70659" name="Rectangle 2"/>
          <p:cNvSpPr>
            <a:spLocks noGrp="1" noChangeArrowheads="1"/>
          </p:cNvSpPr>
          <p:nvPr>
            <p:ph type="title"/>
          </p:nvPr>
        </p:nvSpPr>
        <p:spPr>
          <a:xfrm>
            <a:off x="1524000" y="38483"/>
            <a:ext cx="9144000" cy="1143459"/>
          </a:xfrm>
        </p:spPr>
        <p:txBody>
          <a:bodyPr/>
          <a:lstStyle/>
          <a:p>
            <a:pPr eaLnBrk="1" hangingPunct="1"/>
            <a:r>
              <a:rPr lang="en-US" sz="2600" dirty="0"/>
              <a:t>Segmentation with Paging: Pentium (1)</a:t>
            </a:r>
            <a:endParaRPr lang="en-US" sz="2400" dirty="0"/>
          </a:p>
        </p:txBody>
      </p:sp>
      <p:sp>
        <p:nvSpPr>
          <p:cNvPr id="70660" name="Rectangle 3"/>
          <p:cNvSpPr>
            <a:spLocks noGrp="1" noChangeArrowheads="1"/>
          </p:cNvSpPr>
          <p:nvPr>
            <p:ph type="body" idx="1"/>
          </p:nvPr>
        </p:nvSpPr>
        <p:spPr>
          <a:xfrm>
            <a:off x="2209405" y="5295370"/>
            <a:ext cx="7773207" cy="801245"/>
          </a:xfrm>
        </p:spPr>
        <p:txBody>
          <a:bodyPr/>
          <a:lstStyle/>
          <a:p>
            <a:pPr algn="ctr" eaLnBrk="1" hangingPunct="1">
              <a:buFontTx/>
              <a:buNone/>
            </a:pPr>
            <a:r>
              <a:rPr lang="en-US"/>
              <a:t>A Pentium selector</a:t>
            </a:r>
          </a:p>
        </p:txBody>
      </p:sp>
      <p:pic>
        <p:nvPicPr>
          <p:cNvPr id="70661" name="Picture 5" descr="C:\B\b4\JPG\foo\4-43.jpg"/>
          <p:cNvPicPr>
            <a:picLocks noChangeAspect="1" noChangeArrowheads="1"/>
          </p:cNvPicPr>
          <p:nvPr/>
        </p:nvPicPr>
        <p:blipFill>
          <a:blip r:embed="rId3" cstate="print"/>
          <a:srcRect/>
          <a:stretch>
            <a:fillRect/>
          </a:stretch>
        </p:blipFill>
        <p:spPr bwMode="auto">
          <a:xfrm>
            <a:off x="2529931" y="1930961"/>
            <a:ext cx="7512151" cy="2570032"/>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21A1C195-E584-4991-880D-33BD726DB2D8}" type="datetime12">
              <a:rPr lang="he-IL" smtClean="0"/>
              <a:pPr>
                <a:defRPr/>
              </a:pPr>
              <a:t>28/01/2024 18:13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מציין מיקום של מספר שקופית 5"/>
          <p:cNvSpPr>
            <a:spLocks noGrp="1"/>
          </p:cNvSpPr>
          <p:nvPr>
            <p:ph type="sldNum" sz="quarter" idx="12"/>
          </p:nvPr>
        </p:nvSpPr>
        <p:spPr>
          <a:noFill/>
        </p:spPr>
        <p:txBody>
          <a:bodyPr/>
          <a:lstStyle/>
          <a:p>
            <a:fld id="{FCD275BC-896A-4BC7-AB78-8D91F984BAE7}" type="slidenum">
              <a:rPr lang="he-IL" smtClean="0"/>
              <a:pPr/>
              <a:t>74</a:t>
            </a:fld>
            <a:endParaRPr lang="en-US"/>
          </a:p>
        </p:txBody>
      </p:sp>
      <p:sp>
        <p:nvSpPr>
          <p:cNvPr id="71683" name="Rectangle 2"/>
          <p:cNvSpPr>
            <a:spLocks noGrp="1" noChangeArrowheads="1"/>
          </p:cNvSpPr>
          <p:nvPr>
            <p:ph type="title"/>
          </p:nvPr>
        </p:nvSpPr>
        <p:spPr>
          <a:xfrm>
            <a:off x="1524000" y="342221"/>
            <a:ext cx="9144000" cy="560735"/>
          </a:xfrm>
        </p:spPr>
        <p:txBody>
          <a:bodyPr/>
          <a:lstStyle/>
          <a:p>
            <a:pPr eaLnBrk="1" hangingPunct="1"/>
            <a:r>
              <a:rPr lang="en-US" sz="2600" dirty="0"/>
              <a:t>Segmentation with Paging: Pentium (2)</a:t>
            </a:r>
            <a:endParaRPr lang="en-US" sz="2400" dirty="0"/>
          </a:p>
        </p:txBody>
      </p:sp>
      <p:sp>
        <p:nvSpPr>
          <p:cNvPr id="71684" name="Rectangle 3"/>
          <p:cNvSpPr>
            <a:spLocks noGrp="1" noChangeArrowheads="1"/>
          </p:cNvSpPr>
          <p:nvPr>
            <p:ph type="body" idx="1"/>
          </p:nvPr>
        </p:nvSpPr>
        <p:spPr>
          <a:xfrm>
            <a:off x="3552979" y="5467165"/>
            <a:ext cx="6429627" cy="629452"/>
          </a:xfrm>
        </p:spPr>
        <p:txBody>
          <a:bodyPr/>
          <a:lstStyle/>
          <a:p>
            <a:pPr eaLnBrk="1" hangingPunct="1">
              <a:lnSpc>
                <a:spcPct val="90000"/>
              </a:lnSpc>
            </a:pPr>
            <a:r>
              <a:rPr lang="en-US" dirty="0"/>
              <a:t>Pentium code segment descriptor</a:t>
            </a:r>
          </a:p>
          <a:p>
            <a:pPr eaLnBrk="1" hangingPunct="1">
              <a:lnSpc>
                <a:spcPct val="90000"/>
              </a:lnSpc>
            </a:pPr>
            <a:r>
              <a:rPr lang="en-US" dirty="0"/>
              <a:t>Data segments differ slightly</a:t>
            </a:r>
            <a:endParaRPr lang="en-US" sz="1900" dirty="0"/>
          </a:p>
        </p:txBody>
      </p:sp>
      <p:pic>
        <p:nvPicPr>
          <p:cNvPr id="71685" name="Picture 4"/>
          <p:cNvPicPr>
            <a:picLocks noChangeAspect="1" noChangeArrowheads="1"/>
          </p:cNvPicPr>
          <p:nvPr/>
        </p:nvPicPr>
        <p:blipFill>
          <a:blip r:embed="rId3" cstate="print"/>
          <a:srcRect l="21773" t="45007" r="13330" b="35942"/>
          <a:stretch>
            <a:fillRect/>
          </a:stretch>
        </p:blipFill>
        <p:spPr bwMode="auto">
          <a:xfrm>
            <a:off x="2288016" y="1753669"/>
            <a:ext cx="7627056" cy="3435872"/>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AB3D956F-F690-464B-8D47-1763676B3DD2}" type="datetime12">
              <a:rPr lang="he-IL" smtClean="0"/>
              <a:pPr>
                <a:defRPr/>
              </a:pPr>
              <a:t>28/01/2024 18:13</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מציין מיקום של מספר שקופית 5"/>
          <p:cNvSpPr>
            <a:spLocks noGrp="1"/>
          </p:cNvSpPr>
          <p:nvPr>
            <p:ph type="sldNum" sz="quarter" idx="12"/>
          </p:nvPr>
        </p:nvSpPr>
        <p:spPr>
          <a:noFill/>
        </p:spPr>
        <p:txBody>
          <a:bodyPr/>
          <a:lstStyle/>
          <a:p>
            <a:fld id="{AD27065E-4B76-48D5-9EB2-7A1B322A068B}" type="slidenum">
              <a:rPr lang="he-IL" smtClean="0"/>
              <a:pPr/>
              <a:t>75</a:t>
            </a:fld>
            <a:endParaRPr lang="en-US"/>
          </a:p>
        </p:txBody>
      </p:sp>
      <p:sp>
        <p:nvSpPr>
          <p:cNvPr id="72707" name="Rectangle 2"/>
          <p:cNvSpPr>
            <a:spLocks noGrp="1" noChangeArrowheads="1"/>
          </p:cNvSpPr>
          <p:nvPr>
            <p:ph type="title"/>
          </p:nvPr>
        </p:nvSpPr>
        <p:spPr>
          <a:xfrm>
            <a:off x="1524000" y="368336"/>
            <a:ext cx="9144000" cy="520879"/>
          </a:xfrm>
        </p:spPr>
        <p:txBody>
          <a:bodyPr/>
          <a:lstStyle/>
          <a:p>
            <a:pPr eaLnBrk="1" hangingPunct="1"/>
            <a:r>
              <a:rPr lang="en-US" sz="2600" dirty="0"/>
              <a:t>Segmentation with Paging: Pentium (3)</a:t>
            </a:r>
            <a:endParaRPr lang="en-US" sz="2400" dirty="0"/>
          </a:p>
        </p:txBody>
      </p:sp>
      <p:sp>
        <p:nvSpPr>
          <p:cNvPr id="72708" name="Rectangle 3"/>
          <p:cNvSpPr>
            <a:spLocks noGrp="1" noChangeArrowheads="1"/>
          </p:cNvSpPr>
          <p:nvPr>
            <p:ph type="body" idx="1"/>
          </p:nvPr>
        </p:nvSpPr>
        <p:spPr>
          <a:xfrm>
            <a:off x="1867711" y="5638955"/>
            <a:ext cx="8456587" cy="457659"/>
          </a:xfrm>
        </p:spPr>
        <p:txBody>
          <a:bodyPr/>
          <a:lstStyle/>
          <a:p>
            <a:pPr eaLnBrk="1" hangingPunct="1">
              <a:lnSpc>
                <a:spcPct val="90000"/>
              </a:lnSpc>
              <a:buFontTx/>
              <a:buNone/>
            </a:pPr>
            <a:r>
              <a:rPr lang="en-US" sz="1900" dirty="0"/>
              <a:t>Conversion of a (selector, offset) pair to a linear address</a:t>
            </a:r>
          </a:p>
        </p:txBody>
      </p:sp>
      <p:pic>
        <p:nvPicPr>
          <p:cNvPr id="72709" name="Picture 5" descr="C:\B\b4\JPG\foo\4-45.jpg"/>
          <p:cNvPicPr>
            <a:picLocks noChangeAspect="1" noChangeArrowheads="1"/>
          </p:cNvPicPr>
          <p:nvPr/>
        </p:nvPicPr>
        <p:blipFill>
          <a:blip r:embed="rId3" cstate="print"/>
          <a:srcRect/>
          <a:stretch>
            <a:fillRect/>
          </a:stretch>
        </p:blipFill>
        <p:spPr bwMode="auto">
          <a:xfrm>
            <a:off x="2373700" y="1371600"/>
            <a:ext cx="7097889" cy="3835808"/>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2A871708-8D53-4D50-B31F-6A56CBBDFDB0}" type="datetime12">
              <a:rPr lang="he-IL" smtClean="0"/>
              <a:pPr>
                <a:defRPr/>
              </a:pPr>
              <a:t>28/01/2024 18:13</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מציין מיקום של מספר שקופית 5"/>
          <p:cNvSpPr>
            <a:spLocks noGrp="1"/>
          </p:cNvSpPr>
          <p:nvPr>
            <p:ph type="sldNum" sz="quarter" idx="12"/>
          </p:nvPr>
        </p:nvSpPr>
        <p:spPr>
          <a:noFill/>
        </p:spPr>
        <p:txBody>
          <a:bodyPr/>
          <a:lstStyle/>
          <a:p>
            <a:fld id="{25ACF322-1A93-4F41-A143-46CC3FA093C6}" type="slidenum">
              <a:rPr lang="he-IL" smtClean="0"/>
              <a:pPr/>
              <a:t>76</a:t>
            </a:fld>
            <a:endParaRPr lang="en-US"/>
          </a:p>
        </p:txBody>
      </p:sp>
      <p:sp>
        <p:nvSpPr>
          <p:cNvPr id="73731" name="Rectangle 2"/>
          <p:cNvSpPr>
            <a:spLocks noGrp="1" noChangeArrowheads="1"/>
          </p:cNvSpPr>
          <p:nvPr>
            <p:ph type="title"/>
          </p:nvPr>
        </p:nvSpPr>
        <p:spPr>
          <a:xfrm>
            <a:off x="1524000" y="38483"/>
            <a:ext cx="9144000" cy="1143459"/>
          </a:xfrm>
        </p:spPr>
        <p:txBody>
          <a:bodyPr/>
          <a:lstStyle/>
          <a:p>
            <a:pPr eaLnBrk="1" hangingPunct="1"/>
            <a:r>
              <a:rPr lang="en-US" sz="2600" dirty="0"/>
              <a:t>Segmentation with Paging: Pentium (4)</a:t>
            </a:r>
            <a:endParaRPr lang="en-US" sz="2400" dirty="0"/>
          </a:p>
        </p:txBody>
      </p:sp>
      <p:sp>
        <p:nvSpPr>
          <p:cNvPr id="73732" name="Rectangle 3"/>
          <p:cNvSpPr>
            <a:spLocks noGrp="1" noChangeArrowheads="1"/>
          </p:cNvSpPr>
          <p:nvPr>
            <p:ph type="body" idx="1"/>
          </p:nvPr>
        </p:nvSpPr>
        <p:spPr>
          <a:xfrm>
            <a:off x="2238635" y="5810753"/>
            <a:ext cx="7773207" cy="628079"/>
          </a:xfrm>
        </p:spPr>
        <p:txBody>
          <a:bodyPr/>
          <a:lstStyle/>
          <a:p>
            <a:pPr algn="ctr" eaLnBrk="1" hangingPunct="1">
              <a:buFontTx/>
              <a:buNone/>
            </a:pPr>
            <a:r>
              <a:rPr lang="en-US" sz="1900" dirty="0"/>
              <a:t>Mapping of a linear address onto a physical address</a:t>
            </a:r>
          </a:p>
        </p:txBody>
      </p:sp>
      <p:pic>
        <p:nvPicPr>
          <p:cNvPr id="73733" name="Picture 5"/>
          <p:cNvPicPr>
            <a:picLocks noChangeAspect="1" noChangeArrowheads="1"/>
          </p:cNvPicPr>
          <p:nvPr/>
        </p:nvPicPr>
        <p:blipFill>
          <a:blip r:embed="rId3" cstate="print"/>
          <a:srcRect/>
          <a:stretch>
            <a:fillRect/>
          </a:stretch>
        </p:blipFill>
        <p:spPr bwMode="auto">
          <a:xfrm>
            <a:off x="3037927" y="1665717"/>
            <a:ext cx="6031492" cy="3911396"/>
          </a:xfrm>
          <a:prstGeom prst="rect">
            <a:avLst/>
          </a:prstGeom>
          <a:noFill/>
          <a:ln w="9525">
            <a:noFill/>
            <a:miter lim="800000"/>
            <a:headEnd/>
            <a:tailEnd/>
          </a:ln>
        </p:spPr>
      </p:pic>
      <p:sp>
        <p:nvSpPr>
          <p:cNvPr id="6" name="מציין מיקום של תאריך 5"/>
          <p:cNvSpPr>
            <a:spLocks noGrp="1"/>
          </p:cNvSpPr>
          <p:nvPr>
            <p:ph type="dt" sz="half" idx="10"/>
          </p:nvPr>
        </p:nvSpPr>
        <p:spPr/>
        <p:txBody>
          <a:bodyPr/>
          <a:lstStyle/>
          <a:p>
            <a:pPr>
              <a:defRPr/>
            </a:pPr>
            <a:fld id="{BC17AB05-CC1F-468C-A272-9004DD90E647}" type="datetime12">
              <a:rPr lang="he-IL" smtClean="0"/>
              <a:pPr>
                <a:defRPr/>
              </a:pPr>
              <a:t>28/01/2024 18:13</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מציין מיקום של מספר שקופית 5"/>
          <p:cNvSpPr>
            <a:spLocks noGrp="1"/>
          </p:cNvSpPr>
          <p:nvPr>
            <p:ph type="sldNum" sz="quarter" idx="12"/>
          </p:nvPr>
        </p:nvSpPr>
        <p:spPr>
          <a:noFill/>
        </p:spPr>
        <p:txBody>
          <a:bodyPr/>
          <a:lstStyle/>
          <a:p>
            <a:fld id="{2363B365-60E5-4F7F-9807-DF404AF5ECA8}" type="slidenum">
              <a:rPr lang="he-IL" smtClean="0"/>
              <a:pPr/>
              <a:t>77</a:t>
            </a:fld>
            <a:endParaRPr lang="en-US"/>
          </a:p>
        </p:txBody>
      </p:sp>
      <p:sp>
        <p:nvSpPr>
          <p:cNvPr id="74755" name="Rectangle 2"/>
          <p:cNvSpPr>
            <a:spLocks noGrp="1" noChangeArrowheads="1"/>
          </p:cNvSpPr>
          <p:nvPr>
            <p:ph type="title"/>
          </p:nvPr>
        </p:nvSpPr>
        <p:spPr>
          <a:xfrm>
            <a:off x="1524000" y="38483"/>
            <a:ext cx="9144000" cy="1143459"/>
          </a:xfrm>
        </p:spPr>
        <p:txBody>
          <a:bodyPr/>
          <a:lstStyle/>
          <a:p>
            <a:pPr eaLnBrk="1" hangingPunct="1"/>
            <a:r>
              <a:rPr lang="en-US" sz="2600" dirty="0"/>
              <a:t>Segmentation with Paging: Pentium (5)</a:t>
            </a:r>
            <a:endParaRPr lang="en-US" sz="2400" dirty="0"/>
          </a:p>
        </p:txBody>
      </p:sp>
      <p:sp>
        <p:nvSpPr>
          <p:cNvPr id="74756" name="Rectangle 3"/>
          <p:cNvSpPr>
            <a:spLocks noGrp="1" noChangeArrowheads="1"/>
          </p:cNvSpPr>
          <p:nvPr>
            <p:ph type="body" idx="1"/>
          </p:nvPr>
        </p:nvSpPr>
        <p:spPr>
          <a:xfrm>
            <a:off x="2238635" y="5724163"/>
            <a:ext cx="7773207" cy="685800"/>
          </a:xfrm>
        </p:spPr>
        <p:txBody>
          <a:bodyPr/>
          <a:lstStyle/>
          <a:p>
            <a:pPr algn="ctr" eaLnBrk="1" hangingPunct="1">
              <a:buFontTx/>
              <a:buNone/>
            </a:pPr>
            <a:r>
              <a:rPr lang="en-US"/>
              <a:t>Protection on the Pentium</a:t>
            </a:r>
          </a:p>
        </p:txBody>
      </p:sp>
      <p:pic>
        <p:nvPicPr>
          <p:cNvPr id="74757" name="Picture 6" descr="C:\B\b4\JPG\foo\4-47.jpg"/>
          <p:cNvPicPr>
            <a:picLocks noChangeAspect="1" noChangeArrowheads="1"/>
          </p:cNvPicPr>
          <p:nvPr/>
        </p:nvPicPr>
        <p:blipFill>
          <a:blip r:embed="rId3" cstate="print"/>
          <a:srcRect/>
          <a:stretch>
            <a:fillRect/>
          </a:stretch>
        </p:blipFill>
        <p:spPr bwMode="auto">
          <a:xfrm>
            <a:off x="4191008" y="1539280"/>
            <a:ext cx="4471207" cy="3809695"/>
          </a:xfrm>
          <a:prstGeom prst="rect">
            <a:avLst/>
          </a:prstGeom>
          <a:noFill/>
          <a:ln w="9525">
            <a:noFill/>
            <a:miter lim="800000"/>
            <a:headEnd/>
            <a:tailEnd/>
          </a:ln>
        </p:spPr>
      </p:pic>
      <p:sp>
        <p:nvSpPr>
          <p:cNvPr id="74758" name="Oval 7"/>
          <p:cNvSpPr>
            <a:spLocks noChangeArrowheads="1"/>
          </p:cNvSpPr>
          <p:nvPr/>
        </p:nvSpPr>
        <p:spPr bwMode="auto">
          <a:xfrm>
            <a:off x="4204106" y="1460937"/>
            <a:ext cx="3644699" cy="3644773"/>
          </a:xfrm>
          <a:prstGeom prst="ellipse">
            <a:avLst/>
          </a:prstGeom>
          <a:noFill/>
          <a:ln w="25400">
            <a:solidFill>
              <a:schemeClr val="tx1"/>
            </a:solidFill>
            <a:round/>
            <a:headEnd/>
            <a:tailEnd/>
          </a:ln>
        </p:spPr>
        <p:txBody>
          <a:bodyPr wrap="none" lIns="59751" tIns="29875" rIns="59751" bIns="29875" anchor="ctr"/>
          <a:lstStyle/>
          <a:p>
            <a:endParaRPr lang="he-IL"/>
          </a:p>
        </p:txBody>
      </p:sp>
      <p:sp>
        <p:nvSpPr>
          <p:cNvPr id="74759" name="Rectangle 11"/>
          <p:cNvSpPr>
            <a:spLocks noChangeArrowheads="1"/>
          </p:cNvSpPr>
          <p:nvPr/>
        </p:nvSpPr>
        <p:spPr bwMode="auto">
          <a:xfrm>
            <a:off x="6324806" y="5232153"/>
            <a:ext cx="430389" cy="254255"/>
          </a:xfrm>
          <a:prstGeom prst="rect">
            <a:avLst/>
          </a:prstGeom>
          <a:solidFill>
            <a:schemeClr val="bg1"/>
          </a:solidFill>
          <a:ln w="9525">
            <a:noFill/>
            <a:miter lim="800000"/>
            <a:headEnd/>
            <a:tailEnd/>
          </a:ln>
        </p:spPr>
        <p:txBody>
          <a:bodyPr wrap="none" lIns="59751" tIns="29875" rIns="59751" bIns="29875" anchor="ctr"/>
          <a:lstStyle/>
          <a:p>
            <a:endParaRPr lang="he-IL"/>
          </a:p>
        </p:txBody>
      </p:sp>
      <p:sp>
        <p:nvSpPr>
          <p:cNvPr id="74760" name="Rectangle 8"/>
          <p:cNvSpPr>
            <a:spLocks noChangeArrowheads="1"/>
          </p:cNvSpPr>
          <p:nvPr/>
        </p:nvSpPr>
        <p:spPr bwMode="auto">
          <a:xfrm>
            <a:off x="6364114" y="5295370"/>
            <a:ext cx="557389" cy="217147"/>
          </a:xfrm>
          <a:prstGeom prst="rect">
            <a:avLst/>
          </a:prstGeom>
          <a:solidFill>
            <a:schemeClr val="bg1"/>
          </a:solidFill>
          <a:ln w="9525">
            <a:noFill/>
            <a:miter lim="800000"/>
            <a:headEnd/>
            <a:tailEnd/>
          </a:ln>
        </p:spPr>
        <p:txBody>
          <a:bodyPr wrap="none" lIns="59751" tIns="29875" rIns="59751" bIns="29875" anchor="ctr"/>
          <a:lstStyle/>
          <a:p>
            <a:pPr algn="ctr"/>
            <a:r>
              <a:rPr lang="en-US" sz="1100" dirty="0"/>
              <a:t>Level</a:t>
            </a:r>
          </a:p>
        </p:txBody>
      </p:sp>
      <p:sp>
        <p:nvSpPr>
          <p:cNvPr id="9" name="מציין מיקום של תאריך 8"/>
          <p:cNvSpPr>
            <a:spLocks noGrp="1"/>
          </p:cNvSpPr>
          <p:nvPr>
            <p:ph type="dt" sz="half" idx="10"/>
          </p:nvPr>
        </p:nvSpPr>
        <p:spPr/>
        <p:txBody>
          <a:bodyPr/>
          <a:lstStyle/>
          <a:p>
            <a:pPr>
              <a:defRPr/>
            </a:pPr>
            <a:fld id="{BD7A6398-9D55-48C2-B666-C87FB56FBECF}" type="datetime12">
              <a:rPr lang="he-IL" smtClean="0"/>
              <a:pPr>
                <a:defRPr/>
              </a:pPr>
              <a:t>28/01/2024 18:13</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כותרת 1"/>
          <p:cNvSpPr>
            <a:spLocks noGrp="1"/>
          </p:cNvSpPr>
          <p:nvPr>
            <p:ph type="title"/>
          </p:nvPr>
        </p:nvSpPr>
        <p:spPr/>
        <p:txBody>
          <a:bodyPr/>
          <a:lstStyle/>
          <a:p>
            <a:endParaRPr lang="he-IL" sz="1800"/>
          </a:p>
        </p:txBody>
      </p:sp>
      <p:sp>
        <p:nvSpPr>
          <p:cNvPr id="75779" name="מציין מיקום תוכן 2"/>
          <p:cNvSpPr>
            <a:spLocks noGrp="1"/>
          </p:cNvSpPr>
          <p:nvPr>
            <p:ph idx="1"/>
          </p:nvPr>
        </p:nvSpPr>
        <p:spPr/>
        <p:txBody>
          <a:bodyPr/>
          <a:lstStyle/>
          <a:p>
            <a:endParaRPr lang="he-IL" sz="1400"/>
          </a:p>
        </p:txBody>
      </p:sp>
      <p:sp>
        <p:nvSpPr>
          <p:cNvPr id="75780" name="מציין מיקום של מספר שקופית 3"/>
          <p:cNvSpPr>
            <a:spLocks noGrp="1"/>
          </p:cNvSpPr>
          <p:nvPr>
            <p:ph type="sldNum" sz="quarter" idx="12"/>
          </p:nvPr>
        </p:nvSpPr>
        <p:spPr>
          <a:noFill/>
        </p:spPr>
        <p:txBody>
          <a:bodyPr/>
          <a:lstStyle/>
          <a:p>
            <a:fld id="{604C9BC5-13E1-4D6C-B38A-F410E68D4909}" type="slidenum">
              <a:rPr lang="he-IL" sz="500"/>
              <a:pPr/>
              <a:t>78</a:t>
            </a:fld>
            <a:endParaRPr lang="en-US" sz="500"/>
          </a:p>
        </p:txBody>
      </p:sp>
      <p:pic>
        <p:nvPicPr>
          <p:cNvPr id="75781" name="Picture 2"/>
          <p:cNvPicPr>
            <a:picLocks noChangeAspect="1" noChangeArrowheads="1"/>
          </p:cNvPicPr>
          <p:nvPr/>
        </p:nvPicPr>
        <p:blipFill>
          <a:blip r:embed="rId3" cstate="print"/>
          <a:srcRect/>
          <a:stretch>
            <a:fillRect/>
          </a:stretch>
        </p:blipFill>
        <p:spPr bwMode="auto">
          <a:xfrm>
            <a:off x="3876530" y="252886"/>
            <a:ext cx="6791476" cy="11335628"/>
          </a:xfrm>
          <a:prstGeom prst="rect">
            <a:avLst/>
          </a:prstGeom>
          <a:noFill/>
          <a:ln w="9525">
            <a:noFill/>
            <a:miter lim="800000"/>
            <a:headEnd/>
            <a:tailEnd/>
          </a:ln>
        </p:spPr>
      </p:pic>
      <p:sp>
        <p:nvSpPr>
          <p:cNvPr id="77830" name="מלבן 5"/>
          <p:cNvSpPr>
            <a:spLocks noChangeArrowheads="1"/>
          </p:cNvSpPr>
          <p:nvPr/>
        </p:nvSpPr>
        <p:spPr bwMode="auto">
          <a:xfrm>
            <a:off x="1946333" y="890579"/>
            <a:ext cx="3492500" cy="552488"/>
          </a:xfrm>
          <a:prstGeom prst="rect">
            <a:avLst/>
          </a:prstGeom>
          <a:noFill/>
          <a:ln w="9525" algn="ctr">
            <a:solidFill>
              <a:schemeClr val="tx1"/>
            </a:solidFill>
            <a:round/>
            <a:headEnd/>
            <a:tailEnd/>
          </a:ln>
        </p:spPr>
        <p:txBody>
          <a:bodyPr lIns="65520" tIns="32760" rIns="65520" bIns="32760"/>
          <a:lstStyle/>
          <a:p>
            <a:r>
              <a:rPr lang="en-US" sz="1100" dirty="0"/>
              <a:t>            page                  |            offset</a:t>
            </a:r>
          </a:p>
          <a:p>
            <a:r>
              <a:rPr lang="en-US" sz="1100" dirty="0"/>
              <a:t>              6                      |             10</a:t>
            </a:r>
            <a:endParaRPr lang="he-IL" sz="1100" dirty="0"/>
          </a:p>
        </p:txBody>
      </p:sp>
      <p:sp>
        <p:nvSpPr>
          <p:cNvPr id="77831" name="מלבן 7"/>
          <p:cNvSpPr>
            <a:spLocks noChangeArrowheads="1"/>
          </p:cNvSpPr>
          <p:nvPr/>
        </p:nvSpPr>
        <p:spPr bwMode="auto">
          <a:xfrm>
            <a:off x="3206256" y="1702825"/>
            <a:ext cx="903111" cy="1521404"/>
          </a:xfrm>
          <a:prstGeom prst="rect">
            <a:avLst/>
          </a:prstGeom>
          <a:noFill/>
          <a:ln w="9525" algn="ctr">
            <a:solidFill>
              <a:schemeClr val="tx1"/>
            </a:solidFill>
            <a:round/>
            <a:headEnd/>
            <a:tailEnd/>
          </a:ln>
        </p:spPr>
        <p:txBody>
          <a:bodyPr lIns="65520" tIns="32760" rIns="65520" bIns="32760"/>
          <a:lstStyle/>
          <a:p>
            <a:endParaRPr lang="he-IL" sz="1100"/>
          </a:p>
        </p:txBody>
      </p:sp>
      <p:sp>
        <p:nvSpPr>
          <p:cNvPr id="77832" name="סוגר מסולסל שמאלי 8"/>
          <p:cNvSpPr>
            <a:spLocks/>
          </p:cNvSpPr>
          <p:nvPr/>
        </p:nvSpPr>
        <p:spPr bwMode="auto">
          <a:xfrm>
            <a:off x="2570248" y="1640979"/>
            <a:ext cx="516063" cy="1708316"/>
          </a:xfrm>
          <a:prstGeom prst="leftBrace">
            <a:avLst>
              <a:gd name="adj1" fmla="val 8328"/>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77833" name="TextBox 9"/>
          <p:cNvSpPr txBox="1">
            <a:spLocks noChangeArrowheads="1"/>
          </p:cNvSpPr>
          <p:nvPr/>
        </p:nvSpPr>
        <p:spPr bwMode="auto">
          <a:xfrm>
            <a:off x="2036042" y="2242939"/>
            <a:ext cx="616857" cy="404714"/>
          </a:xfrm>
          <a:prstGeom prst="rect">
            <a:avLst/>
          </a:prstGeom>
          <a:noFill/>
          <a:ln w="9525">
            <a:noFill/>
            <a:miter lim="800000"/>
            <a:headEnd/>
            <a:tailEnd/>
          </a:ln>
        </p:spPr>
        <p:txBody>
          <a:bodyPr lIns="65520" tIns="32760" rIns="65520" bIns="32760">
            <a:spAutoFit/>
          </a:bodyPr>
          <a:lstStyle/>
          <a:p>
            <a:r>
              <a:rPr lang="en-US" sz="1100"/>
              <a:t>2KB</a:t>
            </a:r>
          </a:p>
          <a:p>
            <a:endParaRPr lang="he-IL" sz="1100"/>
          </a:p>
        </p:txBody>
      </p:sp>
      <p:sp>
        <p:nvSpPr>
          <p:cNvPr id="77834" name="TextBox 11"/>
          <p:cNvSpPr txBox="1">
            <a:spLocks noChangeArrowheads="1"/>
          </p:cNvSpPr>
          <p:nvPr/>
        </p:nvSpPr>
        <p:spPr bwMode="auto">
          <a:xfrm>
            <a:off x="4784885" y="2620175"/>
            <a:ext cx="2822423" cy="235437"/>
          </a:xfrm>
          <a:prstGeom prst="rect">
            <a:avLst/>
          </a:prstGeom>
          <a:noFill/>
          <a:ln w="9525">
            <a:noFill/>
            <a:miter lim="800000"/>
            <a:headEnd/>
            <a:tailEnd/>
          </a:ln>
        </p:spPr>
        <p:txBody>
          <a:bodyPr wrap="square" lIns="65520" tIns="32760" rIns="65520" bIns="32760">
            <a:spAutoFit/>
          </a:bodyPr>
          <a:lstStyle/>
          <a:p>
            <a:r>
              <a:rPr lang="en-US" sz="1100" dirty="0"/>
              <a:t>Frame==2^10 word ==1KWord</a:t>
            </a:r>
            <a:endParaRPr lang="he-IL" sz="1100" dirty="0"/>
          </a:p>
        </p:txBody>
      </p:sp>
      <p:sp>
        <p:nvSpPr>
          <p:cNvPr id="77835" name="סוגר מסולסל ימני 12"/>
          <p:cNvSpPr>
            <a:spLocks/>
          </p:cNvSpPr>
          <p:nvPr/>
        </p:nvSpPr>
        <p:spPr bwMode="auto">
          <a:xfrm>
            <a:off x="4211168" y="1753677"/>
            <a:ext cx="367897" cy="1620359"/>
          </a:xfrm>
          <a:prstGeom prst="rightBrace">
            <a:avLst>
              <a:gd name="adj1" fmla="val 8345"/>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77836" name="TextBox 13"/>
          <p:cNvSpPr txBox="1">
            <a:spLocks noChangeArrowheads="1"/>
          </p:cNvSpPr>
          <p:nvPr/>
        </p:nvSpPr>
        <p:spPr bwMode="auto">
          <a:xfrm>
            <a:off x="4551851" y="2281419"/>
            <a:ext cx="616857" cy="404714"/>
          </a:xfrm>
          <a:prstGeom prst="rect">
            <a:avLst/>
          </a:prstGeom>
          <a:noFill/>
          <a:ln w="9525">
            <a:noFill/>
            <a:miter lim="800000"/>
            <a:headEnd/>
            <a:tailEnd/>
          </a:ln>
        </p:spPr>
        <p:txBody>
          <a:bodyPr lIns="65520" tIns="32760" rIns="65520" bIns="32760">
            <a:spAutoFit/>
          </a:bodyPr>
          <a:lstStyle/>
          <a:p>
            <a:r>
              <a:rPr lang="en-US" sz="1100"/>
              <a:t>1Kword</a:t>
            </a:r>
          </a:p>
          <a:p>
            <a:endParaRPr lang="he-IL" sz="1100"/>
          </a:p>
        </p:txBody>
      </p:sp>
      <p:sp>
        <p:nvSpPr>
          <p:cNvPr id="77837" name="TextBox 14"/>
          <p:cNvSpPr txBox="1">
            <a:spLocks noChangeArrowheads="1"/>
          </p:cNvSpPr>
          <p:nvPr/>
        </p:nvSpPr>
        <p:spPr bwMode="auto">
          <a:xfrm>
            <a:off x="2091478" y="3286079"/>
            <a:ext cx="1510897" cy="573991"/>
          </a:xfrm>
          <a:prstGeom prst="rect">
            <a:avLst/>
          </a:prstGeom>
          <a:noFill/>
          <a:ln w="9525">
            <a:noFill/>
            <a:miter lim="800000"/>
            <a:headEnd/>
            <a:tailEnd/>
          </a:ln>
        </p:spPr>
        <p:txBody>
          <a:bodyPr lIns="65520" tIns="32760" rIns="65520" bIns="32760">
            <a:spAutoFit/>
          </a:bodyPr>
          <a:lstStyle/>
          <a:p>
            <a:r>
              <a:rPr lang="en-US" sz="1100"/>
              <a:t>2KB==1KWord</a:t>
            </a:r>
          </a:p>
          <a:p>
            <a:r>
              <a:rPr lang="en-US" sz="1100"/>
              <a:t>Word= 2 Byte</a:t>
            </a:r>
          </a:p>
          <a:p>
            <a:endParaRPr lang="he-IL" sz="1100"/>
          </a:p>
        </p:txBody>
      </p:sp>
      <p:sp>
        <p:nvSpPr>
          <p:cNvPr id="75790" name="מלבן 5"/>
          <p:cNvSpPr>
            <a:spLocks noChangeArrowheads="1"/>
          </p:cNvSpPr>
          <p:nvPr/>
        </p:nvSpPr>
        <p:spPr bwMode="auto">
          <a:xfrm>
            <a:off x="3337285" y="3838557"/>
            <a:ext cx="3492500" cy="552488"/>
          </a:xfrm>
          <a:prstGeom prst="rect">
            <a:avLst/>
          </a:prstGeom>
          <a:noFill/>
          <a:ln w="9525" algn="ctr">
            <a:solidFill>
              <a:schemeClr val="tx1"/>
            </a:solidFill>
            <a:round/>
            <a:headEnd/>
            <a:tailEnd/>
          </a:ln>
        </p:spPr>
        <p:txBody>
          <a:bodyPr lIns="65520" tIns="32760" rIns="65520" bIns="32760"/>
          <a:lstStyle/>
          <a:p>
            <a:r>
              <a:rPr lang="en-US" sz="1100"/>
              <a:t>            page                  |            offset</a:t>
            </a:r>
          </a:p>
          <a:p>
            <a:r>
              <a:rPr lang="en-US" sz="1100"/>
              <a:t>              ??                    |             ??</a:t>
            </a:r>
            <a:endParaRPr lang="he-IL" sz="1100"/>
          </a:p>
        </p:txBody>
      </p:sp>
      <p:sp>
        <p:nvSpPr>
          <p:cNvPr id="15" name="מלבן 7"/>
          <p:cNvSpPr>
            <a:spLocks noChangeArrowheads="1"/>
          </p:cNvSpPr>
          <p:nvPr/>
        </p:nvSpPr>
        <p:spPr bwMode="auto">
          <a:xfrm>
            <a:off x="3303017" y="4469389"/>
            <a:ext cx="903111" cy="1521404"/>
          </a:xfrm>
          <a:prstGeom prst="rect">
            <a:avLst/>
          </a:prstGeom>
          <a:noFill/>
          <a:ln w="9525" algn="ctr">
            <a:solidFill>
              <a:schemeClr val="tx1"/>
            </a:solidFill>
            <a:round/>
            <a:headEnd/>
            <a:tailEnd/>
          </a:ln>
        </p:spPr>
        <p:txBody>
          <a:bodyPr lIns="65520" tIns="32760" rIns="65520" bIns="32760"/>
          <a:lstStyle/>
          <a:p>
            <a:endParaRPr lang="he-IL" sz="1100"/>
          </a:p>
        </p:txBody>
      </p:sp>
      <p:sp>
        <p:nvSpPr>
          <p:cNvPr id="16" name="סוגר מסולסל שמאלי 8"/>
          <p:cNvSpPr>
            <a:spLocks/>
          </p:cNvSpPr>
          <p:nvPr/>
        </p:nvSpPr>
        <p:spPr bwMode="auto">
          <a:xfrm>
            <a:off x="2667009" y="4407541"/>
            <a:ext cx="516063" cy="1708315"/>
          </a:xfrm>
          <a:prstGeom prst="leftBrace">
            <a:avLst>
              <a:gd name="adj1" fmla="val 8328"/>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17" name="TextBox 9"/>
          <p:cNvSpPr txBox="1">
            <a:spLocks noChangeArrowheads="1"/>
          </p:cNvSpPr>
          <p:nvPr/>
        </p:nvSpPr>
        <p:spPr bwMode="auto">
          <a:xfrm>
            <a:off x="2132804" y="5009503"/>
            <a:ext cx="616857" cy="404714"/>
          </a:xfrm>
          <a:prstGeom prst="rect">
            <a:avLst/>
          </a:prstGeom>
          <a:noFill/>
          <a:ln w="9525">
            <a:noFill/>
            <a:miter lim="800000"/>
            <a:headEnd/>
            <a:tailEnd/>
          </a:ln>
        </p:spPr>
        <p:txBody>
          <a:bodyPr lIns="65520" tIns="32760" rIns="65520" bIns="32760">
            <a:spAutoFit/>
          </a:bodyPr>
          <a:lstStyle/>
          <a:p>
            <a:r>
              <a:rPr lang="en-US" sz="1100"/>
              <a:t>512B</a:t>
            </a:r>
          </a:p>
          <a:p>
            <a:endParaRPr lang="he-IL" sz="1100"/>
          </a:p>
        </p:txBody>
      </p:sp>
      <p:sp>
        <p:nvSpPr>
          <p:cNvPr id="18" name="TextBox 11"/>
          <p:cNvSpPr txBox="1">
            <a:spLocks noChangeArrowheads="1"/>
          </p:cNvSpPr>
          <p:nvPr/>
        </p:nvSpPr>
        <p:spPr bwMode="auto">
          <a:xfrm>
            <a:off x="5300745" y="5361344"/>
            <a:ext cx="1585484" cy="912545"/>
          </a:xfrm>
          <a:prstGeom prst="rect">
            <a:avLst/>
          </a:prstGeom>
          <a:noFill/>
          <a:ln w="9525">
            <a:noFill/>
            <a:miter lim="800000"/>
            <a:headEnd/>
            <a:tailEnd/>
          </a:ln>
        </p:spPr>
        <p:txBody>
          <a:bodyPr lIns="65520" tIns="32760" rIns="65520" bIns="32760">
            <a:spAutoFit/>
          </a:bodyPr>
          <a:lstStyle/>
          <a:p>
            <a:r>
              <a:rPr lang="en-US" sz="1100"/>
              <a:t>Frame=2^9 Byte</a:t>
            </a:r>
          </a:p>
          <a:p>
            <a:r>
              <a:rPr lang="en-US" sz="1100"/>
              <a:t>Word = 1 Byte</a:t>
            </a:r>
          </a:p>
          <a:p>
            <a:r>
              <a:rPr lang="en-US" sz="1100"/>
              <a:t>Offset == 9 bit</a:t>
            </a:r>
          </a:p>
          <a:p>
            <a:r>
              <a:rPr lang="en-US" sz="1100"/>
              <a:t>Page == 7 bit</a:t>
            </a:r>
          </a:p>
          <a:p>
            <a:r>
              <a:rPr lang="en-US" sz="1100"/>
              <a:t>2^7 == 128</a:t>
            </a:r>
            <a:endParaRPr lang="he-IL" sz="1100"/>
          </a:p>
        </p:txBody>
      </p:sp>
      <p:sp>
        <p:nvSpPr>
          <p:cNvPr id="19" name="מציין מיקום של תאריך 18"/>
          <p:cNvSpPr>
            <a:spLocks noGrp="1"/>
          </p:cNvSpPr>
          <p:nvPr>
            <p:ph type="dt" sz="half" idx="10"/>
          </p:nvPr>
        </p:nvSpPr>
        <p:spPr/>
        <p:txBody>
          <a:bodyPr/>
          <a:lstStyle/>
          <a:p>
            <a:pPr>
              <a:defRPr/>
            </a:pPr>
            <a:fld id="{754D73B2-4F14-4FC8-9CCC-6A78508ED9A2}" type="datetime12">
              <a:rPr lang="he-IL" sz="800"/>
              <a:pPr>
                <a:defRPr/>
              </a:pPr>
              <a:t>28/01/2024 18:13</a:t>
            </a:fld>
            <a:endParaRPr lang="en-US" sz="500" dirty="0"/>
          </a:p>
        </p:txBody>
      </p:sp>
      <p:sp>
        <p:nvSpPr>
          <p:cNvPr id="20" name="TextBox 19"/>
          <p:cNvSpPr txBox="1"/>
          <p:nvPr/>
        </p:nvSpPr>
        <p:spPr>
          <a:xfrm>
            <a:off x="6946900" y="5600710"/>
            <a:ext cx="863600" cy="830997"/>
          </a:xfrm>
          <a:prstGeom prst="rect">
            <a:avLst/>
          </a:prstGeom>
          <a:noFill/>
        </p:spPr>
        <p:txBody>
          <a:bodyPr wrap="square" rtlCol="1">
            <a:spAutoFit/>
          </a:bodyPr>
          <a:lstStyle/>
          <a:p>
            <a:pPr algn="r" rtl="1"/>
            <a:r>
              <a:rPr lang="he-IL" sz="1200" dirty="0"/>
              <a:t>א. 128</a:t>
            </a:r>
          </a:p>
          <a:p>
            <a:pPr algn="r" rtl="1"/>
            <a:r>
              <a:rPr lang="he-IL" sz="1200" dirty="0"/>
              <a:t>ב. 256</a:t>
            </a:r>
          </a:p>
          <a:p>
            <a:pPr algn="r" rtl="1"/>
            <a:r>
              <a:rPr lang="he-IL" sz="1200" dirty="0"/>
              <a:t>ג. 512</a:t>
            </a:r>
          </a:p>
          <a:p>
            <a:pPr algn="r" rtl="1"/>
            <a:r>
              <a:rPr lang="he-IL" sz="1200" dirty="0"/>
              <a:t>ד. 1024</a:t>
            </a:r>
            <a:endParaRPr lang="he-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 calcmode="lin" valueType="num">
                                      <p:cBhvr additive="base">
                                        <p:cTn id="7" dur="500" fill="hold"/>
                                        <p:tgtEl>
                                          <p:spTgt spid="77831"/>
                                        </p:tgtEl>
                                        <p:attrNameLst>
                                          <p:attrName>ppt_x</p:attrName>
                                        </p:attrNameLst>
                                      </p:cBhvr>
                                      <p:tavLst>
                                        <p:tav tm="0">
                                          <p:val>
                                            <p:strVal val="#ppt_x"/>
                                          </p:val>
                                        </p:tav>
                                        <p:tav tm="100000">
                                          <p:val>
                                            <p:strVal val="#ppt_x"/>
                                          </p:val>
                                        </p:tav>
                                      </p:tavLst>
                                    </p:anim>
                                    <p:anim calcmode="lin" valueType="num">
                                      <p:cBhvr additive="base">
                                        <p:cTn id="8" dur="500" fill="hold"/>
                                        <p:tgtEl>
                                          <p:spTgt spid="7783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7832"/>
                                        </p:tgtEl>
                                        <p:attrNameLst>
                                          <p:attrName>style.visibility</p:attrName>
                                        </p:attrNameLst>
                                      </p:cBhvr>
                                      <p:to>
                                        <p:strVal val="visible"/>
                                      </p:to>
                                    </p:set>
                                    <p:anim calcmode="lin" valueType="num">
                                      <p:cBhvr additive="base">
                                        <p:cTn id="11" dur="500" fill="hold"/>
                                        <p:tgtEl>
                                          <p:spTgt spid="77832"/>
                                        </p:tgtEl>
                                        <p:attrNameLst>
                                          <p:attrName>ppt_x</p:attrName>
                                        </p:attrNameLst>
                                      </p:cBhvr>
                                      <p:tavLst>
                                        <p:tav tm="0">
                                          <p:val>
                                            <p:strVal val="#ppt_x"/>
                                          </p:val>
                                        </p:tav>
                                        <p:tav tm="100000">
                                          <p:val>
                                            <p:strVal val="#ppt_x"/>
                                          </p:val>
                                        </p:tav>
                                      </p:tavLst>
                                    </p:anim>
                                    <p:anim calcmode="lin" valueType="num">
                                      <p:cBhvr additive="base">
                                        <p:cTn id="12" dur="500" fill="hold"/>
                                        <p:tgtEl>
                                          <p:spTgt spid="778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7833"/>
                                        </p:tgtEl>
                                        <p:attrNameLst>
                                          <p:attrName>style.visibility</p:attrName>
                                        </p:attrNameLst>
                                      </p:cBhvr>
                                      <p:to>
                                        <p:strVal val="visible"/>
                                      </p:to>
                                    </p:set>
                                    <p:anim calcmode="lin" valueType="num">
                                      <p:cBhvr additive="base">
                                        <p:cTn id="15" dur="500" fill="hold"/>
                                        <p:tgtEl>
                                          <p:spTgt spid="77833"/>
                                        </p:tgtEl>
                                        <p:attrNameLst>
                                          <p:attrName>ppt_x</p:attrName>
                                        </p:attrNameLst>
                                      </p:cBhvr>
                                      <p:tavLst>
                                        <p:tav tm="0">
                                          <p:val>
                                            <p:strVal val="#ppt_x"/>
                                          </p:val>
                                        </p:tav>
                                        <p:tav tm="100000">
                                          <p:val>
                                            <p:strVal val="#ppt_x"/>
                                          </p:val>
                                        </p:tav>
                                      </p:tavLst>
                                    </p:anim>
                                    <p:anim calcmode="lin" valueType="num">
                                      <p:cBhvr additive="base">
                                        <p:cTn id="16" dur="500" fill="hold"/>
                                        <p:tgtEl>
                                          <p:spTgt spid="7783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7830"/>
                                        </p:tgtEl>
                                        <p:attrNameLst>
                                          <p:attrName>style.visibility</p:attrName>
                                        </p:attrNameLst>
                                      </p:cBhvr>
                                      <p:to>
                                        <p:strVal val="visible"/>
                                      </p:to>
                                    </p:set>
                                    <p:anim calcmode="lin" valueType="num">
                                      <p:cBhvr additive="base">
                                        <p:cTn id="19" dur="500" fill="hold"/>
                                        <p:tgtEl>
                                          <p:spTgt spid="77830"/>
                                        </p:tgtEl>
                                        <p:attrNameLst>
                                          <p:attrName>ppt_x</p:attrName>
                                        </p:attrNameLst>
                                      </p:cBhvr>
                                      <p:tavLst>
                                        <p:tav tm="0">
                                          <p:val>
                                            <p:strVal val="#ppt_x"/>
                                          </p:val>
                                        </p:tav>
                                        <p:tav tm="100000">
                                          <p:val>
                                            <p:strVal val="#ppt_x"/>
                                          </p:val>
                                        </p:tav>
                                      </p:tavLst>
                                    </p:anim>
                                    <p:anim calcmode="lin" valueType="num">
                                      <p:cBhvr additive="base">
                                        <p:cTn id="20" dur="500" fill="hold"/>
                                        <p:tgtEl>
                                          <p:spTgt spid="778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7834"/>
                                        </p:tgtEl>
                                        <p:attrNameLst>
                                          <p:attrName>style.visibility</p:attrName>
                                        </p:attrNameLst>
                                      </p:cBhvr>
                                      <p:to>
                                        <p:strVal val="visible"/>
                                      </p:to>
                                    </p:set>
                                    <p:anim calcmode="lin" valueType="num">
                                      <p:cBhvr additive="base">
                                        <p:cTn id="25" dur="500" fill="hold"/>
                                        <p:tgtEl>
                                          <p:spTgt spid="77834"/>
                                        </p:tgtEl>
                                        <p:attrNameLst>
                                          <p:attrName>ppt_x</p:attrName>
                                        </p:attrNameLst>
                                      </p:cBhvr>
                                      <p:tavLst>
                                        <p:tav tm="0">
                                          <p:val>
                                            <p:strVal val="#ppt_x"/>
                                          </p:val>
                                        </p:tav>
                                        <p:tav tm="100000">
                                          <p:val>
                                            <p:strVal val="#ppt_x"/>
                                          </p:val>
                                        </p:tav>
                                      </p:tavLst>
                                    </p:anim>
                                    <p:anim calcmode="lin" valueType="num">
                                      <p:cBhvr additive="base">
                                        <p:cTn id="26" dur="500" fill="hold"/>
                                        <p:tgtEl>
                                          <p:spTgt spid="7783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77836"/>
                                        </p:tgtEl>
                                        <p:attrNameLst>
                                          <p:attrName>style.visibility</p:attrName>
                                        </p:attrNameLst>
                                      </p:cBhvr>
                                      <p:to>
                                        <p:strVal val="visible"/>
                                      </p:to>
                                    </p:set>
                                    <p:animEffect transition="in" filter="box(in)">
                                      <p:cBhvr>
                                        <p:cTn id="31" dur="500"/>
                                        <p:tgtEl>
                                          <p:spTgt spid="77836"/>
                                        </p:tgtEl>
                                      </p:cBhvr>
                                    </p:animEffect>
                                  </p:childTnLst>
                                </p:cTn>
                              </p:par>
                              <p:par>
                                <p:cTn id="32" presetID="2" presetClass="entr" presetSubtype="4" fill="hold" grpId="0" nodeType="withEffect">
                                  <p:stCondLst>
                                    <p:cond delay="0"/>
                                  </p:stCondLst>
                                  <p:childTnLst>
                                    <p:set>
                                      <p:cBhvr>
                                        <p:cTn id="33" dur="1" fill="hold">
                                          <p:stCondLst>
                                            <p:cond delay="0"/>
                                          </p:stCondLst>
                                        </p:cTn>
                                        <p:tgtEl>
                                          <p:spTgt spid="77837"/>
                                        </p:tgtEl>
                                        <p:attrNameLst>
                                          <p:attrName>style.visibility</p:attrName>
                                        </p:attrNameLst>
                                      </p:cBhvr>
                                      <p:to>
                                        <p:strVal val="visible"/>
                                      </p:to>
                                    </p:set>
                                    <p:anim calcmode="lin" valueType="num">
                                      <p:cBhvr additive="base">
                                        <p:cTn id="34" dur="500" fill="hold"/>
                                        <p:tgtEl>
                                          <p:spTgt spid="77837"/>
                                        </p:tgtEl>
                                        <p:attrNameLst>
                                          <p:attrName>ppt_x</p:attrName>
                                        </p:attrNameLst>
                                      </p:cBhvr>
                                      <p:tavLst>
                                        <p:tav tm="0">
                                          <p:val>
                                            <p:strVal val="#ppt_x"/>
                                          </p:val>
                                        </p:tav>
                                        <p:tav tm="100000">
                                          <p:val>
                                            <p:strVal val="#ppt_x"/>
                                          </p:val>
                                        </p:tav>
                                      </p:tavLst>
                                    </p:anim>
                                    <p:anim calcmode="lin" valueType="num">
                                      <p:cBhvr additive="base">
                                        <p:cTn id="35" dur="500" fill="hold"/>
                                        <p:tgtEl>
                                          <p:spTgt spid="77837"/>
                                        </p:tgtEl>
                                        <p:attrNameLst>
                                          <p:attrName>ppt_y</p:attrName>
                                        </p:attrNameLst>
                                      </p:cBhvr>
                                      <p:tavLst>
                                        <p:tav tm="0">
                                          <p:val>
                                            <p:strVal val="1+#ppt_h/2"/>
                                          </p:val>
                                        </p:tav>
                                        <p:tav tm="100000">
                                          <p:val>
                                            <p:strVal val="#ppt_y"/>
                                          </p:val>
                                        </p:tav>
                                      </p:tavLst>
                                    </p:anim>
                                  </p:childTnLst>
                                </p:cTn>
                              </p:par>
                              <p:par>
                                <p:cTn id="36" presetID="4" presetClass="entr" presetSubtype="16" fill="hold" grpId="0" nodeType="withEffect">
                                  <p:stCondLst>
                                    <p:cond delay="0"/>
                                  </p:stCondLst>
                                  <p:childTnLst>
                                    <p:set>
                                      <p:cBhvr>
                                        <p:cTn id="37" dur="1" fill="hold">
                                          <p:stCondLst>
                                            <p:cond delay="0"/>
                                          </p:stCondLst>
                                        </p:cTn>
                                        <p:tgtEl>
                                          <p:spTgt spid="77835"/>
                                        </p:tgtEl>
                                        <p:attrNameLst>
                                          <p:attrName>style.visibility</p:attrName>
                                        </p:attrNameLst>
                                      </p:cBhvr>
                                      <p:to>
                                        <p:strVal val="visible"/>
                                      </p:to>
                                    </p:set>
                                    <p:animEffect transition="in" filter="box(in)">
                                      <p:cBhvr>
                                        <p:cTn id="38" dur="500"/>
                                        <p:tgtEl>
                                          <p:spTgt spid="7783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iterate type="wd">
                                    <p:tmPct val="10000"/>
                                  </p:iterate>
                                  <p:childTnLst>
                                    <p:set>
                                      <p:cBhvr>
                                        <p:cTn id="56" dur="1" fill="hold">
                                          <p:stCondLst>
                                            <p:cond delay="0"/>
                                          </p:stCondLst>
                                        </p:cTn>
                                        <p:tgtEl>
                                          <p:spTgt spid="18">
                                            <p:txEl>
                                              <p:pRg st="0" end="0"/>
                                            </p:txEl>
                                          </p:spTgt>
                                        </p:tgtEl>
                                        <p:attrNameLst>
                                          <p:attrName>style.visibility</p:attrName>
                                        </p:attrNameLst>
                                      </p:cBhvr>
                                      <p:to>
                                        <p:strVal val="visible"/>
                                      </p:to>
                                    </p:set>
                                    <p:anim calcmode="lin" valueType="num">
                                      <p:cBhvr additive="base">
                                        <p:cTn id="5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8">
                                            <p:txEl>
                                              <p:pRg st="1" end="1"/>
                                            </p:txEl>
                                          </p:spTgt>
                                        </p:tgtEl>
                                        <p:attrNameLst>
                                          <p:attrName>style.visibility</p:attrName>
                                        </p:attrNameLst>
                                      </p:cBhvr>
                                      <p:to>
                                        <p:strVal val="visible"/>
                                      </p:to>
                                    </p:set>
                                    <p:anim calcmode="lin" valueType="num">
                                      <p:cBhvr additive="base">
                                        <p:cTn id="63"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8">
                                            <p:txEl>
                                              <p:pRg st="2" end="2"/>
                                            </p:txEl>
                                          </p:spTgt>
                                        </p:tgtEl>
                                        <p:attrNameLst>
                                          <p:attrName>style.visibility</p:attrName>
                                        </p:attrNameLst>
                                      </p:cBhvr>
                                      <p:to>
                                        <p:strVal val="visible"/>
                                      </p:to>
                                    </p:set>
                                    <p:anim calcmode="lin" valueType="num">
                                      <p:cBhvr additive="base">
                                        <p:cTn id="6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
                                            <p:txEl>
                                              <p:pRg st="3" end="3"/>
                                            </p:txEl>
                                          </p:spTgt>
                                        </p:tgtEl>
                                        <p:attrNameLst>
                                          <p:attrName>style.visibility</p:attrName>
                                        </p:attrNameLst>
                                      </p:cBhvr>
                                      <p:to>
                                        <p:strVal val="visible"/>
                                      </p:to>
                                    </p:set>
                                    <p:anim calcmode="lin" valueType="num">
                                      <p:cBhvr additive="base">
                                        <p:cTn id="75"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8">
                                            <p:txEl>
                                              <p:pRg st="4" end="4"/>
                                            </p:txEl>
                                          </p:spTgt>
                                        </p:tgtEl>
                                        <p:attrNameLst>
                                          <p:attrName>style.visibility</p:attrName>
                                        </p:attrNameLst>
                                      </p:cBhvr>
                                      <p:to>
                                        <p:strVal val="visible"/>
                                      </p:to>
                                    </p:set>
                                    <p:anim calcmode="lin" valueType="num">
                                      <p:cBhvr additive="base">
                                        <p:cTn id="81" dur="500" fill="hold"/>
                                        <p:tgtEl>
                                          <p:spTgt spid="18">
                                            <p:txEl>
                                              <p:pRg st="4" end="4"/>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8" presetClass="entr" presetSubtype="16" fill="hold" nodeType="clickEffect">
                                  <p:stCondLst>
                                    <p:cond delay="0"/>
                                  </p:stCondLst>
                                  <p:childTnLst>
                                    <p:set>
                                      <p:cBhvr>
                                        <p:cTn id="86" dur="1" fill="hold">
                                          <p:stCondLst>
                                            <p:cond delay="0"/>
                                          </p:stCondLst>
                                        </p:cTn>
                                        <p:tgtEl>
                                          <p:spTgt spid="18">
                                            <p:txEl>
                                              <p:pRg st="2" end="2"/>
                                            </p:txEl>
                                          </p:spTgt>
                                        </p:tgtEl>
                                        <p:attrNameLst>
                                          <p:attrName>style.visibility</p:attrName>
                                        </p:attrNameLst>
                                      </p:cBhvr>
                                      <p:to>
                                        <p:strVal val="visible"/>
                                      </p:to>
                                    </p:set>
                                    <p:animEffect transition="in" filter="diamond(in)">
                                      <p:cBhvr>
                                        <p:cTn id="87" dur="2000"/>
                                        <p:tgtEl>
                                          <p:spTgt spid="18">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8" presetClass="entr" presetSubtype="16" fill="hold" nodeType="clickEffect">
                                  <p:stCondLst>
                                    <p:cond delay="0"/>
                                  </p:stCondLst>
                                  <p:childTnLst>
                                    <p:set>
                                      <p:cBhvr>
                                        <p:cTn id="91" dur="1" fill="hold">
                                          <p:stCondLst>
                                            <p:cond delay="0"/>
                                          </p:stCondLst>
                                        </p:cTn>
                                        <p:tgtEl>
                                          <p:spTgt spid="18">
                                            <p:txEl>
                                              <p:pRg st="3" end="3"/>
                                            </p:txEl>
                                          </p:spTgt>
                                        </p:tgtEl>
                                        <p:attrNameLst>
                                          <p:attrName>style.visibility</p:attrName>
                                        </p:attrNameLst>
                                      </p:cBhvr>
                                      <p:to>
                                        <p:strVal val="visible"/>
                                      </p:to>
                                    </p:set>
                                    <p:animEffect transition="in" filter="diamond(in)">
                                      <p:cBhvr>
                                        <p:cTn id="92" dur="2000"/>
                                        <p:tgtEl>
                                          <p:spTgt spid="18">
                                            <p:txEl>
                                              <p:pRg st="3" end="3"/>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8" presetClass="entr" presetSubtype="16" fill="hold" nodeType="clickEffect">
                                  <p:stCondLst>
                                    <p:cond delay="0"/>
                                  </p:stCondLst>
                                  <p:childTnLst>
                                    <p:set>
                                      <p:cBhvr>
                                        <p:cTn id="96" dur="1" fill="hold">
                                          <p:stCondLst>
                                            <p:cond delay="0"/>
                                          </p:stCondLst>
                                        </p:cTn>
                                        <p:tgtEl>
                                          <p:spTgt spid="18">
                                            <p:txEl>
                                              <p:pRg st="4" end="4"/>
                                            </p:txEl>
                                          </p:spTgt>
                                        </p:tgtEl>
                                        <p:attrNameLst>
                                          <p:attrName>style.visibility</p:attrName>
                                        </p:attrNameLst>
                                      </p:cBhvr>
                                      <p:to>
                                        <p:strVal val="visible"/>
                                      </p:to>
                                    </p:set>
                                    <p:animEffect transition="in" filter="diamond(in)">
                                      <p:cBhvr>
                                        <p:cTn id="97" dur="2000"/>
                                        <p:tgtEl>
                                          <p:spTgt spid="18">
                                            <p:txEl>
                                              <p:pRg st="4" end="4"/>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5" presetClass="entr" presetSubtype="10" fill="hold" nodeType="clickEffect">
                                  <p:stCondLst>
                                    <p:cond delay="0"/>
                                  </p:stCondLst>
                                  <p:childTnLst>
                                    <p:set>
                                      <p:cBhvr>
                                        <p:cTn id="101" dur="1" fill="hold">
                                          <p:stCondLst>
                                            <p:cond delay="0"/>
                                          </p:stCondLst>
                                        </p:cTn>
                                        <p:tgtEl>
                                          <p:spTgt spid="18">
                                            <p:txEl>
                                              <p:pRg st="3" end="3"/>
                                            </p:txEl>
                                          </p:spTgt>
                                        </p:tgtEl>
                                        <p:attrNameLst>
                                          <p:attrName>style.visibility</p:attrName>
                                        </p:attrNameLst>
                                      </p:cBhvr>
                                      <p:to>
                                        <p:strVal val="visible"/>
                                      </p:to>
                                    </p:set>
                                    <p:animEffect transition="in" filter="checkerboard(across)">
                                      <p:cBhvr>
                                        <p:cTn id="102" dur="500"/>
                                        <p:tgtEl>
                                          <p:spTgt spid="18">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8" presetClass="entr" presetSubtype="16" fill="hold" nodeType="clickEffect">
                                  <p:stCondLst>
                                    <p:cond delay="0"/>
                                  </p:stCondLst>
                                  <p:childTnLst>
                                    <p:set>
                                      <p:cBhvr>
                                        <p:cTn id="106" dur="1" fill="hold">
                                          <p:stCondLst>
                                            <p:cond delay="0"/>
                                          </p:stCondLst>
                                        </p:cTn>
                                        <p:tgtEl>
                                          <p:spTgt spid="18">
                                            <p:txEl>
                                              <p:pRg st="4" end="4"/>
                                            </p:txEl>
                                          </p:spTgt>
                                        </p:tgtEl>
                                        <p:attrNameLst>
                                          <p:attrName>style.visibility</p:attrName>
                                        </p:attrNameLst>
                                      </p:cBhvr>
                                      <p:to>
                                        <p:strVal val="visible"/>
                                      </p:to>
                                    </p:set>
                                    <p:animEffect transition="in" filter="diamond(in)">
                                      <p:cBhvr>
                                        <p:cTn id="107" dur="2000"/>
                                        <p:tgtEl>
                                          <p:spTgt spid="18">
                                            <p:txEl>
                                              <p:pRg st="4" end="4"/>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8" presetClass="entr" presetSubtype="16" fill="hold" nodeType="clickEffect">
                                  <p:stCondLst>
                                    <p:cond delay="0"/>
                                  </p:stCondLst>
                                  <p:iterate type="wd">
                                    <p:tmPct val="0"/>
                                  </p:iterate>
                                  <p:childTnLst>
                                    <p:set>
                                      <p:cBhvr>
                                        <p:cTn id="111" dur="1" fill="hold">
                                          <p:stCondLst>
                                            <p:cond delay="0"/>
                                          </p:stCondLst>
                                        </p:cTn>
                                        <p:tgtEl>
                                          <p:spTgt spid="18">
                                            <p:txEl>
                                              <p:pRg st="0" end="0"/>
                                            </p:txEl>
                                          </p:spTgt>
                                        </p:tgtEl>
                                        <p:attrNameLst>
                                          <p:attrName>style.visibility</p:attrName>
                                        </p:attrNameLst>
                                      </p:cBhvr>
                                      <p:to>
                                        <p:strVal val="visible"/>
                                      </p:to>
                                    </p:set>
                                    <p:animEffect transition="in" filter="diamond(in)">
                                      <p:cBhvr>
                                        <p:cTn id="112" dur="2000"/>
                                        <p:tgtEl>
                                          <p:spTgt spid="18">
                                            <p:txEl>
                                              <p:pRg st="0" end="0"/>
                                            </p:txEl>
                                          </p:spTgt>
                                        </p:tgtEl>
                                      </p:cBhvr>
                                    </p:animEffect>
                                  </p:childTnLst>
                                </p:cTn>
                              </p:par>
                              <p:par>
                                <p:cTn id="113" presetID="8" presetClass="entr" presetSubtype="16" fill="hold" nodeType="withEffect">
                                  <p:stCondLst>
                                    <p:cond delay="0"/>
                                  </p:stCondLst>
                                  <p:childTnLst>
                                    <p:set>
                                      <p:cBhvr>
                                        <p:cTn id="114" dur="1" fill="hold">
                                          <p:stCondLst>
                                            <p:cond delay="0"/>
                                          </p:stCondLst>
                                        </p:cTn>
                                        <p:tgtEl>
                                          <p:spTgt spid="18">
                                            <p:txEl>
                                              <p:pRg st="1" end="1"/>
                                            </p:txEl>
                                          </p:spTgt>
                                        </p:tgtEl>
                                        <p:attrNameLst>
                                          <p:attrName>style.visibility</p:attrName>
                                        </p:attrNameLst>
                                      </p:cBhvr>
                                      <p:to>
                                        <p:strVal val="visible"/>
                                      </p:to>
                                    </p:set>
                                    <p:animEffect transition="in" filter="diamond(in)">
                                      <p:cBhvr>
                                        <p:cTn id="115" dur="20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animBg="1"/>
      <p:bldP spid="77831" grpId="0" animBg="1"/>
      <p:bldP spid="77832" grpId="0" animBg="1"/>
      <p:bldP spid="77833" grpId="0"/>
      <p:bldP spid="77834" grpId="0"/>
      <p:bldP spid="77835" grpId="0" animBg="1"/>
      <p:bldP spid="77836" grpId="0"/>
      <p:bldP spid="77837" grpId="0"/>
      <p:bldP spid="15" grpId="0" animBg="1"/>
      <p:bldP spid="16" grpId="0" animBg="1"/>
      <p:bldP spid="17" grpId="0"/>
      <p:bldP spid="18"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כותרת 1"/>
          <p:cNvSpPr>
            <a:spLocks noGrp="1"/>
          </p:cNvSpPr>
          <p:nvPr>
            <p:ph type="title"/>
          </p:nvPr>
        </p:nvSpPr>
        <p:spPr/>
        <p:txBody>
          <a:bodyPr/>
          <a:lstStyle/>
          <a:p>
            <a:endParaRPr lang="he-IL"/>
          </a:p>
        </p:txBody>
      </p:sp>
      <p:sp>
        <p:nvSpPr>
          <p:cNvPr id="76803" name="מציין מיקום תוכן 2"/>
          <p:cNvSpPr>
            <a:spLocks noGrp="1"/>
          </p:cNvSpPr>
          <p:nvPr>
            <p:ph idx="1"/>
          </p:nvPr>
        </p:nvSpPr>
        <p:spPr/>
        <p:txBody>
          <a:bodyPr/>
          <a:lstStyle/>
          <a:p>
            <a:endParaRPr lang="he-IL"/>
          </a:p>
        </p:txBody>
      </p:sp>
      <p:sp>
        <p:nvSpPr>
          <p:cNvPr id="76804" name="מציין מיקום של מספר שקופית 3"/>
          <p:cNvSpPr>
            <a:spLocks noGrp="1"/>
          </p:cNvSpPr>
          <p:nvPr>
            <p:ph type="sldNum" sz="quarter" idx="12"/>
          </p:nvPr>
        </p:nvSpPr>
        <p:spPr>
          <a:noFill/>
        </p:spPr>
        <p:txBody>
          <a:bodyPr/>
          <a:lstStyle/>
          <a:p>
            <a:fld id="{802450D8-23E6-4B4D-A26D-C8A0EEB742FC}" type="slidenum">
              <a:rPr lang="he-IL" smtClean="0"/>
              <a:pPr/>
              <a:t>79</a:t>
            </a:fld>
            <a:endParaRPr lang="en-US"/>
          </a:p>
        </p:txBody>
      </p:sp>
      <p:pic>
        <p:nvPicPr>
          <p:cNvPr id="76805" name="Picture 2"/>
          <p:cNvPicPr>
            <a:picLocks noChangeAspect="1" noChangeArrowheads="1"/>
          </p:cNvPicPr>
          <p:nvPr/>
        </p:nvPicPr>
        <p:blipFill>
          <a:blip r:embed="rId3" cstate="print"/>
          <a:srcRect/>
          <a:stretch>
            <a:fillRect/>
          </a:stretch>
        </p:blipFill>
        <p:spPr bwMode="auto">
          <a:xfrm>
            <a:off x="2900842" y="-12175356"/>
            <a:ext cx="7767159" cy="18285710"/>
          </a:xfrm>
          <a:prstGeom prst="rect">
            <a:avLst/>
          </a:prstGeom>
          <a:noFill/>
          <a:ln w="9525">
            <a:noFill/>
            <a:miter lim="800000"/>
            <a:headEnd/>
            <a:tailEnd/>
          </a:ln>
        </p:spPr>
      </p:pic>
      <p:sp>
        <p:nvSpPr>
          <p:cNvPr id="76806" name="TextBox 5"/>
          <p:cNvSpPr txBox="1">
            <a:spLocks noChangeArrowheads="1"/>
          </p:cNvSpPr>
          <p:nvPr/>
        </p:nvSpPr>
        <p:spPr bwMode="auto">
          <a:xfrm>
            <a:off x="6912431" y="2943865"/>
            <a:ext cx="732771" cy="497047"/>
          </a:xfrm>
          <a:prstGeom prst="rect">
            <a:avLst/>
          </a:prstGeom>
          <a:noFill/>
          <a:ln w="9525">
            <a:noFill/>
            <a:miter lim="800000"/>
            <a:headEnd/>
            <a:tailEnd/>
          </a:ln>
        </p:spPr>
        <p:txBody>
          <a:bodyPr lIns="65520" tIns="32760" rIns="65520" bIns="32760">
            <a:spAutoFit/>
          </a:bodyPr>
          <a:lstStyle/>
          <a:p>
            <a:r>
              <a:rPr lang="he-IL" sz="1400" dirty="0"/>
              <a:t>טבלה בשכבה</a:t>
            </a:r>
          </a:p>
        </p:txBody>
      </p:sp>
      <p:sp>
        <p:nvSpPr>
          <p:cNvPr id="76807" name="סוגר מסולסל שמאלי 6"/>
          <p:cNvSpPr>
            <a:spLocks/>
          </p:cNvSpPr>
          <p:nvPr/>
        </p:nvSpPr>
        <p:spPr bwMode="auto">
          <a:xfrm rot="-5400000">
            <a:off x="7022862" y="3376759"/>
            <a:ext cx="388941" cy="468691"/>
          </a:xfrm>
          <a:prstGeom prst="leftBrace">
            <a:avLst>
              <a:gd name="adj1" fmla="val 8337"/>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sp>
        <p:nvSpPr>
          <p:cNvPr id="79880" name="TextBox 7"/>
          <p:cNvSpPr txBox="1">
            <a:spLocks noChangeArrowheads="1"/>
          </p:cNvSpPr>
          <p:nvPr/>
        </p:nvSpPr>
        <p:spPr bwMode="auto">
          <a:xfrm>
            <a:off x="3174003" y="4263239"/>
            <a:ext cx="3147785" cy="343159"/>
          </a:xfrm>
          <a:prstGeom prst="rect">
            <a:avLst/>
          </a:prstGeom>
          <a:noFill/>
          <a:ln w="9525">
            <a:solidFill>
              <a:schemeClr val="tx1"/>
            </a:solidFill>
            <a:miter lim="800000"/>
            <a:headEnd/>
            <a:tailEnd/>
          </a:ln>
        </p:spPr>
        <p:txBody>
          <a:bodyPr lIns="65520" tIns="32760" rIns="65520" bIns="32760">
            <a:spAutoFit/>
          </a:bodyPr>
          <a:lstStyle/>
          <a:p>
            <a:r>
              <a:rPr lang="en-US"/>
              <a:t>v.m=</a:t>
            </a:r>
            <a:r>
              <a:rPr lang="he-IL"/>
              <a:t>64  </a:t>
            </a:r>
            <a:r>
              <a:rPr lang="en-US"/>
              <a:t>bits</a:t>
            </a:r>
            <a:endParaRPr lang="he-IL"/>
          </a:p>
        </p:txBody>
      </p:sp>
      <p:sp>
        <p:nvSpPr>
          <p:cNvPr id="79881" name="TextBox 8"/>
          <p:cNvSpPr txBox="1">
            <a:spLocks noChangeArrowheads="1"/>
          </p:cNvSpPr>
          <p:nvPr/>
        </p:nvSpPr>
        <p:spPr bwMode="auto">
          <a:xfrm>
            <a:off x="3062113" y="4847338"/>
            <a:ext cx="3146779" cy="497047"/>
          </a:xfrm>
          <a:prstGeom prst="rect">
            <a:avLst/>
          </a:prstGeom>
          <a:noFill/>
          <a:ln w="9525">
            <a:solidFill>
              <a:schemeClr val="tx1"/>
            </a:solidFill>
            <a:miter lim="800000"/>
            <a:headEnd/>
            <a:tailEnd/>
          </a:ln>
        </p:spPr>
        <p:txBody>
          <a:bodyPr lIns="65520" tIns="32760" rIns="65520" bIns="32760">
            <a:spAutoFit/>
          </a:bodyPr>
          <a:lstStyle/>
          <a:p>
            <a:r>
              <a:rPr lang="en-US" sz="1400" dirty="0"/>
              <a:t>Page1 | page2 | page3 | …. | offset</a:t>
            </a:r>
          </a:p>
          <a:p>
            <a:r>
              <a:rPr lang="en-US" sz="1400" dirty="0"/>
              <a:t>             53                            |  11</a:t>
            </a:r>
            <a:endParaRPr lang="he-IL" sz="1400" dirty="0"/>
          </a:p>
        </p:txBody>
      </p:sp>
      <p:sp>
        <p:nvSpPr>
          <p:cNvPr id="79882" name="TextBox 9"/>
          <p:cNvSpPr txBox="1">
            <a:spLocks noChangeArrowheads="1"/>
          </p:cNvSpPr>
          <p:nvPr/>
        </p:nvSpPr>
        <p:spPr bwMode="auto">
          <a:xfrm>
            <a:off x="7381126" y="4790986"/>
            <a:ext cx="1826380" cy="1143378"/>
          </a:xfrm>
          <a:prstGeom prst="rect">
            <a:avLst/>
          </a:prstGeom>
          <a:noFill/>
          <a:ln w="9525">
            <a:noFill/>
            <a:miter lim="800000"/>
            <a:headEnd/>
            <a:tailEnd/>
          </a:ln>
        </p:spPr>
        <p:txBody>
          <a:bodyPr wrap="square" lIns="65520" tIns="32760" rIns="65520" bIns="32760">
            <a:spAutoFit/>
          </a:bodyPr>
          <a:lstStyle/>
          <a:p>
            <a:r>
              <a:rPr lang="en-US" sz="1400" dirty="0"/>
              <a:t>Page = 2Kword </a:t>
            </a:r>
          </a:p>
          <a:p>
            <a:r>
              <a:rPr lang="en-US" sz="1400" dirty="0"/>
              <a:t>Page = 4KByte</a:t>
            </a:r>
          </a:p>
          <a:p>
            <a:r>
              <a:rPr lang="he-IL" sz="1400" dirty="0"/>
              <a:t>כמה כניסות יש בדף?</a:t>
            </a:r>
            <a:endParaRPr lang="en-US" sz="1400" dirty="0"/>
          </a:p>
          <a:p>
            <a:endParaRPr lang="en-US" sz="1400" dirty="0"/>
          </a:p>
          <a:p>
            <a:endParaRPr lang="he-IL" sz="1400" dirty="0"/>
          </a:p>
        </p:txBody>
      </p:sp>
      <p:sp>
        <p:nvSpPr>
          <p:cNvPr id="79883" name="מלבן 10"/>
          <p:cNvSpPr>
            <a:spLocks noChangeArrowheads="1"/>
          </p:cNvSpPr>
          <p:nvPr/>
        </p:nvSpPr>
        <p:spPr bwMode="auto">
          <a:xfrm>
            <a:off x="2440219" y="2249811"/>
            <a:ext cx="967619" cy="1403211"/>
          </a:xfrm>
          <a:prstGeom prst="rect">
            <a:avLst/>
          </a:prstGeom>
          <a:noFill/>
          <a:ln w="9525" algn="ctr">
            <a:solidFill>
              <a:schemeClr val="tx1"/>
            </a:solidFill>
            <a:round/>
            <a:headEnd/>
            <a:tailEnd/>
          </a:ln>
        </p:spPr>
        <p:txBody>
          <a:bodyPr lIns="65520" tIns="32760" rIns="65520" bIns="32760"/>
          <a:lstStyle/>
          <a:p>
            <a:endParaRPr lang="he-IL"/>
          </a:p>
        </p:txBody>
      </p:sp>
      <p:sp>
        <p:nvSpPr>
          <p:cNvPr id="79884" name="סוגר מסולסל שמאלי 11"/>
          <p:cNvSpPr>
            <a:spLocks/>
          </p:cNvSpPr>
          <p:nvPr/>
        </p:nvSpPr>
        <p:spPr bwMode="auto">
          <a:xfrm>
            <a:off x="2094494" y="2361135"/>
            <a:ext cx="223763" cy="1249283"/>
          </a:xfrm>
          <a:prstGeom prst="leftBrace">
            <a:avLst>
              <a:gd name="adj1" fmla="val 8341"/>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a:p>
        </p:txBody>
      </p:sp>
      <p:cxnSp>
        <p:nvCxnSpPr>
          <p:cNvPr id="79885" name="מחבר ישר 13"/>
          <p:cNvCxnSpPr>
            <a:cxnSpLocks noChangeShapeType="1"/>
          </p:cNvCxnSpPr>
          <p:nvPr/>
        </p:nvCxnSpPr>
        <p:spPr bwMode="auto">
          <a:xfrm>
            <a:off x="2471464" y="3236592"/>
            <a:ext cx="936373" cy="0"/>
          </a:xfrm>
          <a:prstGeom prst="line">
            <a:avLst/>
          </a:prstGeom>
          <a:noFill/>
          <a:ln w="9525" algn="ctr">
            <a:solidFill>
              <a:schemeClr val="tx1"/>
            </a:solidFill>
            <a:round/>
            <a:headEnd/>
            <a:tailEnd type="arrow" w="med" len="med"/>
          </a:ln>
        </p:spPr>
      </p:cxnSp>
      <p:cxnSp>
        <p:nvCxnSpPr>
          <p:cNvPr id="79886" name="מחבר ישר 14"/>
          <p:cNvCxnSpPr>
            <a:cxnSpLocks noChangeShapeType="1"/>
          </p:cNvCxnSpPr>
          <p:nvPr/>
        </p:nvCxnSpPr>
        <p:spPr bwMode="auto">
          <a:xfrm>
            <a:off x="2511782" y="2943855"/>
            <a:ext cx="937381" cy="0"/>
          </a:xfrm>
          <a:prstGeom prst="line">
            <a:avLst/>
          </a:prstGeom>
          <a:noFill/>
          <a:ln w="9525" algn="ctr">
            <a:solidFill>
              <a:schemeClr val="tx1"/>
            </a:solidFill>
            <a:round/>
            <a:headEnd/>
            <a:tailEnd type="arrow" w="med" len="med"/>
          </a:ln>
        </p:spPr>
      </p:cxnSp>
      <p:sp>
        <p:nvSpPr>
          <p:cNvPr id="79887" name="TextBox 15"/>
          <p:cNvSpPr txBox="1">
            <a:spLocks noChangeArrowheads="1"/>
          </p:cNvSpPr>
          <p:nvPr/>
        </p:nvSpPr>
        <p:spPr bwMode="auto">
          <a:xfrm>
            <a:off x="1737683" y="2847656"/>
            <a:ext cx="376968" cy="250826"/>
          </a:xfrm>
          <a:prstGeom prst="rect">
            <a:avLst/>
          </a:prstGeom>
          <a:noFill/>
          <a:ln w="9525">
            <a:noFill/>
            <a:miter lim="800000"/>
            <a:headEnd/>
            <a:tailEnd/>
          </a:ln>
        </p:spPr>
        <p:txBody>
          <a:bodyPr lIns="65520" tIns="32760" rIns="65520" bIns="32760">
            <a:spAutoFit/>
          </a:bodyPr>
          <a:lstStyle/>
          <a:p>
            <a:r>
              <a:rPr lang="en-US" sz="1200" dirty="0"/>
              <a:t>4kb</a:t>
            </a:r>
            <a:endParaRPr lang="he-IL" sz="1200" dirty="0"/>
          </a:p>
        </p:txBody>
      </p:sp>
      <p:sp>
        <p:nvSpPr>
          <p:cNvPr id="79888" name="TextBox 16"/>
          <p:cNvSpPr txBox="1">
            <a:spLocks noChangeArrowheads="1"/>
          </p:cNvSpPr>
          <p:nvPr/>
        </p:nvSpPr>
        <p:spPr bwMode="auto">
          <a:xfrm>
            <a:off x="3612450" y="2805052"/>
            <a:ext cx="1619956" cy="435492"/>
          </a:xfrm>
          <a:prstGeom prst="rect">
            <a:avLst/>
          </a:prstGeom>
          <a:noFill/>
          <a:ln w="9525">
            <a:noFill/>
            <a:miter lim="800000"/>
            <a:headEnd/>
            <a:tailEnd/>
          </a:ln>
        </p:spPr>
        <p:txBody>
          <a:bodyPr wrap="square" lIns="65520" tIns="32760" rIns="65520" bIns="32760">
            <a:spAutoFit/>
          </a:bodyPr>
          <a:lstStyle/>
          <a:p>
            <a:r>
              <a:rPr lang="en-US" sz="1200" dirty="0"/>
              <a:t>Entry=4B</a:t>
            </a:r>
          </a:p>
          <a:p>
            <a:r>
              <a:rPr lang="en-US" sz="1200" dirty="0"/>
              <a:t>1K entries</a:t>
            </a:r>
            <a:endParaRPr lang="he-IL" sz="1200" dirty="0"/>
          </a:p>
        </p:txBody>
      </p:sp>
      <p:sp>
        <p:nvSpPr>
          <p:cNvPr id="25" name="TextBox 9"/>
          <p:cNvSpPr txBox="1">
            <a:spLocks noChangeArrowheads="1"/>
          </p:cNvSpPr>
          <p:nvPr/>
        </p:nvSpPr>
        <p:spPr bwMode="auto">
          <a:xfrm>
            <a:off x="7306532" y="5388984"/>
            <a:ext cx="1516944" cy="497047"/>
          </a:xfrm>
          <a:prstGeom prst="rect">
            <a:avLst/>
          </a:prstGeom>
          <a:noFill/>
          <a:ln w="9525">
            <a:noFill/>
            <a:miter lim="800000"/>
            <a:headEnd/>
            <a:tailEnd/>
          </a:ln>
        </p:spPr>
        <p:txBody>
          <a:bodyPr lIns="65520" tIns="32760" rIns="65520" bIns="32760">
            <a:spAutoFit/>
          </a:bodyPr>
          <a:lstStyle/>
          <a:p>
            <a:endParaRPr lang="en-US" sz="1400" dirty="0"/>
          </a:p>
          <a:p>
            <a:r>
              <a:rPr lang="en-US" sz="1400" dirty="0"/>
              <a:t>Page= 1K entries</a:t>
            </a:r>
            <a:endParaRPr lang="he-IL" sz="1400" dirty="0"/>
          </a:p>
        </p:txBody>
      </p:sp>
      <p:sp>
        <p:nvSpPr>
          <p:cNvPr id="18" name="מציין מיקום של תאריך 17"/>
          <p:cNvSpPr>
            <a:spLocks noGrp="1"/>
          </p:cNvSpPr>
          <p:nvPr>
            <p:ph type="dt" sz="half" idx="10"/>
          </p:nvPr>
        </p:nvSpPr>
        <p:spPr/>
        <p:txBody>
          <a:bodyPr/>
          <a:lstStyle/>
          <a:p>
            <a:pPr>
              <a:defRPr/>
            </a:pPr>
            <a:fld id="{27952DB4-6203-4E92-A78C-58CD9E3E87B2}" type="datetime12">
              <a:rPr lang="he-IL" smtClean="0"/>
              <a:pPr>
                <a:defRPr/>
              </a:pPr>
              <a:t>28/01/2024 18:13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9880"/>
                                        </p:tgtEl>
                                        <p:attrNameLst>
                                          <p:attrName>style.visibility</p:attrName>
                                        </p:attrNameLst>
                                      </p:cBhvr>
                                      <p:to>
                                        <p:strVal val="visible"/>
                                      </p:to>
                                    </p:set>
                                    <p:animEffect transition="in" filter="diamond(in)">
                                      <p:cBhvr>
                                        <p:cTn id="7" dur="2000"/>
                                        <p:tgtEl>
                                          <p:spTgt spid="7988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9881"/>
                                        </p:tgtEl>
                                        <p:attrNameLst>
                                          <p:attrName>style.visibility</p:attrName>
                                        </p:attrNameLst>
                                      </p:cBhvr>
                                      <p:to>
                                        <p:strVal val="visible"/>
                                      </p:to>
                                    </p:set>
                                    <p:anim calcmode="lin" valueType="num">
                                      <p:cBhvr additive="base">
                                        <p:cTn id="12" dur="500" fill="hold"/>
                                        <p:tgtEl>
                                          <p:spTgt spid="79881"/>
                                        </p:tgtEl>
                                        <p:attrNameLst>
                                          <p:attrName>ppt_x</p:attrName>
                                        </p:attrNameLst>
                                      </p:cBhvr>
                                      <p:tavLst>
                                        <p:tav tm="0">
                                          <p:val>
                                            <p:strVal val="#ppt_x"/>
                                          </p:val>
                                        </p:tav>
                                        <p:tav tm="100000">
                                          <p:val>
                                            <p:strVal val="#ppt_x"/>
                                          </p:val>
                                        </p:tav>
                                      </p:tavLst>
                                    </p:anim>
                                    <p:anim calcmode="lin" valueType="num">
                                      <p:cBhvr additive="base">
                                        <p:cTn id="13" dur="500" fill="hold"/>
                                        <p:tgtEl>
                                          <p:spTgt spid="7988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9882"/>
                                        </p:tgtEl>
                                        <p:attrNameLst>
                                          <p:attrName>style.visibility</p:attrName>
                                        </p:attrNameLst>
                                      </p:cBhvr>
                                      <p:to>
                                        <p:strVal val="visible"/>
                                      </p:to>
                                    </p:set>
                                    <p:anim calcmode="lin" valueType="num">
                                      <p:cBhvr additive="base">
                                        <p:cTn id="18" dur="500" fill="hold"/>
                                        <p:tgtEl>
                                          <p:spTgt spid="79882"/>
                                        </p:tgtEl>
                                        <p:attrNameLst>
                                          <p:attrName>ppt_x</p:attrName>
                                        </p:attrNameLst>
                                      </p:cBhvr>
                                      <p:tavLst>
                                        <p:tav tm="0">
                                          <p:val>
                                            <p:strVal val="#ppt_x"/>
                                          </p:val>
                                        </p:tav>
                                        <p:tav tm="100000">
                                          <p:val>
                                            <p:strVal val="#ppt_x"/>
                                          </p:val>
                                        </p:tav>
                                      </p:tavLst>
                                    </p:anim>
                                    <p:anim calcmode="lin" valueType="num">
                                      <p:cBhvr additive="base">
                                        <p:cTn id="19" dur="500" fill="hold"/>
                                        <p:tgtEl>
                                          <p:spTgt spid="7988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79883"/>
                                        </p:tgtEl>
                                        <p:attrNameLst>
                                          <p:attrName>style.visibility</p:attrName>
                                        </p:attrNameLst>
                                      </p:cBhvr>
                                      <p:to>
                                        <p:strVal val="visible"/>
                                      </p:to>
                                    </p:set>
                                    <p:animEffect transition="in" filter="box(in)">
                                      <p:cBhvr>
                                        <p:cTn id="24" dur="500"/>
                                        <p:tgtEl>
                                          <p:spTgt spid="79883"/>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79884"/>
                                        </p:tgtEl>
                                        <p:attrNameLst>
                                          <p:attrName>style.visibility</p:attrName>
                                        </p:attrNameLst>
                                      </p:cBhvr>
                                      <p:to>
                                        <p:strVal val="visible"/>
                                      </p:to>
                                    </p:set>
                                    <p:animEffect transition="in" filter="box(in)">
                                      <p:cBhvr>
                                        <p:cTn id="27" dur="500"/>
                                        <p:tgtEl>
                                          <p:spTgt spid="79884"/>
                                        </p:tgtEl>
                                      </p:cBhvr>
                                    </p:animEffect>
                                  </p:childTnLst>
                                </p:cTn>
                              </p:par>
                              <p:par>
                                <p:cTn id="28" presetID="4" presetClass="entr" presetSubtype="16" fill="hold" nodeType="withEffect">
                                  <p:stCondLst>
                                    <p:cond delay="0"/>
                                  </p:stCondLst>
                                  <p:childTnLst>
                                    <p:set>
                                      <p:cBhvr>
                                        <p:cTn id="29" dur="1" fill="hold">
                                          <p:stCondLst>
                                            <p:cond delay="0"/>
                                          </p:stCondLst>
                                        </p:cTn>
                                        <p:tgtEl>
                                          <p:spTgt spid="79885"/>
                                        </p:tgtEl>
                                        <p:attrNameLst>
                                          <p:attrName>style.visibility</p:attrName>
                                        </p:attrNameLst>
                                      </p:cBhvr>
                                      <p:to>
                                        <p:strVal val="visible"/>
                                      </p:to>
                                    </p:set>
                                    <p:animEffect transition="in" filter="box(in)">
                                      <p:cBhvr>
                                        <p:cTn id="30" dur="500"/>
                                        <p:tgtEl>
                                          <p:spTgt spid="79885"/>
                                        </p:tgtEl>
                                      </p:cBhvr>
                                    </p:animEffect>
                                  </p:childTnLst>
                                </p:cTn>
                              </p:par>
                              <p:par>
                                <p:cTn id="31" presetID="4" presetClass="entr" presetSubtype="16" fill="hold" nodeType="withEffect">
                                  <p:stCondLst>
                                    <p:cond delay="0"/>
                                  </p:stCondLst>
                                  <p:childTnLst>
                                    <p:set>
                                      <p:cBhvr>
                                        <p:cTn id="32" dur="1" fill="hold">
                                          <p:stCondLst>
                                            <p:cond delay="0"/>
                                          </p:stCondLst>
                                        </p:cTn>
                                        <p:tgtEl>
                                          <p:spTgt spid="79886"/>
                                        </p:tgtEl>
                                        <p:attrNameLst>
                                          <p:attrName>style.visibility</p:attrName>
                                        </p:attrNameLst>
                                      </p:cBhvr>
                                      <p:to>
                                        <p:strVal val="visible"/>
                                      </p:to>
                                    </p:set>
                                    <p:animEffect transition="in" filter="box(in)">
                                      <p:cBhvr>
                                        <p:cTn id="33" dur="500"/>
                                        <p:tgtEl>
                                          <p:spTgt spid="79886"/>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79887"/>
                                        </p:tgtEl>
                                        <p:attrNameLst>
                                          <p:attrName>style.visibility</p:attrName>
                                        </p:attrNameLst>
                                      </p:cBhvr>
                                      <p:to>
                                        <p:strVal val="visible"/>
                                      </p:to>
                                    </p:set>
                                    <p:animEffect transition="in" filter="box(in)">
                                      <p:cBhvr>
                                        <p:cTn id="36" dur="500"/>
                                        <p:tgtEl>
                                          <p:spTgt spid="7988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79888"/>
                                        </p:tgtEl>
                                        <p:attrNameLst>
                                          <p:attrName>style.visibility</p:attrName>
                                        </p:attrNameLst>
                                      </p:cBhvr>
                                      <p:to>
                                        <p:strVal val="visible"/>
                                      </p:to>
                                    </p:set>
                                    <p:animEffect transition="in" filter="diamond(in)">
                                      <p:cBhvr>
                                        <p:cTn id="47" dur="2000"/>
                                        <p:tgtEl>
                                          <p:spTgt spid="79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0" grpId="0" animBg="1"/>
      <p:bldP spid="79881" grpId="0" animBg="1"/>
      <p:bldP spid="79882" grpId="0"/>
      <p:bldP spid="79883" grpId="0" animBg="1"/>
      <p:bldP spid="79884" grpId="0" animBg="1"/>
      <p:bldP spid="79887" grpId="0"/>
      <p:bldP spid="79888" grpId="0"/>
      <p:bldP spid="2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5" descr="C:\B\b4\JPG\foo\4-12.jpg"/>
          <p:cNvPicPr>
            <a:picLocks noChangeAspect="1" noChangeArrowheads="1"/>
          </p:cNvPicPr>
          <p:nvPr/>
        </p:nvPicPr>
        <p:blipFill>
          <a:blip r:embed="rId3" cstate="print"/>
          <a:srcRect/>
          <a:stretch>
            <a:fillRect/>
          </a:stretch>
        </p:blipFill>
        <p:spPr bwMode="auto">
          <a:xfrm>
            <a:off x="3615469" y="1257533"/>
            <a:ext cx="4181928" cy="4292091"/>
          </a:xfrm>
          <a:prstGeom prst="rect">
            <a:avLst/>
          </a:prstGeom>
          <a:noFill/>
          <a:ln w="9525">
            <a:noFill/>
            <a:miter lim="800000"/>
            <a:headEnd/>
            <a:tailEnd/>
          </a:ln>
        </p:spPr>
      </p:pic>
      <p:sp>
        <p:nvSpPr>
          <p:cNvPr id="77827" name="מציין מיקום של מספר שקופית 5"/>
          <p:cNvSpPr>
            <a:spLocks noGrp="1"/>
          </p:cNvSpPr>
          <p:nvPr>
            <p:ph type="sldNum" sz="quarter" idx="12"/>
          </p:nvPr>
        </p:nvSpPr>
        <p:spPr>
          <a:noFill/>
        </p:spPr>
        <p:txBody>
          <a:bodyPr/>
          <a:lstStyle/>
          <a:p>
            <a:fld id="{2938EB7B-CCB8-416E-B585-49120AC2BFDA}" type="slidenum">
              <a:rPr lang="he-IL" sz="500"/>
              <a:pPr/>
              <a:t>80</a:t>
            </a:fld>
            <a:endParaRPr lang="en-US" sz="500"/>
          </a:p>
        </p:txBody>
      </p:sp>
      <p:sp>
        <p:nvSpPr>
          <p:cNvPr id="77828" name="Rectangle 2"/>
          <p:cNvSpPr>
            <a:spLocks noGrp="1" noChangeArrowheads="1"/>
          </p:cNvSpPr>
          <p:nvPr>
            <p:ph type="title"/>
          </p:nvPr>
        </p:nvSpPr>
        <p:spPr>
          <a:xfrm>
            <a:off x="4421828" y="215778"/>
            <a:ext cx="4459111" cy="787501"/>
          </a:xfrm>
        </p:spPr>
        <p:txBody>
          <a:bodyPr/>
          <a:lstStyle/>
          <a:p>
            <a:pPr algn="l" eaLnBrk="1" hangingPunct="1"/>
            <a:r>
              <a:rPr lang="en-US" sz="1800" dirty="0"/>
              <a:t>Page Tables (2)</a:t>
            </a:r>
            <a:endParaRPr lang="en-US" sz="1600" dirty="0"/>
          </a:p>
        </p:txBody>
      </p:sp>
      <p:sp>
        <p:nvSpPr>
          <p:cNvPr id="77829" name="Rectangle 3"/>
          <p:cNvSpPr>
            <a:spLocks noGrp="1" noChangeArrowheads="1"/>
          </p:cNvSpPr>
          <p:nvPr>
            <p:ph type="body" idx="1"/>
          </p:nvPr>
        </p:nvSpPr>
        <p:spPr>
          <a:xfrm>
            <a:off x="2488604" y="5626592"/>
            <a:ext cx="7773207" cy="913943"/>
          </a:xfrm>
        </p:spPr>
        <p:txBody>
          <a:bodyPr/>
          <a:lstStyle/>
          <a:p>
            <a:pPr eaLnBrk="1" hangingPunct="1"/>
            <a:r>
              <a:rPr lang="en-US" sz="1051" dirty="0"/>
              <a:t>32 bit address with 2 page table fields</a:t>
            </a:r>
          </a:p>
          <a:p>
            <a:pPr eaLnBrk="1" hangingPunct="1"/>
            <a:r>
              <a:rPr lang="en-US" sz="1051" dirty="0"/>
              <a:t>Two-level page tables</a:t>
            </a:r>
          </a:p>
        </p:txBody>
      </p:sp>
      <p:sp>
        <p:nvSpPr>
          <p:cNvPr id="77830" name="Rectangle 6"/>
          <p:cNvSpPr>
            <a:spLocks noChangeArrowheads="1"/>
          </p:cNvSpPr>
          <p:nvPr/>
        </p:nvSpPr>
        <p:spPr bwMode="auto">
          <a:xfrm>
            <a:off x="5614207" y="4966898"/>
            <a:ext cx="481795" cy="265251"/>
          </a:xfrm>
          <a:prstGeom prst="rect">
            <a:avLst/>
          </a:prstGeom>
          <a:solidFill>
            <a:schemeClr val="bg1"/>
          </a:solidFill>
          <a:ln w="9525">
            <a:noFill/>
            <a:miter lim="800000"/>
            <a:headEnd/>
            <a:tailEnd/>
          </a:ln>
        </p:spPr>
        <p:txBody>
          <a:bodyPr wrap="none" lIns="59751" tIns="29875" rIns="59751" bIns="29875" anchor="ctr"/>
          <a:lstStyle/>
          <a:p>
            <a:endParaRPr lang="he-IL" sz="1100"/>
          </a:p>
        </p:txBody>
      </p:sp>
      <p:sp>
        <p:nvSpPr>
          <p:cNvPr id="77831" name="Rectangle 7"/>
          <p:cNvSpPr>
            <a:spLocks noChangeArrowheads="1"/>
          </p:cNvSpPr>
          <p:nvPr/>
        </p:nvSpPr>
        <p:spPr bwMode="auto">
          <a:xfrm>
            <a:off x="6426606" y="1245164"/>
            <a:ext cx="811389" cy="215773"/>
          </a:xfrm>
          <a:prstGeom prst="rect">
            <a:avLst/>
          </a:prstGeom>
          <a:solidFill>
            <a:schemeClr val="bg1"/>
          </a:solidFill>
          <a:ln w="9525">
            <a:noFill/>
            <a:miter lim="800000"/>
            <a:headEnd/>
            <a:tailEnd/>
          </a:ln>
        </p:spPr>
        <p:txBody>
          <a:bodyPr wrap="none" lIns="59751" tIns="29875" rIns="59751" bIns="29875" anchor="ctr"/>
          <a:lstStyle/>
          <a:p>
            <a:endParaRPr lang="he-IL" sz="1100"/>
          </a:p>
        </p:txBody>
      </p:sp>
      <p:sp>
        <p:nvSpPr>
          <p:cNvPr id="77832" name="Text Box 8"/>
          <p:cNvSpPr txBox="1">
            <a:spLocks noChangeArrowheads="1"/>
          </p:cNvSpPr>
          <p:nvPr/>
        </p:nvSpPr>
        <p:spPr bwMode="auto">
          <a:xfrm>
            <a:off x="6096009" y="1151715"/>
            <a:ext cx="410813" cy="91111"/>
          </a:xfrm>
          <a:prstGeom prst="rect">
            <a:avLst/>
          </a:prstGeom>
          <a:noFill/>
          <a:ln w="9525">
            <a:noFill/>
            <a:miter lim="800000"/>
            <a:headEnd/>
            <a:tailEnd/>
          </a:ln>
        </p:spPr>
        <p:txBody>
          <a:bodyPr wrap="none" lIns="59751" tIns="29875" rIns="59751" bIns="29875">
            <a:spAutoFit/>
          </a:bodyPr>
          <a:lstStyle/>
          <a:p>
            <a:r>
              <a:rPr lang="en-US" sz="200" dirty="0"/>
              <a:t>Second-level page tables</a:t>
            </a:r>
            <a:endParaRPr lang="en-US" sz="1100" dirty="0"/>
          </a:p>
        </p:txBody>
      </p:sp>
      <p:sp>
        <p:nvSpPr>
          <p:cNvPr id="77833" name="Rectangle 9"/>
          <p:cNvSpPr>
            <a:spLocks noChangeArrowheads="1"/>
          </p:cNvSpPr>
          <p:nvPr/>
        </p:nvSpPr>
        <p:spPr bwMode="auto">
          <a:xfrm>
            <a:off x="5220110" y="2565917"/>
            <a:ext cx="443492" cy="214399"/>
          </a:xfrm>
          <a:prstGeom prst="rect">
            <a:avLst/>
          </a:prstGeom>
          <a:solidFill>
            <a:schemeClr val="bg1"/>
          </a:solidFill>
          <a:ln w="9525">
            <a:noFill/>
            <a:miter lim="800000"/>
            <a:headEnd/>
            <a:tailEnd/>
          </a:ln>
        </p:spPr>
        <p:txBody>
          <a:bodyPr wrap="none" lIns="59751" tIns="29875" rIns="59751" bIns="29875" anchor="ctr"/>
          <a:lstStyle/>
          <a:p>
            <a:endParaRPr lang="he-IL" sz="1100"/>
          </a:p>
        </p:txBody>
      </p:sp>
      <p:sp>
        <p:nvSpPr>
          <p:cNvPr id="77834" name="Text Box 10"/>
          <p:cNvSpPr txBox="1">
            <a:spLocks noChangeArrowheads="1"/>
          </p:cNvSpPr>
          <p:nvPr/>
        </p:nvSpPr>
        <p:spPr bwMode="auto">
          <a:xfrm>
            <a:off x="5037676" y="2403740"/>
            <a:ext cx="240895" cy="121889"/>
          </a:xfrm>
          <a:prstGeom prst="rect">
            <a:avLst/>
          </a:prstGeom>
          <a:noFill/>
          <a:ln w="9525">
            <a:noFill/>
            <a:miter lim="800000"/>
            <a:headEnd/>
            <a:tailEnd/>
          </a:ln>
        </p:spPr>
        <p:txBody>
          <a:bodyPr wrap="none" lIns="59751" tIns="29875" rIns="59751" bIns="29875">
            <a:spAutoFit/>
          </a:bodyPr>
          <a:lstStyle/>
          <a:p>
            <a:r>
              <a:rPr lang="en-US" sz="200" dirty="0"/>
              <a:t>Top-level </a:t>
            </a:r>
          </a:p>
          <a:p>
            <a:r>
              <a:rPr lang="en-US" sz="200" dirty="0"/>
              <a:t>page table</a:t>
            </a:r>
            <a:endParaRPr lang="en-US" sz="1100" dirty="0"/>
          </a:p>
        </p:txBody>
      </p:sp>
      <p:sp>
        <p:nvSpPr>
          <p:cNvPr id="77836" name="מלבן 12"/>
          <p:cNvSpPr>
            <a:spLocks noChangeArrowheads="1"/>
          </p:cNvSpPr>
          <p:nvPr/>
        </p:nvSpPr>
        <p:spPr bwMode="auto">
          <a:xfrm>
            <a:off x="6094995" y="1168201"/>
            <a:ext cx="1492755" cy="4837707"/>
          </a:xfrm>
          <a:prstGeom prst="rect">
            <a:avLst/>
          </a:prstGeom>
          <a:noFill/>
          <a:ln w="9525" algn="ctr">
            <a:noFill/>
            <a:round/>
            <a:headEnd/>
            <a:tailEnd/>
          </a:ln>
        </p:spPr>
        <p:txBody>
          <a:bodyPr lIns="65520" tIns="32760" rIns="65520" bIns="32760"/>
          <a:lstStyle/>
          <a:p>
            <a:endParaRPr lang="he-IL" sz="1100"/>
          </a:p>
        </p:txBody>
      </p:sp>
      <p:sp>
        <p:nvSpPr>
          <p:cNvPr id="77837" name="מלבן 13"/>
          <p:cNvSpPr>
            <a:spLocks noChangeArrowheads="1"/>
          </p:cNvSpPr>
          <p:nvPr/>
        </p:nvSpPr>
        <p:spPr bwMode="auto">
          <a:xfrm>
            <a:off x="6150438" y="916693"/>
            <a:ext cx="1132921" cy="5504267"/>
          </a:xfrm>
          <a:prstGeom prst="rect">
            <a:avLst/>
          </a:prstGeom>
          <a:noFill/>
          <a:ln w="9525" algn="ctr">
            <a:noFill/>
            <a:round/>
            <a:headEnd/>
            <a:tailEnd/>
          </a:ln>
        </p:spPr>
        <p:txBody>
          <a:bodyPr lIns="65520" tIns="32760" rIns="65520" bIns="32760"/>
          <a:lstStyle/>
          <a:p>
            <a:endParaRPr lang="he-IL" sz="1100"/>
          </a:p>
        </p:txBody>
      </p:sp>
      <p:sp>
        <p:nvSpPr>
          <p:cNvPr id="77840" name="מלבן 15"/>
          <p:cNvSpPr>
            <a:spLocks noChangeArrowheads="1"/>
          </p:cNvSpPr>
          <p:nvPr/>
        </p:nvSpPr>
        <p:spPr bwMode="auto">
          <a:xfrm>
            <a:off x="5984127" y="867218"/>
            <a:ext cx="1557263" cy="4749749"/>
          </a:xfrm>
          <a:prstGeom prst="rect">
            <a:avLst/>
          </a:prstGeom>
          <a:noFill/>
          <a:ln w="9525" algn="ctr">
            <a:noFill/>
            <a:round/>
            <a:headEnd/>
            <a:tailEnd/>
          </a:ln>
        </p:spPr>
        <p:txBody>
          <a:bodyPr lIns="65520" tIns="32760" rIns="65520" bIns="32760"/>
          <a:lstStyle/>
          <a:p>
            <a:endParaRPr lang="he-IL" sz="1100"/>
          </a:p>
        </p:txBody>
      </p:sp>
      <p:sp>
        <p:nvSpPr>
          <p:cNvPr id="77842" name="מלבן 17"/>
          <p:cNvSpPr>
            <a:spLocks noChangeArrowheads="1"/>
          </p:cNvSpPr>
          <p:nvPr/>
        </p:nvSpPr>
        <p:spPr bwMode="auto">
          <a:xfrm>
            <a:off x="6177644" y="942805"/>
            <a:ext cx="1262944" cy="4799227"/>
          </a:xfrm>
          <a:prstGeom prst="rect">
            <a:avLst/>
          </a:prstGeom>
          <a:noFill/>
          <a:ln w="9525" algn="ctr">
            <a:noFill/>
            <a:round/>
            <a:headEnd/>
            <a:tailEnd/>
          </a:ln>
        </p:spPr>
        <p:txBody>
          <a:bodyPr lIns="65520" tIns="32760" rIns="65520" bIns="32760"/>
          <a:lstStyle/>
          <a:p>
            <a:endParaRPr lang="he-IL" sz="1100"/>
          </a:p>
        </p:txBody>
      </p:sp>
      <p:sp>
        <p:nvSpPr>
          <p:cNvPr id="77843" name="מלבן 18"/>
          <p:cNvSpPr>
            <a:spLocks noChangeArrowheads="1"/>
          </p:cNvSpPr>
          <p:nvPr/>
        </p:nvSpPr>
        <p:spPr bwMode="auto">
          <a:xfrm>
            <a:off x="6095001" y="854845"/>
            <a:ext cx="1299231" cy="4987512"/>
          </a:xfrm>
          <a:prstGeom prst="rect">
            <a:avLst/>
          </a:prstGeom>
          <a:noFill/>
          <a:ln w="9525" algn="ctr">
            <a:noFill/>
            <a:round/>
            <a:headEnd/>
            <a:tailEnd/>
          </a:ln>
        </p:spPr>
        <p:txBody>
          <a:bodyPr lIns="65520" tIns="32760" rIns="65520" bIns="32760"/>
          <a:lstStyle/>
          <a:p>
            <a:endParaRPr lang="he-IL" sz="1100"/>
          </a:p>
        </p:txBody>
      </p:sp>
      <p:sp>
        <p:nvSpPr>
          <p:cNvPr id="77845" name="TextBox 22"/>
          <p:cNvSpPr txBox="1">
            <a:spLocks noChangeArrowheads="1"/>
          </p:cNvSpPr>
          <p:nvPr/>
        </p:nvSpPr>
        <p:spPr bwMode="auto">
          <a:xfrm>
            <a:off x="7643187" y="3894906"/>
            <a:ext cx="580571" cy="404714"/>
          </a:xfrm>
          <a:prstGeom prst="rect">
            <a:avLst/>
          </a:prstGeom>
          <a:noFill/>
          <a:ln w="9525">
            <a:noFill/>
            <a:miter lim="800000"/>
            <a:headEnd/>
            <a:tailEnd/>
          </a:ln>
        </p:spPr>
        <p:txBody>
          <a:bodyPr lIns="65520" tIns="32760" rIns="65520" bIns="32760">
            <a:spAutoFit/>
          </a:bodyPr>
          <a:lstStyle/>
          <a:p>
            <a:r>
              <a:rPr lang="he-IL" sz="1100"/>
              <a:t>מסגרת פיזית</a:t>
            </a:r>
          </a:p>
        </p:txBody>
      </p:sp>
      <p:sp>
        <p:nvSpPr>
          <p:cNvPr id="77846" name="TextBox 22"/>
          <p:cNvSpPr txBox="1">
            <a:spLocks noChangeArrowheads="1"/>
          </p:cNvSpPr>
          <p:nvPr/>
        </p:nvSpPr>
        <p:spPr bwMode="auto">
          <a:xfrm>
            <a:off x="2644835" y="3874291"/>
            <a:ext cx="2015873" cy="404714"/>
          </a:xfrm>
          <a:prstGeom prst="rect">
            <a:avLst/>
          </a:prstGeom>
          <a:noFill/>
          <a:ln w="9525">
            <a:noFill/>
            <a:miter lim="800000"/>
            <a:headEnd/>
            <a:tailEnd/>
          </a:ln>
        </p:spPr>
        <p:txBody>
          <a:bodyPr lIns="65520" tIns="32760" rIns="65520" bIns="32760">
            <a:spAutoFit/>
          </a:bodyPr>
          <a:lstStyle/>
          <a:p>
            <a:r>
              <a:rPr lang="en-US" sz="1100" dirty="0"/>
              <a:t>Pt1| pt2| ….                  |offset</a:t>
            </a:r>
          </a:p>
          <a:p>
            <a:r>
              <a:rPr lang="en-US" sz="1100" dirty="0"/>
              <a:t>  3  |10 | 10 |10  | 10| 10    | 11</a:t>
            </a:r>
            <a:endParaRPr lang="he-IL" sz="1100" dirty="0"/>
          </a:p>
        </p:txBody>
      </p:sp>
      <p:sp>
        <p:nvSpPr>
          <p:cNvPr id="77847" name="סוגר מסולסל שמאלי 23"/>
          <p:cNvSpPr>
            <a:spLocks/>
          </p:cNvSpPr>
          <p:nvPr/>
        </p:nvSpPr>
        <p:spPr bwMode="auto">
          <a:xfrm>
            <a:off x="6026459" y="4388298"/>
            <a:ext cx="182436" cy="916691"/>
          </a:xfrm>
          <a:prstGeom prst="leftBrace">
            <a:avLst>
              <a:gd name="adj1" fmla="val 8377"/>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77848" name="TextBox 24"/>
          <p:cNvSpPr txBox="1">
            <a:spLocks noChangeArrowheads="1"/>
          </p:cNvSpPr>
          <p:nvPr/>
        </p:nvSpPr>
        <p:spPr bwMode="auto">
          <a:xfrm>
            <a:off x="5058844" y="4694778"/>
            <a:ext cx="896055" cy="235437"/>
          </a:xfrm>
          <a:prstGeom prst="rect">
            <a:avLst/>
          </a:prstGeom>
          <a:noFill/>
          <a:ln w="9525">
            <a:noFill/>
            <a:miter lim="800000"/>
            <a:headEnd/>
            <a:tailEnd/>
          </a:ln>
        </p:spPr>
        <p:txBody>
          <a:bodyPr lIns="65520" tIns="32760" rIns="65520" bIns="32760">
            <a:spAutoFit/>
          </a:bodyPr>
          <a:lstStyle/>
          <a:p>
            <a:r>
              <a:rPr lang="en-US" sz="1100"/>
              <a:t>1k entries</a:t>
            </a:r>
            <a:endParaRPr lang="he-IL" sz="1100"/>
          </a:p>
        </p:txBody>
      </p:sp>
      <p:sp>
        <p:nvSpPr>
          <p:cNvPr id="77849" name="TextBox 25"/>
          <p:cNvSpPr txBox="1">
            <a:spLocks noChangeArrowheads="1"/>
          </p:cNvSpPr>
          <p:nvPr/>
        </p:nvSpPr>
        <p:spPr bwMode="auto">
          <a:xfrm>
            <a:off x="7625049" y="4708521"/>
            <a:ext cx="896055" cy="235437"/>
          </a:xfrm>
          <a:prstGeom prst="rect">
            <a:avLst/>
          </a:prstGeom>
          <a:noFill/>
          <a:ln w="9525">
            <a:noFill/>
            <a:miter lim="800000"/>
            <a:headEnd/>
            <a:tailEnd/>
          </a:ln>
        </p:spPr>
        <p:txBody>
          <a:bodyPr lIns="65520" tIns="32760" rIns="65520" bIns="32760">
            <a:spAutoFit/>
          </a:bodyPr>
          <a:lstStyle/>
          <a:p>
            <a:r>
              <a:rPr lang="en-US" sz="1100"/>
              <a:t>4kb</a:t>
            </a:r>
            <a:endParaRPr lang="he-IL" sz="1100"/>
          </a:p>
        </p:txBody>
      </p:sp>
      <p:sp>
        <p:nvSpPr>
          <p:cNvPr id="28" name="מציין מיקום של תאריך 27"/>
          <p:cNvSpPr>
            <a:spLocks noGrp="1"/>
          </p:cNvSpPr>
          <p:nvPr>
            <p:ph type="dt" sz="half" idx="10"/>
          </p:nvPr>
        </p:nvSpPr>
        <p:spPr/>
        <p:txBody>
          <a:bodyPr/>
          <a:lstStyle/>
          <a:p>
            <a:pPr>
              <a:defRPr/>
            </a:pPr>
            <a:fld id="{FEE53AA9-C8BA-4E74-BB84-D56F8AF5DEEB}" type="datetime12">
              <a:rPr lang="he-IL" sz="500"/>
              <a:pPr>
                <a:defRPr/>
              </a:pPr>
              <a:t>28/01/2024 18:13</a:t>
            </a:fld>
            <a:endParaRPr lang="en-US" sz="5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כותרת 1"/>
          <p:cNvSpPr>
            <a:spLocks noGrp="1"/>
          </p:cNvSpPr>
          <p:nvPr>
            <p:ph type="title"/>
          </p:nvPr>
        </p:nvSpPr>
        <p:spPr/>
        <p:txBody>
          <a:bodyPr/>
          <a:lstStyle/>
          <a:p>
            <a:r>
              <a:rPr lang="he-IL" sz="1800"/>
              <a:t> </a:t>
            </a:r>
          </a:p>
        </p:txBody>
      </p:sp>
      <p:sp>
        <p:nvSpPr>
          <p:cNvPr id="78851" name="מציין מיקום תוכן 2"/>
          <p:cNvSpPr>
            <a:spLocks noGrp="1"/>
          </p:cNvSpPr>
          <p:nvPr>
            <p:ph idx="1"/>
          </p:nvPr>
        </p:nvSpPr>
        <p:spPr>
          <a:xfrm>
            <a:off x="2301128" y="426049"/>
            <a:ext cx="7773207" cy="4114800"/>
          </a:xfrm>
        </p:spPr>
        <p:txBody>
          <a:bodyPr/>
          <a:lstStyle/>
          <a:p>
            <a:pPr algn="r" rtl="1">
              <a:buFontTx/>
              <a:buNone/>
            </a:pPr>
            <a:r>
              <a:rPr lang="he-IL" sz="1800" dirty="0"/>
              <a:t>שאלה 2</a:t>
            </a:r>
            <a:endParaRPr lang="en-US" sz="1800" dirty="0"/>
          </a:p>
          <a:p>
            <a:pPr algn="r" rtl="1">
              <a:buFontTx/>
              <a:buNone/>
            </a:pPr>
            <a:r>
              <a:rPr lang="he-IL" sz="1800" dirty="0"/>
              <a:t>	נתון:</a:t>
            </a:r>
            <a:endParaRPr lang="en-US" sz="1800" dirty="0"/>
          </a:p>
          <a:p>
            <a:pPr lvl="1" algn="r" rtl="1"/>
            <a:r>
              <a:rPr lang="he-IL" sz="1600" dirty="0"/>
              <a:t>גודל דף </a:t>
            </a:r>
            <a:r>
              <a:rPr lang="en-US" sz="1600" dirty="0"/>
              <a:t>2K WORD </a:t>
            </a:r>
          </a:p>
          <a:p>
            <a:pPr lvl="1" algn="r" rtl="1"/>
            <a:r>
              <a:rPr lang="en-US" sz="1600" dirty="0"/>
              <a:t>WORD = 2 Bytes</a:t>
            </a:r>
          </a:p>
          <a:p>
            <a:pPr lvl="1" algn="r" rtl="1"/>
            <a:r>
              <a:rPr lang="he-IL" sz="1600" dirty="0"/>
              <a:t>טבלת הדפים הרגילה היא בדיוק גודל דף</a:t>
            </a:r>
            <a:endParaRPr lang="en-US" sz="1600" dirty="0"/>
          </a:p>
          <a:p>
            <a:pPr lvl="1" algn="r" rtl="1"/>
            <a:r>
              <a:rPr lang="he-IL" sz="1600" dirty="0"/>
              <a:t>גודל כניסה בטבלה </a:t>
            </a:r>
            <a:r>
              <a:rPr lang="en-US" sz="1600" dirty="0"/>
              <a:t>4Bytes</a:t>
            </a:r>
          </a:p>
          <a:p>
            <a:pPr algn="r" rtl="1">
              <a:buFontTx/>
              <a:buNone/>
            </a:pPr>
            <a:r>
              <a:rPr lang="he-IL" sz="1800" dirty="0"/>
              <a:t>כמה סיביות יש בכתובת וירטואלית ?</a:t>
            </a:r>
            <a:endParaRPr lang="en-US" sz="1800" dirty="0"/>
          </a:p>
          <a:p>
            <a:pPr algn="r" rtl="1">
              <a:buFontTx/>
              <a:buNone/>
            </a:pPr>
            <a:r>
              <a:rPr lang="he-IL" sz="1800" dirty="0"/>
              <a:t> </a:t>
            </a:r>
            <a:endParaRPr lang="en-US" sz="1800" dirty="0"/>
          </a:p>
          <a:p>
            <a:pPr algn="r" rtl="1">
              <a:buFontTx/>
              <a:buNone/>
            </a:pPr>
            <a:endParaRPr lang="he-IL" sz="1800" dirty="0"/>
          </a:p>
        </p:txBody>
      </p:sp>
      <p:sp>
        <p:nvSpPr>
          <p:cNvPr id="78852" name="מציין מיקום של מספר שקופית 3"/>
          <p:cNvSpPr>
            <a:spLocks noGrp="1"/>
          </p:cNvSpPr>
          <p:nvPr>
            <p:ph type="sldNum" sz="quarter" idx="12"/>
          </p:nvPr>
        </p:nvSpPr>
        <p:spPr>
          <a:noFill/>
        </p:spPr>
        <p:txBody>
          <a:bodyPr/>
          <a:lstStyle/>
          <a:p>
            <a:fld id="{712CC7D6-3305-4168-83D3-D65370BAC1E3}" type="slidenum">
              <a:rPr lang="he-IL" sz="500"/>
              <a:pPr/>
              <a:t>81</a:t>
            </a:fld>
            <a:endParaRPr lang="en-US" sz="500"/>
          </a:p>
        </p:txBody>
      </p:sp>
      <p:sp>
        <p:nvSpPr>
          <p:cNvPr id="78853" name="TextBox 5"/>
          <p:cNvSpPr txBox="1">
            <a:spLocks noChangeArrowheads="1"/>
          </p:cNvSpPr>
          <p:nvPr/>
        </p:nvSpPr>
        <p:spPr bwMode="auto">
          <a:xfrm>
            <a:off x="2318261" y="957923"/>
            <a:ext cx="1436311" cy="404714"/>
          </a:xfrm>
          <a:prstGeom prst="rect">
            <a:avLst/>
          </a:prstGeom>
          <a:noFill/>
          <a:ln w="9525">
            <a:solidFill>
              <a:srgbClr val="FF0000"/>
            </a:solidFill>
            <a:miter lim="800000"/>
            <a:headEnd/>
            <a:tailEnd/>
          </a:ln>
        </p:spPr>
        <p:txBody>
          <a:bodyPr lIns="65520" tIns="32760" rIns="65520" bIns="32760">
            <a:spAutoFit/>
          </a:bodyPr>
          <a:lstStyle/>
          <a:p>
            <a:r>
              <a:rPr lang="en-US" sz="1100"/>
              <a:t>Page   |    offset</a:t>
            </a:r>
          </a:p>
          <a:p>
            <a:r>
              <a:rPr lang="en-US" sz="1100"/>
              <a:t>    ??   |    ??</a:t>
            </a:r>
            <a:endParaRPr lang="he-IL" sz="1100"/>
          </a:p>
        </p:txBody>
      </p:sp>
      <p:sp>
        <p:nvSpPr>
          <p:cNvPr id="81926" name="מלבן 7"/>
          <p:cNvSpPr>
            <a:spLocks noChangeArrowheads="1"/>
          </p:cNvSpPr>
          <p:nvPr/>
        </p:nvSpPr>
        <p:spPr bwMode="auto">
          <a:xfrm>
            <a:off x="4620389" y="1208059"/>
            <a:ext cx="1181303" cy="1874612"/>
          </a:xfrm>
          <a:prstGeom prst="rect">
            <a:avLst/>
          </a:prstGeom>
          <a:noFill/>
          <a:ln w="9525" algn="ctr">
            <a:solidFill>
              <a:schemeClr val="tx1"/>
            </a:solidFill>
            <a:round/>
            <a:headEnd/>
            <a:tailEnd/>
          </a:ln>
        </p:spPr>
        <p:txBody>
          <a:bodyPr lIns="65520" tIns="32760" rIns="65520" bIns="32760"/>
          <a:lstStyle/>
          <a:p>
            <a:endParaRPr lang="he-IL" sz="1100"/>
          </a:p>
        </p:txBody>
      </p:sp>
      <p:sp>
        <p:nvSpPr>
          <p:cNvPr id="81927" name="סוגר מסולסל שמאלי 8"/>
          <p:cNvSpPr>
            <a:spLocks/>
          </p:cNvSpPr>
          <p:nvPr/>
        </p:nvSpPr>
        <p:spPr bwMode="auto">
          <a:xfrm>
            <a:off x="4131532" y="1346869"/>
            <a:ext cx="387048" cy="1639599"/>
          </a:xfrm>
          <a:prstGeom prst="leftBrace">
            <a:avLst>
              <a:gd name="adj1" fmla="val 8342"/>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81928" name="TextBox 9"/>
          <p:cNvSpPr txBox="1">
            <a:spLocks noChangeArrowheads="1"/>
          </p:cNvSpPr>
          <p:nvPr/>
        </p:nvSpPr>
        <p:spPr bwMode="auto">
          <a:xfrm>
            <a:off x="3453994" y="2042080"/>
            <a:ext cx="710884" cy="235437"/>
          </a:xfrm>
          <a:prstGeom prst="rect">
            <a:avLst/>
          </a:prstGeom>
          <a:noFill/>
          <a:ln w="9525">
            <a:noFill/>
            <a:miter lim="800000"/>
            <a:headEnd/>
            <a:tailEnd/>
          </a:ln>
        </p:spPr>
        <p:txBody>
          <a:bodyPr wrap="square" lIns="65520" tIns="32760" rIns="65520" bIns="32760">
            <a:spAutoFit/>
          </a:bodyPr>
          <a:lstStyle/>
          <a:p>
            <a:r>
              <a:rPr lang="en-US" sz="1100" dirty="0"/>
              <a:t>2KWord</a:t>
            </a:r>
            <a:endParaRPr lang="he-IL" sz="1100" dirty="0"/>
          </a:p>
        </p:txBody>
      </p:sp>
      <p:sp>
        <p:nvSpPr>
          <p:cNvPr id="81929" name="TextBox 10"/>
          <p:cNvSpPr txBox="1">
            <a:spLocks noChangeArrowheads="1"/>
          </p:cNvSpPr>
          <p:nvPr/>
        </p:nvSpPr>
        <p:spPr bwMode="auto">
          <a:xfrm>
            <a:off x="6183704" y="2042080"/>
            <a:ext cx="692453" cy="404714"/>
          </a:xfrm>
          <a:prstGeom prst="rect">
            <a:avLst/>
          </a:prstGeom>
          <a:noFill/>
          <a:ln w="9525">
            <a:noFill/>
            <a:miter lim="800000"/>
            <a:headEnd/>
            <a:tailEnd/>
          </a:ln>
        </p:spPr>
        <p:txBody>
          <a:bodyPr lIns="65520" tIns="32760" rIns="65520" bIns="32760">
            <a:spAutoFit/>
          </a:bodyPr>
          <a:lstStyle/>
          <a:p>
            <a:r>
              <a:rPr lang="en-US" sz="1100" dirty="0"/>
              <a:t>4KB</a:t>
            </a:r>
            <a:endParaRPr lang="he-IL" sz="1100" dirty="0"/>
          </a:p>
          <a:p>
            <a:endParaRPr lang="he-IL" sz="1100" dirty="0"/>
          </a:p>
        </p:txBody>
      </p:sp>
      <p:sp>
        <p:nvSpPr>
          <p:cNvPr id="81930" name="סוגר מסולסל ימני 11"/>
          <p:cNvSpPr>
            <a:spLocks/>
          </p:cNvSpPr>
          <p:nvPr/>
        </p:nvSpPr>
        <p:spPr bwMode="auto">
          <a:xfrm>
            <a:off x="5863176" y="1194320"/>
            <a:ext cx="243921" cy="1930959"/>
          </a:xfrm>
          <a:prstGeom prst="rightBrace">
            <a:avLst>
              <a:gd name="adj1" fmla="val 8359"/>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cxnSp>
        <p:nvCxnSpPr>
          <p:cNvPr id="81931" name="מחבר חץ ישר 13"/>
          <p:cNvCxnSpPr>
            <a:cxnSpLocks noChangeShapeType="1"/>
          </p:cNvCxnSpPr>
          <p:nvPr/>
        </p:nvCxnSpPr>
        <p:spPr bwMode="auto">
          <a:xfrm rot="5400000" flipH="1" flipV="1">
            <a:off x="4691382" y="3455061"/>
            <a:ext cx="764139" cy="132040"/>
          </a:xfrm>
          <a:prstGeom prst="straightConnector1">
            <a:avLst/>
          </a:prstGeom>
          <a:noFill/>
          <a:ln w="9525" algn="ctr">
            <a:solidFill>
              <a:schemeClr val="tx1"/>
            </a:solidFill>
            <a:round/>
            <a:headEnd/>
            <a:tailEnd type="arrow" w="med" len="med"/>
          </a:ln>
        </p:spPr>
      </p:cxnSp>
      <p:sp>
        <p:nvSpPr>
          <p:cNvPr id="81932" name="TextBox 14"/>
          <p:cNvSpPr txBox="1">
            <a:spLocks noChangeArrowheads="1"/>
          </p:cNvSpPr>
          <p:nvPr/>
        </p:nvSpPr>
        <p:spPr bwMode="auto">
          <a:xfrm>
            <a:off x="4722183" y="4028218"/>
            <a:ext cx="764016" cy="404714"/>
          </a:xfrm>
          <a:prstGeom prst="rect">
            <a:avLst/>
          </a:prstGeom>
          <a:noFill/>
          <a:ln w="9525">
            <a:noFill/>
            <a:miter lim="800000"/>
            <a:headEnd/>
            <a:tailEnd/>
          </a:ln>
        </p:spPr>
        <p:txBody>
          <a:bodyPr lIns="65520" tIns="32760" rIns="65520" bIns="32760">
            <a:spAutoFit/>
          </a:bodyPr>
          <a:lstStyle/>
          <a:p>
            <a:r>
              <a:rPr lang="en-US" sz="1100" dirty="0"/>
              <a:t>1024 </a:t>
            </a:r>
            <a:r>
              <a:rPr lang="he-IL" sz="1100" dirty="0"/>
              <a:t>כניסות</a:t>
            </a:r>
          </a:p>
        </p:txBody>
      </p:sp>
      <p:sp>
        <p:nvSpPr>
          <p:cNvPr id="13" name="TextBox 5"/>
          <p:cNvSpPr txBox="1">
            <a:spLocks noChangeArrowheads="1"/>
          </p:cNvSpPr>
          <p:nvPr/>
        </p:nvSpPr>
        <p:spPr bwMode="auto">
          <a:xfrm>
            <a:off x="2224521" y="2919118"/>
            <a:ext cx="1436309" cy="404714"/>
          </a:xfrm>
          <a:prstGeom prst="rect">
            <a:avLst/>
          </a:prstGeom>
          <a:noFill/>
          <a:ln w="9525">
            <a:solidFill>
              <a:srgbClr val="FF0000"/>
            </a:solidFill>
            <a:miter lim="800000"/>
            <a:headEnd/>
            <a:tailEnd/>
          </a:ln>
        </p:spPr>
        <p:txBody>
          <a:bodyPr lIns="65520" tIns="32760" rIns="65520" bIns="32760">
            <a:spAutoFit/>
          </a:bodyPr>
          <a:lstStyle/>
          <a:p>
            <a:r>
              <a:rPr lang="en-US" sz="1100"/>
              <a:t>Page   |    offset</a:t>
            </a:r>
          </a:p>
          <a:p>
            <a:r>
              <a:rPr lang="en-US" sz="1100"/>
              <a:t>    10   |    11 </a:t>
            </a:r>
            <a:endParaRPr lang="he-IL" sz="1100"/>
          </a:p>
        </p:txBody>
      </p:sp>
      <p:sp>
        <p:nvSpPr>
          <p:cNvPr id="14" name="מציין מיקום של תאריך 13"/>
          <p:cNvSpPr>
            <a:spLocks noGrp="1"/>
          </p:cNvSpPr>
          <p:nvPr>
            <p:ph type="dt" sz="half" idx="10"/>
          </p:nvPr>
        </p:nvSpPr>
        <p:spPr/>
        <p:txBody>
          <a:bodyPr/>
          <a:lstStyle/>
          <a:p>
            <a:pPr>
              <a:defRPr/>
            </a:pPr>
            <a:fld id="{838A8BEA-1E3E-4FEE-A6B8-F2235D647347}" type="datetime12">
              <a:rPr lang="he-IL" sz="500"/>
              <a:pPr>
                <a:defRPr/>
              </a:pPr>
              <a:t>28/01/2024 18:13</a:t>
            </a:fld>
            <a:endParaRPr lang="en-US" sz="500"/>
          </a:p>
        </p:txBody>
      </p:sp>
      <p:sp>
        <p:nvSpPr>
          <p:cNvPr id="15" name="TextBox 14"/>
          <p:cNvSpPr txBox="1">
            <a:spLocks noChangeArrowheads="1"/>
          </p:cNvSpPr>
          <p:nvPr/>
        </p:nvSpPr>
        <p:spPr bwMode="auto">
          <a:xfrm>
            <a:off x="5747768" y="3602177"/>
            <a:ext cx="2665489" cy="2774618"/>
          </a:xfrm>
          <a:prstGeom prst="rect">
            <a:avLst/>
          </a:prstGeom>
          <a:noFill/>
          <a:ln w="9525">
            <a:noFill/>
            <a:miter lim="800000"/>
            <a:headEnd/>
            <a:tailEnd/>
          </a:ln>
        </p:spPr>
        <p:txBody>
          <a:bodyPr wrap="square" lIns="65544" tIns="32772" rIns="65544" bIns="32772">
            <a:spAutoFit/>
          </a:bodyPr>
          <a:lstStyle/>
          <a:p>
            <a:pPr algn="r" rtl="1"/>
            <a:r>
              <a:rPr lang="he-IL" sz="1600" dirty="0"/>
              <a:t>תשובה לש.2 : </a:t>
            </a:r>
            <a:endParaRPr lang="en-US" sz="1600" dirty="0"/>
          </a:p>
          <a:p>
            <a:pPr algn="r" rtl="1"/>
            <a:r>
              <a:rPr lang="he-IL" sz="1600" dirty="0"/>
              <a:t>גודל דף </a:t>
            </a:r>
            <a:r>
              <a:rPr lang="en-US" sz="1600" dirty="0"/>
              <a:t>2K WORD </a:t>
            </a:r>
          </a:p>
          <a:p>
            <a:pPr algn="r" rtl="1"/>
            <a:r>
              <a:rPr lang="he-IL" sz="1600" dirty="0"/>
              <a:t>אז 11 סיביות ל </a:t>
            </a:r>
            <a:r>
              <a:rPr lang="en-US" sz="1600" dirty="0"/>
              <a:t>offset</a:t>
            </a:r>
          </a:p>
          <a:p>
            <a:pPr algn="r" rtl="1"/>
            <a:r>
              <a:rPr lang="en-US" sz="1600" dirty="0"/>
              <a:t>WORD = 2 Bytes</a:t>
            </a:r>
          </a:p>
          <a:p>
            <a:pPr algn="r" rtl="1"/>
            <a:r>
              <a:rPr lang="he-IL" sz="1600" dirty="0"/>
              <a:t>דף == מסגרת == </a:t>
            </a:r>
            <a:r>
              <a:rPr lang="en-US" sz="1600" dirty="0"/>
              <a:t>4KB</a:t>
            </a:r>
            <a:r>
              <a:rPr lang="he-IL" sz="1600" dirty="0"/>
              <a:t> </a:t>
            </a:r>
          </a:p>
          <a:p>
            <a:pPr algn="r" rtl="1"/>
            <a:r>
              <a:rPr lang="he-IL" sz="1600" dirty="0"/>
              <a:t>כמה כניסות יש בדף ???</a:t>
            </a:r>
          </a:p>
          <a:p>
            <a:pPr algn="r" rtl="1"/>
            <a:r>
              <a:rPr lang="he-IL" sz="1600" dirty="0"/>
              <a:t>1024 כניסות</a:t>
            </a:r>
          </a:p>
          <a:p>
            <a:pPr algn="r" rtl="1"/>
            <a:r>
              <a:rPr lang="he-IL" sz="1600" dirty="0"/>
              <a:t>1024 דפים</a:t>
            </a:r>
          </a:p>
          <a:p>
            <a:pPr algn="r" rtl="1"/>
            <a:r>
              <a:rPr lang="en-US" sz="1600" dirty="0"/>
              <a:t>2^10</a:t>
            </a:r>
          </a:p>
          <a:p>
            <a:pPr algn="r" rtl="1"/>
            <a:r>
              <a:rPr lang="he-IL" sz="1600" dirty="0"/>
              <a:t>10 סיביות לדף</a:t>
            </a:r>
          </a:p>
          <a:p>
            <a:pPr algn="r" rtl="1"/>
            <a:r>
              <a:rPr lang="he-IL" sz="1600" dirty="0"/>
              <a:t>סה"כ </a:t>
            </a:r>
            <a:r>
              <a:rPr lang="en-US" sz="1600" dirty="0"/>
              <a:t>10+11=21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6"/>
                                        </p:tgtEl>
                                        <p:attrNameLst>
                                          <p:attrName>style.visibility</p:attrName>
                                        </p:attrNameLst>
                                      </p:cBhvr>
                                      <p:to>
                                        <p:strVal val="visible"/>
                                      </p:to>
                                    </p:set>
                                    <p:anim calcmode="lin" valueType="num">
                                      <p:cBhvr additive="base">
                                        <p:cTn id="7" dur="500" fill="hold"/>
                                        <p:tgtEl>
                                          <p:spTgt spid="81926"/>
                                        </p:tgtEl>
                                        <p:attrNameLst>
                                          <p:attrName>ppt_x</p:attrName>
                                        </p:attrNameLst>
                                      </p:cBhvr>
                                      <p:tavLst>
                                        <p:tav tm="0">
                                          <p:val>
                                            <p:strVal val="#ppt_x"/>
                                          </p:val>
                                        </p:tav>
                                        <p:tav tm="100000">
                                          <p:val>
                                            <p:strVal val="#ppt_x"/>
                                          </p:val>
                                        </p:tav>
                                      </p:tavLst>
                                    </p:anim>
                                    <p:anim calcmode="lin" valueType="num">
                                      <p:cBhvr additive="base">
                                        <p:cTn id="8" dur="500" fill="hold"/>
                                        <p:tgtEl>
                                          <p:spTgt spid="819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1927"/>
                                        </p:tgtEl>
                                        <p:attrNameLst>
                                          <p:attrName>style.visibility</p:attrName>
                                        </p:attrNameLst>
                                      </p:cBhvr>
                                      <p:to>
                                        <p:strVal val="visible"/>
                                      </p:to>
                                    </p:set>
                                    <p:anim calcmode="lin" valueType="num">
                                      <p:cBhvr additive="base">
                                        <p:cTn id="11" dur="500" fill="hold"/>
                                        <p:tgtEl>
                                          <p:spTgt spid="81927"/>
                                        </p:tgtEl>
                                        <p:attrNameLst>
                                          <p:attrName>ppt_x</p:attrName>
                                        </p:attrNameLst>
                                      </p:cBhvr>
                                      <p:tavLst>
                                        <p:tav tm="0">
                                          <p:val>
                                            <p:strVal val="#ppt_x"/>
                                          </p:val>
                                        </p:tav>
                                        <p:tav tm="100000">
                                          <p:val>
                                            <p:strVal val="#ppt_x"/>
                                          </p:val>
                                        </p:tav>
                                      </p:tavLst>
                                    </p:anim>
                                    <p:anim calcmode="lin" valueType="num">
                                      <p:cBhvr additive="base">
                                        <p:cTn id="12" dur="500" fill="hold"/>
                                        <p:tgtEl>
                                          <p:spTgt spid="8192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1930"/>
                                        </p:tgtEl>
                                        <p:attrNameLst>
                                          <p:attrName>style.visibility</p:attrName>
                                        </p:attrNameLst>
                                      </p:cBhvr>
                                      <p:to>
                                        <p:strVal val="visible"/>
                                      </p:to>
                                    </p:set>
                                    <p:anim calcmode="lin" valueType="num">
                                      <p:cBhvr additive="base">
                                        <p:cTn id="15" dur="500" fill="hold"/>
                                        <p:tgtEl>
                                          <p:spTgt spid="81930"/>
                                        </p:tgtEl>
                                        <p:attrNameLst>
                                          <p:attrName>ppt_x</p:attrName>
                                        </p:attrNameLst>
                                      </p:cBhvr>
                                      <p:tavLst>
                                        <p:tav tm="0">
                                          <p:val>
                                            <p:strVal val="#ppt_x"/>
                                          </p:val>
                                        </p:tav>
                                        <p:tav tm="100000">
                                          <p:val>
                                            <p:strVal val="#ppt_x"/>
                                          </p:val>
                                        </p:tav>
                                      </p:tavLst>
                                    </p:anim>
                                    <p:anim calcmode="lin" valueType="num">
                                      <p:cBhvr additive="base">
                                        <p:cTn id="16" dur="500" fill="hold"/>
                                        <p:tgtEl>
                                          <p:spTgt spid="819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1929"/>
                                        </p:tgtEl>
                                        <p:attrNameLst>
                                          <p:attrName>style.visibility</p:attrName>
                                        </p:attrNameLst>
                                      </p:cBhvr>
                                      <p:to>
                                        <p:strVal val="visible"/>
                                      </p:to>
                                    </p:set>
                                    <p:anim calcmode="lin" valueType="num">
                                      <p:cBhvr additive="base">
                                        <p:cTn id="19" dur="500" fill="hold"/>
                                        <p:tgtEl>
                                          <p:spTgt spid="81929"/>
                                        </p:tgtEl>
                                        <p:attrNameLst>
                                          <p:attrName>ppt_x</p:attrName>
                                        </p:attrNameLst>
                                      </p:cBhvr>
                                      <p:tavLst>
                                        <p:tav tm="0">
                                          <p:val>
                                            <p:strVal val="#ppt_x"/>
                                          </p:val>
                                        </p:tav>
                                        <p:tav tm="100000">
                                          <p:val>
                                            <p:strVal val="#ppt_x"/>
                                          </p:val>
                                        </p:tav>
                                      </p:tavLst>
                                    </p:anim>
                                    <p:anim calcmode="lin" valueType="num">
                                      <p:cBhvr additive="base">
                                        <p:cTn id="20" dur="500" fill="hold"/>
                                        <p:tgtEl>
                                          <p:spTgt spid="819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28"/>
                                        </p:tgtEl>
                                        <p:attrNameLst>
                                          <p:attrName>style.visibility</p:attrName>
                                        </p:attrNameLst>
                                      </p:cBhvr>
                                      <p:to>
                                        <p:strVal val="visible"/>
                                      </p:to>
                                    </p:set>
                                    <p:anim calcmode="lin" valueType="num">
                                      <p:cBhvr additive="base">
                                        <p:cTn id="25" dur="500" fill="hold"/>
                                        <p:tgtEl>
                                          <p:spTgt spid="81928"/>
                                        </p:tgtEl>
                                        <p:attrNameLst>
                                          <p:attrName>ppt_x</p:attrName>
                                        </p:attrNameLst>
                                      </p:cBhvr>
                                      <p:tavLst>
                                        <p:tav tm="0">
                                          <p:val>
                                            <p:strVal val="#ppt_x"/>
                                          </p:val>
                                        </p:tav>
                                        <p:tav tm="100000">
                                          <p:val>
                                            <p:strVal val="#ppt_x"/>
                                          </p:val>
                                        </p:tav>
                                      </p:tavLst>
                                    </p:anim>
                                    <p:anim calcmode="lin" valueType="num">
                                      <p:cBhvr additive="base">
                                        <p:cTn id="26" dur="500" fill="hold"/>
                                        <p:tgtEl>
                                          <p:spTgt spid="819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931"/>
                                        </p:tgtEl>
                                        <p:attrNameLst>
                                          <p:attrName>style.visibility</p:attrName>
                                        </p:attrNameLst>
                                      </p:cBhvr>
                                      <p:to>
                                        <p:strVal val="visible"/>
                                      </p:to>
                                    </p:set>
                                    <p:anim calcmode="lin" valueType="num">
                                      <p:cBhvr additive="base">
                                        <p:cTn id="31" dur="500" fill="hold"/>
                                        <p:tgtEl>
                                          <p:spTgt spid="81931"/>
                                        </p:tgtEl>
                                        <p:attrNameLst>
                                          <p:attrName>ppt_x</p:attrName>
                                        </p:attrNameLst>
                                      </p:cBhvr>
                                      <p:tavLst>
                                        <p:tav tm="0">
                                          <p:val>
                                            <p:strVal val="#ppt_x"/>
                                          </p:val>
                                        </p:tav>
                                        <p:tav tm="100000">
                                          <p:val>
                                            <p:strVal val="#ppt_x"/>
                                          </p:val>
                                        </p:tav>
                                      </p:tavLst>
                                    </p:anim>
                                    <p:anim calcmode="lin" valueType="num">
                                      <p:cBhvr additive="base">
                                        <p:cTn id="32" dur="500" fill="hold"/>
                                        <p:tgtEl>
                                          <p:spTgt spid="8193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1932"/>
                                        </p:tgtEl>
                                        <p:attrNameLst>
                                          <p:attrName>style.visibility</p:attrName>
                                        </p:attrNameLst>
                                      </p:cBhvr>
                                      <p:to>
                                        <p:strVal val="visible"/>
                                      </p:to>
                                    </p:set>
                                    <p:anim calcmode="lin" valueType="num">
                                      <p:cBhvr additive="base">
                                        <p:cTn id="35" dur="500" fill="hold"/>
                                        <p:tgtEl>
                                          <p:spTgt spid="81932"/>
                                        </p:tgtEl>
                                        <p:attrNameLst>
                                          <p:attrName>ppt_x</p:attrName>
                                        </p:attrNameLst>
                                      </p:cBhvr>
                                      <p:tavLst>
                                        <p:tav tm="0">
                                          <p:val>
                                            <p:strVal val="#ppt_x"/>
                                          </p:val>
                                        </p:tav>
                                        <p:tav tm="100000">
                                          <p:val>
                                            <p:strVal val="#ppt_x"/>
                                          </p:val>
                                        </p:tav>
                                      </p:tavLst>
                                    </p:anim>
                                    <p:anim calcmode="lin" valueType="num">
                                      <p:cBhvr additive="base">
                                        <p:cTn id="36" dur="500" fill="hold"/>
                                        <p:tgtEl>
                                          <p:spTgt spid="8193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animBg="1"/>
      <p:bldP spid="81927" grpId="0" animBg="1"/>
      <p:bldP spid="81928" grpId="0"/>
      <p:bldP spid="81929" grpId="0"/>
      <p:bldP spid="81930" grpId="0" animBg="1"/>
      <p:bldP spid="81932" grpId="0"/>
      <p:bldP spid="13" grpId="0" animBg="1"/>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כותרת 1"/>
          <p:cNvSpPr>
            <a:spLocks noGrp="1"/>
          </p:cNvSpPr>
          <p:nvPr>
            <p:ph type="title"/>
          </p:nvPr>
        </p:nvSpPr>
        <p:spPr/>
        <p:txBody>
          <a:bodyPr/>
          <a:lstStyle/>
          <a:p>
            <a:endParaRPr lang="he-IL"/>
          </a:p>
        </p:txBody>
      </p:sp>
      <p:sp>
        <p:nvSpPr>
          <p:cNvPr id="79875" name="מציין מיקום של מספר שקופית 3"/>
          <p:cNvSpPr>
            <a:spLocks noGrp="1"/>
          </p:cNvSpPr>
          <p:nvPr>
            <p:ph type="sldNum" sz="quarter" idx="12"/>
          </p:nvPr>
        </p:nvSpPr>
        <p:spPr>
          <a:noFill/>
        </p:spPr>
        <p:txBody>
          <a:bodyPr/>
          <a:lstStyle/>
          <a:p>
            <a:fld id="{C3A43007-F779-4272-B0E5-1AA04C85CDAF}" type="slidenum">
              <a:rPr lang="he-IL" smtClean="0"/>
              <a:pPr/>
              <a:t>82</a:t>
            </a:fld>
            <a:endParaRPr lang="en-US"/>
          </a:p>
        </p:txBody>
      </p:sp>
      <p:sp>
        <p:nvSpPr>
          <p:cNvPr id="79876" name="Rectangle 2"/>
          <p:cNvSpPr>
            <a:spLocks noChangeArrowheads="1"/>
          </p:cNvSpPr>
          <p:nvPr/>
        </p:nvSpPr>
        <p:spPr bwMode="auto">
          <a:xfrm>
            <a:off x="1524009" y="26323"/>
            <a:ext cx="132433" cy="343183"/>
          </a:xfrm>
          <a:prstGeom prst="rect">
            <a:avLst/>
          </a:prstGeom>
          <a:noFill/>
          <a:ln w="9525">
            <a:noFill/>
            <a:miter lim="800000"/>
            <a:headEnd/>
            <a:tailEnd/>
          </a:ln>
        </p:spPr>
        <p:txBody>
          <a:bodyPr wrap="none" lIns="65544" tIns="32772" rIns="65544" bIns="32772" anchor="ctr">
            <a:spAutoFit/>
          </a:bodyPr>
          <a:lstStyle/>
          <a:p>
            <a:endParaRPr lang="he-IL"/>
          </a:p>
        </p:txBody>
      </p:sp>
      <p:pic>
        <p:nvPicPr>
          <p:cNvPr id="79877" name="Picture 1"/>
          <p:cNvPicPr>
            <a:picLocks noChangeAspect="1" noChangeArrowheads="1"/>
          </p:cNvPicPr>
          <p:nvPr/>
        </p:nvPicPr>
        <p:blipFill>
          <a:blip r:embed="rId3" cstate="print"/>
          <a:srcRect/>
          <a:stretch>
            <a:fillRect/>
          </a:stretch>
        </p:blipFill>
        <p:spPr bwMode="auto">
          <a:xfrm>
            <a:off x="1930209" y="197910"/>
            <a:ext cx="8273143" cy="6594125"/>
          </a:xfrm>
          <a:prstGeom prst="rect">
            <a:avLst/>
          </a:prstGeom>
          <a:noFill/>
          <a:ln w="9525">
            <a:noFill/>
            <a:miter lim="800000"/>
            <a:headEnd/>
            <a:tailEnd/>
          </a:ln>
        </p:spPr>
      </p:pic>
      <p:sp>
        <p:nvSpPr>
          <p:cNvPr id="79878" name="Rectangle 4"/>
          <p:cNvSpPr>
            <a:spLocks noChangeArrowheads="1"/>
          </p:cNvSpPr>
          <p:nvPr/>
        </p:nvSpPr>
        <p:spPr bwMode="auto">
          <a:xfrm>
            <a:off x="1524009" y="26323"/>
            <a:ext cx="132433" cy="343183"/>
          </a:xfrm>
          <a:prstGeom prst="rect">
            <a:avLst/>
          </a:prstGeom>
          <a:noFill/>
          <a:ln w="9525">
            <a:noFill/>
            <a:miter lim="800000"/>
            <a:headEnd/>
            <a:tailEnd/>
          </a:ln>
        </p:spPr>
        <p:txBody>
          <a:bodyPr wrap="none" lIns="65544" tIns="32772" rIns="65544" bIns="32772" anchor="ctr">
            <a:spAutoFit/>
          </a:bodyPr>
          <a:lstStyle/>
          <a:p>
            <a:endParaRPr lang="he-IL"/>
          </a:p>
        </p:txBody>
      </p:sp>
      <p:sp>
        <p:nvSpPr>
          <p:cNvPr id="79879" name="TextBox 6"/>
          <p:cNvSpPr txBox="1">
            <a:spLocks noChangeArrowheads="1"/>
          </p:cNvSpPr>
          <p:nvPr/>
        </p:nvSpPr>
        <p:spPr bwMode="auto">
          <a:xfrm>
            <a:off x="1776994" y="2906754"/>
            <a:ext cx="1615723" cy="1174180"/>
          </a:xfrm>
          <a:prstGeom prst="rect">
            <a:avLst/>
          </a:prstGeom>
          <a:noFill/>
          <a:ln w="9525">
            <a:noFill/>
            <a:miter lim="800000"/>
            <a:headEnd/>
            <a:tailEnd/>
          </a:ln>
        </p:spPr>
        <p:txBody>
          <a:bodyPr lIns="65544" tIns="32772" rIns="65544" bIns="32772">
            <a:spAutoFit/>
          </a:bodyPr>
          <a:lstStyle/>
          <a:p>
            <a:r>
              <a:rPr lang="en-US"/>
              <a:t>VM = 8193    PH=??</a:t>
            </a:r>
          </a:p>
          <a:p>
            <a:r>
              <a:rPr lang="en-US"/>
              <a:t>V.M = 72705  PH=??</a:t>
            </a:r>
            <a:endParaRPr lang="he-IL"/>
          </a:p>
        </p:txBody>
      </p:sp>
      <p:sp>
        <p:nvSpPr>
          <p:cNvPr id="8" name="מציין מיקום של תאריך 7"/>
          <p:cNvSpPr>
            <a:spLocks noGrp="1"/>
          </p:cNvSpPr>
          <p:nvPr>
            <p:ph type="dt" sz="half" idx="10"/>
          </p:nvPr>
        </p:nvSpPr>
        <p:spPr>
          <a:xfrm>
            <a:off x="1663297" y="6247793"/>
            <a:ext cx="1905000" cy="457659"/>
          </a:xfrm>
        </p:spPr>
        <p:txBody>
          <a:bodyPr/>
          <a:lstStyle/>
          <a:p>
            <a:pPr>
              <a:defRPr/>
            </a:pPr>
            <a:fld id="{F039A02C-C7CB-40BF-8562-1E7FA9A23C3E}" type="datetime12">
              <a:rPr lang="he-IL" smtClean="0"/>
              <a:pPr>
                <a:defRPr/>
              </a:pPr>
              <a:t>28/01/2024 18:13</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מציין מיקום תוכן 2"/>
          <p:cNvSpPr>
            <a:spLocks noGrp="1"/>
          </p:cNvSpPr>
          <p:nvPr>
            <p:ph idx="1"/>
          </p:nvPr>
        </p:nvSpPr>
        <p:spPr/>
        <p:txBody>
          <a:bodyPr/>
          <a:lstStyle/>
          <a:p>
            <a:pPr>
              <a:buFontTx/>
              <a:buNone/>
            </a:pPr>
            <a:r>
              <a:rPr lang="en-US" sz="1600"/>
              <a:t> </a:t>
            </a:r>
            <a:endParaRPr lang="he-IL" sz="1600"/>
          </a:p>
        </p:txBody>
      </p:sp>
      <p:sp>
        <p:nvSpPr>
          <p:cNvPr id="80899" name="כותרת 1"/>
          <p:cNvSpPr>
            <a:spLocks noGrp="1"/>
          </p:cNvSpPr>
          <p:nvPr>
            <p:ph type="title"/>
          </p:nvPr>
        </p:nvSpPr>
        <p:spPr/>
        <p:txBody>
          <a:bodyPr/>
          <a:lstStyle/>
          <a:p>
            <a:endParaRPr lang="he-IL" sz="2000"/>
          </a:p>
        </p:txBody>
      </p:sp>
      <p:sp>
        <p:nvSpPr>
          <p:cNvPr id="80900" name="מציין מיקום של מספר שקופית 3"/>
          <p:cNvSpPr>
            <a:spLocks noGrp="1"/>
          </p:cNvSpPr>
          <p:nvPr>
            <p:ph type="sldNum" sz="quarter" idx="12"/>
          </p:nvPr>
        </p:nvSpPr>
        <p:spPr>
          <a:noFill/>
        </p:spPr>
        <p:txBody>
          <a:bodyPr/>
          <a:lstStyle/>
          <a:p>
            <a:fld id="{AC13DEA3-3B63-4A5C-AF32-1DB48CF8FE2F}" type="slidenum">
              <a:rPr lang="he-IL" sz="600"/>
              <a:pPr/>
              <a:t>83</a:t>
            </a:fld>
            <a:endParaRPr lang="en-US" sz="600"/>
          </a:p>
        </p:txBody>
      </p:sp>
      <p:sp>
        <p:nvSpPr>
          <p:cNvPr id="80901" name="TextBox 4"/>
          <p:cNvSpPr txBox="1">
            <a:spLocks noChangeArrowheads="1"/>
          </p:cNvSpPr>
          <p:nvPr/>
        </p:nvSpPr>
        <p:spPr bwMode="auto">
          <a:xfrm>
            <a:off x="2418046" y="2374875"/>
            <a:ext cx="1465540" cy="620158"/>
          </a:xfrm>
          <a:prstGeom prst="rect">
            <a:avLst/>
          </a:prstGeom>
          <a:noFill/>
          <a:ln w="9525">
            <a:noFill/>
            <a:miter lim="800000"/>
            <a:headEnd/>
            <a:tailEnd/>
          </a:ln>
        </p:spPr>
        <p:txBody>
          <a:bodyPr lIns="65520" tIns="32760" rIns="65520" bIns="32760">
            <a:spAutoFit/>
          </a:bodyPr>
          <a:lstStyle/>
          <a:p>
            <a:r>
              <a:rPr lang="en-US" sz="1200"/>
              <a:t>v.m=8193 -&gt; ph ?? </a:t>
            </a:r>
          </a:p>
          <a:p>
            <a:r>
              <a:rPr lang="en-US" sz="1200"/>
              <a:t>8193=8k+1</a:t>
            </a:r>
          </a:p>
          <a:p>
            <a:endParaRPr lang="he-IL" sz="1200"/>
          </a:p>
        </p:txBody>
      </p:sp>
      <p:sp>
        <p:nvSpPr>
          <p:cNvPr id="80902" name="מלבן 5"/>
          <p:cNvSpPr>
            <a:spLocks noChangeArrowheads="1"/>
          </p:cNvSpPr>
          <p:nvPr/>
        </p:nvSpPr>
        <p:spPr bwMode="auto">
          <a:xfrm>
            <a:off x="4012602" y="2575540"/>
            <a:ext cx="3492500" cy="553863"/>
          </a:xfrm>
          <a:prstGeom prst="rect">
            <a:avLst/>
          </a:prstGeom>
          <a:noFill/>
          <a:ln w="9525" algn="ctr">
            <a:solidFill>
              <a:schemeClr val="tx1"/>
            </a:solidFill>
            <a:round/>
            <a:headEnd/>
            <a:tailEnd/>
          </a:ln>
        </p:spPr>
        <p:txBody>
          <a:bodyPr lIns="65520" tIns="32760" rIns="65520" bIns="32760"/>
          <a:lstStyle/>
          <a:p>
            <a:endParaRPr lang="he-IL" sz="1200"/>
          </a:p>
        </p:txBody>
      </p:sp>
      <p:cxnSp>
        <p:nvCxnSpPr>
          <p:cNvPr id="80903" name="מחבר ישר 7"/>
          <p:cNvCxnSpPr>
            <a:cxnSpLocks noChangeShapeType="1"/>
          </p:cNvCxnSpPr>
          <p:nvPr/>
        </p:nvCxnSpPr>
        <p:spPr bwMode="auto">
          <a:xfrm rot="16200000" flipH="1">
            <a:off x="4514575" y="2891915"/>
            <a:ext cx="589595" cy="9071"/>
          </a:xfrm>
          <a:prstGeom prst="line">
            <a:avLst/>
          </a:prstGeom>
          <a:noFill/>
          <a:ln w="9525" algn="ctr">
            <a:solidFill>
              <a:schemeClr val="tx1"/>
            </a:solidFill>
            <a:round/>
            <a:headEnd/>
            <a:tailEnd type="arrow" w="med" len="med"/>
          </a:ln>
        </p:spPr>
      </p:cxnSp>
      <p:cxnSp>
        <p:nvCxnSpPr>
          <p:cNvPr id="80904" name="מחבר ישר 9"/>
          <p:cNvCxnSpPr>
            <a:cxnSpLocks noChangeShapeType="1"/>
          </p:cNvCxnSpPr>
          <p:nvPr/>
        </p:nvCxnSpPr>
        <p:spPr bwMode="auto">
          <a:xfrm rot="5400000">
            <a:off x="5588668" y="2926821"/>
            <a:ext cx="652816" cy="27215"/>
          </a:xfrm>
          <a:prstGeom prst="line">
            <a:avLst/>
          </a:prstGeom>
          <a:noFill/>
          <a:ln w="9525" algn="ctr">
            <a:solidFill>
              <a:schemeClr val="tx1"/>
            </a:solidFill>
            <a:round/>
            <a:headEnd/>
            <a:tailEnd type="arrow" w="med" len="med"/>
          </a:ln>
        </p:spPr>
      </p:cxnSp>
      <p:sp>
        <p:nvSpPr>
          <p:cNvPr id="80905" name="TextBox 10"/>
          <p:cNvSpPr txBox="1">
            <a:spLocks noChangeArrowheads="1"/>
          </p:cNvSpPr>
          <p:nvPr/>
        </p:nvSpPr>
        <p:spPr bwMode="auto">
          <a:xfrm>
            <a:off x="3975309" y="2651125"/>
            <a:ext cx="820460" cy="250826"/>
          </a:xfrm>
          <a:prstGeom prst="rect">
            <a:avLst/>
          </a:prstGeom>
          <a:noFill/>
          <a:ln w="9525">
            <a:noFill/>
            <a:miter lim="800000"/>
            <a:headEnd/>
            <a:tailEnd/>
          </a:ln>
        </p:spPr>
        <p:txBody>
          <a:bodyPr lIns="65520" tIns="32760" rIns="65520" bIns="32760">
            <a:spAutoFit/>
          </a:bodyPr>
          <a:lstStyle/>
          <a:p>
            <a:r>
              <a:rPr lang="en-US" sz="1200"/>
              <a:t>segment</a:t>
            </a:r>
            <a:endParaRPr lang="he-IL" sz="1200"/>
          </a:p>
        </p:txBody>
      </p:sp>
      <p:sp>
        <p:nvSpPr>
          <p:cNvPr id="80906" name="TextBox 11"/>
          <p:cNvSpPr txBox="1">
            <a:spLocks noChangeArrowheads="1"/>
          </p:cNvSpPr>
          <p:nvPr/>
        </p:nvSpPr>
        <p:spPr bwMode="auto">
          <a:xfrm>
            <a:off x="5034646" y="2777566"/>
            <a:ext cx="802317" cy="250826"/>
          </a:xfrm>
          <a:prstGeom prst="rect">
            <a:avLst/>
          </a:prstGeom>
          <a:noFill/>
          <a:ln w="9525">
            <a:noFill/>
            <a:miter lim="800000"/>
            <a:headEnd/>
            <a:tailEnd/>
          </a:ln>
        </p:spPr>
        <p:txBody>
          <a:bodyPr lIns="65520" tIns="32760" rIns="65520" bIns="32760">
            <a:spAutoFit/>
          </a:bodyPr>
          <a:lstStyle/>
          <a:p>
            <a:r>
              <a:rPr lang="en-US" sz="1200"/>
              <a:t>page</a:t>
            </a:r>
            <a:endParaRPr lang="he-IL" sz="1200"/>
          </a:p>
        </p:txBody>
      </p:sp>
      <p:sp>
        <p:nvSpPr>
          <p:cNvPr id="80907" name="TextBox 12"/>
          <p:cNvSpPr txBox="1">
            <a:spLocks noChangeArrowheads="1"/>
          </p:cNvSpPr>
          <p:nvPr/>
        </p:nvSpPr>
        <p:spPr bwMode="auto">
          <a:xfrm>
            <a:off x="6315734" y="2714346"/>
            <a:ext cx="802317" cy="250826"/>
          </a:xfrm>
          <a:prstGeom prst="rect">
            <a:avLst/>
          </a:prstGeom>
          <a:noFill/>
          <a:ln w="9525">
            <a:noFill/>
            <a:miter lim="800000"/>
            <a:headEnd/>
            <a:tailEnd/>
          </a:ln>
        </p:spPr>
        <p:txBody>
          <a:bodyPr lIns="65520" tIns="32760" rIns="65520" bIns="32760">
            <a:spAutoFit/>
          </a:bodyPr>
          <a:lstStyle/>
          <a:p>
            <a:r>
              <a:rPr lang="en-US" sz="1200"/>
              <a:t>offset</a:t>
            </a:r>
            <a:endParaRPr lang="he-IL" sz="1200"/>
          </a:p>
        </p:txBody>
      </p:sp>
      <p:sp>
        <p:nvSpPr>
          <p:cNvPr id="80908" name="TextBox 15"/>
          <p:cNvSpPr txBox="1">
            <a:spLocks noChangeArrowheads="1"/>
          </p:cNvSpPr>
          <p:nvPr/>
        </p:nvSpPr>
        <p:spPr bwMode="auto">
          <a:xfrm>
            <a:off x="4077107" y="2060155"/>
            <a:ext cx="3510643" cy="250826"/>
          </a:xfrm>
          <a:prstGeom prst="rect">
            <a:avLst/>
          </a:prstGeom>
          <a:noFill/>
          <a:ln w="9525">
            <a:noFill/>
            <a:miter lim="800000"/>
            <a:headEnd/>
            <a:tailEnd/>
          </a:ln>
        </p:spPr>
        <p:txBody>
          <a:bodyPr lIns="65520" tIns="32760" rIns="65520" bIns="32760">
            <a:spAutoFit/>
          </a:bodyPr>
          <a:lstStyle/>
          <a:p>
            <a:r>
              <a:rPr lang="en-US" sz="1200"/>
              <a:t>18            |     6                         | 10</a:t>
            </a:r>
            <a:endParaRPr lang="he-IL" sz="1200"/>
          </a:p>
        </p:txBody>
      </p:sp>
      <p:sp>
        <p:nvSpPr>
          <p:cNvPr id="80909" name="TextBox 16"/>
          <p:cNvSpPr txBox="1">
            <a:spLocks noChangeArrowheads="1"/>
          </p:cNvSpPr>
          <p:nvPr/>
        </p:nvSpPr>
        <p:spPr bwMode="auto">
          <a:xfrm>
            <a:off x="4095250" y="3555447"/>
            <a:ext cx="3603373" cy="250826"/>
          </a:xfrm>
          <a:prstGeom prst="rect">
            <a:avLst/>
          </a:prstGeom>
          <a:noFill/>
          <a:ln w="9525">
            <a:solidFill>
              <a:schemeClr val="tx1"/>
            </a:solidFill>
            <a:miter lim="800000"/>
            <a:headEnd/>
            <a:tailEnd/>
          </a:ln>
        </p:spPr>
        <p:txBody>
          <a:bodyPr lIns="65520" tIns="32760" rIns="65520" bIns="32760">
            <a:spAutoFit/>
          </a:bodyPr>
          <a:lstStyle/>
          <a:p>
            <a:r>
              <a:rPr lang="en-US" sz="1200"/>
              <a:t>0..0         | 001000             |   0…01</a:t>
            </a:r>
            <a:endParaRPr lang="he-IL" sz="1200"/>
          </a:p>
        </p:txBody>
      </p:sp>
      <p:sp>
        <p:nvSpPr>
          <p:cNvPr id="80910" name="TextBox 18"/>
          <p:cNvSpPr txBox="1">
            <a:spLocks noChangeArrowheads="1"/>
          </p:cNvSpPr>
          <p:nvPr/>
        </p:nvSpPr>
        <p:spPr bwMode="auto">
          <a:xfrm>
            <a:off x="2869602" y="3505971"/>
            <a:ext cx="820460" cy="250826"/>
          </a:xfrm>
          <a:prstGeom prst="rect">
            <a:avLst/>
          </a:prstGeom>
          <a:noFill/>
          <a:ln w="9525">
            <a:noFill/>
            <a:miter lim="800000"/>
            <a:headEnd/>
            <a:tailEnd/>
          </a:ln>
        </p:spPr>
        <p:txBody>
          <a:bodyPr lIns="65520" tIns="32760" rIns="65520" bIns="32760">
            <a:spAutoFit/>
          </a:bodyPr>
          <a:lstStyle/>
          <a:p>
            <a:r>
              <a:rPr lang="en-US" sz="1200"/>
              <a:t>8k+1==</a:t>
            </a:r>
            <a:endParaRPr lang="he-IL" sz="1200"/>
          </a:p>
        </p:txBody>
      </p:sp>
      <p:sp>
        <p:nvSpPr>
          <p:cNvPr id="80911" name="TextBox 19"/>
          <p:cNvSpPr txBox="1">
            <a:spLocks noChangeArrowheads="1"/>
          </p:cNvSpPr>
          <p:nvPr/>
        </p:nvSpPr>
        <p:spPr bwMode="auto">
          <a:xfrm>
            <a:off x="4039814" y="4246743"/>
            <a:ext cx="3603373" cy="250826"/>
          </a:xfrm>
          <a:prstGeom prst="rect">
            <a:avLst/>
          </a:prstGeom>
          <a:noFill/>
          <a:ln w="9525">
            <a:solidFill>
              <a:schemeClr val="tx1"/>
            </a:solidFill>
            <a:miter lim="800000"/>
            <a:headEnd/>
            <a:tailEnd/>
          </a:ln>
        </p:spPr>
        <p:txBody>
          <a:bodyPr lIns="65520" tIns="32760" rIns="65520" bIns="32760">
            <a:spAutoFit/>
          </a:bodyPr>
          <a:lstStyle/>
          <a:p>
            <a:r>
              <a:rPr lang="en-US" sz="1200"/>
              <a:t>0..0         | 010000             |   0…01</a:t>
            </a:r>
            <a:endParaRPr lang="he-IL" sz="1200"/>
          </a:p>
        </p:txBody>
      </p:sp>
      <p:sp>
        <p:nvSpPr>
          <p:cNvPr id="80912" name="TextBox 20"/>
          <p:cNvSpPr txBox="1">
            <a:spLocks noChangeArrowheads="1"/>
          </p:cNvSpPr>
          <p:nvPr/>
        </p:nvSpPr>
        <p:spPr bwMode="auto">
          <a:xfrm>
            <a:off x="7872999" y="4234375"/>
            <a:ext cx="820460" cy="435492"/>
          </a:xfrm>
          <a:prstGeom prst="rect">
            <a:avLst/>
          </a:prstGeom>
          <a:noFill/>
          <a:ln w="9525">
            <a:noFill/>
            <a:miter lim="800000"/>
            <a:headEnd/>
            <a:tailEnd/>
          </a:ln>
        </p:spPr>
        <p:txBody>
          <a:bodyPr lIns="65520" tIns="32760" rIns="65520" bIns="32760">
            <a:spAutoFit/>
          </a:bodyPr>
          <a:lstStyle/>
          <a:p>
            <a:r>
              <a:rPr lang="en-US" sz="1200"/>
              <a:t>==16K+1</a:t>
            </a:r>
          </a:p>
          <a:p>
            <a:r>
              <a:rPr lang="en-US" sz="1200"/>
              <a:t>16385</a:t>
            </a:r>
            <a:endParaRPr lang="he-IL" sz="1200"/>
          </a:p>
        </p:txBody>
      </p:sp>
      <p:sp>
        <p:nvSpPr>
          <p:cNvPr id="17" name="מציין מיקום של תאריך 16"/>
          <p:cNvSpPr>
            <a:spLocks noGrp="1"/>
          </p:cNvSpPr>
          <p:nvPr>
            <p:ph type="dt" sz="half" idx="10"/>
          </p:nvPr>
        </p:nvSpPr>
        <p:spPr/>
        <p:txBody>
          <a:bodyPr/>
          <a:lstStyle/>
          <a:p>
            <a:pPr>
              <a:defRPr/>
            </a:pPr>
            <a:fld id="{F344B4CE-B438-44B3-9207-66752CA48A41}" type="datetime12">
              <a:rPr lang="he-IL" sz="600"/>
              <a:pPr>
                <a:defRPr/>
              </a:pPr>
              <a:t>28/01/2024 18:13</a:t>
            </a:fld>
            <a:endParaRPr lang="en-US" sz="6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מציין מיקום תוכן 2"/>
          <p:cNvSpPr>
            <a:spLocks noGrp="1"/>
          </p:cNvSpPr>
          <p:nvPr>
            <p:ph idx="1"/>
          </p:nvPr>
        </p:nvSpPr>
        <p:spPr/>
        <p:txBody>
          <a:bodyPr/>
          <a:lstStyle/>
          <a:p>
            <a:pPr>
              <a:buFontTx/>
              <a:buNone/>
            </a:pPr>
            <a:r>
              <a:rPr lang="en-US" sz="1400"/>
              <a:t> </a:t>
            </a:r>
            <a:endParaRPr lang="he-IL" sz="1400"/>
          </a:p>
        </p:txBody>
      </p:sp>
      <p:sp>
        <p:nvSpPr>
          <p:cNvPr id="81923" name="כותרת 1"/>
          <p:cNvSpPr>
            <a:spLocks noGrp="1"/>
          </p:cNvSpPr>
          <p:nvPr>
            <p:ph type="title"/>
          </p:nvPr>
        </p:nvSpPr>
        <p:spPr/>
        <p:txBody>
          <a:bodyPr/>
          <a:lstStyle/>
          <a:p>
            <a:endParaRPr lang="he-IL" sz="1800"/>
          </a:p>
        </p:txBody>
      </p:sp>
      <p:sp>
        <p:nvSpPr>
          <p:cNvPr id="81924" name="מציין מיקום של מספר שקופית 3"/>
          <p:cNvSpPr>
            <a:spLocks noGrp="1"/>
          </p:cNvSpPr>
          <p:nvPr>
            <p:ph type="sldNum" sz="quarter" idx="12"/>
          </p:nvPr>
        </p:nvSpPr>
        <p:spPr>
          <a:noFill/>
        </p:spPr>
        <p:txBody>
          <a:bodyPr/>
          <a:lstStyle/>
          <a:p>
            <a:fld id="{14F65603-BA58-4AD3-82A2-6505CAFBE4CC}" type="slidenum">
              <a:rPr lang="he-IL" sz="500"/>
              <a:pPr/>
              <a:t>84</a:t>
            </a:fld>
            <a:endParaRPr lang="en-US" sz="500"/>
          </a:p>
        </p:txBody>
      </p:sp>
      <p:sp>
        <p:nvSpPr>
          <p:cNvPr id="81925" name="TextBox 4"/>
          <p:cNvSpPr txBox="1">
            <a:spLocks noChangeArrowheads="1"/>
          </p:cNvSpPr>
          <p:nvPr/>
        </p:nvSpPr>
        <p:spPr bwMode="auto">
          <a:xfrm>
            <a:off x="2418046" y="2374883"/>
            <a:ext cx="1465540" cy="573991"/>
          </a:xfrm>
          <a:prstGeom prst="rect">
            <a:avLst/>
          </a:prstGeom>
          <a:noFill/>
          <a:ln w="9525">
            <a:noFill/>
            <a:miter lim="800000"/>
            <a:headEnd/>
            <a:tailEnd/>
          </a:ln>
        </p:spPr>
        <p:txBody>
          <a:bodyPr lIns="65520" tIns="32760" rIns="65520" bIns="32760">
            <a:spAutoFit/>
          </a:bodyPr>
          <a:lstStyle/>
          <a:p>
            <a:r>
              <a:rPr lang="en-US" sz="1100"/>
              <a:t>v.m=72705 -&gt; ph ??</a:t>
            </a:r>
          </a:p>
          <a:p>
            <a:r>
              <a:rPr lang="en-US" sz="1100"/>
              <a:t>71K+1 </a:t>
            </a:r>
          </a:p>
          <a:p>
            <a:endParaRPr lang="he-IL" sz="1100"/>
          </a:p>
        </p:txBody>
      </p:sp>
      <p:sp>
        <p:nvSpPr>
          <p:cNvPr id="81926" name="מלבן 5"/>
          <p:cNvSpPr>
            <a:spLocks noChangeArrowheads="1"/>
          </p:cNvSpPr>
          <p:nvPr/>
        </p:nvSpPr>
        <p:spPr bwMode="auto">
          <a:xfrm>
            <a:off x="4012602" y="2575540"/>
            <a:ext cx="3492500" cy="553863"/>
          </a:xfrm>
          <a:prstGeom prst="rect">
            <a:avLst/>
          </a:prstGeom>
          <a:noFill/>
          <a:ln w="9525" algn="ctr">
            <a:solidFill>
              <a:schemeClr val="tx1"/>
            </a:solidFill>
            <a:round/>
            <a:headEnd/>
            <a:tailEnd/>
          </a:ln>
        </p:spPr>
        <p:txBody>
          <a:bodyPr lIns="65520" tIns="32760" rIns="65520" bIns="32760"/>
          <a:lstStyle/>
          <a:p>
            <a:endParaRPr lang="he-IL" sz="1100"/>
          </a:p>
        </p:txBody>
      </p:sp>
      <p:cxnSp>
        <p:nvCxnSpPr>
          <p:cNvPr id="81927" name="מחבר ישר 7"/>
          <p:cNvCxnSpPr>
            <a:cxnSpLocks noChangeShapeType="1"/>
          </p:cNvCxnSpPr>
          <p:nvPr/>
        </p:nvCxnSpPr>
        <p:spPr bwMode="auto">
          <a:xfrm rot="16200000" flipH="1">
            <a:off x="4514575" y="2891915"/>
            <a:ext cx="589595" cy="9071"/>
          </a:xfrm>
          <a:prstGeom prst="line">
            <a:avLst/>
          </a:prstGeom>
          <a:noFill/>
          <a:ln w="9525" algn="ctr">
            <a:solidFill>
              <a:schemeClr val="tx1"/>
            </a:solidFill>
            <a:round/>
            <a:headEnd/>
            <a:tailEnd type="arrow" w="med" len="med"/>
          </a:ln>
        </p:spPr>
      </p:cxnSp>
      <p:cxnSp>
        <p:nvCxnSpPr>
          <p:cNvPr id="81928" name="מחבר ישר 9"/>
          <p:cNvCxnSpPr>
            <a:cxnSpLocks noChangeShapeType="1"/>
          </p:cNvCxnSpPr>
          <p:nvPr/>
        </p:nvCxnSpPr>
        <p:spPr bwMode="auto">
          <a:xfrm rot="5400000">
            <a:off x="5588668" y="2926821"/>
            <a:ext cx="652816" cy="27215"/>
          </a:xfrm>
          <a:prstGeom prst="line">
            <a:avLst/>
          </a:prstGeom>
          <a:noFill/>
          <a:ln w="9525" algn="ctr">
            <a:solidFill>
              <a:schemeClr val="tx1"/>
            </a:solidFill>
            <a:round/>
            <a:headEnd/>
            <a:tailEnd type="arrow" w="med" len="med"/>
          </a:ln>
        </p:spPr>
      </p:cxnSp>
      <p:sp>
        <p:nvSpPr>
          <p:cNvPr id="81929" name="TextBox 10"/>
          <p:cNvSpPr txBox="1">
            <a:spLocks noChangeArrowheads="1"/>
          </p:cNvSpPr>
          <p:nvPr/>
        </p:nvSpPr>
        <p:spPr bwMode="auto">
          <a:xfrm>
            <a:off x="3975309" y="2651122"/>
            <a:ext cx="820460" cy="235437"/>
          </a:xfrm>
          <a:prstGeom prst="rect">
            <a:avLst/>
          </a:prstGeom>
          <a:noFill/>
          <a:ln w="9525">
            <a:noFill/>
            <a:miter lim="800000"/>
            <a:headEnd/>
            <a:tailEnd/>
          </a:ln>
        </p:spPr>
        <p:txBody>
          <a:bodyPr lIns="65520" tIns="32760" rIns="65520" bIns="32760">
            <a:spAutoFit/>
          </a:bodyPr>
          <a:lstStyle/>
          <a:p>
            <a:r>
              <a:rPr lang="en-US" sz="1100"/>
              <a:t>segment</a:t>
            </a:r>
            <a:endParaRPr lang="he-IL" sz="1100"/>
          </a:p>
        </p:txBody>
      </p:sp>
      <p:sp>
        <p:nvSpPr>
          <p:cNvPr id="81930" name="TextBox 11"/>
          <p:cNvSpPr txBox="1">
            <a:spLocks noChangeArrowheads="1"/>
          </p:cNvSpPr>
          <p:nvPr/>
        </p:nvSpPr>
        <p:spPr bwMode="auto">
          <a:xfrm>
            <a:off x="5034646" y="2777563"/>
            <a:ext cx="802317" cy="235437"/>
          </a:xfrm>
          <a:prstGeom prst="rect">
            <a:avLst/>
          </a:prstGeom>
          <a:noFill/>
          <a:ln w="9525">
            <a:noFill/>
            <a:miter lim="800000"/>
            <a:headEnd/>
            <a:tailEnd/>
          </a:ln>
        </p:spPr>
        <p:txBody>
          <a:bodyPr lIns="65520" tIns="32760" rIns="65520" bIns="32760">
            <a:spAutoFit/>
          </a:bodyPr>
          <a:lstStyle/>
          <a:p>
            <a:r>
              <a:rPr lang="en-US" sz="1100"/>
              <a:t>page</a:t>
            </a:r>
            <a:endParaRPr lang="he-IL" sz="1100"/>
          </a:p>
        </p:txBody>
      </p:sp>
      <p:sp>
        <p:nvSpPr>
          <p:cNvPr id="81931" name="TextBox 12"/>
          <p:cNvSpPr txBox="1">
            <a:spLocks noChangeArrowheads="1"/>
          </p:cNvSpPr>
          <p:nvPr/>
        </p:nvSpPr>
        <p:spPr bwMode="auto">
          <a:xfrm>
            <a:off x="6315734" y="2714343"/>
            <a:ext cx="802317" cy="235437"/>
          </a:xfrm>
          <a:prstGeom prst="rect">
            <a:avLst/>
          </a:prstGeom>
          <a:noFill/>
          <a:ln w="9525">
            <a:noFill/>
            <a:miter lim="800000"/>
            <a:headEnd/>
            <a:tailEnd/>
          </a:ln>
        </p:spPr>
        <p:txBody>
          <a:bodyPr lIns="65520" tIns="32760" rIns="65520" bIns="32760">
            <a:spAutoFit/>
          </a:bodyPr>
          <a:lstStyle/>
          <a:p>
            <a:r>
              <a:rPr lang="en-US" sz="1100"/>
              <a:t>offset</a:t>
            </a:r>
            <a:endParaRPr lang="he-IL" sz="1100"/>
          </a:p>
        </p:txBody>
      </p:sp>
      <p:sp>
        <p:nvSpPr>
          <p:cNvPr id="81932" name="TextBox 15"/>
          <p:cNvSpPr txBox="1">
            <a:spLocks noChangeArrowheads="1"/>
          </p:cNvSpPr>
          <p:nvPr/>
        </p:nvSpPr>
        <p:spPr bwMode="auto">
          <a:xfrm>
            <a:off x="4077107" y="2060152"/>
            <a:ext cx="3510643" cy="235437"/>
          </a:xfrm>
          <a:prstGeom prst="rect">
            <a:avLst/>
          </a:prstGeom>
          <a:noFill/>
          <a:ln w="9525">
            <a:noFill/>
            <a:miter lim="800000"/>
            <a:headEnd/>
            <a:tailEnd/>
          </a:ln>
        </p:spPr>
        <p:txBody>
          <a:bodyPr lIns="65520" tIns="32760" rIns="65520" bIns="32760">
            <a:spAutoFit/>
          </a:bodyPr>
          <a:lstStyle/>
          <a:p>
            <a:r>
              <a:rPr lang="en-US" sz="1100"/>
              <a:t>18            |     6                         | 10</a:t>
            </a:r>
            <a:endParaRPr lang="he-IL" sz="1100"/>
          </a:p>
        </p:txBody>
      </p:sp>
      <p:sp>
        <p:nvSpPr>
          <p:cNvPr id="81933" name="TextBox 16"/>
          <p:cNvSpPr txBox="1">
            <a:spLocks noChangeArrowheads="1"/>
          </p:cNvSpPr>
          <p:nvPr/>
        </p:nvSpPr>
        <p:spPr bwMode="auto">
          <a:xfrm>
            <a:off x="4095250" y="3555444"/>
            <a:ext cx="3603373" cy="235437"/>
          </a:xfrm>
          <a:prstGeom prst="rect">
            <a:avLst/>
          </a:prstGeom>
          <a:noFill/>
          <a:ln w="9525">
            <a:solidFill>
              <a:schemeClr val="tx1"/>
            </a:solidFill>
            <a:miter lim="800000"/>
            <a:headEnd/>
            <a:tailEnd/>
          </a:ln>
        </p:spPr>
        <p:txBody>
          <a:bodyPr lIns="65520" tIns="32760" rIns="65520" bIns="32760">
            <a:spAutoFit/>
          </a:bodyPr>
          <a:lstStyle/>
          <a:p>
            <a:r>
              <a:rPr lang="en-US" sz="1100"/>
              <a:t>0…01   | 000111                |   00..01</a:t>
            </a:r>
            <a:endParaRPr lang="he-IL" sz="1100"/>
          </a:p>
        </p:txBody>
      </p:sp>
      <p:sp>
        <p:nvSpPr>
          <p:cNvPr id="81934" name="TextBox 18"/>
          <p:cNvSpPr txBox="1">
            <a:spLocks noChangeArrowheads="1"/>
          </p:cNvSpPr>
          <p:nvPr/>
        </p:nvSpPr>
        <p:spPr bwMode="auto">
          <a:xfrm>
            <a:off x="2869602" y="3505968"/>
            <a:ext cx="820460" cy="235437"/>
          </a:xfrm>
          <a:prstGeom prst="rect">
            <a:avLst/>
          </a:prstGeom>
          <a:noFill/>
          <a:ln w="9525">
            <a:noFill/>
            <a:miter lim="800000"/>
            <a:headEnd/>
            <a:tailEnd/>
          </a:ln>
        </p:spPr>
        <p:txBody>
          <a:bodyPr lIns="65520" tIns="32760" rIns="65520" bIns="32760">
            <a:spAutoFit/>
          </a:bodyPr>
          <a:lstStyle/>
          <a:p>
            <a:r>
              <a:rPr lang="en-US" sz="1100"/>
              <a:t> </a:t>
            </a:r>
            <a:endParaRPr lang="he-IL" sz="1100"/>
          </a:p>
        </p:txBody>
      </p:sp>
      <p:sp>
        <p:nvSpPr>
          <p:cNvPr id="81935" name="TextBox 19"/>
          <p:cNvSpPr txBox="1">
            <a:spLocks noChangeArrowheads="1"/>
          </p:cNvSpPr>
          <p:nvPr/>
        </p:nvSpPr>
        <p:spPr bwMode="auto">
          <a:xfrm>
            <a:off x="4039814" y="4246740"/>
            <a:ext cx="3603373" cy="235437"/>
          </a:xfrm>
          <a:prstGeom prst="rect">
            <a:avLst/>
          </a:prstGeom>
          <a:noFill/>
          <a:ln w="9525">
            <a:solidFill>
              <a:schemeClr val="tx1"/>
            </a:solidFill>
            <a:miter lim="800000"/>
            <a:headEnd/>
            <a:tailEnd/>
          </a:ln>
        </p:spPr>
        <p:txBody>
          <a:bodyPr lIns="65520" tIns="32760" rIns="65520" bIns="32760">
            <a:spAutoFit/>
          </a:bodyPr>
          <a:lstStyle/>
          <a:p>
            <a:r>
              <a:rPr lang="en-US" sz="1100" dirty="0"/>
              <a:t>                  </a:t>
            </a:r>
            <a:r>
              <a:rPr lang="en-US" sz="1100"/>
              <a:t>|   100000|   </a:t>
            </a:r>
            <a:r>
              <a:rPr lang="en-US" sz="1100" dirty="0"/>
              <a:t>00..01  </a:t>
            </a:r>
            <a:endParaRPr lang="he-IL" sz="1100" dirty="0"/>
          </a:p>
        </p:txBody>
      </p:sp>
      <p:sp>
        <p:nvSpPr>
          <p:cNvPr id="81936" name="TextBox 20"/>
          <p:cNvSpPr txBox="1">
            <a:spLocks noChangeArrowheads="1"/>
          </p:cNvSpPr>
          <p:nvPr/>
        </p:nvSpPr>
        <p:spPr bwMode="auto">
          <a:xfrm>
            <a:off x="7872999" y="4234370"/>
            <a:ext cx="820460" cy="404714"/>
          </a:xfrm>
          <a:prstGeom prst="rect">
            <a:avLst/>
          </a:prstGeom>
          <a:noFill/>
          <a:ln w="9525">
            <a:noFill/>
            <a:miter lim="800000"/>
            <a:headEnd/>
            <a:tailEnd/>
          </a:ln>
        </p:spPr>
        <p:txBody>
          <a:bodyPr lIns="65520" tIns="32760" rIns="65520" bIns="32760">
            <a:spAutoFit/>
          </a:bodyPr>
          <a:lstStyle/>
          <a:p>
            <a:r>
              <a:rPr lang="en-US" sz="1100"/>
              <a:t>==32K+1</a:t>
            </a:r>
          </a:p>
          <a:p>
            <a:r>
              <a:rPr lang="en-US" sz="1100"/>
              <a:t>32769</a:t>
            </a:r>
          </a:p>
        </p:txBody>
      </p:sp>
      <p:sp>
        <p:nvSpPr>
          <p:cNvPr id="81937" name="TextBox 17"/>
          <p:cNvSpPr txBox="1">
            <a:spLocks noChangeArrowheads="1"/>
          </p:cNvSpPr>
          <p:nvPr/>
        </p:nvSpPr>
        <p:spPr bwMode="auto">
          <a:xfrm>
            <a:off x="1957421" y="3581554"/>
            <a:ext cx="1548191" cy="404714"/>
          </a:xfrm>
          <a:prstGeom prst="rect">
            <a:avLst/>
          </a:prstGeom>
          <a:noFill/>
          <a:ln w="9525">
            <a:noFill/>
            <a:miter lim="800000"/>
            <a:headEnd/>
            <a:tailEnd/>
          </a:ln>
        </p:spPr>
        <p:txBody>
          <a:bodyPr lIns="65520" tIns="32760" rIns="65520" bIns="32760">
            <a:spAutoFit/>
          </a:bodyPr>
          <a:lstStyle/>
          <a:p>
            <a:r>
              <a:rPr lang="en-US" sz="1100"/>
              <a:t>Segment=1</a:t>
            </a:r>
          </a:p>
          <a:p>
            <a:r>
              <a:rPr lang="en-US" sz="1100"/>
              <a:t>Page=7</a:t>
            </a:r>
            <a:endParaRPr lang="he-IL" sz="1100"/>
          </a:p>
        </p:txBody>
      </p:sp>
      <p:sp>
        <p:nvSpPr>
          <p:cNvPr id="18" name="מציין מיקום של תאריך 17"/>
          <p:cNvSpPr>
            <a:spLocks noGrp="1"/>
          </p:cNvSpPr>
          <p:nvPr>
            <p:ph type="dt" sz="half" idx="10"/>
          </p:nvPr>
        </p:nvSpPr>
        <p:spPr/>
        <p:txBody>
          <a:bodyPr/>
          <a:lstStyle/>
          <a:p>
            <a:pPr>
              <a:defRPr/>
            </a:pPr>
            <a:fld id="{E0E73B91-0F0A-49F5-9C5B-72DE187FD89D}" type="datetime12">
              <a:rPr lang="he-IL" sz="500"/>
              <a:pPr>
                <a:defRPr/>
              </a:pPr>
              <a:t>28/01/2024 18:13</a:t>
            </a:fld>
            <a:endParaRPr lang="en-US" sz="5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כותרת 1"/>
          <p:cNvSpPr>
            <a:spLocks noGrp="1"/>
          </p:cNvSpPr>
          <p:nvPr>
            <p:ph type="title"/>
          </p:nvPr>
        </p:nvSpPr>
        <p:spPr/>
        <p:txBody>
          <a:bodyPr/>
          <a:lstStyle/>
          <a:p>
            <a:endParaRPr lang="he-IL" sz="2800" dirty="0"/>
          </a:p>
        </p:txBody>
      </p:sp>
      <p:sp>
        <p:nvSpPr>
          <p:cNvPr id="82947" name="מציין מיקום תוכן 2"/>
          <p:cNvSpPr>
            <a:spLocks noGrp="1"/>
          </p:cNvSpPr>
          <p:nvPr>
            <p:ph idx="1"/>
          </p:nvPr>
        </p:nvSpPr>
        <p:spPr>
          <a:xfrm>
            <a:off x="2567223" y="978539"/>
            <a:ext cx="7773207" cy="2861395"/>
          </a:xfrm>
        </p:spPr>
        <p:txBody>
          <a:bodyPr/>
          <a:lstStyle/>
          <a:p>
            <a:pPr algn="r" rtl="1">
              <a:buFontTx/>
              <a:buNone/>
            </a:pPr>
            <a:r>
              <a:rPr lang="en-US" sz="2000" dirty="0"/>
              <a:t> </a:t>
            </a:r>
            <a:r>
              <a:rPr lang="he-IL" sz="2000" dirty="0"/>
              <a:t>שאלה: 1</a:t>
            </a:r>
            <a:endParaRPr lang="en-US" sz="2000" dirty="0"/>
          </a:p>
          <a:p>
            <a:pPr algn="r" rtl="1">
              <a:buFontTx/>
              <a:buNone/>
            </a:pPr>
            <a:r>
              <a:rPr lang="he-IL" sz="2000" dirty="0"/>
              <a:t>	נתון:</a:t>
            </a:r>
            <a:endParaRPr lang="en-US" sz="2000" dirty="0"/>
          </a:p>
          <a:p>
            <a:pPr algn="r" rtl="1">
              <a:buFontTx/>
              <a:buNone/>
            </a:pPr>
            <a:r>
              <a:rPr lang="he-IL" sz="2000" dirty="0"/>
              <a:t>32 סיביות בכתובת וירטואלית</a:t>
            </a:r>
            <a:endParaRPr lang="en-US" sz="2000" dirty="0"/>
          </a:p>
          <a:p>
            <a:pPr algn="r" rtl="1">
              <a:buFontTx/>
              <a:buNone/>
            </a:pPr>
            <a:r>
              <a:rPr lang="he-IL" sz="2000" dirty="0"/>
              <a:t>12 סיביות להיסט </a:t>
            </a:r>
            <a:r>
              <a:rPr lang="en-US" sz="2000" dirty="0"/>
              <a:t>offset</a:t>
            </a:r>
            <a:r>
              <a:rPr lang="he-IL" sz="2000" dirty="0"/>
              <a:t>  </a:t>
            </a:r>
            <a:endParaRPr lang="en-US" sz="2000" dirty="0"/>
          </a:p>
          <a:p>
            <a:pPr algn="r" rtl="1">
              <a:buFontTx/>
              <a:buNone/>
            </a:pPr>
            <a:r>
              <a:rPr lang="he-IL" sz="2000" dirty="0"/>
              <a:t>דף מכיל </a:t>
            </a:r>
            <a:r>
              <a:rPr lang="en-US" sz="2000" dirty="0"/>
              <a:t>1K</a:t>
            </a:r>
            <a:r>
              <a:rPr lang="he-IL" sz="2000" dirty="0"/>
              <a:t> הצבעות</a:t>
            </a:r>
            <a:endParaRPr lang="en-US" sz="2000" dirty="0"/>
          </a:p>
          <a:p>
            <a:pPr algn="r" rtl="1">
              <a:buFontTx/>
              <a:buNone/>
            </a:pPr>
            <a:r>
              <a:rPr lang="he-IL" sz="2000" dirty="0"/>
              <a:t>ש1. כמה דפים צריכים בשביל להחזיק את הטבלה (טבלה רגילה) ?</a:t>
            </a:r>
            <a:endParaRPr lang="en-US" sz="2000" dirty="0"/>
          </a:p>
          <a:p>
            <a:pPr algn="r" rtl="1">
              <a:buFontTx/>
              <a:buNone/>
            </a:pPr>
            <a:r>
              <a:rPr lang="he-IL" sz="2000" dirty="0"/>
              <a:t>ש2. מה גודל הטבלה במילים?</a:t>
            </a:r>
            <a:endParaRPr lang="en-US" sz="2000" dirty="0"/>
          </a:p>
          <a:p>
            <a:pPr algn="r" rtl="1">
              <a:buFontTx/>
              <a:buNone/>
            </a:pPr>
            <a:r>
              <a:rPr lang="he-IL" sz="2000" dirty="0"/>
              <a:t>  </a:t>
            </a:r>
          </a:p>
        </p:txBody>
      </p:sp>
      <p:sp>
        <p:nvSpPr>
          <p:cNvPr id="82948" name="מציין מיקום של מספר שקופית 3"/>
          <p:cNvSpPr>
            <a:spLocks noGrp="1"/>
          </p:cNvSpPr>
          <p:nvPr>
            <p:ph type="sldNum" sz="quarter" idx="12"/>
          </p:nvPr>
        </p:nvSpPr>
        <p:spPr>
          <a:noFill/>
        </p:spPr>
        <p:txBody>
          <a:bodyPr/>
          <a:lstStyle/>
          <a:p>
            <a:fld id="{C55A4793-AA36-4FE5-ACC9-D1A343D55F4F}" type="slidenum">
              <a:rPr lang="he-IL" sz="800"/>
              <a:pPr/>
              <a:t>85</a:t>
            </a:fld>
            <a:endParaRPr lang="en-US" sz="800"/>
          </a:p>
        </p:txBody>
      </p:sp>
      <p:sp>
        <p:nvSpPr>
          <p:cNvPr id="5" name="TextBox 4"/>
          <p:cNvSpPr txBox="1">
            <a:spLocks noChangeArrowheads="1"/>
          </p:cNvSpPr>
          <p:nvPr/>
        </p:nvSpPr>
        <p:spPr bwMode="auto">
          <a:xfrm>
            <a:off x="5025222" y="3741879"/>
            <a:ext cx="5330977" cy="2282175"/>
          </a:xfrm>
          <a:prstGeom prst="rect">
            <a:avLst/>
          </a:prstGeom>
          <a:noFill/>
          <a:ln w="9525">
            <a:noFill/>
            <a:miter lim="800000"/>
            <a:headEnd/>
            <a:tailEnd/>
          </a:ln>
        </p:spPr>
        <p:txBody>
          <a:bodyPr lIns="65544" tIns="32772" rIns="65544" bIns="32772">
            <a:spAutoFit/>
          </a:bodyPr>
          <a:lstStyle/>
          <a:p>
            <a:pPr algn="r" rtl="1"/>
            <a:endParaRPr lang="en-US" sz="1600" dirty="0"/>
          </a:p>
          <a:p>
            <a:pPr algn="r" rtl="1"/>
            <a:r>
              <a:rPr lang="he-IL" sz="1600" dirty="0"/>
              <a:t>תשובה ל ש.1 : 20 סיביות לדף. </a:t>
            </a:r>
            <a:r>
              <a:rPr lang="en-US" sz="1600" dirty="0"/>
              <a:t>1M Entries</a:t>
            </a:r>
            <a:r>
              <a:rPr lang="he-IL" sz="1600" dirty="0"/>
              <a:t> (</a:t>
            </a:r>
            <a:r>
              <a:rPr lang="en-US" sz="1600" dirty="0"/>
              <a:t>2^20</a:t>
            </a:r>
            <a:r>
              <a:rPr lang="he-IL" sz="1600" dirty="0"/>
              <a:t>) יש </a:t>
            </a:r>
            <a:r>
              <a:rPr lang="he-IL" sz="1600" dirty="0" err="1"/>
              <a:t>מליון</a:t>
            </a:r>
            <a:r>
              <a:rPr lang="he-IL" sz="1600" dirty="0"/>
              <a:t> דפים ובדף יש 1024 כניסות אם כך צריך 1024 דפים להחזיק את טבלת הדפדוף</a:t>
            </a:r>
            <a:endParaRPr lang="en-US" sz="1600" dirty="0"/>
          </a:p>
          <a:p>
            <a:pPr algn="r" rtl="1"/>
            <a:r>
              <a:rPr lang="he-IL" sz="1600" dirty="0"/>
              <a:t>12 סיביות להיסט </a:t>
            </a:r>
            <a:r>
              <a:rPr lang="en-US" sz="1600" dirty="0"/>
              <a:t>offset</a:t>
            </a:r>
            <a:r>
              <a:rPr lang="he-IL" sz="1600" dirty="0"/>
              <a:t>   -&gt; גודל דף  == </a:t>
            </a:r>
            <a:r>
              <a:rPr lang="en-US" sz="1600" dirty="0"/>
              <a:t>4KWord</a:t>
            </a:r>
          </a:p>
          <a:p>
            <a:pPr algn="r" rtl="1"/>
            <a:r>
              <a:rPr lang="he-IL" sz="1600" dirty="0"/>
              <a:t>. גודל הטבלה  1024* </a:t>
            </a:r>
            <a:r>
              <a:rPr lang="en-US" sz="1600" dirty="0"/>
              <a:t>4Kword</a:t>
            </a:r>
          </a:p>
          <a:p>
            <a:pPr algn="r" rtl="1"/>
            <a:r>
              <a:rPr lang="he-IL" sz="1600" dirty="0"/>
              <a:t>גודל הטבלה  =  </a:t>
            </a:r>
            <a:r>
              <a:rPr lang="en-US" sz="1600" dirty="0"/>
              <a:t>4MWord</a:t>
            </a:r>
          </a:p>
          <a:p>
            <a:pPr algn="r" rtl="1"/>
            <a:r>
              <a:rPr lang="he-IL" sz="1600" dirty="0"/>
              <a:t> </a:t>
            </a:r>
            <a:endParaRPr lang="en-US" sz="1600" dirty="0"/>
          </a:p>
          <a:p>
            <a:endParaRPr lang="he-IL" sz="1600" dirty="0"/>
          </a:p>
        </p:txBody>
      </p:sp>
      <p:sp>
        <p:nvSpPr>
          <p:cNvPr id="6" name="מציין מיקום של תאריך 5"/>
          <p:cNvSpPr>
            <a:spLocks noGrp="1"/>
          </p:cNvSpPr>
          <p:nvPr>
            <p:ph type="dt" sz="half" idx="10"/>
          </p:nvPr>
        </p:nvSpPr>
        <p:spPr/>
        <p:txBody>
          <a:bodyPr/>
          <a:lstStyle/>
          <a:p>
            <a:pPr>
              <a:defRPr/>
            </a:pPr>
            <a:fld id="{F6D63D43-06DE-42D2-8E8D-08B6FB1DAB16}" type="datetime12">
              <a:rPr lang="he-IL" sz="800"/>
              <a:pPr>
                <a:defRPr/>
              </a:pPr>
              <a:t>28/01/2024 18:13</a:t>
            </a:fld>
            <a:endParaRPr lang="en-US" sz="800"/>
          </a:p>
        </p:txBody>
      </p:sp>
      <p:sp>
        <p:nvSpPr>
          <p:cNvPr id="10" name="מלבן 7"/>
          <p:cNvSpPr>
            <a:spLocks noChangeArrowheads="1"/>
          </p:cNvSpPr>
          <p:nvPr/>
        </p:nvSpPr>
        <p:spPr bwMode="auto">
          <a:xfrm>
            <a:off x="2813401" y="816357"/>
            <a:ext cx="1181303" cy="1874612"/>
          </a:xfrm>
          <a:prstGeom prst="rect">
            <a:avLst/>
          </a:prstGeom>
          <a:noFill/>
          <a:ln w="9525" algn="ctr">
            <a:solidFill>
              <a:schemeClr val="tx1"/>
            </a:solidFill>
            <a:round/>
            <a:headEnd/>
            <a:tailEnd/>
          </a:ln>
        </p:spPr>
        <p:txBody>
          <a:bodyPr lIns="65520" tIns="32760" rIns="65520" bIns="32760"/>
          <a:lstStyle/>
          <a:p>
            <a:endParaRPr lang="he-IL" sz="1100"/>
          </a:p>
        </p:txBody>
      </p:sp>
      <p:sp>
        <p:nvSpPr>
          <p:cNvPr id="11" name="סוגר מסולסל שמאלי 8"/>
          <p:cNvSpPr>
            <a:spLocks/>
          </p:cNvSpPr>
          <p:nvPr/>
        </p:nvSpPr>
        <p:spPr bwMode="auto">
          <a:xfrm>
            <a:off x="2324545" y="955168"/>
            <a:ext cx="387048" cy="1639599"/>
          </a:xfrm>
          <a:prstGeom prst="leftBrace">
            <a:avLst>
              <a:gd name="adj1" fmla="val 8342"/>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sp>
        <p:nvSpPr>
          <p:cNvPr id="13" name="TextBox 10"/>
          <p:cNvSpPr txBox="1">
            <a:spLocks noChangeArrowheads="1"/>
          </p:cNvSpPr>
          <p:nvPr/>
        </p:nvSpPr>
        <p:spPr bwMode="auto">
          <a:xfrm>
            <a:off x="4332762" y="1687874"/>
            <a:ext cx="692453" cy="235437"/>
          </a:xfrm>
          <a:prstGeom prst="rect">
            <a:avLst/>
          </a:prstGeom>
          <a:noFill/>
          <a:ln w="9525">
            <a:noFill/>
            <a:miter lim="800000"/>
            <a:headEnd/>
            <a:tailEnd/>
          </a:ln>
        </p:spPr>
        <p:txBody>
          <a:bodyPr lIns="65520" tIns="32760" rIns="65520" bIns="32760">
            <a:spAutoFit/>
          </a:bodyPr>
          <a:lstStyle/>
          <a:p>
            <a:r>
              <a:rPr lang="en-US" sz="1100" dirty="0"/>
              <a:t>4KWord</a:t>
            </a:r>
            <a:endParaRPr lang="he-IL" sz="1100" dirty="0"/>
          </a:p>
        </p:txBody>
      </p:sp>
      <p:sp>
        <p:nvSpPr>
          <p:cNvPr id="14" name="סוגר מסולסל ימני 11"/>
          <p:cNvSpPr>
            <a:spLocks/>
          </p:cNvSpPr>
          <p:nvPr/>
        </p:nvSpPr>
        <p:spPr bwMode="auto">
          <a:xfrm>
            <a:off x="4056190" y="802617"/>
            <a:ext cx="243921" cy="1930959"/>
          </a:xfrm>
          <a:prstGeom prst="rightBrace">
            <a:avLst>
              <a:gd name="adj1" fmla="val 8359"/>
              <a:gd name="adj2" fmla="val 50000"/>
            </a:avLst>
          </a:prstGeom>
          <a:solidFill>
            <a:schemeClr val="bg1"/>
          </a:solidFill>
          <a:ln w="9525" algn="ctr">
            <a:solidFill>
              <a:schemeClr val="tx1"/>
            </a:solidFill>
            <a:round/>
            <a:headEnd/>
            <a:tailEnd type="arrow" w="med" len="med"/>
          </a:ln>
        </p:spPr>
        <p:txBody>
          <a:bodyPr lIns="65520" tIns="32760" rIns="65520" bIns="32760" anchor="ctr"/>
          <a:lstStyle/>
          <a:p>
            <a:pPr algn="ctr"/>
            <a:endParaRPr lang="he-IL" sz="1100"/>
          </a:p>
        </p:txBody>
      </p:sp>
      <p:cxnSp>
        <p:nvCxnSpPr>
          <p:cNvPr id="15" name="מחבר חץ ישר 13"/>
          <p:cNvCxnSpPr>
            <a:cxnSpLocks noChangeShapeType="1"/>
          </p:cNvCxnSpPr>
          <p:nvPr/>
        </p:nvCxnSpPr>
        <p:spPr bwMode="auto">
          <a:xfrm rot="5400000" flipH="1" flipV="1">
            <a:off x="2884395" y="3063359"/>
            <a:ext cx="764139" cy="132040"/>
          </a:xfrm>
          <a:prstGeom prst="straightConnector1">
            <a:avLst/>
          </a:prstGeom>
          <a:noFill/>
          <a:ln w="9525" algn="ctr">
            <a:solidFill>
              <a:schemeClr val="tx1"/>
            </a:solidFill>
            <a:round/>
            <a:headEnd/>
            <a:tailEnd type="arrow" w="med" len="med"/>
          </a:ln>
        </p:spPr>
      </p:cxnSp>
      <p:sp>
        <p:nvSpPr>
          <p:cNvPr id="16" name="TextBox 14"/>
          <p:cNvSpPr txBox="1">
            <a:spLocks noChangeArrowheads="1"/>
          </p:cNvSpPr>
          <p:nvPr/>
        </p:nvSpPr>
        <p:spPr bwMode="auto">
          <a:xfrm>
            <a:off x="2915196" y="3636515"/>
            <a:ext cx="764016" cy="404714"/>
          </a:xfrm>
          <a:prstGeom prst="rect">
            <a:avLst/>
          </a:prstGeom>
          <a:noFill/>
          <a:ln w="9525">
            <a:noFill/>
            <a:miter lim="800000"/>
            <a:headEnd/>
            <a:tailEnd/>
          </a:ln>
        </p:spPr>
        <p:txBody>
          <a:bodyPr lIns="65520" tIns="32760" rIns="65520" bIns="32760">
            <a:spAutoFit/>
          </a:bodyPr>
          <a:lstStyle/>
          <a:p>
            <a:r>
              <a:rPr lang="en-US" sz="1100" dirty="0"/>
              <a:t>1024 </a:t>
            </a:r>
            <a:r>
              <a:rPr lang="he-IL" sz="1100" dirty="0"/>
              <a:t>כניסות</a:t>
            </a:r>
          </a:p>
        </p:txBody>
      </p:sp>
      <p:sp>
        <p:nvSpPr>
          <p:cNvPr id="18" name="מלבן 5"/>
          <p:cNvSpPr>
            <a:spLocks noChangeArrowheads="1"/>
          </p:cNvSpPr>
          <p:nvPr/>
        </p:nvSpPr>
        <p:spPr bwMode="auto">
          <a:xfrm>
            <a:off x="4584708" y="955166"/>
            <a:ext cx="2897457" cy="450364"/>
          </a:xfrm>
          <a:prstGeom prst="rect">
            <a:avLst/>
          </a:prstGeom>
          <a:noFill/>
          <a:ln w="9525" algn="ctr">
            <a:solidFill>
              <a:schemeClr val="tx1"/>
            </a:solidFill>
            <a:round/>
            <a:headEnd/>
            <a:tailEnd/>
          </a:ln>
        </p:spPr>
        <p:txBody>
          <a:bodyPr lIns="65520" tIns="32760" rIns="65520" bIns="32760"/>
          <a:lstStyle/>
          <a:p>
            <a:r>
              <a:rPr lang="en-US" sz="1100" dirty="0"/>
              <a:t>            page                     |            offset</a:t>
            </a:r>
          </a:p>
          <a:p>
            <a:r>
              <a:rPr lang="en-US" sz="1100" dirty="0"/>
              <a:t>              20                       |             12</a:t>
            </a:r>
          </a:p>
          <a:p>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P spid="11" grpId="0" animBg="1"/>
      <p:bldP spid="13" grpId="0"/>
      <p:bldP spid="14" grpId="0" animBg="1"/>
      <p:bldP spid="16" grpId="0"/>
      <p:bldP spid="1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81479" y="871367"/>
            <a:ext cx="5829041" cy="586448"/>
          </a:xfrm>
        </p:spPr>
        <p:txBody>
          <a:bodyPr/>
          <a:lstStyle/>
          <a:p>
            <a:pPr rtl="1"/>
            <a:r>
              <a:rPr lang="he-IL" sz="2325" dirty="0"/>
              <a:t>במערכת </a:t>
            </a:r>
            <a:r>
              <a:rPr lang="en-US" sz="2325" dirty="0"/>
              <a:t>UNIX </a:t>
            </a:r>
            <a:r>
              <a:rPr lang="he-IL" sz="2325" dirty="0"/>
              <a:t>נתונה הורצו</a:t>
            </a:r>
            <a:r>
              <a:rPr lang="ar-SA" sz="2325" dirty="0"/>
              <a:t> 2 </a:t>
            </a:r>
            <a:r>
              <a:rPr lang="he-IL" sz="2325" dirty="0"/>
              <a:t>התוכניות הבאות</a:t>
            </a:r>
            <a:endParaRPr lang="he-IL" dirty="0"/>
          </a:p>
        </p:txBody>
      </p:sp>
      <p:sp>
        <p:nvSpPr>
          <p:cNvPr id="4" name="מציין מיקום של מספר שקופית 3"/>
          <p:cNvSpPr>
            <a:spLocks noGrp="1"/>
          </p:cNvSpPr>
          <p:nvPr>
            <p:ph type="sldNum" sz="quarter" idx="12"/>
          </p:nvPr>
        </p:nvSpPr>
        <p:spPr/>
        <p:txBody>
          <a:bodyPr/>
          <a:lstStyle/>
          <a:p>
            <a:pPr>
              <a:defRPr/>
            </a:pPr>
            <a:fld id="{D24D048F-5AB7-4214-A96A-997519D28CF1}" type="slidenum">
              <a:rPr lang="en-US" smtClean="0"/>
              <a:pPr>
                <a:defRPr/>
              </a:pPr>
              <a:t>86</a:t>
            </a:fld>
            <a:endParaRPr lang="en-US"/>
          </a:p>
        </p:txBody>
      </p:sp>
      <p:sp>
        <p:nvSpPr>
          <p:cNvPr id="6" name="TextBox 5"/>
          <p:cNvSpPr txBox="1"/>
          <p:nvPr/>
        </p:nvSpPr>
        <p:spPr>
          <a:xfrm>
            <a:off x="1223953" y="1457815"/>
            <a:ext cx="3915052" cy="1299560"/>
          </a:xfrm>
          <a:prstGeom prst="rect">
            <a:avLst/>
          </a:prstGeom>
          <a:noFill/>
        </p:spPr>
        <p:txBody>
          <a:bodyPr wrap="square" lIns="52553" tIns="26276" rIns="52553" bIns="26276" rtlCol="1">
            <a:spAutoFit/>
          </a:bodyPr>
          <a:lstStyle/>
          <a:p>
            <a:pPr algn="l"/>
            <a:r>
              <a:rPr lang="en-US" sz="1350" dirty="0"/>
              <a:t>#define AR_SIZE 2048    /* Program 2*/</a:t>
            </a:r>
          </a:p>
          <a:p>
            <a:pPr algn="l">
              <a:buNone/>
            </a:pPr>
            <a:r>
              <a:rPr lang="en-US" sz="1350" dirty="0"/>
              <a:t>main(){</a:t>
            </a:r>
          </a:p>
          <a:p>
            <a:pPr algn="l">
              <a:buNone/>
            </a:pPr>
            <a:r>
              <a:rPr lang="en-US" sz="1350" dirty="0"/>
              <a:t>	</a:t>
            </a:r>
            <a:r>
              <a:rPr lang="en-US" sz="1350" dirty="0" err="1"/>
              <a:t>int</a:t>
            </a:r>
            <a:r>
              <a:rPr lang="en-US" sz="1350" dirty="0"/>
              <a:t> </a:t>
            </a:r>
            <a:r>
              <a:rPr lang="en-US" sz="1350" dirty="0" err="1"/>
              <a:t>i,j,a</a:t>
            </a:r>
            <a:r>
              <a:rPr lang="en-US" sz="1350" dirty="0"/>
              <a:t>[AR_SIZE][ AR_SIZE];</a:t>
            </a:r>
          </a:p>
          <a:p>
            <a:pPr algn="l">
              <a:buNone/>
            </a:pPr>
            <a:r>
              <a:rPr lang="en-US" sz="1350" dirty="0"/>
              <a:t>	for ( </a:t>
            </a:r>
            <a:r>
              <a:rPr lang="en-US" sz="1350" dirty="0" err="1"/>
              <a:t>i</a:t>
            </a:r>
            <a:r>
              <a:rPr lang="en-US" sz="1350" dirty="0"/>
              <a:t>=0; </a:t>
            </a:r>
            <a:r>
              <a:rPr lang="en-US" sz="1350" dirty="0" err="1"/>
              <a:t>i</a:t>
            </a:r>
            <a:r>
              <a:rPr lang="en-US" sz="1350" dirty="0"/>
              <a:t>&lt;AR_SIZE; ++</a:t>
            </a:r>
            <a:r>
              <a:rPr lang="en-US" sz="1350" dirty="0" err="1"/>
              <a:t>i</a:t>
            </a:r>
            <a:r>
              <a:rPr lang="en-US" sz="1350" dirty="0"/>
              <a:t> )</a:t>
            </a:r>
          </a:p>
          <a:p>
            <a:pPr algn="l">
              <a:buNone/>
            </a:pPr>
            <a:r>
              <a:rPr lang="en-US" sz="1350" dirty="0"/>
              <a:t>		for ( j=0; j&lt;AR_SIZE; ++j )</a:t>
            </a:r>
          </a:p>
          <a:p>
            <a:pPr algn="l">
              <a:buNone/>
            </a:pPr>
            <a:r>
              <a:rPr lang="en-US" sz="1350" dirty="0"/>
              <a:t>			a[j][</a:t>
            </a:r>
            <a:r>
              <a:rPr lang="en-US" sz="1350" dirty="0" err="1"/>
              <a:t>i</a:t>
            </a:r>
            <a:r>
              <a:rPr lang="en-US" sz="1350" dirty="0"/>
              <a:t>]=0;</a:t>
            </a:r>
            <a:endParaRPr lang="he-IL" sz="1350" dirty="0"/>
          </a:p>
        </p:txBody>
      </p:sp>
      <p:sp>
        <p:nvSpPr>
          <p:cNvPr id="7" name="TextBox 6"/>
          <p:cNvSpPr txBox="1"/>
          <p:nvPr/>
        </p:nvSpPr>
        <p:spPr>
          <a:xfrm>
            <a:off x="6171321" y="1457815"/>
            <a:ext cx="4444032" cy="1299560"/>
          </a:xfrm>
          <a:prstGeom prst="rect">
            <a:avLst/>
          </a:prstGeom>
          <a:noFill/>
        </p:spPr>
        <p:txBody>
          <a:bodyPr wrap="square" lIns="52553" tIns="26276" rIns="52553" bIns="26276" rtlCol="1">
            <a:spAutoFit/>
          </a:bodyPr>
          <a:lstStyle/>
          <a:p>
            <a:pPr algn="l"/>
            <a:r>
              <a:rPr lang="en-US" sz="1350" dirty="0"/>
              <a:t>#define AR_SIZE 2048     /* Program 1 */</a:t>
            </a:r>
          </a:p>
          <a:p>
            <a:pPr algn="l">
              <a:buNone/>
            </a:pPr>
            <a:r>
              <a:rPr lang="en-US" sz="1350" dirty="0"/>
              <a:t>main(){</a:t>
            </a:r>
          </a:p>
          <a:p>
            <a:pPr algn="l">
              <a:buNone/>
            </a:pPr>
            <a:r>
              <a:rPr lang="en-US" sz="1350" dirty="0"/>
              <a:t>	</a:t>
            </a:r>
            <a:r>
              <a:rPr lang="en-US" sz="1350" dirty="0" err="1"/>
              <a:t>int</a:t>
            </a:r>
            <a:r>
              <a:rPr lang="en-US" sz="1350" dirty="0"/>
              <a:t> </a:t>
            </a:r>
            <a:r>
              <a:rPr lang="en-US" sz="1350" dirty="0" err="1"/>
              <a:t>i,j,a</a:t>
            </a:r>
            <a:r>
              <a:rPr lang="en-US" sz="1350" dirty="0"/>
              <a:t>[AR_SIZE][ AR_SIZE];</a:t>
            </a:r>
          </a:p>
          <a:p>
            <a:pPr algn="l">
              <a:buNone/>
            </a:pPr>
            <a:r>
              <a:rPr lang="en-US" sz="1350" dirty="0"/>
              <a:t>	for ( </a:t>
            </a:r>
            <a:r>
              <a:rPr lang="en-US" sz="1350" dirty="0" err="1"/>
              <a:t>i</a:t>
            </a:r>
            <a:r>
              <a:rPr lang="en-US" sz="1350" dirty="0"/>
              <a:t>=0; </a:t>
            </a:r>
            <a:r>
              <a:rPr lang="en-US" sz="1350" dirty="0" err="1"/>
              <a:t>i</a:t>
            </a:r>
            <a:r>
              <a:rPr lang="en-US" sz="1350" dirty="0"/>
              <a:t>&lt;AR_SIZE; ++</a:t>
            </a:r>
            <a:r>
              <a:rPr lang="en-US" sz="1350" dirty="0" err="1"/>
              <a:t>i</a:t>
            </a:r>
            <a:r>
              <a:rPr lang="en-US" sz="1350" dirty="0"/>
              <a:t> )</a:t>
            </a:r>
          </a:p>
          <a:p>
            <a:pPr algn="l">
              <a:buNone/>
            </a:pPr>
            <a:r>
              <a:rPr lang="en-US" sz="1350" dirty="0"/>
              <a:t>		for ( j=0; j&lt;AR_SIZE; ++j )</a:t>
            </a:r>
          </a:p>
          <a:p>
            <a:pPr algn="l">
              <a:buNone/>
            </a:pPr>
            <a:r>
              <a:rPr lang="en-US" sz="1350" dirty="0"/>
              <a:t>			a[</a:t>
            </a:r>
            <a:r>
              <a:rPr lang="en-US" sz="1350" dirty="0" err="1"/>
              <a:t>i</a:t>
            </a:r>
            <a:r>
              <a:rPr lang="en-US" sz="1350" dirty="0"/>
              <a:t>][j]=0;</a:t>
            </a:r>
            <a:endParaRPr lang="he-IL" sz="1350" dirty="0"/>
          </a:p>
        </p:txBody>
      </p:sp>
      <p:sp>
        <p:nvSpPr>
          <p:cNvPr id="8" name="מציין מיקום תוכן 2"/>
          <p:cNvSpPr>
            <a:spLocks noGrp="1"/>
          </p:cNvSpPr>
          <p:nvPr>
            <p:ph idx="1"/>
          </p:nvPr>
        </p:nvSpPr>
        <p:spPr>
          <a:xfrm>
            <a:off x="3054047" y="3079715"/>
            <a:ext cx="6234548" cy="2494772"/>
          </a:xfrm>
        </p:spPr>
        <p:txBody>
          <a:bodyPr>
            <a:normAutofit fontScale="62500" lnSpcReduction="20000"/>
          </a:bodyPr>
          <a:lstStyle/>
          <a:p>
            <a:pPr algn="r" rtl="1">
              <a:buNone/>
            </a:pPr>
            <a:r>
              <a:rPr lang="he-IL" dirty="0"/>
              <a:t>שימו לב, ההבדל היחידי בין התכניות הוא בשורה אחת בלבד. שתי התוכניות הורצו במקביל מספר רב של פעמים ובכל פעם נמדד הזמן מתחילת ההרצה. התברר כי בכל פעם התכנית הראשונה מסתיימת בזמן קצר יותר מאשר התכנית השנייה. התהליך כולו נמצא בסביבת העבודה מה הסיבה </a:t>
            </a:r>
            <a:r>
              <a:rPr lang="he-IL" b="1" u="sng" dirty="0"/>
              <a:t>הסבירה ביותר</a:t>
            </a:r>
            <a:r>
              <a:rPr lang="he-IL" dirty="0"/>
              <a:t> לכך?</a:t>
            </a:r>
            <a:endParaRPr lang="en-US" dirty="0"/>
          </a:p>
          <a:p>
            <a:pPr algn="r" rtl="1">
              <a:buNone/>
            </a:pPr>
            <a:r>
              <a:rPr lang="en-US" dirty="0"/>
              <a:t> </a:t>
            </a:r>
            <a:r>
              <a:rPr lang="he-IL" dirty="0"/>
              <a:t> הערה: שימו לב שעקב מספר רב של ההרצות ניתן להגיד שהתהליך כולו תמיד בזיכרון</a:t>
            </a:r>
          </a:p>
          <a:p>
            <a:pPr algn="r" rtl="1">
              <a:buNone/>
            </a:pPr>
            <a:endParaRPr lang="en-US" dirty="0"/>
          </a:p>
          <a:p>
            <a:pPr algn="r" rtl="1">
              <a:buNone/>
            </a:pPr>
            <a:r>
              <a:rPr lang="he-IL" dirty="0"/>
              <a:t>א) הרצת התוכנית השנייה גורמת ליותר פעולות החלפת דפים בזיכרון</a:t>
            </a:r>
            <a:endParaRPr lang="en-US" dirty="0"/>
          </a:p>
          <a:p>
            <a:pPr algn="r" rtl="1">
              <a:buNone/>
            </a:pPr>
            <a:r>
              <a:rPr lang="he-IL" dirty="0"/>
              <a:t>ב) הרצת התוכנית השנייה גורמת לתחלופה תדירה יותר של תוכן ה </a:t>
            </a:r>
            <a:r>
              <a:rPr lang="en-US" dirty="0"/>
              <a:t>cache</a:t>
            </a:r>
            <a:r>
              <a:rPr lang="he-IL" dirty="0"/>
              <a:t> במעבד</a:t>
            </a:r>
            <a:endParaRPr lang="en-US" dirty="0"/>
          </a:p>
          <a:p>
            <a:pPr algn="r" rtl="1">
              <a:buNone/>
            </a:pPr>
            <a:r>
              <a:rPr lang="he-IL" dirty="0"/>
              <a:t>ג) הרצת התכניות במקביל עלולה לגרום לקיפאון ולכן מערכת ההפעלה מעדיפה לסיים את הרצת התוכנית הראשונה קודם</a:t>
            </a:r>
            <a:endParaRPr lang="en-US" dirty="0"/>
          </a:p>
          <a:p>
            <a:pPr algn="r" rtl="1">
              <a:buNone/>
            </a:pPr>
            <a:r>
              <a:rPr lang="he-IL" dirty="0"/>
              <a:t>ד) התשובות א' </a:t>
            </a:r>
            <a:r>
              <a:rPr lang="he-IL" dirty="0" err="1"/>
              <a:t>וב</a:t>
            </a:r>
            <a:r>
              <a:rPr lang="he-IL" dirty="0"/>
              <a:t>' הן הנכונות</a:t>
            </a:r>
            <a:endParaRPr lang="en-US" dirty="0"/>
          </a:p>
          <a:p>
            <a:pPr algn="r" rtl="1">
              <a:buNone/>
            </a:pPr>
            <a:r>
              <a:rPr lang="he-IL" dirty="0"/>
              <a:t>ה) שלושת התשובות הראשונות הן נכונות</a:t>
            </a:r>
            <a:endParaRPr lang="en-US" dirty="0"/>
          </a:p>
          <a:p>
            <a:pPr algn="r" rtl="1">
              <a:buNone/>
            </a:pPr>
            <a:endParaRPr lang="he-IL" dirty="0"/>
          </a:p>
        </p:txBody>
      </p:sp>
      <p:sp>
        <p:nvSpPr>
          <p:cNvPr id="3" name="מציין מיקום של תאריך 2"/>
          <p:cNvSpPr>
            <a:spLocks noGrp="1"/>
          </p:cNvSpPr>
          <p:nvPr>
            <p:ph type="dt" sz="half" idx="10"/>
          </p:nvPr>
        </p:nvSpPr>
        <p:spPr/>
        <p:txBody>
          <a:bodyPr/>
          <a:lstStyle/>
          <a:p>
            <a:pPr>
              <a:defRPr/>
            </a:pPr>
            <a:fld id="{9A804C13-27C8-4E68-8D3C-0208365C8124}" type="datetime12">
              <a:rPr lang="he-IL" smtClean="0"/>
              <a:pPr>
                <a:defRPr/>
              </a:pPr>
              <a:t>28/01/2024 18:13</a:t>
            </a:fld>
            <a:endParaRPr lang="en-US"/>
          </a:p>
        </p:txBody>
      </p:sp>
    </p:spTree>
    <p:extLst>
      <p:ext uri="{BB962C8B-B14F-4D97-AF65-F5344CB8AC3E}">
        <p14:creationId xmlns:p14="http://schemas.microsoft.com/office/powerpoint/2010/main" val="32024619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6A4543-16A4-E6BC-97F6-3DB93E5EC1B5}"/>
              </a:ext>
            </a:extLst>
          </p:cNvPr>
          <p:cNvSpPr>
            <a:spLocks noGrp="1"/>
          </p:cNvSpPr>
          <p:nvPr>
            <p:ph type="title"/>
          </p:nvPr>
        </p:nvSpPr>
        <p:spPr/>
        <p:txBody>
          <a:bodyPr/>
          <a:lstStyle/>
          <a:p>
            <a:endParaRPr lang="en-IL"/>
          </a:p>
        </p:txBody>
      </p:sp>
      <p:sp>
        <p:nvSpPr>
          <p:cNvPr id="3" name="מציין מיקום תוכן 2">
            <a:extLst>
              <a:ext uri="{FF2B5EF4-FFF2-40B4-BE49-F238E27FC236}">
                <a16:creationId xmlns:a16="http://schemas.microsoft.com/office/drawing/2014/main" id="{67047CA5-3E50-1722-31B8-6EEFC72A0486}"/>
              </a:ext>
            </a:extLst>
          </p:cNvPr>
          <p:cNvSpPr>
            <a:spLocks noGrp="1"/>
          </p:cNvSpPr>
          <p:nvPr>
            <p:ph idx="1"/>
          </p:nvPr>
        </p:nvSpPr>
        <p:spPr/>
        <p:txBody>
          <a:bodyPr/>
          <a:lstStyle/>
          <a:p>
            <a:endParaRPr lang="en-IL"/>
          </a:p>
        </p:txBody>
      </p:sp>
      <p:sp>
        <p:nvSpPr>
          <p:cNvPr id="4" name="מציין מיקום של תאריך 3">
            <a:extLst>
              <a:ext uri="{FF2B5EF4-FFF2-40B4-BE49-F238E27FC236}">
                <a16:creationId xmlns:a16="http://schemas.microsoft.com/office/drawing/2014/main" id="{A99BA47C-12FB-711C-13A0-2D6BF562FE32}"/>
              </a:ext>
            </a:extLst>
          </p:cNvPr>
          <p:cNvSpPr>
            <a:spLocks noGrp="1"/>
          </p:cNvSpPr>
          <p:nvPr>
            <p:ph type="dt" sz="half" idx="10"/>
          </p:nvPr>
        </p:nvSpPr>
        <p:spPr/>
        <p:txBody>
          <a:bodyPr/>
          <a:lstStyle/>
          <a:p>
            <a:pPr>
              <a:defRPr/>
            </a:pPr>
            <a:fld id="{509E1F49-D6F9-46CC-A5D7-7BE12C78E18B}" type="datetime12">
              <a:rPr lang="he-IL" smtClean="0"/>
              <a:pPr>
                <a:defRPr/>
              </a:pPr>
              <a:t>28/01/2024 18:13</a:t>
            </a:fld>
            <a:endParaRPr lang="en-US" dirty="0"/>
          </a:p>
        </p:txBody>
      </p:sp>
      <p:sp>
        <p:nvSpPr>
          <p:cNvPr id="5" name="מציין מיקום של מספר שקופית 4">
            <a:extLst>
              <a:ext uri="{FF2B5EF4-FFF2-40B4-BE49-F238E27FC236}">
                <a16:creationId xmlns:a16="http://schemas.microsoft.com/office/drawing/2014/main" id="{AB6F0C09-C7C8-99F7-9CF8-3287308C3388}"/>
              </a:ext>
            </a:extLst>
          </p:cNvPr>
          <p:cNvSpPr>
            <a:spLocks noGrp="1"/>
          </p:cNvSpPr>
          <p:nvPr>
            <p:ph type="sldNum" sz="quarter" idx="12"/>
          </p:nvPr>
        </p:nvSpPr>
        <p:spPr/>
        <p:txBody>
          <a:bodyPr/>
          <a:lstStyle/>
          <a:p>
            <a:pPr>
              <a:defRPr/>
            </a:pPr>
            <a:fld id="{7EB00C1C-2CB2-4421-9878-782440F6D2F0}" type="slidenum">
              <a:rPr lang="he-IL" smtClean="0"/>
              <a:pPr>
                <a:defRPr/>
              </a:pPr>
              <a:t>87</a:t>
            </a:fld>
            <a:endParaRPr lang="en-US" dirty="0"/>
          </a:p>
        </p:txBody>
      </p:sp>
      <p:pic>
        <p:nvPicPr>
          <p:cNvPr id="1026" name="Picture 3">
            <a:extLst>
              <a:ext uri="{FF2B5EF4-FFF2-40B4-BE49-F238E27FC236}">
                <a16:creationId xmlns:a16="http://schemas.microsoft.com/office/drawing/2014/main" id="{3BDB91EB-E24F-D40E-7084-879FDA0C6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599" y="358014"/>
            <a:ext cx="7669284" cy="6277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4748520"/>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smtClean="0">
            <a:ln>
              <a:noFill/>
            </a:ln>
            <a:solidFill>
              <a:schemeClr val="tx1"/>
            </a:solidFill>
            <a:effectLst/>
            <a:latin typeface="Helvetica" pitchFamily="2" charset="0"/>
          </a:defRPr>
        </a:defPPr>
      </a:lstStyle>
    </a:spDef>
    <a:lnDef>
      <a:spPr bwMode="auto">
        <a:solidFill>
          <a:schemeClr val="bg1"/>
        </a:solidFill>
        <a:ln w="9525" cap="flat" cmpd="sng" algn="ctr">
          <a:solidFill>
            <a:schemeClr val="tx1"/>
          </a:solidFill>
          <a:prstDash val="solid"/>
          <a:round/>
          <a:headEnd type="none" w="med" len="med"/>
          <a:tailEnd type="arrow"/>
        </a:ln>
        <a:effectLst/>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2" charset="0"/>
          </a:defRPr>
        </a:defPPr>
      </a:lstStyle>
    </a:spDef>
    <a:lnDef>
      <a:spPr bwMode="auto">
        <a:xfrm>
          <a:off x="0" y="0"/>
          <a:ext cx="1" cy="1"/>
        </a:xfrm>
        <a:custGeom>
          <a:avLst/>
          <a:gdLst/>
          <a:ahLst/>
          <a:cxnLst/>
          <a:rect l="0" t="0" r="0" b="0"/>
          <a:pathLst/>
        </a:cu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2"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ערכת נושא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12850</TotalTime>
  <Words>3660</Words>
  <Application>Microsoft Office PowerPoint</Application>
  <PresentationFormat>מסך רחב</PresentationFormat>
  <Paragraphs>869</Paragraphs>
  <Slides>87</Slides>
  <Notes>86</Notes>
  <HiddenSlides>0</HiddenSlides>
  <MMClips>0</MMClips>
  <ScaleCrop>false</ScaleCrop>
  <HeadingPairs>
    <vt:vector size="8" baseType="variant">
      <vt:variant>
        <vt:lpstr>גופנים בשימוש</vt:lpstr>
      </vt:variant>
      <vt:variant>
        <vt:i4>6</vt:i4>
      </vt:variant>
      <vt:variant>
        <vt:lpstr>ערכת נושא</vt:lpstr>
      </vt:variant>
      <vt:variant>
        <vt:i4>2</vt:i4>
      </vt:variant>
      <vt:variant>
        <vt:lpstr>שרתי OLE מוטבעים</vt:lpstr>
      </vt:variant>
      <vt:variant>
        <vt:i4>1</vt:i4>
      </vt:variant>
      <vt:variant>
        <vt:lpstr>כותרות שקופיות</vt:lpstr>
      </vt:variant>
      <vt:variant>
        <vt:i4>87</vt:i4>
      </vt:variant>
    </vt:vector>
  </HeadingPairs>
  <TitlesOfParts>
    <vt:vector size="96" baseType="lpstr">
      <vt:lpstr>Arial</vt:lpstr>
      <vt:lpstr>Helvetica</vt:lpstr>
      <vt:lpstr>Symbol</vt:lpstr>
      <vt:lpstr>Tahoma</vt:lpstr>
      <vt:lpstr>Times New Roman</vt:lpstr>
      <vt:lpstr>Wingdings</vt:lpstr>
      <vt:lpstr>Default Design</vt:lpstr>
      <vt:lpstr>1_Default Design</vt:lpstr>
      <vt:lpstr>Equation</vt:lpstr>
      <vt:lpstr>Memory Management</vt:lpstr>
      <vt:lpstr>Modeling Multiprogramming</vt:lpstr>
      <vt:lpstr>Analysis of Multiprogramming System Performance</vt:lpstr>
      <vt:lpstr>Analysis of Multiprogramming System Performance</vt:lpstr>
      <vt:lpstr>Analysis of Multiprogramming System Performance</vt:lpstr>
      <vt:lpstr>Analysis of Multiprogramming System Performance</vt:lpstr>
      <vt:lpstr>Analysis of Multiprogramming System Performance</vt:lpstr>
      <vt:lpstr>Analysis of Multiprogramming System Performance</vt:lpstr>
      <vt:lpstr>Analysis of Multiprogramming System Performance</vt:lpstr>
      <vt:lpstr>Analysis of Multiprogramming System Performance</vt:lpstr>
      <vt:lpstr>Analysis of Multiprogramming System Performance</vt:lpstr>
      <vt:lpstr>Memory Management </vt:lpstr>
      <vt:lpstr>מצגת של PowerPoint‏</vt:lpstr>
      <vt:lpstr>Computer Hardware Review (3)</vt:lpstr>
      <vt:lpstr>Basic Memory Management Monoprogramming without Swapping or Paging</vt:lpstr>
      <vt:lpstr>Multiprogramming with Fixed Partitions</vt:lpstr>
      <vt:lpstr>Relocation and Protection</vt:lpstr>
      <vt:lpstr>Computer</vt:lpstr>
      <vt:lpstr>Swapping החלפה</vt:lpstr>
      <vt:lpstr>Swapping (2)</vt:lpstr>
      <vt:lpstr>Memory Management with Bit Maps</vt:lpstr>
      <vt:lpstr>Memory Management with Linked Lists</vt:lpstr>
      <vt:lpstr>שיטות מיפוי</vt:lpstr>
      <vt:lpstr>שיטות מיפוי</vt:lpstr>
      <vt:lpstr>שיטות חיפוש</vt:lpstr>
      <vt:lpstr>שיטות חיפוש</vt:lpstr>
      <vt:lpstr>swapping</vt:lpstr>
      <vt:lpstr>Virtual Memory Paging (1)</vt:lpstr>
      <vt:lpstr>Paging (2)</vt:lpstr>
      <vt:lpstr>Page  Tables (1)</vt:lpstr>
      <vt:lpstr>Page Tables (3)</vt:lpstr>
      <vt:lpstr>Page Tables (2)</vt:lpstr>
      <vt:lpstr>TLBs – Translation Lookaside Buffers</vt:lpstr>
      <vt:lpstr>Inverted Page Tables</vt:lpstr>
      <vt:lpstr>Locality of reference</vt:lpstr>
      <vt:lpstr>מצגת של PowerPoint‏</vt:lpstr>
      <vt:lpstr>Page Replacement Algorithms</vt:lpstr>
      <vt:lpstr>Optimal Page Replacement Algorithm</vt:lpstr>
      <vt:lpstr>Not Recently Used Page Replacement Algorithm</vt:lpstr>
      <vt:lpstr>FIFO Page Replacement Algorithm</vt:lpstr>
      <vt:lpstr>Second Chance Page Replacement Algorithm</vt:lpstr>
      <vt:lpstr>The Clock Page Replacement Algorithm</vt:lpstr>
      <vt:lpstr>Least Recently Used (LRU)</vt:lpstr>
      <vt:lpstr>Simulating LRU in Software (1)</vt:lpstr>
      <vt:lpstr>Simulating LRU in Software (2)</vt:lpstr>
      <vt:lpstr>The Working Set Page Replacement Algorithm (1)</vt:lpstr>
      <vt:lpstr>The Working Set Page Replacement Algorithm (2)</vt:lpstr>
      <vt:lpstr>The WSClock Page Replacement Algorithm</vt:lpstr>
      <vt:lpstr>Review of Page Replacement Algorithms</vt:lpstr>
      <vt:lpstr>Design Issues for Paging Systems Local versus Global Allocation Policies (1)</vt:lpstr>
      <vt:lpstr>Local versus Global Allocation Policies (2)</vt:lpstr>
      <vt:lpstr>Load Control</vt:lpstr>
      <vt:lpstr>Page Size (2)</vt:lpstr>
      <vt:lpstr>Separate Instruction and Data Spaces</vt:lpstr>
      <vt:lpstr>Shared Pages</vt:lpstr>
      <vt:lpstr>Cleaning Policy</vt:lpstr>
      <vt:lpstr>Implementation Issues Operating System Involvement with Paging</vt:lpstr>
      <vt:lpstr>Page Fault Handling (1)</vt:lpstr>
      <vt:lpstr>Page Fault Handling (2)</vt:lpstr>
      <vt:lpstr>Instruction Backup</vt:lpstr>
      <vt:lpstr>Locking Pages in Memory</vt:lpstr>
      <vt:lpstr>Backing Store</vt:lpstr>
      <vt:lpstr>מצגת של PowerPoint‏</vt:lpstr>
      <vt:lpstr>Separation of Policy and Mechanism</vt:lpstr>
      <vt:lpstr>Segmentation (1)</vt:lpstr>
      <vt:lpstr>Segmentation (2)</vt:lpstr>
      <vt:lpstr>Segmentation (3)</vt:lpstr>
      <vt:lpstr>Implementation of Pure Segmentation</vt:lpstr>
      <vt:lpstr>Segmentation with Paging: MULTICS (1)</vt:lpstr>
      <vt:lpstr>Segmentation with Paging: MULTICS (2)</vt:lpstr>
      <vt:lpstr>Segmentation with Paging: MULTICS (3)</vt:lpstr>
      <vt:lpstr>Segmentation with Paging: MULTICS (4)</vt:lpstr>
      <vt:lpstr>Segmentation with Paging: Pentium (1)</vt:lpstr>
      <vt:lpstr>Segmentation with Paging: Pentium (2)</vt:lpstr>
      <vt:lpstr>Segmentation with Paging: Pentium (3)</vt:lpstr>
      <vt:lpstr>Segmentation with Paging: Pentium (4)</vt:lpstr>
      <vt:lpstr>Segmentation with Paging: Pentium (5)</vt:lpstr>
      <vt:lpstr>מצגת של PowerPoint‏</vt:lpstr>
      <vt:lpstr>מצגת של PowerPoint‏</vt:lpstr>
      <vt:lpstr>Page Tables (2)</vt:lpstr>
      <vt:lpstr> </vt:lpstr>
      <vt:lpstr>מצגת של PowerPoint‏</vt:lpstr>
      <vt:lpstr>מצגת של PowerPoint‏</vt:lpstr>
      <vt:lpstr>מצגת של PowerPoint‏</vt:lpstr>
      <vt:lpstr>מצגת של PowerPoint‏</vt:lpstr>
      <vt:lpstr>במערכת UNIX נתונה הורצו 2 התוכניות הבאות</vt:lpstr>
      <vt:lpstr>מצגת של PowerPoint‏</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dc:title>
  <dc:creator>Steve  Armstrong</dc:creator>
  <cp:lastModifiedBy>Yakir Zadok</cp:lastModifiedBy>
  <cp:revision>183</cp:revision>
  <cp:lastPrinted>2001-01-13T17:28:37Z</cp:lastPrinted>
  <dcterms:created xsi:type="dcterms:W3CDTF">2000-11-25T19:18:14Z</dcterms:created>
  <dcterms:modified xsi:type="dcterms:W3CDTF">2024-01-28T18:19:54Z</dcterms:modified>
</cp:coreProperties>
</file>